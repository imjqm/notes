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06"/>
  </p:notesMasterIdLst>
  <p:sldIdLst>
    <p:sldId id="346" r:id="rId2"/>
    <p:sldId id="348" r:id="rId3"/>
    <p:sldId id="349" r:id="rId4"/>
    <p:sldId id="350" r:id="rId5"/>
    <p:sldId id="261" r:id="rId6"/>
    <p:sldId id="351" r:id="rId7"/>
    <p:sldId id="352" r:id="rId8"/>
    <p:sldId id="353" r:id="rId9"/>
    <p:sldId id="262" r:id="rId10"/>
    <p:sldId id="330" r:id="rId11"/>
    <p:sldId id="331" r:id="rId12"/>
    <p:sldId id="354" r:id="rId13"/>
    <p:sldId id="344" r:id="rId14"/>
    <p:sldId id="265" r:id="rId15"/>
    <p:sldId id="296" r:id="rId16"/>
    <p:sldId id="327" r:id="rId17"/>
    <p:sldId id="328" r:id="rId18"/>
    <p:sldId id="366" r:id="rId19"/>
    <p:sldId id="266" r:id="rId20"/>
    <p:sldId id="267" r:id="rId21"/>
    <p:sldId id="363" r:id="rId22"/>
    <p:sldId id="275" r:id="rId23"/>
    <p:sldId id="276" r:id="rId24"/>
    <p:sldId id="277" r:id="rId25"/>
    <p:sldId id="278" r:id="rId26"/>
    <p:sldId id="279" r:id="rId27"/>
    <p:sldId id="364" r:id="rId28"/>
    <p:sldId id="280" r:id="rId29"/>
    <p:sldId id="365" r:id="rId30"/>
    <p:sldId id="282" r:id="rId31"/>
    <p:sldId id="369" r:id="rId32"/>
    <p:sldId id="370" r:id="rId33"/>
    <p:sldId id="371" r:id="rId34"/>
    <p:sldId id="372" r:id="rId35"/>
    <p:sldId id="342" r:id="rId36"/>
    <p:sldId id="377" r:id="rId37"/>
    <p:sldId id="367" r:id="rId38"/>
    <p:sldId id="368" r:id="rId39"/>
    <p:sldId id="287" r:id="rId40"/>
    <p:sldId id="288" r:id="rId41"/>
    <p:sldId id="289" r:id="rId42"/>
    <p:sldId id="333" r:id="rId43"/>
    <p:sldId id="337" r:id="rId44"/>
    <p:sldId id="306" r:id="rId45"/>
    <p:sldId id="378" r:id="rId46"/>
    <p:sldId id="381" r:id="rId47"/>
    <p:sldId id="295" r:id="rId48"/>
    <p:sldId id="336" r:id="rId49"/>
    <p:sldId id="305" r:id="rId50"/>
    <p:sldId id="310" r:id="rId51"/>
    <p:sldId id="312" r:id="rId52"/>
    <p:sldId id="313" r:id="rId53"/>
    <p:sldId id="314" r:id="rId54"/>
    <p:sldId id="338" r:id="rId55"/>
    <p:sldId id="379" r:id="rId56"/>
    <p:sldId id="319" r:id="rId57"/>
    <p:sldId id="380" r:id="rId58"/>
    <p:sldId id="316" r:id="rId59"/>
    <p:sldId id="317" r:id="rId60"/>
    <p:sldId id="382" r:id="rId61"/>
    <p:sldId id="334" r:id="rId62"/>
    <p:sldId id="335" r:id="rId63"/>
    <p:sldId id="315" r:id="rId64"/>
    <p:sldId id="428" r:id="rId65"/>
    <p:sldId id="320" r:id="rId66"/>
    <p:sldId id="321" r:id="rId67"/>
    <p:sldId id="339" r:id="rId68"/>
    <p:sldId id="355" r:id="rId69"/>
    <p:sldId id="383" r:id="rId70"/>
    <p:sldId id="361" r:id="rId71"/>
    <p:sldId id="356" r:id="rId72"/>
    <p:sldId id="357" r:id="rId73"/>
    <p:sldId id="359" r:id="rId74"/>
    <p:sldId id="384" r:id="rId75"/>
    <p:sldId id="388" r:id="rId76"/>
    <p:sldId id="391" r:id="rId77"/>
    <p:sldId id="407" r:id="rId78"/>
    <p:sldId id="408" r:id="rId79"/>
    <p:sldId id="392" r:id="rId80"/>
    <p:sldId id="393" r:id="rId81"/>
    <p:sldId id="394" r:id="rId82"/>
    <p:sldId id="395" r:id="rId83"/>
    <p:sldId id="409" r:id="rId84"/>
    <p:sldId id="398" r:id="rId85"/>
    <p:sldId id="399" r:id="rId86"/>
    <p:sldId id="400" r:id="rId87"/>
    <p:sldId id="402" r:id="rId88"/>
    <p:sldId id="429" r:id="rId89"/>
    <p:sldId id="417" r:id="rId90"/>
    <p:sldId id="410" r:id="rId91"/>
    <p:sldId id="411" r:id="rId92"/>
    <p:sldId id="412" r:id="rId93"/>
    <p:sldId id="421" r:id="rId94"/>
    <p:sldId id="413" r:id="rId95"/>
    <p:sldId id="415" r:id="rId96"/>
    <p:sldId id="416" r:id="rId97"/>
    <p:sldId id="418" r:id="rId98"/>
    <p:sldId id="422" r:id="rId99"/>
    <p:sldId id="419" r:id="rId100"/>
    <p:sldId id="423" r:id="rId101"/>
    <p:sldId id="424" r:id="rId102"/>
    <p:sldId id="426" r:id="rId103"/>
    <p:sldId id="427" r:id="rId104"/>
    <p:sldId id="425" r:id="rId105"/>
  </p:sldIdLst>
  <p:sldSz cx="12192000" cy="6858000"/>
  <p:notesSz cx="6858000" cy="9144000"/>
  <p:defaultTextStyle>
    <a:defPPr>
      <a:defRPr lang="en-US"/>
    </a:defPPr>
    <a:lvl1pPr algn="l" rtl="0" fontAlgn="base">
      <a:spcBef>
        <a:spcPct val="0"/>
      </a:spcBef>
      <a:spcAft>
        <a:spcPct val="0"/>
      </a:spcAft>
      <a:defRPr sz="2400" kern="1200">
        <a:solidFill>
          <a:schemeClr val="tx1"/>
        </a:solidFill>
        <a:latin typeface="Times New Roman" pitchFamily="18" charset="0"/>
        <a:ea typeface="+mn-ea"/>
        <a:cs typeface="Arial" pitchFamily="34" charset="0"/>
      </a:defRPr>
    </a:lvl1pPr>
    <a:lvl2pPr marL="457200" algn="l" rtl="0" fontAlgn="base">
      <a:spcBef>
        <a:spcPct val="0"/>
      </a:spcBef>
      <a:spcAft>
        <a:spcPct val="0"/>
      </a:spcAft>
      <a:defRPr sz="2400" kern="1200">
        <a:solidFill>
          <a:schemeClr val="tx1"/>
        </a:solidFill>
        <a:latin typeface="Times New Roman" pitchFamily="18" charset="0"/>
        <a:ea typeface="+mn-ea"/>
        <a:cs typeface="Arial" pitchFamily="34" charset="0"/>
      </a:defRPr>
    </a:lvl2pPr>
    <a:lvl3pPr marL="914400" algn="l" rtl="0" fontAlgn="base">
      <a:spcBef>
        <a:spcPct val="0"/>
      </a:spcBef>
      <a:spcAft>
        <a:spcPct val="0"/>
      </a:spcAft>
      <a:defRPr sz="2400" kern="1200">
        <a:solidFill>
          <a:schemeClr val="tx1"/>
        </a:solidFill>
        <a:latin typeface="Times New Roman" pitchFamily="18" charset="0"/>
        <a:ea typeface="+mn-ea"/>
        <a:cs typeface="Arial" pitchFamily="34" charset="0"/>
      </a:defRPr>
    </a:lvl3pPr>
    <a:lvl4pPr marL="1371600" algn="l" rtl="0" fontAlgn="base">
      <a:spcBef>
        <a:spcPct val="0"/>
      </a:spcBef>
      <a:spcAft>
        <a:spcPct val="0"/>
      </a:spcAft>
      <a:defRPr sz="2400" kern="1200">
        <a:solidFill>
          <a:schemeClr val="tx1"/>
        </a:solidFill>
        <a:latin typeface="Times New Roman" pitchFamily="18" charset="0"/>
        <a:ea typeface="+mn-ea"/>
        <a:cs typeface="Arial" pitchFamily="34" charset="0"/>
      </a:defRPr>
    </a:lvl4pPr>
    <a:lvl5pPr marL="1828800" algn="l" rtl="0" fontAlgn="base">
      <a:spcBef>
        <a:spcPct val="0"/>
      </a:spcBef>
      <a:spcAft>
        <a:spcPct val="0"/>
      </a:spcAft>
      <a:defRPr sz="2400" kern="1200">
        <a:solidFill>
          <a:schemeClr val="tx1"/>
        </a:solidFill>
        <a:latin typeface="Times New Roman" pitchFamily="18" charset="0"/>
        <a:ea typeface="+mn-ea"/>
        <a:cs typeface="Arial" pitchFamily="34" charset="0"/>
      </a:defRPr>
    </a:lvl5pPr>
    <a:lvl6pPr marL="2286000" algn="l" defTabSz="914400" rtl="0" eaLnBrk="1" latinLnBrk="0" hangingPunct="1">
      <a:defRPr sz="2400" kern="1200">
        <a:solidFill>
          <a:schemeClr val="tx1"/>
        </a:solidFill>
        <a:latin typeface="Times New Roman" pitchFamily="18" charset="0"/>
        <a:ea typeface="+mn-ea"/>
        <a:cs typeface="Arial" pitchFamily="34" charset="0"/>
      </a:defRPr>
    </a:lvl6pPr>
    <a:lvl7pPr marL="2743200" algn="l" defTabSz="914400" rtl="0" eaLnBrk="1" latinLnBrk="0" hangingPunct="1">
      <a:defRPr sz="2400" kern="1200">
        <a:solidFill>
          <a:schemeClr val="tx1"/>
        </a:solidFill>
        <a:latin typeface="Times New Roman" pitchFamily="18" charset="0"/>
        <a:ea typeface="+mn-ea"/>
        <a:cs typeface="Arial" pitchFamily="34" charset="0"/>
      </a:defRPr>
    </a:lvl7pPr>
    <a:lvl8pPr marL="3200400" algn="l" defTabSz="914400" rtl="0" eaLnBrk="1" latinLnBrk="0" hangingPunct="1">
      <a:defRPr sz="2400" kern="1200">
        <a:solidFill>
          <a:schemeClr val="tx1"/>
        </a:solidFill>
        <a:latin typeface="Times New Roman" pitchFamily="18" charset="0"/>
        <a:ea typeface="+mn-ea"/>
        <a:cs typeface="Arial" pitchFamily="34" charset="0"/>
      </a:defRPr>
    </a:lvl8pPr>
    <a:lvl9pPr marL="3657600" algn="l" defTabSz="914400" rtl="0" eaLnBrk="1" latinLnBrk="0" hangingPunct="1">
      <a:defRPr sz="2400" kern="1200">
        <a:solidFill>
          <a:schemeClr val="tx1"/>
        </a:solidFill>
        <a:latin typeface="Times New Roman" pitchFamily="18" charset="0"/>
        <a:ea typeface="+mn-ea"/>
        <a:cs typeface="Arial"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FF9999"/>
    <a:srgbClr val="FFCCCC"/>
    <a:srgbClr val="FF0066"/>
    <a:srgbClr val="FFCCFF"/>
    <a:srgbClr val="FF99FF"/>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18" autoAdjust="0"/>
    <p:restoredTop sz="94660"/>
  </p:normalViewPr>
  <p:slideViewPr>
    <p:cSldViewPr>
      <p:cViewPr varScale="1">
        <p:scale>
          <a:sx n="64" d="100"/>
          <a:sy n="64" d="100"/>
        </p:scale>
        <p:origin x="834"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400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16.wmf"/><Relationship Id="rId1" Type="http://schemas.openxmlformats.org/officeDocument/2006/relationships/image" Target="../media/image15.wmf"/><Relationship Id="rId4" Type="http://schemas.openxmlformats.org/officeDocument/2006/relationships/image" Target="../media/image18.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image" Target="../media/image1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0" hangingPunct="0">
              <a:defRPr sz="1200">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0" hangingPunct="0">
              <a:defRPr sz="1200">
                <a:cs typeface="+mn-cs"/>
              </a:defRPr>
            </a:lvl1pPr>
          </a:lstStyle>
          <a:p>
            <a:pPr>
              <a:defRPr/>
            </a:pPr>
            <a:fld id="{56B40671-FEED-4E68-9802-57E477FA4728}" type="datetimeFigureOut">
              <a:rPr lang="en-US"/>
              <a:pPr>
                <a:defRPr/>
              </a:pPr>
              <a:t>2/14/2025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0" hangingPunct="0">
              <a:defRPr sz="1200">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eaLnBrk="0" hangingPunct="0">
              <a:defRPr sz="1200">
                <a:cs typeface="+mn-cs"/>
              </a:defRPr>
            </a:lvl1pPr>
          </a:lstStyle>
          <a:p>
            <a:pPr>
              <a:defRPr/>
            </a:pPr>
            <a:fld id="{DF20E98C-3DAC-4C25-BEC0-2D374F0D83F5}" type="slidenum">
              <a:rPr lang="en-US"/>
              <a:pPr>
                <a:defRPr/>
              </a:pPr>
              <a:t>‹#›</a:t>
            </a:fld>
            <a:endParaRPr lang="en-US"/>
          </a:p>
        </p:txBody>
      </p:sp>
    </p:spTree>
    <p:extLst>
      <p:ext uri="{BB962C8B-B14F-4D97-AF65-F5344CB8AC3E}">
        <p14:creationId xmlns:p14="http://schemas.microsoft.com/office/powerpoint/2010/main" val="401728326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7885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8852"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CA6241A6-F7D6-4292-9FA6-C71EC1E81D66}" type="slidenum">
              <a:rPr lang="en-US" smtClean="0"/>
              <a:pPr>
                <a:defRPr/>
              </a:pPr>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7987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987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33521538-D080-44B7-9DA9-35F3D1440829}" type="slidenum">
              <a:rPr lang="en-US" smtClean="0"/>
              <a:pPr>
                <a:defRPr/>
              </a:pPr>
              <a:t>9</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19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192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1F8FCDF1-1596-4D00-A676-4E3B2737B36D}" type="slidenum">
              <a:rPr lang="en-US" smtClean="0"/>
              <a:pPr>
                <a:defRPr/>
              </a:pPr>
              <a:t>14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29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294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F75A8987-AE9E-43F5-B1F7-FF2E9AD313B1}" type="slidenum">
              <a:rPr lang="en-US" smtClean="0"/>
              <a:pPr>
                <a:defRPr/>
              </a:pPr>
              <a:t>15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499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499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91500856-1D2D-41C5-B1EE-256D665ACBD2}" type="slidenum">
              <a:rPr lang="en-US" smtClean="0"/>
              <a:pPr>
                <a:defRPr/>
              </a:pPr>
              <a:t>19</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601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602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947A58D4-0286-4F48-BED6-CEF11693895B}" type="slidenum">
              <a:rPr lang="en-US" smtClean="0"/>
              <a:pPr>
                <a:defRPr/>
              </a:pPr>
              <a:t>20</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523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523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9C5F12C7-2D0E-46EB-8C90-1E56976E9F3D}" type="slidenum">
              <a:rPr lang="en-US" smtClean="0"/>
              <a:pPr>
                <a:defRPr/>
              </a:pPr>
              <a:t>22</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625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626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883139E2-4742-4B8F-9D5A-DA8FC3036399}" type="slidenum">
              <a:rPr lang="en-US" smtClean="0"/>
              <a:pPr>
                <a:defRPr/>
              </a:pPr>
              <a:t>23</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728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728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6AEC8834-2467-4AB2-887A-8B87E977ABF0}" type="slidenum">
              <a:rPr lang="en-US" smtClean="0"/>
              <a:pPr>
                <a:defRPr/>
              </a:pPr>
              <a:t>24</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830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830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B66BB54B-7E2C-4736-B69B-BC262120FDC5}" type="slidenum">
              <a:rPr lang="en-US" smtClean="0"/>
              <a:pPr>
                <a:defRPr/>
              </a:pPr>
              <a:t>25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035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035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D13F1B8C-D3F9-4821-960E-6AE363F5ECBA}" type="slidenum">
              <a:rPr lang="en-US" smtClean="0"/>
              <a:pPr>
                <a:defRPr/>
              </a:pPr>
              <a:t>26</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137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138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0B9E5979-9133-4DFB-91F5-CCB68A9B95A4}" type="slidenum">
              <a:rPr lang="en-US" smtClean="0"/>
              <a:pPr>
                <a:defRPr/>
              </a:pPr>
              <a:t>28</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342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342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C4053368-33CB-4796-81ED-8D3AFD764E18}" type="slidenum">
              <a:rPr lang="en-US" smtClean="0"/>
              <a:pPr>
                <a:defRPr/>
              </a:pPr>
              <a:t>30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089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090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4C468DC1-0C01-4BF4-BE2A-07BF5C93E39B}" type="slidenum">
              <a:rPr lang="en-US" smtClean="0"/>
              <a:pPr>
                <a:defRPr/>
              </a:pPr>
              <a:t>38</a:t>
            </a:fld>
            <a:endParaRPr lang="en-US"/>
          </a:p>
        </p:txBody>
      </p:sp>
    </p:spTree>
    <p:extLst>
      <p:ext uri="{BB962C8B-B14F-4D97-AF65-F5344CB8AC3E}">
        <p14:creationId xmlns:p14="http://schemas.microsoft.com/office/powerpoint/2010/main" val="13099659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75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752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E59CF9B5-3267-4D65-B7E6-F2AE60D11A9D}" type="slidenum">
              <a:rPr lang="en-US" smtClean="0"/>
              <a:pPr>
                <a:defRPr/>
              </a:pPr>
              <a:t>39</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85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854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52045AE3-F991-4859-841A-2811A998417C}" type="slidenum">
              <a:rPr lang="en-US" smtClean="0"/>
              <a:pPr>
                <a:defRPr/>
              </a:pPr>
              <a:t>40</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957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9572"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2650254A-84C3-4829-A418-3C17F6109670}" type="slidenum">
              <a:rPr lang="en-US" smtClean="0"/>
              <a:pPr>
                <a:defRPr/>
              </a:pPr>
              <a:t>41</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lvl1pPr eaLnBrk="0" hangingPunct="0">
              <a:defRPr sz="1600">
                <a:solidFill>
                  <a:schemeClr val="tx1"/>
                </a:solidFill>
                <a:latin typeface="Times New Roman" pitchFamily="18" charset="0"/>
                <a:ea typeface="ＭＳ Ｐゴシック" pitchFamily="34" charset="-128"/>
              </a:defRPr>
            </a:lvl1pPr>
            <a:lvl2pPr marL="742883" indent="-285724" eaLnBrk="0" hangingPunct="0">
              <a:defRPr sz="1600">
                <a:solidFill>
                  <a:schemeClr val="tx1"/>
                </a:solidFill>
                <a:latin typeface="Times New Roman" pitchFamily="18" charset="0"/>
                <a:ea typeface="ＭＳ Ｐゴシック" pitchFamily="34" charset="-128"/>
              </a:defRPr>
            </a:lvl2pPr>
            <a:lvl3pPr marL="1142898" indent="-228580" eaLnBrk="0" hangingPunct="0">
              <a:defRPr sz="1600">
                <a:solidFill>
                  <a:schemeClr val="tx1"/>
                </a:solidFill>
                <a:latin typeface="Times New Roman" pitchFamily="18" charset="0"/>
                <a:ea typeface="ＭＳ Ｐゴシック" pitchFamily="34" charset="-128"/>
              </a:defRPr>
            </a:lvl3pPr>
            <a:lvl4pPr marL="1600057" indent="-228580" eaLnBrk="0" hangingPunct="0">
              <a:defRPr sz="1600">
                <a:solidFill>
                  <a:schemeClr val="tx1"/>
                </a:solidFill>
                <a:latin typeface="Times New Roman" pitchFamily="18" charset="0"/>
                <a:ea typeface="ＭＳ Ｐゴシック" pitchFamily="34" charset="-128"/>
              </a:defRPr>
            </a:lvl4pPr>
            <a:lvl5pPr marL="2057217" indent="-228580" eaLnBrk="0" hangingPunct="0">
              <a:defRPr sz="1600">
                <a:solidFill>
                  <a:schemeClr val="tx1"/>
                </a:solidFill>
                <a:latin typeface="Times New Roman" pitchFamily="18" charset="0"/>
                <a:ea typeface="ＭＳ Ｐゴシック" pitchFamily="34" charset="-128"/>
              </a:defRPr>
            </a:lvl5pPr>
            <a:lvl6pPr marL="2514376"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6pPr>
            <a:lvl7pPr marL="297153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7pPr>
            <a:lvl8pPr marL="342869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8pPr>
            <a:lvl9pPr marL="3885854"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9pPr>
          </a:lstStyle>
          <a:p>
            <a:pPr>
              <a:defRPr/>
            </a:pPr>
            <a:fld id="{E5C26E13-01A2-49BA-9178-81650BB06AA8}" type="slidenum">
              <a:rPr lang="en-US" altLang="en-US" sz="1200">
                <a:latin typeface="Arial" pitchFamily="34" charset="0"/>
              </a:rPr>
              <a:pPr>
                <a:defRPr/>
              </a:pPr>
              <a:t>43</a:t>
            </a:fld>
            <a:endParaRPr lang="en-US" altLang="en-US" sz="1200">
              <a:latin typeface="Arial" pitchFamily="34" charset="0"/>
            </a:endParaRPr>
          </a:p>
        </p:txBody>
      </p:sp>
      <p:sp>
        <p:nvSpPr>
          <p:cNvPr id="47107" name="Rectangle 2"/>
          <p:cNvSpPr>
            <a:spLocks noGrp="1" noRot="1" noChangeAspect="1" noChangeArrowheads="1" noTextEdit="1"/>
          </p:cNvSpPr>
          <p:nvPr>
            <p:ph type="sldImg"/>
          </p:nvPr>
        </p:nvSpPr>
        <p:spPr>
          <a:xfrm>
            <a:off x="381000" y="685800"/>
            <a:ext cx="6096000" cy="3429000"/>
          </a:xfrm>
          <a:ln/>
        </p:spPr>
      </p:sp>
      <p:sp>
        <p:nvSpPr>
          <p:cNvPr id="43012"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a:ea typeface="ＭＳ Ｐゴシック" charset="0"/>
              <a:cs typeface="ＭＳ Ｐゴシック"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177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1776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739F79CB-738E-45E6-83E7-4B9081D2F338}" type="slidenum">
              <a:rPr lang="en-US" smtClean="0"/>
              <a:pPr>
                <a:defRPr/>
              </a:pPr>
              <a:t>44</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1264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1264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83BAF6CA-D3D6-4429-947F-363C9E2ABF41}" type="slidenum">
              <a:rPr lang="en-US" smtClean="0"/>
              <a:pPr>
                <a:defRPr/>
              </a:pPr>
              <a:t>47</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lvl1pPr eaLnBrk="0" hangingPunct="0">
              <a:defRPr sz="1600">
                <a:solidFill>
                  <a:schemeClr val="tx1"/>
                </a:solidFill>
                <a:latin typeface="Times New Roman" pitchFamily="18" charset="0"/>
                <a:ea typeface="ＭＳ Ｐゴシック" pitchFamily="34" charset="-128"/>
              </a:defRPr>
            </a:lvl1pPr>
            <a:lvl2pPr marL="742883" indent="-285724" eaLnBrk="0" hangingPunct="0">
              <a:defRPr sz="1600">
                <a:solidFill>
                  <a:schemeClr val="tx1"/>
                </a:solidFill>
                <a:latin typeface="Times New Roman" pitchFamily="18" charset="0"/>
                <a:ea typeface="ＭＳ Ｐゴシック" pitchFamily="34" charset="-128"/>
              </a:defRPr>
            </a:lvl2pPr>
            <a:lvl3pPr marL="1142898" indent="-228580" eaLnBrk="0" hangingPunct="0">
              <a:defRPr sz="1600">
                <a:solidFill>
                  <a:schemeClr val="tx1"/>
                </a:solidFill>
                <a:latin typeface="Times New Roman" pitchFamily="18" charset="0"/>
                <a:ea typeface="ＭＳ Ｐゴシック" pitchFamily="34" charset="-128"/>
              </a:defRPr>
            </a:lvl3pPr>
            <a:lvl4pPr marL="1600057" indent="-228580" eaLnBrk="0" hangingPunct="0">
              <a:defRPr sz="1600">
                <a:solidFill>
                  <a:schemeClr val="tx1"/>
                </a:solidFill>
                <a:latin typeface="Times New Roman" pitchFamily="18" charset="0"/>
                <a:ea typeface="ＭＳ Ｐゴシック" pitchFamily="34" charset="-128"/>
              </a:defRPr>
            </a:lvl4pPr>
            <a:lvl5pPr marL="2057217" indent="-228580" eaLnBrk="0" hangingPunct="0">
              <a:defRPr sz="1600">
                <a:solidFill>
                  <a:schemeClr val="tx1"/>
                </a:solidFill>
                <a:latin typeface="Times New Roman" pitchFamily="18" charset="0"/>
                <a:ea typeface="ＭＳ Ｐゴシック" pitchFamily="34" charset="-128"/>
              </a:defRPr>
            </a:lvl5pPr>
            <a:lvl6pPr marL="2514376"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6pPr>
            <a:lvl7pPr marL="297153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7pPr>
            <a:lvl8pPr marL="342869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8pPr>
            <a:lvl9pPr marL="3885854"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9pPr>
          </a:lstStyle>
          <a:p>
            <a:pPr>
              <a:defRPr/>
            </a:pPr>
            <a:fld id="{F51D3491-E5EE-4734-98B4-7C60816D8F7B}" type="slidenum">
              <a:rPr lang="en-US" altLang="en-US" sz="1200">
                <a:latin typeface="Arial" pitchFamily="34" charset="0"/>
              </a:rPr>
              <a:pPr>
                <a:defRPr/>
              </a:pPr>
              <a:t>48</a:t>
            </a:fld>
            <a:endParaRPr lang="en-US" altLang="en-US" sz="1200">
              <a:latin typeface="Arial" pitchFamily="34" charset="0"/>
            </a:endParaRPr>
          </a:p>
        </p:txBody>
      </p:sp>
      <p:sp>
        <p:nvSpPr>
          <p:cNvPr id="46083" name="Rectangle 2"/>
          <p:cNvSpPr>
            <a:spLocks noGrp="1" noRot="1" noChangeAspect="1" noChangeArrowheads="1" noTextEdit="1"/>
          </p:cNvSpPr>
          <p:nvPr>
            <p:ph type="sldImg"/>
          </p:nvPr>
        </p:nvSpPr>
        <p:spPr>
          <a:xfrm>
            <a:off x="381000" y="685800"/>
            <a:ext cx="6096000" cy="3429000"/>
          </a:xfrm>
          <a:ln/>
        </p:spPr>
      </p:sp>
      <p:sp>
        <p:nvSpPr>
          <p:cNvPr id="43012"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a:ea typeface="ＭＳ Ｐゴシック" charset="0"/>
              <a:cs typeface="ＭＳ Ｐゴシック"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1673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1674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CB7371D1-1F58-4E33-82C8-59EC43000F18}" type="slidenum">
              <a:rPr lang="en-US" smtClean="0"/>
              <a:pPr>
                <a:defRPr/>
              </a:pPr>
              <a:t>49</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288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288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58DA6B0A-F3D1-4816-BAEC-170C4EAE5D9C}" type="slidenum">
              <a:rPr lang="en-US" smtClean="0"/>
              <a:pPr>
                <a:defRPr/>
              </a:pPr>
              <a:t>50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493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4932"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9A6C52B6-807E-4AF3-AF3B-08A2BE4039DA}" type="slidenum">
              <a:rPr lang="en-US" smtClean="0"/>
              <a:pPr>
                <a:defRPr/>
              </a:pPr>
              <a:t>51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595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595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F359D942-69D3-430B-B0DA-F31476D22BFA}" type="slidenum">
              <a:rPr lang="en-US" smtClean="0"/>
              <a:pPr>
                <a:defRPr/>
              </a:pPr>
              <a:t>52</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697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698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834218C3-AEA1-4453-BD01-FF7E1EED74D8}" type="slidenum">
              <a:rPr lang="en-US" smtClean="0"/>
              <a:pPr>
                <a:defRPr/>
              </a:pPr>
              <a:t>53</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lvl1pPr eaLnBrk="0" hangingPunct="0">
              <a:defRPr sz="1600">
                <a:solidFill>
                  <a:schemeClr val="tx1"/>
                </a:solidFill>
                <a:latin typeface="Times New Roman" pitchFamily="18" charset="0"/>
                <a:ea typeface="ＭＳ Ｐゴシック" pitchFamily="34" charset="-128"/>
              </a:defRPr>
            </a:lvl1pPr>
            <a:lvl2pPr marL="742883" indent="-285724" eaLnBrk="0" hangingPunct="0">
              <a:defRPr sz="1600">
                <a:solidFill>
                  <a:schemeClr val="tx1"/>
                </a:solidFill>
                <a:latin typeface="Times New Roman" pitchFamily="18" charset="0"/>
                <a:ea typeface="ＭＳ Ｐゴシック" pitchFamily="34" charset="-128"/>
              </a:defRPr>
            </a:lvl2pPr>
            <a:lvl3pPr marL="1142898" indent="-228580" eaLnBrk="0" hangingPunct="0">
              <a:defRPr sz="1600">
                <a:solidFill>
                  <a:schemeClr val="tx1"/>
                </a:solidFill>
                <a:latin typeface="Times New Roman" pitchFamily="18" charset="0"/>
                <a:ea typeface="ＭＳ Ｐゴシック" pitchFamily="34" charset="-128"/>
              </a:defRPr>
            </a:lvl3pPr>
            <a:lvl4pPr marL="1600057" indent="-228580" eaLnBrk="0" hangingPunct="0">
              <a:defRPr sz="1600">
                <a:solidFill>
                  <a:schemeClr val="tx1"/>
                </a:solidFill>
                <a:latin typeface="Times New Roman" pitchFamily="18" charset="0"/>
                <a:ea typeface="ＭＳ Ｐゴシック" pitchFamily="34" charset="-128"/>
              </a:defRPr>
            </a:lvl4pPr>
            <a:lvl5pPr marL="2057217" indent="-228580" eaLnBrk="0" hangingPunct="0">
              <a:defRPr sz="1600">
                <a:solidFill>
                  <a:schemeClr val="tx1"/>
                </a:solidFill>
                <a:latin typeface="Times New Roman" pitchFamily="18" charset="0"/>
                <a:ea typeface="ＭＳ Ｐゴシック" pitchFamily="34" charset="-128"/>
              </a:defRPr>
            </a:lvl5pPr>
            <a:lvl6pPr marL="2514376"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6pPr>
            <a:lvl7pPr marL="297153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7pPr>
            <a:lvl8pPr marL="342869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8pPr>
            <a:lvl9pPr marL="3885854"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9pPr>
          </a:lstStyle>
          <a:p>
            <a:pPr>
              <a:defRPr/>
            </a:pPr>
            <a:fld id="{7EF62A9C-50FB-45AF-9A7C-E8A695EDF340}" type="slidenum">
              <a:rPr lang="en-US" altLang="en-US" sz="1200">
                <a:latin typeface="Arial" pitchFamily="34" charset="0"/>
              </a:rPr>
              <a:pPr>
                <a:defRPr/>
              </a:pPr>
              <a:t>54</a:t>
            </a:fld>
            <a:endParaRPr lang="en-US" altLang="en-US" sz="1200">
              <a:latin typeface="Arial" pitchFamily="34" charset="0"/>
            </a:endParaRPr>
          </a:p>
        </p:txBody>
      </p:sp>
      <p:sp>
        <p:nvSpPr>
          <p:cNvPr id="48131" name="Rectangle 2"/>
          <p:cNvSpPr>
            <a:spLocks noGrp="1" noRot="1" noChangeAspect="1" noChangeArrowheads="1" noTextEdit="1"/>
          </p:cNvSpPr>
          <p:nvPr>
            <p:ph type="sldImg"/>
          </p:nvPr>
        </p:nvSpPr>
        <p:spPr>
          <a:xfrm>
            <a:off x="381000" y="685800"/>
            <a:ext cx="6096000" cy="3429000"/>
          </a:xfrm>
          <a:ln/>
        </p:spPr>
      </p:sp>
      <p:sp>
        <p:nvSpPr>
          <p:cNvPr id="43012"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a:ea typeface="ＭＳ Ｐゴシック" charset="0"/>
              <a:cs typeface="ＭＳ Ｐゴシック"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3209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3210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7E6EC36C-9898-4DBD-83C1-A940DB153006}" type="slidenum">
              <a:rPr lang="en-US" smtClean="0"/>
              <a:pPr>
                <a:defRPr/>
              </a:pPr>
              <a:t>56</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902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902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436FCB6B-89D4-47BC-9726-CD57240A1B7A}" type="slidenum">
              <a:rPr lang="en-US" smtClean="0"/>
              <a:pPr>
                <a:defRPr/>
              </a:pPr>
              <a:t>58</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3005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30052"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3F60DF48-2501-4C6C-8347-2173B9868BA9}" type="slidenum">
              <a:rPr lang="en-US" smtClean="0"/>
              <a:pPr>
                <a:defRPr/>
              </a:pPr>
              <a:t>59</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3005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30052"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3F60DF48-2501-4C6C-8347-2173B9868BA9}" type="slidenum">
              <a:rPr lang="en-US" smtClean="0"/>
              <a:pPr>
                <a:defRPr/>
              </a:pPr>
              <a:t>60</a:t>
            </a:fld>
            <a:endParaRPr lang="en-US"/>
          </a:p>
        </p:txBody>
      </p:sp>
    </p:spTree>
    <p:extLst>
      <p:ext uri="{BB962C8B-B14F-4D97-AF65-F5344CB8AC3E}">
        <p14:creationId xmlns:p14="http://schemas.microsoft.com/office/powerpoint/2010/main" val="4063261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800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800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F489DD7D-0B05-4764-84D8-3FC5A92F9818}" type="slidenum">
              <a:rPr lang="en-US" smtClean="0"/>
              <a:pPr>
                <a:defRPr/>
              </a:pPr>
              <a:t>63</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2800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2800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F489DD7D-0B05-4764-84D8-3FC5A92F9818}" type="slidenum">
              <a:rPr lang="en-US" smtClean="0"/>
              <a:pPr>
                <a:defRPr/>
              </a:pPr>
              <a:t>64</a:t>
            </a:fld>
            <a:endParaRPr lang="en-US"/>
          </a:p>
        </p:txBody>
      </p:sp>
    </p:spTree>
    <p:extLst>
      <p:ext uri="{BB962C8B-B14F-4D97-AF65-F5344CB8AC3E}">
        <p14:creationId xmlns:p14="http://schemas.microsoft.com/office/powerpoint/2010/main" val="2789715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331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3312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7B407D5C-F918-4630-A48B-6B0066C96E91}" type="slidenum">
              <a:rPr lang="en-US" smtClean="0"/>
              <a:pPr>
                <a:defRPr/>
              </a:pPr>
              <a:t>65</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341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3414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72DC0DB1-3551-4A76-9C79-E68A58C72DAE}" type="slidenum">
              <a:rPr lang="en-US" smtClean="0"/>
              <a:pPr>
                <a:defRPr/>
              </a:pPr>
              <a:t>66</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lvl1pPr eaLnBrk="0" hangingPunct="0">
              <a:defRPr sz="1600">
                <a:solidFill>
                  <a:schemeClr val="tx1"/>
                </a:solidFill>
                <a:latin typeface="Times New Roman" pitchFamily="18" charset="0"/>
                <a:ea typeface="ＭＳ Ｐゴシック" pitchFamily="34" charset="-128"/>
              </a:defRPr>
            </a:lvl1pPr>
            <a:lvl2pPr marL="742883" indent="-285724" eaLnBrk="0" hangingPunct="0">
              <a:defRPr sz="1600">
                <a:solidFill>
                  <a:schemeClr val="tx1"/>
                </a:solidFill>
                <a:latin typeface="Times New Roman" pitchFamily="18" charset="0"/>
                <a:ea typeface="ＭＳ Ｐゴシック" pitchFamily="34" charset="-128"/>
              </a:defRPr>
            </a:lvl2pPr>
            <a:lvl3pPr marL="1142898" indent="-228580" eaLnBrk="0" hangingPunct="0">
              <a:defRPr sz="1600">
                <a:solidFill>
                  <a:schemeClr val="tx1"/>
                </a:solidFill>
                <a:latin typeface="Times New Roman" pitchFamily="18" charset="0"/>
                <a:ea typeface="ＭＳ Ｐゴシック" pitchFamily="34" charset="-128"/>
              </a:defRPr>
            </a:lvl3pPr>
            <a:lvl4pPr marL="1600057" indent="-228580" eaLnBrk="0" hangingPunct="0">
              <a:defRPr sz="1600">
                <a:solidFill>
                  <a:schemeClr val="tx1"/>
                </a:solidFill>
                <a:latin typeface="Times New Roman" pitchFamily="18" charset="0"/>
                <a:ea typeface="ＭＳ Ｐゴシック" pitchFamily="34" charset="-128"/>
              </a:defRPr>
            </a:lvl4pPr>
            <a:lvl5pPr marL="2057217" indent="-228580" eaLnBrk="0" hangingPunct="0">
              <a:defRPr sz="1600">
                <a:solidFill>
                  <a:schemeClr val="tx1"/>
                </a:solidFill>
                <a:latin typeface="Times New Roman" pitchFamily="18" charset="0"/>
                <a:ea typeface="ＭＳ Ｐゴシック" pitchFamily="34" charset="-128"/>
              </a:defRPr>
            </a:lvl5pPr>
            <a:lvl6pPr marL="2514376"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6pPr>
            <a:lvl7pPr marL="297153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7pPr>
            <a:lvl8pPr marL="3428695"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8pPr>
            <a:lvl9pPr marL="3885854" indent="-228580" eaLnBrk="0" fontAlgn="base" hangingPunct="0">
              <a:spcBef>
                <a:spcPct val="0"/>
              </a:spcBef>
              <a:spcAft>
                <a:spcPct val="0"/>
              </a:spcAft>
              <a:defRPr sz="1600">
                <a:solidFill>
                  <a:schemeClr val="tx1"/>
                </a:solidFill>
                <a:latin typeface="Times New Roman" pitchFamily="18" charset="0"/>
                <a:ea typeface="ＭＳ Ｐゴシック" pitchFamily="34" charset="-128"/>
              </a:defRPr>
            </a:lvl9pPr>
          </a:lstStyle>
          <a:p>
            <a:pPr>
              <a:defRPr/>
            </a:pPr>
            <a:fld id="{59A68014-A582-4B61-941B-DA502F79DA01}" type="slidenum">
              <a:rPr lang="en-US" altLang="en-US" sz="1200">
                <a:latin typeface="Arial" pitchFamily="34" charset="0"/>
              </a:rPr>
              <a:pPr>
                <a:defRPr/>
              </a:pPr>
              <a:t>67</a:t>
            </a:fld>
            <a:endParaRPr lang="en-US" altLang="en-US" sz="1200">
              <a:latin typeface="Arial" pitchFamily="34" charset="0"/>
            </a:endParaRPr>
          </a:p>
        </p:txBody>
      </p:sp>
      <p:sp>
        <p:nvSpPr>
          <p:cNvPr id="57347" name="Rectangle 2"/>
          <p:cNvSpPr>
            <a:spLocks noGrp="1" noRot="1" noChangeAspect="1" noChangeArrowheads="1" noTextEdit="1"/>
          </p:cNvSpPr>
          <p:nvPr>
            <p:ph type="sldImg"/>
          </p:nvPr>
        </p:nvSpPr>
        <p:spPr>
          <a:xfrm>
            <a:off x="381000" y="685800"/>
            <a:ext cx="6096000" cy="3429000"/>
          </a:xfrm>
          <a:ln/>
        </p:spPr>
      </p:sp>
      <p:sp>
        <p:nvSpPr>
          <p:cNvPr id="43012"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21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216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3BFE1A72-EAFA-4D8E-A2DA-CBB31E37F706}" type="slidenum">
              <a:rPr lang="en-US" smtClean="0"/>
              <a:pPr>
                <a:defRPr/>
              </a:pPr>
              <a:t>70</a:t>
            </a:fld>
            <a:endParaRPr lang="en-US"/>
          </a:p>
        </p:txBody>
      </p:sp>
    </p:spTree>
    <p:extLst>
      <p:ext uri="{BB962C8B-B14F-4D97-AF65-F5344CB8AC3E}">
        <p14:creationId xmlns:p14="http://schemas.microsoft.com/office/powerpoint/2010/main" val="4114954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704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7044"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64E9988D-41D0-4C77-8E32-C9E316B15B5E}" type="slidenum">
              <a:rPr lang="en-US" smtClean="0"/>
              <a:pPr>
                <a:defRPr/>
              </a:pPr>
              <a:t>71</a:t>
            </a:fld>
            <a:endParaRPr lang="en-US"/>
          </a:p>
        </p:txBody>
      </p:sp>
    </p:spTree>
    <p:extLst>
      <p:ext uri="{BB962C8B-B14F-4D97-AF65-F5344CB8AC3E}">
        <p14:creationId xmlns:p14="http://schemas.microsoft.com/office/powerpoint/2010/main" val="23940896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8806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8068"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4FC48FDA-0AAA-4958-B3A5-CE6DBC4E0CBC}" type="slidenum">
              <a:rPr lang="en-US" smtClean="0"/>
              <a:pPr>
                <a:defRPr/>
              </a:pPr>
              <a:t>72</a:t>
            </a:fld>
            <a:endParaRPr lang="en-US"/>
          </a:p>
        </p:txBody>
      </p:sp>
    </p:spTree>
    <p:extLst>
      <p:ext uri="{BB962C8B-B14F-4D97-AF65-F5344CB8AC3E}">
        <p14:creationId xmlns:p14="http://schemas.microsoft.com/office/powerpoint/2010/main" val="2471579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011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0116"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0FA42752-4F56-4DC5-89B1-597C337FB0D1}" type="slidenum">
              <a:rPr lang="en-US" smtClean="0"/>
              <a:pPr>
                <a:defRPr/>
              </a:pPr>
              <a:t>73</a:t>
            </a:fld>
            <a:endParaRPr lang="en-US"/>
          </a:p>
        </p:txBody>
      </p:sp>
    </p:spTree>
    <p:extLst>
      <p:ext uri="{BB962C8B-B14F-4D97-AF65-F5344CB8AC3E}">
        <p14:creationId xmlns:p14="http://schemas.microsoft.com/office/powerpoint/2010/main" val="7392847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bwMode="auto">
          <a:noFill/>
          <a:ln>
            <a:solidFill>
              <a:srgbClr val="000000"/>
            </a:solidFill>
            <a:miter lim="800000"/>
            <a:headEnd/>
            <a:tailEnd/>
          </a:ln>
        </p:spPr>
      </p:sp>
      <p:sp>
        <p:nvSpPr>
          <p:cNvPr id="573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5734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C4DF742-DD61-409C-A496-2BD4B03A4492}" type="slidenum">
              <a:rPr lang="en-US" smtClean="0"/>
              <a:pPr/>
              <a:t>75</a:t>
            </a:fld>
            <a:endParaRPr lang="en-US"/>
          </a:p>
        </p:txBody>
      </p:sp>
    </p:spTree>
    <p:extLst>
      <p:ext uri="{BB962C8B-B14F-4D97-AF65-F5344CB8AC3E}">
        <p14:creationId xmlns:p14="http://schemas.microsoft.com/office/powerpoint/2010/main" val="35323932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Image Placeholder 1"/>
          <p:cNvSpPr>
            <a:spLocks noGrp="1" noRot="1" noChangeAspect="1" noTextEdit="1"/>
          </p:cNvSpPr>
          <p:nvPr>
            <p:ph type="sldImg"/>
          </p:nvPr>
        </p:nvSpPr>
        <p:spPr bwMode="auto">
          <a:noFill/>
          <a:ln>
            <a:solidFill>
              <a:srgbClr val="000000"/>
            </a:solidFill>
            <a:miter lim="800000"/>
            <a:headEnd/>
            <a:tailEnd/>
          </a:ln>
        </p:spPr>
      </p:sp>
      <p:sp>
        <p:nvSpPr>
          <p:cNvPr id="6041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042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49619C6-5593-41C7-94DA-BA98853D6802}" type="slidenum">
              <a:rPr lang="en-US" smtClean="0"/>
              <a:pPr/>
              <a:t>76</a:t>
            </a:fld>
            <a:endParaRPr lang="en-US"/>
          </a:p>
        </p:txBody>
      </p:sp>
    </p:spTree>
    <p:extLst>
      <p:ext uri="{BB962C8B-B14F-4D97-AF65-F5344CB8AC3E}">
        <p14:creationId xmlns:p14="http://schemas.microsoft.com/office/powerpoint/2010/main" val="42560043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Slide Image Placeholder 1"/>
          <p:cNvSpPr>
            <a:spLocks noGrp="1" noRot="1" noChangeAspect="1" noTextEdit="1"/>
          </p:cNvSpPr>
          <p:nvPr>
            <p:ph type="sldImg"/>
          </p:nvPr>
        </p:nvSpPr>
        <p:spPr bwMode="auto">
          <a:noFill/>
          <a:ln>
            <a:solidFill>
              <a:srgbClr val="000000"/>
            </a:solidFill>
            <a:miter lim="800000"/>
            <a:headEnd/>
            <a:tailEnd/>
          </a:ln>
        </p:spPr>
      </p:sp>
      <p:sp>
        <p:nvSpPr>
          <p:cNvPr id="6144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144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1732C85-FDE9-43BD-83D9-D87FE661A2AE}" type="slidenum">
              <a:rPr lang="en-US" smtClean="0"/>
              <a:pPr/>
              <a:t>79</a:t>
            </a:fld>
            <a:endParaRPr lang="en-US"/>
          </a:p>
        </p:txBody>
      </p:sp>
    </p:spTree>
    <p:extLst>
      <p:ext uri="{BB962C8B-B14F-4D97-AF65-F5344CB8AC3E}">
        <p14:creationId xmlns:p14="http://schemas.microsoft.com/office/powerpoint/2010/main" val="13743314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bwMode="auto">
          <a:noFill/>
          <a:ln>
            <a:solidFill>
              <a:srgbClr val="000000"/>
            </a:solidFill>
            <a:miter lim="800000"/>
            <a:headEnd/>
            <a:tailEnd/>
          </a:ln>
        </p:spPr>
      </p:sp>
      <p:sp>
        <p:nvSpPr>
          <p:cNvPr id="6246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246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F1073730-C7D7-47E0-873F-1CFC749DB6BF}" type="slidenum">
              <a:rPr lang="en-US" smtClean="0"/>
              <a:pPr/>
              <a:t>80</a:t>
            </a:fld>
            <a:endParaRPr lang="en-US"/>
          </a:p>
        </p:txBody>
      </p:sp>
    </p:spTree>
    <p:extLst>
      <p:ext uri="{BB962C8B-B14F-4D97-AF65-F5344CB8AC3E}">
        <p14:creationId xmlns:p14="http://schemas.microsoft.com/office/powerpoint/2010/main" val="2326505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Image Placeholder 1"/>
          <p:cNvSpPr>
            <a:spLocks noGrp="1" noRot="1" noChangeAspect="1" noTextEdit="1"/>
          </p:cNvSpPr>
          <p:nvPr>
            <p:ph type="sldImg"/>
          </p:nvPr>
        </p:nvSpPr>
        <p:spPr bwMode="auto">
          <a:noFill/>
          <a:ln>
            <a:solidFill>
              <a:srgbClr val="000000"/>
            </a:solidFill>
            <a:miter lim="800000"/>
            <a:headEnd/>
            <a:tailEnd/>
          </a:ln>
        </p:spPr>
      </p:sp>
      <p:sp>
        <p:nvSpPr>
          <p:cNvPr id="6349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349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7319334-B64B-4F5E-A837-E14E1A96A5C3}" type="slidenum">
              <a:rPr lang="en-US" smtClean="0"/>
              <a:pPr/>
              <a:t>81</a:t>
            </a:fld>
            <a:endParaRPr lang="en-US"/>
          </a:p>
        </p:txBody>
      </p:sp>
    </p:spTree>
    <p:extLst>
      <p:ext uri="{BB962C8B-B14F-4D97-AF65-F5344CB8AC3E}">
        <p14:creationId xmlns:p14="http://schemas.microsoft.com/office/powerpoint/2010/main" val="2734706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Image Placeholder 1"/>
          <p:cNvSpPr>
            <a:spLocks noGrp="1" noRot="1" noChangeAspect="1" noTextEdit="1"/>
          </p:cNvSpPr>
          <p:nvPr>
            <p:ph type="sldImg"/>
          </p:nvPr>
        </p:nvSpPr>
        <p:spPr bwMode="auto">
          <a:noFill/>
          <a:ln>
            <a:solidFill>
              <a:srgbClr val="000000"/>
            </a:solidFill>
            <a:miter lim="800000"/>
            <a:headEnd/>
            <a:tailEnd/>
          </a:ln>
        </p:spPr>
      </p:sp>
      <p:sp>
        <p:nvSpPr>
          <p:cNvPr id="6451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451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8A06ACC-C23A-4817-857E-C5B341E84BCE}" type="slidenum">
              <a:rPr lang="en-US" smtClean="0"/>
              <a:pPr/>
              <a:t>82</a:t>
            </a:fld>
            <a:endParaRPr lang="en-US"/>
          </a:p>
        </p:txBody>
      </p:sp>
    </p:spTree>
    <p:extLst>
      <p:ext uri="{BB962C8B-B14F-4D97-AF65-F5344CB8AC3E}">
        <p14:creationId xmlns:p14="http://schemas.microsoft.com/office/powerpoint/2010/main" val="137299984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Slide Image Placeholder 1"/>
          <p:cNvSpPr>
            <a:spLocks noGrp="1" noRot="1" noChangeAspect="1" noTextEdit="1"/>
          </p:cNvSpPr>
          <p:nvPr>
            <p:ph type="sldImg"/>
          </p:nvPr>
        </p:nvSpPr>
        <p:spPr bwMode="auto">
          <a:noFill/>
          <a:ln>
            <a:solidFill>
              <a:srgbClr val="000000"/>
            </a:solidFill>
            <a:miter lim="800000"/>
            <a:headEnd/>
            <a:tailEnd/>
          </a:ln>
        </p:spPr>
      </p:sp>
      <p:sp>
        <p:nvSpPr>
          <p:cNvPr id="6758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758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772EC36-9825-43DF-B103-20173FF6BFA0}" type="slidenum">
              <a:rPr lang="en-US" smtClean="0"/>
              <a:pPr/>
              <a:t>84</a:t>
            </a:fld>
            <a:endParaRPr lang="en-US"/>
          </a:p>
        </p:txBody>
      </p:sp>
    </p:spTree>
    <p:extLst>
      <p:ext uri="{BB962C8B-B14F-4D97-AF65-F5344CB8AC3E}">
        <p14:creationId xmlns:p14="http://schemas.microsoft.com/office/powerpoint/2010/main" val="176313383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Slide Image Placeholder 1"/>
          <p:cNvSpPr>
            <a:spLocks noGrp="1" noRot="1" noChangeAspect="1" noTextEdit="1"/>
          </p:cNvSpPr>
          <p:nvPr>
            <p:ph type="sldImg"/>
          </p:nvPr>
        </p:nvSpPr>
        <p:spPr bwMode="auto">
          <a:noFill/>
          <a:ln>
            <a:solidFill>
              <a:srgbClr val="000000"/>
            </a:solidFill>
            <a:miter lim="800000"/>
            <a:headEnd/>
            <a:tailEnd/>
          </a:ln>
        </p:spPr>
      </p:sp>
      <p:sp>
        <p:nvSpPr>
          <p:cNvPr id="6861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86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EAD8A7E-11F4-4A38-A847-B3C5400401CE}" type="slidenum">
              <a:rPr lang="en-US" smtClean="0"/>
              <a:pPr/>
              <a:t>85</a:t>
            </a:fld>
            <a:endParaRPr lang="en-US"/>
          </a:p>
        </p:txBody>
      </p:sp>
    </p:spTree>
    <p:extLst>
      <p:ext uri="{BB962C8B-B14F-4D97-AF65-F5344CB8AC3E}">
        <p14:creationId xmlns:p14="http://schemas.microsoft.com/office/powerpoint/2010/main" val="16400433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Slide Image Placeholder 1"/>
          <p:cNvSpPr>
            <a:spLocks noGrp="1" noRot="1" noChangeAspect="1" noTextEdit="1"/>
          </p:cNvSpPr>
          <p:nvPr>
            <p:ph type="sldImg"/>
          </p:nvPr>
        </p:nvSpPr>
        <p:spPr bwMode="auto">
          <a:noFill/>
          <a:ln>
            <a:solidFill>
              <a:srgbClr val="000000"/>
            </a:solidFill>
            <a:miter lim="800000"/>
            <a:headEnd/>
            <a:tailEnd/>
          </a:ln>
        </p:spPr>
      </p:sp>
      <p:sp>
        <p:nvSpPr>
          <p:cNvPr id="6963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96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F56059BB-E53F-44FA-9A28-B5560FAEFE11}" type="slidenum">
              <a:rPr lang="en-US" smtClean="0"/>
              <a:pPr/>
              <a:t>86</a:t>
            </a:fld>
            <a:endParaRPr lang="en-US"/>
          </a:p>
        </p:txBody>
      </p:sp>
    </p:spTree>
    <p:extLst>
      <p:ext uri="{BB962C8B-B14F-4D97-AF65-F5344CB8AC3E}">
        <p14:creationId xmlns:p14="http://schemas.microsoft.com/office/powerpoint/2010/main" val="401670904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Slide Image Placeholder 1"/>
          <p:cNvSpPr>
            <a:spLocks noGrp="1" noRot="1" noChangeAspect="1" noTextEdit="1"/>
          </p:cNvSpPr>
          <p:nvPr>
            <p:ph type="sldImg"/>
          </p:nvPr>
        </p:nvSpPr>
        <p:spPr bwMode="auto">
          <a:noFill/>
          <a:ln>
            <a:solidFill>
              <a:srgbClr val="000000"/>
            </a:solidFill>
            <a:miter lim="800000"/>
            <a:headEnd/>
            <a:tailEnd/>
          </a:ln>
        </p:spPr>
      </p:sp>
      <p:sp>
        <p:nvSpPr>
          <p:cNvPr id="7270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27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B832DC9-858C-4813-B20D-84A812387659}" type="slidenum">
              <a:rPr lang="en-US" smtClean="0"/>
              <a:pPr/>
              <a:t>90</a:t>
            </a:fld>
            <a:endParaRPr lang="en-US"/>
          </a:p>
        </p:txBody>
      </p:sp>
    </p:spTree>
    <p:extLst>
      <p:ext uri="{BB962C8B-B14F-4D97-AF65-F5344CB8AC3E}">
        <p14:creationId xmlns:p14="http://schemas.microsoft.com/office/powerpoint/2010/main" val="20859801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Slide Image Placeholder 1"/>
          <p:cNvSpPr>
            <a:spLocks noGrp="1" noRot="1" noChangeAspect="1" noTextEdit="1"/>
          </p:cNvSpPr>
          <p:nvPr>
            <p:ph type="sldImg"/>
          </p:nvPr>
        </p:nvSpPr>
        <p:spPr bwMode="auto">
          <a:noFill/>
          <a:ln>
            <a:solidFill>
              <a:srgbClr val="000000"/>
            </a:solidFill>
            <a:miter lim="800000"/>
            <a:headEnd/>
            <a:tailEnd/>
          </a:ln>
        </p:spPr>
      </p:sp>
      <p:sp>
        <p:nvSpPr>
          <p:cNvPr id="7373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37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BB64608-12C3-457F-9C28-FE999991D91E}" type="slidenum">
              <a:rPr lang="en-US" smtClean="0"/>
              <a:pPr/>
              <a:t>92</a:t>
            </a:fld>
            <a:endParaRPr lang="en-US"/>
          </a:p>
        </p:txBody>
      </p:sp>
    </p:spTree>
    <p:extLst>
      <p:ext uri="{BB962C8B-B14F-4D97-AF65-F5344CB8AC3E}">
        <p14:creationId xmlns:p14="http://schemas.microsoft.com/office/powerpoint/2010/main" val="17771732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p:cNvSpPr>
            <a:spLocks noGrp="1" noRot="1" noChangeAspect="1" noTextEdit="1"/>
          </p:cNvSpPr>
          <p:nvPr>
            <p:ph type="sldImg"/>
          </p:nvPr>
        </p:nvSpPr>
        <p:spPr bwMode="auto">
          <a:noFill/>
          <a:ln>
            <a:solidFill>
              <a:srgbClr val="000000"/>
            </a:solidFill>
            <a:miter lim="800000"/>
            <a:headEnd/>
            <a:tailEnd/>
          </a:ln>
        </p:spPr>
      </p:sp>
      <p:sp>
        <p:nvSpPr>
          <p:cNvPr id="7475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475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FFE8376E-61E9-4A7B-9D53-A0004B507561}" type="slidenum">
              <a:rPr lang="en-US" smtClean="0"/>
              <a:pPr/>
              <a:t>94</a:t>
            </a:fld>
            <a:endParaRPr lang="en-US"/>
          </a:p>
        </p:txBody>
      </p:sp>
    </p:spTree>
    <p:extLst>
      <p:ext uri="{BB962C8B-B14F-4D97-AF65-F5344CB8AC3E}">
        <p14:creationId xmlns:p14="http://schemas.microsoft.com/office/powerpoint/2010/main" val="39999758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Slide Image Placeholder 1"/>
          <p:cNvSpPr>
            <a:spLocks noGrp="1" noRot="1" noChangeAspect="1" noTextEdit="1"/>
          </p:cNvSpPr>
          <p:nvPr>
            <p:ph type="sldImg"/>
          </p:nvPr>
        </p:nvSpPr>
        <p:spPr bwMode="auto">
          <a:noFill/>
          <a:ln>
            <a:solidFill>
              <a:srgbClr val="000000"/>
            </a:solidFill>
            <a:miter lim="800000"/>
            <a:headEnd/>
            <a:tailEnd/>
          </a:ln>
        </p:spPr>
      </p:sp>
      <p:sp>
        <p:nvSpPr>
          <p:cNvPr id="7680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680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8CC7511-154C-4C7E-9799-F72E148FCE34}" type="slidenum">
              <a:rPr lang="en-US" smtClean="0"/>
              <a:pPr/>
              <a:t>95</a:t>
            </a:fld>
            <a:endParaRPr lang="en-US"/>
          </a:p>
        </p:txBody>
      </p:sp>
    </p:spTree>
    <p:extLst>
      <p:ext uri="{BB962C8B-B14F-4D97-AF65-F5344CB8AC3E}">
        <p14:creationId xmlns:p14="http://schemas.microsoft.com/office/powerpoint/2010/main" val="22973965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Slide Image Placeholder 1"/>
          <p:cNvSpPr>
            <a:spLocks noGrp="1" noRot="1" noChangeAspect="1" noTextEdit="1"/>
          </p:cNvSpPr>
          <p:nvPr>
            <p:ph type="sldImg"/>
          </p:nvPr>
        </p:nvSpPr>
        <p:spPr bwMode="auto">
          <a:noFill/>
          <a:ln>
            <a:solidFill>
              <a:srgbClr val="000000"/>
            </a:solidFill>
            <a:miter lim="800000"/>
            <a:headEnd/>
            <a:tailEnd/>
          </a:ln>
        </p:spPr>
      </p:sp>
      <p:sp>
        <p:nvSpPr>
          <p:cNvPr id="7782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782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19A8015C-1D87-4014-B591-092A36606540}" type="slidenum">
              <a:rPr lang="en-US" smtClean="0"/>
              <a:pPr/>
              <a:t>96</a:t>
            </a:fld>
            <a:endParaRPr lang="en-US"/>
          </a:p>
        </p:txBody>
      </p:sp>
    </p:spTree>
    <p:extLst>
      <p:ext uri="{BB962C8B-B14F-4D97-AF65-F5344CB8AC3E}">
        <p14:creationId xmlns:p14="http://schemas.microsoft.com/office/powerpoint/2010/main" val="145913804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p:cNvSpPr>
            <a:spLocks noGrp="1" noRot="1" noChangeAspect="1" noTextEdit="1"/>
          </p:cNvSpPr>
          <p:nvPr>
            <p:ph type="sldImg"/>
          </p:nvPr>
        </p:nvSpPr>
        <p:spPr bwMode="auto">
          <a:noFill/>
          <a:ln>
            <a:solidFill>
              <a:srgbClr val="000000"/>
            </a:solidFill>
            <a:miter lim="800000"/>
            <a:headEnd/>
            <a:tailEnd/>
          </a:ln>
        </p:spPr>
      </p:sp>
      <p:sp>
        <p:nvSpPr>
          <p:cNvPr id="819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19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FBAD2BE-D2E8-48C5-A7F7-46CBCFF3EEDA}" type="slidenum">
              <a:rPr lang="en-US" smtClean="0"/>
              <a:pPr/>
              <a:t>97</a:t>
            </a:fld>
            <a:endParaRPr lang="en-US"/>
          </a:p>
        </p:txBody>
      </p:sp>
    </p:spTree>
    <p:extLst>
      <p:ext uri="{BB962C8B-B14F-4D97-AF65-F5344CB8AC3E}">
        <p14:creationId xmlns:p14="http://schemas.microsoft.com/office/powerpoint/2010/main" val="223557717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p:cNvSpPr>
            <a:spLocks noGrp="1" noRot="1" noChangeAspect="1" noTextEdit="1"/>
          </p:cNvSpPr>
          <p:nvPr>
            <p:ph type="sldImg"/>
          </p:nvPr>
        </p:nvSpPr>
        <p:spPr bwMode="auto">
          <a:noFill/>
          <a:ln>
            <a:solidFill>
              <a:srgbClr val="000000"/>
            </a:solidFill>
            <a:miter lim="800000"/>
            <a:headEnd/>
            <a:tailEnd/>
          </a:ln>
        </p:spPr>
      </p:sp>
      <p:sp>
        <p:nvSpPr>
          <p:cNvPr id="819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19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FBAD2BE-D2E8-48C5-A7F7-46CBCFF3EEDA}" type="slidenum">
              <a:rPr lang="en-US" smtClean="0"/>
              <a:pPr/>
              <a:t>98</a:t>
            </a:fld>
            <a:endParaRPr lang="en-US"/>
          </a:p>
        </p:txBody>
      </p:sp>
    </p:spTree>
    <p:extLst>
      <p:ext uri="{BB962C8B-B14F-4D97-AF65-F5344CB8AC3E}">
        <p14:creationId xmlns:p14="http://schemas.microsoft.com/office/powerpoint/2010/main" val="7405008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bwMode="auto">
          <a:noFill/>
          <a:ln>
            <a:solidFill>
              <a:srgbClr val="000000"/>
            </a:solidFill>
            <a:miter lim="800000"/>
            <a:headEnd/>
            <a:tailEnd/>
          </a:ln>
        </p:spPr>
      </p:sp>
      <p:sp>
        <p:nvSpPr>
          <p:cNvPr id="829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294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4AEDDF9-7C2D-4267-8DE1-3855A04CD104}" type="slidenum">
              <a:rPr lang="en-US" smtClean="0"/>
              <a:pPr/>
              <a:t>99</a:t>
            </a:fld>
            <a:endParaRPr lang="en-US"/>
          </a:p>
        </p:txBody>
      </p:sp>
    </p:spTree>
    <p:extLst>
      <p:ext uri="{BB962C8B-B14F-4D97-AF65-F5344CB8AC3E}">
        <p14:creationId xmlns:p14="http://schemas.microsoft.com/office/powerpoint/2010/main" val="9494631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defRPr>
            </a:lvl1pPr>
            <a:lvl2pPr marL="742950" indent="-285750">
              <a:defRPr sz="2400">
                <a:solidFill>
                  <a:schemeClr val="tx1"/>
                </a:solidFill>
                <a:latin typeface="Arial" pitchFamily="34" charset="0"/>
              </a:defRPr>
            </a:lvl2pPr>
            <a:lvl3pPr marL="1143000" indent="-228600">
              <a:defRPr sz="2400">
                <a:solidFill>
                  <a:schemeClr val="tx1"/>
                </a:solidFill>
                <a:latin typeface="Arial" pitchFamily="34" charset="0"/>
              </a:defRPr>
            </a:lvl3pPr>
            <a:lvl4pPr marL="1600200" indent="-228600">
              <a:defRPr sz="2400">
                <a:solidFill>
                  <a:schemeClr val="tx1"/>
                </a:solidFill>
                <a:latin typeface="Arial" pitchFamily="34" charset="0"/>
              </a:defRPr>
            </a:lvl4pPr>
            <a:lvl5pPr marL="2057400" indent="-228600">
              <a:defRPr sz="2400">
                <a:solidFill>
                  <a:schemeClr val="tx1"/>
                </a:solidFill>
                <a:latin typeface="Arial" pitchFamily="34" charset="0"/>
              </a:defRPr>
            </a:lvl5pPr>
            <a:lvl6pPr marL="2514600" indent="-228600" eaLnBrk="0" fontAlgn="base" hangingPunct="0">
              <a:spcBef>
                <a:spcPct val="0"/>
              </a:spcBef>
              <a:spcAft>
                <a:spcPct val="0"/>
              </a:spcAft>
              <a:defRPr sz="2400">
                <a:solidFill>
                  <a:schemeClr val="tx1"/>
                </a:solidFill>
                <a:latin typeface="Arial" pitchFamily="34" charset="0"/>
              </a:defRPr>
            </a:lvl6pPr>
            <a:lvl7pPr marL="2971800" indent="-228600" eaLnBrk="0" fontAlgn="base" hangingPunct="0">
              <a:spcBef>
                <a:spcPct val="0"/>
              </a:spcBef>
              <a:spcAft>
                <a:spcPct val="0"/>
              </a:spcAft>
              <a:defRPr sz="2400">
                <a:solidFill>
                  <a:schemeClr val="tx1"/>
                </a:solidFill>
                <a:latin typeface="Arial" pitchFamily="34" charset="0"/>
              </a:defRPr>
            </a:lvl7pPr>
            <a:lvl8pPr marL="3429000" indent="-228600" eaLnBrk="0" fontAlgn="base" hangingPunct="0">
              <a:spcBef>
                <a:spcPct val="0"/>
              </a:spcBef>
              <a:spcAft>
                <a:spcPct val="0"/>
              </a:spcAft>
              <a:defRPr sz="2400">
                <a:solidFill>
                  <a:schemeClr val="tx1"/>
                </a:solidFill>
                <a:latin typeface="Arial" pitchFamily="34" charset="0"/>
              </a:defRPr>
            </a:lvl8pPr>
            <a:lvl9pPr marL="3886200" indent="-228600" eaLnBrk="0" fontAlgn="base" hangingPunct="0">
              <a:spcBef>
                <a:spcPct val="0"/>
              </a:spcBef>
              <a:spcAft>
                <a:spcPct val="0"/>
              </a:spcAft>
              <a:defRPr sz="2400">
                <a:solidFill>
                  <a:schemeClr val="tx1"/>
                </a:solidFill>
                <a:latin typeface="Arial" pitchFamily="34" charset="0"/>
              </a:defRPr>
            </a:lvl9pPr>
          </a:lstStyle>
          <a:p>
            <a:fld id="{7B389CD3-58BD-4D96-9D72-2667CEAFCA9D}" type="slidenum">
              <a:rPr lang="en-US" altLang="en-US" sz="1200" smtClean="0"/>
              <a:pPr/>
              <a:t>100</a:t>
            </a:fld>
            <a:endParaRPr lang="en-US" altLang="en-US" sz="1200"/>
          </a:p>
        </p:txBody>
      </p:sp>
      <p:sp>
        <p:nvSpPr>
          <p:cNvPr id="117763" name="Rectangle 2"/>
          <p:cNvSpPr>
            <a:spLocks noGrp="1" noRot="1" noChangeAspect="1" noChangeArrowheads="1" noTextEdit="1"/>
          </p:cNvSpPr>
          <p:nvPr>
            <p:ph type="sldImg"/>
          </p:nvPr>
        </p:nvSpPr>
        <p:spPr>
          <a:xfrm>
            <a:off x="381000" y="685800"/>
            <a:ext cx="6096000" cy="3429000"/>
          </a:xfrm>
          <a:ln/>
        </p:spPr>
      </p:sp>
      <p:sp>
        <p:nvSpPr>
          <p:cNvPr id="1177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US" altLang="en-US" sz="2300">
              <a:latin typeface="Times New Roman" pitchFamily="18" charset="0"/>
            </a:endParaRPr>
          </a:p>
        </p:txBody>
      </p:sp>
    </p:spTree>
    <p:extLst>
      <p:ext uri="{BB962C8B-B14F-4D97-AF65-F5344CB8AC3E}">
        <p14:creationId xmlns:p14="http://schemas.microsoft.com/office/powerpoint/2010/main" val="28376237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921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216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BD09004-D6B7-4899-B146-EC590A7905B7}" type="slidenum">
              <a:rPr lang="en-US" smtClean="0"/>
              <a:pPr/>
              <a:t>101</a:t>
            </a:fld>
            <a:endParaRPr lang="en-US"/>
          </a:p>
        </p:txBody>
      </p:sp>
    </p:spTree>
    <p:extLst>
      <p:ext uri="{BB962C8B-B14F-4D97-AF65-F5344CB8AC3E}">
        <p14:creationId xmlns:p14="http://schemas.microsoft.com/office/powerpoint/2010/main" val="4302953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137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138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EB7D508-15AF-419D-B9F5-D32704D02B2E}" type="slidenum">
              <a:rPr lang="en-US" smtClean="0"/>
              <a:pPr/>
              <a:t>102</a:t>
            </a:fld>
            <a:endParaRPr lang="en-US"/>
          </a:p>
        </p:txBody>
      </p:sp>
    </p:spTree>
    <p:extLst>
      <p:ext uri="{BB962C8B-B14F-4D97-AF65-F5344CB8AC3E}">
        <p14:creationId xmlns:p14="http://schemas.microsoft.com/office/powerpoint/2010/main" val="290304987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headEnd/>
            <a:tailEnd/>
          </a:ln>
        </p:spPr>
      </p:sp>
      <p:sp>
        <p:nvSpPr>
          <p:cNvPr id="10445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445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88C0BBC-46C5-429A-B237-52F1650AAE9F}" type="slidenum">
              <a:rPr lang="en-US" smtClean="0"/>
              <a:pPr/>
              <a:t>103</a:t>
            </a:fld>
            <a:endParaRPr lang="en-US"/>
          </a:p>
        </p:txBody>
      </p:sp>
    </p:spTree>
    <p:extLst>
      <p:ext uri="{BB962C8B-B14F-4D97-AF65-F5344CB8AC3E}">
        <p14:creationId xmlns:p14="http://schemas.microsoft.com/office/powerpoint/2010/main" val="34798927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59BF54D-C5F5-4F8B-8C48-12C235DC86A2}"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45DFA77-6065-4CF8-9886-FE69389ED77B}"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60FB2DC-DD3A-443E-B0E8-50951CF6A1E8}"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144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9F401C2-8252-4913-91BE-C1AA3794CB70}"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4ACE84E1-B408-4548-AB84-FD2E1EAC477E}"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1FFECEA7-B9B4-4FE1-B0E0-164A2C64AB0A}"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12C3C3B8-0CF6-4757-A7DA-8272BC66C89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9E327ABC-4FA2-4EA8-82E6-AA6D733E0C57}"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7D12B5F5-4F54-4EE2-B594-C4C7E2972222}"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149518D-D732-4805-9DB2-A572864D7C8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6800" y="609600"/>
            <a:ext cx="25908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14400" y="609600"/>
            <a:ext cx="75692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A5B458B-672C-46E9-9882-BFEF8E961FAC}"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3000"/>
            <a:lum/>
          </a:blip>
          <a:srcRect/>
          <a:stretch>
            <a:fillRect/>
          </a:stretch>
        </a:blip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914400" y="609600"/>
            <a:ext cx="103632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6147" name="Rectangle 3"/>
          <p:cNvSpPr>
            <a:spLocks noGrp="1" noChangeArrowheads="1"/>
          </p:cNvSpPr>
          <p:nvPr>
            <p:ph type="body" idx="1"/>
          </p:nvPr>
        </p:nvSpPr>
        <p:spPr bwMode="auto">
          <a:xfrm>
            <a:off x="914400" y="1981200"/>
            <a:ext cx="10363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9144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400">
                <a:cs typeface="+mn-cs"/>
              </a:defRPr>
            </a:lvl1pPr>
          </a:lstStyle>
          <a:p>
            <a:pPr>
              <a:defRPr/>
            </a:pPr>
            <a:endParaRPr lang="en-US"/>
          </a:p>
        </p:txBody>
      </p:sp>
      <p:sp>
        <p:nvSpPr>
          <p:cNvPr id="1029"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0" hangingPunct="0">
              <a:defRPr sz="1400">
                <a:cs typeface="+mn-cs"/>
              </a:defRPr>
            </a:lvl1pPr>
          </a:lstStyle>
          <a:p>
            <a:pPr>
              <a:defRPr/>
            </a:pPr>
            <a:endParaRPr lang="en-US"/>
          </a:p>
        </p:txBody>
      </p:sp>
      <p:sp>
        <p:nvSpPr>
          <p:cNvPr id="1030" name="Rectangle 6"/>
          <p:cNvSpPr>
            <a:spLocks noGrp="1" noChangeArrowheads="1"/>
          </p:cNvSpPr>
          <p:nvPr>
            <p:ph type="sldNum" sz="quarter" idx="4"/>
          </p:nvPr>
        </p:nvSpPr>
        <p:spPr bwMode="auto">
          <a:xfrm>
            <a:off x="87376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400">
                <a:cs typeface="+mn-cs"/>
              </a:defRPr>
            </a:lvl1pPr>
          </a:lstStyle>
          <a:p>
            <a:pPr>
              <a:defRPr/>
            </a:pPr>
            <a:fld id="{9712D062-9E7E-45BF-8A5E-3DB2BBCDD39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7.xml"/><Relationship Id="rId7" Type="http://schemas.openxmlformats.org/officeDocument/2006/relationships/image" Target="../media/image16.wmf"/><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oleObject" Target="../embeddings/oleObject2.bin"/><Relationship Id="rId11" Type="http://schemas.openxmlformats.org/officeDocument/2006/relationships/image" Target="../media/image18.wmf"/><Relationship Id="rId5" Type="http://schemas.openxmlformats.org/officeDocument/2006/relationships/image" Target="../media/image15.wmf"/><Relationship Id="rId10" Type="http://schemas.openxmlformats.org/officeDocument/2006/relationships/oleObject" Target="../embeddings/oleObject4.bin"/><Relationship Id="rId4" Type="http://schemas.openxmlformats.org/officeDocument/2006/relationships/oleObject" Target="../embeddings/oleObject1.bin"/><Relationship Id="rId9" Type="http://schemas.openxmlformats.org/officeDocument/2006/relationships/image" Target="../media/image17.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5.xml"/><Relationship Id="rId7" Type="http://schemas.openxmlformats.org/officeDocument/2006/relationships/image" Target="../media/image20.wmf"/><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6.bin"/><Relationship Id="rId5" Type="http://schemas.openxmlformats.org/officeDocument/2006/relationships/image" Target="../media/image19.wmf"/><Relationship Id="rId4" Type="http://schemas.openxmlformats.org/officeDocument/2006/relationships/oleObject" Target="../embeddings/oleObject5.bin"/></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1048999" y="-609599"/>
            <a:ext cx="1140655" cy="7467599"/>
          </a:xfrm>
        </p:spPr>
        <p:txBody>
          <a:bodyPr vert="vert">
            <a:normAutofit/>
          </a:bodyPr>
          <a:lstStyle/>
          <a:p>
            <a:pPr algn="r"/>
            <a:r>
              <a:rPr lang="en-US" sz="5000" b="1"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235784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 y="0"/>
            <a:ext cx="3810000" cy="1555652"/>
          </a:xfrm>
        </p:spPr>
        <p:txBody>
          <a:bodyPr>
            <a:noAutofit/>
          </a:bodyPr>
          <a:lstStyle/>
          <a:p>
            <a:pPr algn="r"/>
            <a:r>
              <a:rPr lang="en-US" sz="4000" dirty="0">
                <a:solidFill>
                  <a:schemeClr val="bg1"/>
                </a:solidFill>
              </a:rPr>
              <a:t>8.1 Intro to Acids and Bases</a:t>
            </a:r>
          </a:p>
        </p:txBody>
      </p:sp>
      <p:sp>
        <p:nvSpPr>
          <p:cNvPr id="4" name="Title 1">
            <a:extLst>
              <a:ext uri="{FF2B5EF4-FFF2-40B4-BE49-F238E27FC236}">
                <a16:creationId xmlns:a16="http://schemas.microsoft.com/office/drawing/2014/main" id="{FFBD8731-9BCE-4DEA-ABFF-1A9FDB32D675}"/>
              </a:ext>
            </a:extLst>
          </p:cNvPr>
          <p:cNvSpPr txBox="1">
            <a:spLocks/>
          </p:cNvSpPr>
          <p:nvPr/>
        </p:nvSpPr>
        <p:spPr bwMode="auto">
          <a:xfrm>
            <a:off x="11051344" y="-609599"/>
            <a:ext cx="1140655" cy="7467599"/>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2400809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016000" y="32825"/>
            <a:ext cx="10363200" cy="805375"/>
          </a:xfrm>
        </p:spPr>
        <p:txBody>
          <a:bodyPr/>
          <a:lstStyle/>
          <a:p>
            <a:r>
              <a:rPr lang="en-US" dirty="0"/>
              <a:t>Review…. Naming Acids</a:t>
            </a:r>
          </a:p>
        </p:txBody>
      </p:sp>
      <p:sp>
        <p:nvSpPr>
          <p:cNvPr id="5" name="Content Placeholder 4"/>
          <p:cNvSpPr>
            <a:spLocks noGrp="1"/>
          </p:cNvSpPr>
          <p:nvPr>
            <p:ph sz="half" idx="1"/>
          </p:nvPr>
        </p:nvSpPr>
        <p:spPr>
          <a:xfrm>
            <a:off x="914400" y="914400"/>
            <a:ext cx="5080000" cy="5181600"/>
          </a:xfrm>
        </p:spPr>
        <p:txBody>
          <a:bodyPr/>
          <a:lstStyle/>
          <a:p>
            <a:pPr marL="0" indent="0">
              <a:buNone/>
            </a:pPr>
            <a:r>
              <a:rPr lang="en-US" sz="3600" dirty="0"/>
              <a:t>Name it!</a:t>
            </a:r>
          </a:p>
          <a:p>
            <a:pPr marL="742950" indent="-742950">
              <a:buFont typeface="+mj-lt"/>
              <a:buAutoNum type="alphaLcParenR"/>
            </a:pPr>
            <a:r>
              <a:rPr lang="en-US" sz="3600" dirty="0" err="1"/>
              <a:t>HBr</a:t>
            </a:r>
            <a:endParaRPr lang="en-US" sz="3600" dirty="0"/>
          </a:p>
          <a:p>
            <a:pPr marL="742950" indent="-742950">
              <a:buFont typeface="+mj-lt"/>
              <a:buAutoNum type="alphaLcParenR"/>
            </a:pPr>
            <a:r>
              <a:rPr lang="en-US" sz="3600" dirty="0"/>
              <a:t>H</a:t>
            </a:r>
            <a:r>
              <a:rPr lang="en-US" sz="3600" baseline="-25000" dirty="0"/>
              <a:t>2</a:t>
            </a:r>
            <a:r>
              <a:rPr lang="en-US" sz="3600" dirty="0"/>
              <a:t>CO</a:t>
            </a:r>
            <a:r>
              <a:rPr lang="en-US" sz="3600" baseline="-25000" dirty="0"/>
              <a:t>3</a:t>
            </a:r>
            <a:endParaRPr lang="en-US" sz="3600" dirty="0"/>
          </a:p>
          <a:p>
            <a:pPr marL="742950" indent="-742950">
              <a:buFont typeface="+mj-lt"/>
              <a:buAutoNum type="alphaLcParenR"/>
            </a:pPr>
            <a:r>
              <a:rPr lang="en-US" sz="3600" dirty="0" err="1"/>
              <a:t>HClO</a:t>
            </a:r>
            <a:endParaRPr lang="en-US" sz="3600" dirty="0"/>
          </a:p>
          <a:p>
            <a:pPr marL="742950" indent="-742950">
              <a:buFont typeface="+mj-lt"/>
              <a:buAutoNum type="alphaLcParenR"/>
            </a:pPr>
            <a:r>
              <a:rPr lang="en-US" sz="3600" dirty="0"/>
              <a:t>H</a:t>
            </a:r>
            <a:r>
              <a:rPr lang="en-US" sz="3600" baseline="-25000" dirty="0"/>
              <a:t>2</a:t>
            </a:r>
            <a:r>
              <a:rPr lang="en-US" sz="3600" dirty="0"/>
              <a:t>S</a:t>
            </a:r>
          </a:p>
          <a:p>
            <a:endParaRPr lang="en-US" sz="3600" dirty="0"/>
          </a:p>
        </p:txBody>
      </p:sp>
      <p:sp>
        <p:nvSpPr>
          <p:cNvPr id="6" name="Content Placeholder 5"/>
          <p:cNvSpPr>
            <a:spLocks noGrp="1"/>
          </p:cNvSpPr>
          <p:nvPr>
            <p:ph sz="half" idx="2"/>
          </p:nvPr>
        </p:nvSpPr>
        <p:spPr>
          <a:xfrm>
            <a:off x="5105400" y="914400"/>
            <a:ext cx="4191000" cy="5181600"/>
          </a:xfrm>
        </p:spPr>
        <p:txBody>
          <a:bodyPr/>
          <a:lstStyle/>
          <a:p>
            <a:pPr marL="0" indent="0">
              <a:buNone/>
            </a:pPr>
            <a:r>
              <a:rPr lang="en-US" sz="3600" dirty="0"/>
              <a:t>Formula!</a:t>
            </a:r>
          </a:p>
          <a:p>
            <a:pPr marL="742950" indent="-742950">
              <a:buFont typeface="+mj-lt"/>
              <a:buAutoNum type="alphaLcParenR"/>
            </a:pPr>
            <a:r>
              <a:rPr lang="en-US" sz="3600" dirty="0"/>
              <a:t>Phosphoric acid</a:t>
            </a:r>
          </a:p>
          <a:p>
            <a:pPr marL="742950" indent="-742950">
              <a:buFont typeface="+mj-lt"/>
              <a:buAutoNum type="alphaLcParenR"/>
            </a:pPr>
            <a:r>
              <a:rPr lang="en-US" sz="3600" dirty="0"/>
              <a:t>Sulfurous acid</a:t>
            </a:r>
          </a:p>
          <a:p>
            <a:pPr marL="742950" indent="-742950">
              <a:buFont typeface="+mj-lt"/>
              <a:buAutoNum type="alphaLcParenR"/>
            </a:pPr>
            <a:r>
              <a:rPr lang="en-US" sz="3600" dirty="0" err="1"/>
              <a:t>Hydroiodic</a:t>
            </a:r>
            <a:r>
              <a:rPr lang="en-US" sz="3600" dirty="0"/>
              <a:t> acid</a:t>
            </a:r>
          </a:p>
          <a:p>
            <a:pPr marL="742950" indent="-742950">
              <a:buFont typeface="+mj-lt"/>
              <a:buAutoNum type="alphaLcParenR"/>
            </a:pPr>
            <a:r>
              <a:rPr lang="en-US" sz="3600" dirty="0"/>
              <a:t>Acetic Acid</a:t>
            </a:r>
          </a:p>
          <a:p>
            <a:pPr marL="0" indent="0">
              <a:buNone/>
            </a:pPr>
            <a:endParaRPr lang="en-US" sz="3600" dirty="0"/>
          </a:p>
        </p:txBody>
      </p:sp>
      <p:pic>
        <p:nvPicPr>
          <p:cNvPr id="7" name="Picture 1" descr="'Acid Ice Cre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36291" y="4335341"/>
            <a:ext cx="4755709" cy="2522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42747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5945" y="0"/>
            <a:ext cx="10363200" cy="685800"/>
          </a:xfrm>
        </p:spPr>
        <p:txBody>
          <a:bodyPr/>
          <a:lstStyle/>
          <a:p>
            <a:r>
              <a:rPr lang="en-US" b="1" dirty="0"/>
              <a:t>Arrhenius Acids and Bases</a:t>
            </a:r>
          </a:p>
        </p:txBody>
      </p:sp>
      <p:sp>
        <p:nvSpPr>
          <p:cNvPr id="5" name="Content Placeholder 4"/>
          <p:cNvSpPr>
            <a:spLocks noGrp="1"/>
          </p:cNvSpPr>
          <p:nvPr>
            <p:ph idx="1"/>
          </p:nvPr>
        </p:nvSpPr>
        <p:spPr>
          <a:xfrm>
            <a:off x="609600" y="762000"/>
            <a:ext cx="11049000" cy="5334000"/>
          </a:xfrm>
        </p:spPr>
        <p:txBody>
          <a:bodyPr/>
          <a:lstStyle/>
          <a:p>
            <a:pPr marL="0" indent="0">
              <a:buNone/>
            </a:pPr>
            <a:r>
              <a:rPr lang="en-US" sz="2800" dirty="0"/>
              <a:t>Recall that water, H</a:t>
            </a:r>
            <a:r>
              <a:rPr lang="en-US" sz="2800" baseline="-25000" dirty="0"/>
              <a:t>2</a:t>
            </a:r>
            <a:r>
              <a:rPr lang="en-US" sz="2800" dirty="0"/>
              <a:t>O, can be thought of as </a:t>
            </a:r>
          </a:p>
          <a:p>
            <a:pPr marL="0" indent="0" algn="ctr">
              <a:buNone/>
            </a:pPr>
            <a:r>
              <a:rPr lang="en-US" sz="3600" dirty="0">
                <a:solidFill>
                  <a:srgbClr val="FF0000"/>
                </a:solidFill>
              </a:rPr>
              <a:t>H</a:t>
            </a:r>
            <a:r>
              <a:rPr lang="en-US" sz="3600" baseline="30000" dirty="0">
                <a:solidFill>
                  <a:srgbClr val="FF0000"/>
                </a:solidFill>
              </a:rPr>
              <a:t>+</a:t>
            </a:r>
            <a:r>
              <a:rPr lang="en-US" sz="3600" dirty="0">
                <a:solidFill>
                  <a:srgbClr val="FF0000"/>
                </a:solidFill>
              </a:rPr>
              <a:t>OH</a:t>
            </a:r>
            <a:r>
              <a:rPr lang="en-US" sz="3600" baseline="30000" dirty="0">
                <a:solidFill>
                  <a:srgbClr val="FF0000"/>
                </a:solidFill>
              </a:rPr>
              <a:t>-</a:t>
            </a:r>
            <a:endParaRPr lang="en-US" sz="3600" dirty="0">
              <a:solidFill>
                <a:srgbClr val="FF0000"/>
              </a:solidFill>
            </a:endParaRPr>
          </a:p>
          <a:p>
            <a:pPr marL="0" indent="0">
              <a:buNone/>
            </a:pPr>
            <a:r>
              <a:rPr lang="en-US" sz="2800" dirty="0"/>
              <a:t>Define an acid and a base, according to the Arrhenius definition.</a:t>
            </a:r>
          </a:p>
          <a:p>
            <a:r>
              <a:rPr lang="en-US" sz="2800" dirty="0"/>
              <a:t>acid = </a:t>
            </a:r>
            <a:r>
              <a:rPr lang="en-US" sz="2800" dirty="0">
                <a:solidFill>
                  <a:srgbClr val="FF0000"/>
                </a:solidFill>
              </a:rPr>
              <a:t>a substance that produces excess H</a:t>
            </a:r>
            <a:r>
              <a:rPr lang="en-US" sz="2800" baseline="30000" dirty="0">
                <a:solidFill>
                  <a:srgbClr val="FF0000"/>
                </a:solidFill>
              </a:rPr>
              <a:t>+</a:t>
            </a:r>
            <a:r>
              <a:rPr lang="en-US" sz="2800" dirty="0">
                <a:solidFill>
                  <a:srgbClr val="FF0000"/>
                </a:solidFill>
              </a:rPr>
              <a:t> when dissolved in water</a:t>
            </a:r>
          </a:p>
          <a:p>
            <a:r>
              <a:rPr lang="en-US" sz="2800" dirty="0"/>
              <a:t>base = </a:t>
            </a:r>
            <a:r>
              <a:rPr lang="en-US" sz="2800" dirty="0">
                <a:solidFill>
                  <a:srgbClr val="FF0000"/>
                </a:solidFill>
              </a:rPr>
              <a:t>a substance that produces excess OH</a:t>
            </a:r>
            <a:r>
              <a:rPr lang="en-US" sz="2800" baseline="30000" dirty="0">
                <a:solidFill>
                  <a:srgbClr val="FF0000"/>
                </a:solidFill>
              </a:rPr>
              <a:t>-</a:t>
            </a:r>
            <a:r>
              <a:rPr lang="en-US" sz="2800" dirty="0">
                <a:solidFill>
                  <a:srgbClr val="FF0000"/>
                </a:solidFill>
              </a:rPr>
              <a:t> when dissolved in water</a:t>
            </a:r>
            <a:endParaRPr lang="en-US" sz="2800" dirty="0"/>
          </a:p>
          <a:p>
            <a:pPr marL="0" indent="0">
              <a:buNone/>
            </a:pPr>
            <a:r>
              <a:rPr lang="en-US" sz="2800" dirty="0"/>
              <a:t>Write the products of each chemical reaction below, which involves the dissociation of each reactant into aqueous ions.</a:t>
            </a:r>
          </a:p>
          <a:p>
            <a:pPr marL="0" indent="0">
              <a:buNone/>
            </a:pPr>
            <a:r>
              <a:rPr lang="en-US" dirty="0" err="1"/>
              <a:t>HCl</a:t>
            </a:r>
            <a:r>
              <a:rPr lang="en-US" dirty="0"/>
              <a:t> (g) </a:t>
            </a:r>
            <a:r>
              <a:rPr lang="en-US" dirty="0">
                <a:latin typeface="Cambria Math" panose="02040503050406030204" pitchFamily="18" charset="0"/>
                <a:ea typeface="Cambria Math" panose="02040503050406030204" pitchFamily="18" charset="0"/>
              </a:rPr>
              <a:t>→</a:t>
            </a:r>
          </a:p>
          <a:p>
            <a:pPr marL="0" indent="0">
              <a:buNone/>
            </a:pPr>
            <a:r>
              <a:rPr lang="en-US" dirty="0" err="1"/>
              <a:t>NaOH</a:t>
            </a:r>
            <a:r>
              <a:rPr lang="en-US"/>
              <a:t> (s) </a:t>
            </a:r>
            <a:r>
              <a:rPr lang="en-US" dirty="0">
                <a:latin typeface="Cambria Math" panose="02040503050406030204" pitchFamily="18" charset="0"/>
                <a:ea typeface="Cambria Math" panose="02040503050406030204" pitchFamily="18" charset="0"/>
              </a:rPr>
              <a:t>→</a:t>
            </a:r>
            <a:endParaRPr lang="en-US" dirty="0"/>
          </a:p>
          <a:p>
            <a:pPr marL="0" indent="0">
              <a:buNone/>
            </a:pPr>
            <a:endParaRPr lang="en-US" dirty="0"/>
          </a:p>
        </p:txBody>
      </p:sp>
    </p:spTree>
    <p:extLst>
      <p:ext uri="{BB962C8B-B14F-4D97-AF65-F5344CB8AC3E}">
        <p14:creationId xmlns:p14="http://schemas.microsoft.com/office/powerpoint/2010/main" val="1625547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762000" y="2057400"/>
            <a:ext cx="11125200" cy="1143000"/>
          </a:xfrm>
        </p:spPr>
        <p:txBody>
          <a:bodyPr/>
          <a:lstStyle/>
          <a:p>
            <a:pPr algn="l"/>
            <a:r>
              <a:rPr lang="en-US" u="sng" dirty="0">
                <a:solidFill>
                  <a:schemeClr val="tx1"/>
                </a:solidFill>
              </a:rPr>
              <a:t>hydronium ion </a:t>
            </a:r>
            <a:r>
              <a:rPr lang="en-US" dirty="0">
                <a:solidFill>
                  <a:schemeClr val="tx1"/>
                </a:solidFill>
              </a:rPr>
              <a:t>(H</a:t>
            </a:r>
            <a:r>
              <a:rPr lang="en-US" baseline="-25000" dirty="0">
                <a:solidFill>
                  <a:schemeClr val="tx1"/>
                </a:solidFill>
              </a:rPr>
              <a:t>3</a:t>
            </a:r>
            <a:r>
              <a:rPr lang="en-US" dirty="0">
                <a:solidFill>
                  <a:schemeClr val="tx1"/>
                </a:solidFill>
              </a:rPr>
              <a:t>O</a:t>
            </a:r>
            <a:r>
              <a:rPr lang="en-US" baseline="30000" dirty="0">
                <a:solidFill>
                  <a:schemeClr val="tx1"/>
                </a:solidFill>
              </a:rPr>
              <a:t>+</a:t>
            </a:r>
            <a:r>
              <a:rPr lang="en-US" dirty="0">
                <a:solidFill>
                  <a:schemeClr val="tx1"/>
                </a:solidFill>
              </a:rPr>
              <a:t>)- formed on reaction of a proton with a water molecule.  H</a:t>
            </a:r>
            <a:r>
              <a:rPr lang="en-US" baseline="30000" dirty="0">
                <a:solidFill>
                  <a:schemeClr val="tx1"/>
                </a:solidFill>
              </a:rPr>
              <a:t>+</a:t>
            </a:r>
            <a:r>
              <a:rPr lang="en-US" dirty="0">
                <a:solidFill>
                  <a:schemeClr val="tx1"/>
                </a:solidFill>
              </a:rPr>
              <a:t> and H</a:t>
            </a:r>
            <a:r>
              <a:rPr lang="en-US" baseline="-25000" dirty="0">
                <a:solidFill>
                  <a:schemeClr val="tx1"/>
                </a:solidFill>
              </a:rPr>
              <a:t>3</a:t>
            </a:r>
            <a:r>
              <a:rPr lang="en-US" dirty="0">
                <a:solidFill>
                  <a:schemeClr val="tx1"/>
                </a:solidFill>
              </a:rPr>
              <a:t>O</a:t>
            </a:r>
            <a:r>
              <a:rPr lang="en-US" baseline="30000" dirty="0">
                <a:solidFill>
                  <a:schemeClr val="tx1"/>
                </a:solidFill>
              </a:rPr>
              <a:t>+</a:t>
            </a:r>
            <a:r>
              <a:rPr lang="en-US" dirty="0">
                <a:solidFill>
                  <a:schemeClr val="tx1"/>
                </a:solidFill>
              </a:rPr>
              <a:t> are used interchangeably in most situations.</a:t>
            </a:r>
            <a:br>
              <a:rPr lang="en-US" dirty="0">
                <a:solidFill>
                  <a:schemeClr val="tx1"/>
                </a:solidFill>
              </a:rPr>
            </a:br>
            <a:br>
              <a:rPr lang="en-US" dirty="0">
                <a:solidFill>
                  <a:schemeClr val="tx1"/>
                </a:solidFill>
              </a:rPr>
            </a:br>
            <a:endParaRPr lang="en-US" dirty="0">
              <a:solidFill>
                <a:schemeClr val="tx1"/>
              </a:solidFill>
            </a:endParaRPr>
          </a:p>
        </p:txBody>
      </p:sp>
      <p:pic>
        <p:nvPicPr>
          <p:cNvPr id="10243" name="Picture 4" descr="http://discover.edventures.com/images/termlib/h/hydronium_ion/support.gif"/>
          <p:cNvPicPr>
            <a:picLocks noChangeAspect="1" noChangeArrowheads="1"/>
          </p:cNvPicPr>
          <p:nvPr/>
        </p:nvPicPr>
        <p:blipFill>
          <a:blip r:embed="rId3" cstate="print"/>
          <a:srcRect t="5486" r="4266"/>
          <a:stretch>
            <a:fillRect/>
          </a:stretch>
        </p:blipFill>
        <p:spPr bwMode="auto">
          <a:xfrm>
            <a:off x="4191000" y="3429000"/>
            <a:ext cx="3575050" cy="2736850"/>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762000"/>
          </a:xfrm>
        </p:spPr>
        <p:txBody>
          <a:bodyPr/>
          <a:lstStyle/>
          <a:p>
            <a:r>
              <a:rPr lang="en-US" sz="3600" b="1" dirty="0"/>
              <a:t>Definition of Acids and Bases:</a:t>
            </a:r>
            <a:br>
              <a:rPr lang="en-US" sz="3600" b="1" dirty="0"/>
            </a:br>
            <a:r>
              <a:rPr lang="en-US" sz="3600" b="1" dirty="0"/>
              <a:t> </a:t>
            </a:r>
            <a:r>
              <a:rPr lang="en-US" sz="3600" b="1" dirty="0" err="1"/>
              <a:t>Brønsted</a:t>
            </a:r>
            <a:r>
              <a:rPr lang="en-US" sz="3600" b="1" dirty="0"/>
              <a:t>-Lowry Acids and Bases</a:t>
            </a:r>
            <a:endParaRPr lang="en-US" dirty="0"/>
          </a:p>
        </p:txBody>
      </p:sp>
      <p:sp>
        <p:nvSpPr>
          <p:cNvPr id="3" name="Content Placeholder 2"/>
          <p:cNvSpPr>
            <a:spLocks noGrp="1"/>
          </p:cNvSpPr>
          <p:nvPr>
            <p:ph idx="1"/>
          </p:nvPr>
        </p:nvSpPr>
        <p:spPr>
          <a:xfrm>
            <a:off x="381000" y="1143000"/>
            <a:ext cx="11506200" cy="4953000"/>
          </a:xfrm>
        </p:spPr>
        <p:txBody>
          <a:bodyPr/>
          <a:lstStyle/>
          <a:p>
            <a:pPr marL="0" indent="0">
              <a:spcBef>
                <a:spcPts val="1800"/>
              </a:spcBef>
              <a:buNone/>
            </a:pPr>
            <a:r>
              <a:rPr lang="en-US" b="1" dirty="0" err="1"/>
              <a:t>Brønsted</a:t>
            </a:r>
            <a:r>
              <a:rPr lang="en-US" b="1" dirty="0"/>
              <a:t>-Lowry Acids and Bases </a:t>
            </a:r>
            <a:r>
              <a:rPr lang="en-US" dirty="0"/>
              <a:t>– uses a </a:t>
            </a:r>
            <a:r>
              <a:rPr lang="en-US" dirty="0">
                <a:solidFill>
                  <a:srgbClr val="FF0000"/>
                </a:solidFill>
              </a:rPr>
              <a:t>partnership</a:t>
            </a:r>
            <a:r>
              <a:rPr lang="en-US" dirty="0"/>
              <a:t> of acid and base to understand the </a:t>
            </a:r>
            <a:r>
              <a:rPr lang="en-US" dirty="0">
                <a:solidFill>
                  <a:srgbClr val="FF0000"/>
                </a:solidFill>
              </a:rPr>
              <a:t>transfer</a:t>
            </a:r>
            <a:r>
              <a:rPr lang="en-US" dirty="0"/>
              <a:t> of a proton, H</a:t>
            </a:r>
            <a:r>
              <a:rPr lang="en-US" baseline="30000" dirty="0"/>
              <a:t>+</a:t>
            </a:r>
            <a:r>
              <a:rPr lang="en-US" dirty="0"/>
              <a:t>, from the </a:t>
            </a:r>
            <a:r>
              <a:rPr lang="en-US" dirty="0">
                <a:solidFill>
                  <a:srgbClr val="FF0000"/>
                </a:solidFill>
              </a:rPr>
              <a:t>acid</a:t>
            </a:r>
            <a:r>
              <a:rPr lang="en-US" dirty="0"/>
              <a:t> to the </a:t>
            </a:r>
            <a:r>
              <a:rPr lang="en-US" dirty="0">
                <a:solidFill>
                  <a:srgbClr val="FF0000"/>
                </a:solidFill>
              </a:rPr>
              <a:t>base</a:t>
            </a:r>
            <a:r>
              <a:rPr lang="en-US" dirty="0"/>
              <a:t>.</a:t>
            </a:r>
          </a:p>
          <a:p>
            <a:pPr marL="0" indent="0">
              <a:spcBef>
                <a:spcPts val="1800"/>
              </a:spcBef>
              <a:buNone/>
            </a:pPr>
            <a:r>
              <a:rPr lang="en-US" b="1" dirty="0" err="1"/>
              <a:t>Brønsted</a:t>
            </a:r>
            <a:r>
              <a:rPr lang="en-US" b="1" dirty="0"/>
              <a:t>-Lowry Acid – </a:t>
            </a:r>
            <a:r>
              <a:rPr lang="en-US" dirty="0"/>
              <a:t>particle that </a:t>
            </a:r>
            <a:r>
              <a:rPr lang="en-US" dirty="0">
                <a:solidFill>
                  <a:srgbClr val="FF0000"/>
                </a:solidFill>
              </a:rPr>
              <a:t>donates</a:t>
            </a:r>
            <a:r>
              <a:rPr lang="en-US" dirty="0"/>
              <a:t> </a:t>
            </a:r>
            <a:r>
              <a:rPr lang="en-US" dirty="0">
                <a:solidFill>
                  <a:srgbClr val="FF0000"/>
                </a:solidFill>
              </a:rPr>
              <a:t>a proton </a:t>
            </a:r>
            <a:r>
              <a:rPr lang="en-US" dirty="0"/>
              <a:t>to another particle (the base)</a:t>
            </a:r>
          </a:p>
          <a:p>
            <a:pPr marL="0" indent="0">
              <a:spcBef>
                <a:spcPts val="1800"/>
              </a:spcBef>
              <a:buNone/>
            </a:pPr>
            <a:r>
              <a:rPr lang="en-US" b="1" dirty="0" err="1"/>
              <a:t>Brønsted</a:t>
            </a:r>
            <a:r>
              <a:rPr lang="en-US" b="1" dirty="0"/>
              <a:t>-Lowry Base – </a:t>
            </a:r>
            <a:r>
              <a:rPr lang="en-US" dirty="0"/>
              <a:t>particle that </a:t>
            </a:r>
            <a:r>
              <a:rPr lang="en-US" dirty="0">
                <a:solidFill>
                  <a:srgbClr val="FF0000"/>
                </a:solidFill>
              </a:rPr>
              <a:t>accepts</a:t>
            </a:r>
            <a:r>
              <a:rPr lang="en-US" dirty="0"/>
              <a:t> </a:t>
            </a:r>
            <a:r>
              <a:rPr lang="en-US" dirty="0">
                <a:solidFill>
                  <a:srgbClr val="FF0000"/>
                </a:solidFill>
              </a:rPr>
              <a:t>a proton </a:t>
            </a:r>
            <a:r>
              <a:rPr lang="en-US" dirty="0"/>
              <a:t>from another particle (the acid) </a:t>
            </a:r>
          </a:p>
          <a:p>
            <a:pPr marL="0" indent="0">
              <a:buNone/>
            </a:pPr>
            <a:endParaRPr lang="en-US" dirty="0"/>
          </a:p>
          <a:p>
            <a:endParaRPr lang="en-US" dirty="0"/>
          </a:p>
        </p:txBody>
      </p:sp>
    </p:spTree>
    <p:extLst>
      <p:ext uri="{BB962C8B-B14F-4D97-AF65-F5344CB8AC3E}">
        <p14:creationId xmlns:p14="http://schemas.microsoft.com/office/powerpoint/2010/main" val="33095253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10363200" cy="609600"/>
          </a:xfrm>
        </p:spPr>
        <p:txBody>
          <a:bodyPr/>
          <a:lstStyle/>
          <a:p>
            <a:r>
              <a:rPr lang="en-US" sz="3600" b="1" dirty="0" err="1"/>
              <a:t>Brønsted</a:t>
            </a:r>
            <a:r>
              <a:rPr lang="en-US" sz="3600" b="1" dirty="0"/>
              <a:t>-Lowry Acids and Bases</a:t>
            </a:r>
            <a:endParaRPr lang="en-US" dirty="0"/>
          </a:p>
        </p:txBody>
      </p:sp>
      <p:sp>
        <p:nvSpPr>
          <p:cNvPr id="3" name="Content Placeholder 2"/>
          <p:cNvSpPr>
            <a:spLocks noGrp="1"/>
          </p:cNvSpPr>
          <p:nvPr>
            <p:ph idx="1"/>
          </p:nvPr>
        </p:nvSpPr>
        <p:spPr>
          <a:xfrm>
            <a:off x="381000" y="838200"/>
            <a:ext cx="11506200" cy="5791200"/>
          </a:xfrm>
        </p:spPr>
        <p:txBody>
          <a:bodyPr/>
          <a:lstStyle/>
          <a:p>
            <a:pPr marL="0" indent="0">
              <a:buNone/>
            </a:pPr>
            <a:r>
              <a:rPr lang="en-US" dirty="0"/>
              <a:t>Write the formulas for the two products formed in these chemical reaction.</a:t>
            </a:r>
          </a:p>
          <a:p>
            <a:pPr marL="0" indent="0">
              <a:buNone/>
            </a:pPr>
            <a:r>
              <a:rPr lang="en-US" dirty="0"/>
              <a:t>	</a:t>
            </a:r>
            <a:r>
              <a:rPr lang="en-US" b="1" dirty="0" err="1"/>
              <a:t>HCl</a:t>
            </a:r>
            <a:r>
              <a:rPr lang="en-US" b="1" dirty="0"/>
              <a:t>(</a:t>
            </a:r>
            <a:r>
              <a:rPr lang="en-US" b="1" i="1" dirty="0"/>
              <a:t>g</a:t>
            </a:r>
            <a:r>
              <a:rPr lang="en-US" b="1" dirty="0"/>
              <a:t>)	+	H</a:t>
            </a:r>
            <a:r>
              <a:rPr lang="en-US" b="1" baseline="-25000" dirty="0"/>
              <a:t>2</a:t>
            </a:r>
            <a:r>
              <a:rPr lang="en-US" b="1" dirty="0"/>
              <a:t>O(</a:t>
            </a:r>
            <a:r>
              <a:rPr lang="en-US" b="1" i="1" dirty="0"/>
              <a:t>l</a:t>
            </a:r>
            <a:r>
              <a:rPr lang="en-US" b="1" dirty="0"/>
              <a:t>)	</a:t>
            </a:r>
            <a:r>
              <a:rPr lang="en-US" b="1" dirty="0">
                <a:latin typeface="Cambria Math" panose="02040503050406030204" pitchFamily="18" charset="0"/>
                <a:ea typeface="Cambria Math" panose="02040503050406030204" pitchFamily="18" charset="0"/>
              </a:rPr>
              <a:t>→</a:t>
            </a:r>
            <a:endParaRPr lang="en-US" b="1" dirty="0"/>
          </a:p>
          <a:p>
            <a:pPr marL="0" lvl="0" indent="0">
              <a:buNone/>
            </a:pPr>
            <a:r>
              <a:rPr lang="en-US" dirty="0" err="1"/>
              <a:t>HCl</a:t>
            </a:r>
            <a:r>
              <a:rPr lang="en-US" dirty="0"/>
              <a:t> behaves as an </a:t>
            </a:r>
            <a:r>
              <a:rPr lang="en-US" dirty="0">
                <a:solidFill>
                  <a:srgbClr val="FF0000"/>
                </a:solidFill>
              </a:rPr>
              <a:t>____________</a:t>
            </a:r>
            <a:r>
              <a:rPr lang="en-US" dirty="0"/>
              <a:t> because it </a:t>
            </a:r>
            <a:r>
              <a:rPr lang="en-US" dirty="0">
                <a:solidFill>
                  <a:srgbClr val="FF0000"/>
                </a:solidFill>
              </a:rPr>
              <a:t>______________</a:t>
            </a:r>
            <a:r>
              <a:rPr lang="en-US" dirty="0"/>
              <a:t> H+,</a:t>
            </a:r>
          </a:p>
          <a:p>
            <a:pPr marL="0" lvl="0" indent="0">
              <a:buNone/>
            </a:pPr>
            <a:r>
              <a:rPr lang="en-US" dirty="0"/>
              <a:t>and water behaves a </a:t>
            </a:r>
            <a:r>
              <a:rPr lang="en-US" dirty="0">
                <a:solidFill>
                  <a:srgbClr val="FF0000"/>
                </a:solidFill>
              </a:rPr>
              <a:t>___________</a:t>
            </a:r>
            <a:r>
              <a:rPr lang="en-US" dirty="0"/>
              <a:t> because it </a:t>
            </a:r>
            <a:r>
              <a:rPr lang="en-US" dirty="0">
                <a:solidFill>
                  <a:srgbClr val="FF0000"/>
                </a:solidFill>
              </a:rPr>
              <a:t>______________</a:t>
            </a:r>
            <a:r>
              <a:rPr lang="en-US" dirty="0"/>
              <a:t> H+.</a:t>
            </a:r>
          </a:p>
          <a:p>
            <a:pPr marL="0" lvl="0" indent="0">
              <a:buNone/>
            </a:pPr>
            <a:endParaRPr lang="en-US" dirty="0"/>
          </a:p>
          <a:p>
            <a:pPr marL="0" indent="0">
              <a:buNone/>
            </a:pPr>
            <a:r>
              <a:rPr lang="en-US" b="1" dirty="0"/>
              <a:t>	NH</a:t>
            </a:r>
            <a:r>
              <a:rPr lang="en-US" b="1" baseline="-25000" dirty="0"/>
              <a:t>3</a:t>
            </a:r>
            <a:r>
              <a:rPr lang="en-US" b="1" dirty="0"/>
              <a:t>(</a:t>
            </a:r>
            <a:r>
              <a:rPr lang="en-US" b="1" i="1" dirty="0" err="1"/>
              <a:t>aq</a:t>
            </a:r>
            <a:r>
              <a:rPr lang="en-US" b="1" dirty="0"/>
              <a:t>)	+	H</a:t>
            </a:r>
            <a:r>
              <a:rPr lang="en-US" b="1" baseline="-25000" dirty="0"/>
              <a:t>2</a:t>
            </a:r>
            <a:r>
              <a:rPr lang="en-US" b="1" dirty="0"/>
              <a:t>O(</a:t>
            </a:r>
            <a:r>
              <a:rPr lang="en-US" b="1" i="1" dirty="0"/>
              <a:t>l</a:t>
            </a:r>
            <a:r>
              <a:rPr lang="en-US" b="1" dirty="0"/>
              <a:t>)	</a:t>
            </a:r>
            <a:r>
              <a:rPr lang="en-US" b="1" dirty="0">
                <a:latin typeface="Cambria Math" panose="02040503050406030204" pitchFamily="18" charset="0"/>
                <a:ea typeface="Cambria Math" panose="02040503050406030204" pitchFamily="18" charset="0"/>
              </a:rPr>
              <a:t>⇌</a:t>
            </a:r>
            <a:endParaRPr lang="en-US" b="1" dirty="0"/>
          </a:p>
          <a:p>
            <a:pPr marL="0" lvl="0" indent="0">
              <a:buNone/>
            </a:pPr>
            <a:r>
              <a:rPr lang="en-US" dirty="0"/>
              <a:t>NH</a:t>
            </a:r>
            <a:r>
              <a:rPr lang="en-US" baseline="-25000" dirty="0"/>
              <a:t>3</a:t>
            </a:r>
            <a:r>
              <a:rPr lang="en-US" dirty="0"/>
              <a:t> behaves as a </a:t>
            </a:r>
            <a:r>
              <a:rPr lang="en-US" dirty="0">
                <a:solidFill>
                  <a:srgbClr val="FF0000"/>
                </a:solidFill>
              </a:rPr>
              <a:t>______________</a:t>
            </a:r>
            <a:r>
              <a:rPr lang="en-US" dirty="0"/>
              <a:t> because it </a:t>
            </a:r>
            <a:r>
              <a:rPr lang="en-US" dirty="0">
                <a:solidFill>
                  <a:srgbClr val="FF0000"/>
                </a:solidFill>
              </a:rPr>
              <a:t>____________</a:t>
            </a:r>
            <a:r>
              <a:rPr lang="en-US" dirty="0"/>
              <a:t> H+,</a:t>
            </a:r>
          </a:p>
          <a:p>
            <a:pPr marL="0" lvl="0" indent="0">
              <a:buNone/>
            </a:pPr>
            <a:r>
              <a:rPr lang="en-US" dirty="0"/>
              <a:t>and water </a:t>
            </a:r>
            <a:r>
              <a:rPr lang="en-US"/>
              <a:t>behaves an </a:t>
            </a:r>
            <a:r>
              <a:rPr lang="en-US" dirty="0">
                <a:solidFill>
                  <a:srgbClr val="FF0000"/>
                </a:solidFill>
              </a:rPr>
              <a:t>_____________</a:t>
            </a:r>
            <a:r>
              <a:rPr lang="en-US" dirty="0"/>
              <a:t> because it </a:t>
            </a:r>
            <a:r>
              <a:rPr lang="en-US" dirty="0">
                <a:solidFill>
                  <a:srgbClr val="FF0000"/>
                </a:solidFill>
              </a:rPr>
              <a:t>____________</a:t>
            </a:r>
            <a:r>
              <a:rPr lang="en-US" dirty="0"/>
              <a:t> H+.</a:t>
            </a:r>
          </a:p>
          <a:p>
            <a:pPr marL="0" lvl="0" indent="0">
              <a:buNone/>
            </a:pPr>
            <a:endParaRPr lang="en-US" dirty="0"/>
          </a:p>
        </p:txBody>
      </p:sp>
    </p:spTree>
    <p:extLst>
      <p:ext uri="{BB962C8B-B14F-4D97-AF65-F5344CB8AC3E}">
        <p14:creationId xmlns:p14="http://schemas.microsoft.com/office/powerpoint/2010/main" val="22970593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0"/>
            <a:ext cx="10363200" cy="685800"/>
          </a:xfrm>
        </p:spPr>
        <p:txBody>
          <a:bodyPr/>
          <a:lstStyle/>
          <a:p>
            <a:r>
              <a:rPr lang="en-US" sz="3600" b="1" dirty="0"/>
              <a:t> </a:t>
            </a:r>
            <a:r>
              <a:rPr lang="en-US" sz="3600" b="1" dirty="0" err="1"/>
              <a:t>Brønsted</a:t>
            </a:r>
            <a:r>
              <a:rPr lang="en-US" sz="3600" b="1" dirty="0"/>
              <a:t>-Lowry Acids and Bases</a:t>
            </a:r>
            <a:endParaRPr lang="en-US" sz="3600" dirty="0"/>
          </a:p>
        </p:txBody>
      </p:sp>
      <p:sp>
        <p:nvSpPr>
          <p:cNvPr id="3" name="Content Placeholder 2"/>
          <p:cNvSpPr>
            <a:spLocks noGrp="1"/>
          </p:cNvSpPr>
          <p:nvPr>
            <p:ph idx="1"/>
          </p:nvPr>
        </p:nvSpPr>
        <p:spPr>
          <a:xfrm>
            <a:off x="381000" y="914400"/>
            <a:ext cx="11506200" cy="5715000"/>
          </a:xfrm>
        </p:spPr>
        <p:txBody>
          <a:bodyPr/>
          <a:lstStyle/>
          <a:p>
            <a:pPr marL="0" lvl="0" indent="0">
              <a:spcBef>
                <a:spcPts val="1200"/>
              </a:spcBef>
              <a:buNone/>
            </a:pPr>
            <a:r>
              <a:rPr lang="en-US" dirty="0"/>
              <a:t>A </a:t>
            </a:r>
            <a:r>
              <a:rPr lang="en-US" dirty="0" err="1"/>
              <a:t>Brønsted</a:t>
            </a:r>
            <a:r>
              <a:rPr lang="en-US" dirty="0"/>
              <a:t>-Lowry acid must have a </a:t>
            </a:r>
            <a:r>
              <a:rPr lang="en-US" dirty="0">
                <a:solidFill>
                  <a:srgbClr val="FF0000"/>
                </a:solidFill>
              </a:rPr>
              <a:t>hydrogen</a:t>
            </a:r>
            <a:r>
              <a:rPr lang="en-US" dirty="0"/>
              <a:t> atom that it can lose as a positive ion (sometimes called the labile proton)</a:t>
            </a:r>
          </a:p>
          <a:p>
            <a:pPr marL="0" lvl="0" indent="0">
              <a:spcBef>
                <a:spcPts val="1200"/>
              </a:spcBef>
              <a:buNone/>
            </a:pPr>
            <a:r>
              <a:rPr lang="en-US" dirty="0"/>
              <a:t>A </a:t>
            </a:r>
            <a:r>
              <a:rPr lang="en-US" dirty="0" err="1"/>
              <a:t>Brønsted</a:t>
            </a:r>
            <a:r>
              <a:rPr lang="en-US" dirty="0"/>
              <a:t>-Lowry base must have a </a:t>
            </a:r>
            <a:r>
              <a:rPr lang="en-US" dirty="0">
                <a:solidFill>
                  <a:srgbClr val="FF0000"/>
                </a:solidFill>
              </a:rPr>
              <a:t>lone pair</a:t>
            </a:r>
            <a:r>
              <a:rPr lang="en-US" dirty="0"/>
              <a:t> that it can use to bind the H+ ion.</a:t>
            </a:r>
          </a:p>
          <a:p>
            <a:pPr marL="0" lvl="0" indent="0">
              <a:buNone/>
            </a:pPr>
            <a:r>
              <a:rPr lang="en-US" dirty="0"/>
              <a:t>Water is an example of an </a:t>
            </a:r>
            <a:r>
              <a:rPr lang="en-US" dirty="0">
                <a:solidFill>
                  <a:srgbClr val="FF0000"/>
                </a:solidFill>
              </a:rPr>
              <a:t>amphiprotic</a:t>
            </a:r>
            <a:r>
              <a:rPr lang="en-US" dirty="0"/>
              <a:t> substance. What does it mean to be amphiprotic? </a:t>
            </a:r>
            <a:r>
              <a:rPr lang="en-US" dirty="0">
                <a:solidFill>
                  <a:srgbClr val="FF0000"/>
                </a:solidFill>
              </a:rPr>
              <a:t>Can act either as an acid or a base.</a:t>
            </a:r>
          </a:p>
          <a:p>
            <a:pPr marL="0" indent="0">
              <a:buNone/>
            </a:pPr>
            <a:r>
              <a:rPr lang="en-US" dirty="0"/>
              <a:t>Write an equation showing water acting as an amphoteric substance:</a:t>
            </a:r>
          </a:p>
          <a:p>
            <a:pPr marL="0" indent="0">
              <a:buNone/>
            </a:pPr>
            <a:r>
              <a:rPr lang="en-US" b="1" dirty="0"/>
              <a:t>H</a:t>
            </a:r>
            <a:r>
              <a:rPr lang="en-US" b="1" baseline="-25000" dirty="0"/>
              <a:t>2</a:t>
            </a:r>
            <a:r>
              <a:rPr lang="en-US" b="1" dirty="0"/>
              <a:t>O(</a:t>
            </a:r>
            <a:r>
              <a:rPr lang="en-US" b="1" i="1" dirty="0"/>
              <a:t>l</a:t>
            </a:r>
            <a:r>
              <a:rPr lang="en-US" b="1" dirty="0"/>
              <a:t>)	</a:t>
            </a:r>
            <a:r>
              <a:rPr lang="en-US" b="1" dirty="0">
                <a:latin typeface="Cambria Math" panose="02040503050406030204" pitchFamily="18" charset="0"/>
                <a:ea typeface="Cambria Math" panose="02040503050406030204" pitchFamily="18" charset="0"/>
              </a:rPr>
              <a:t>+	</a:t>
            </a:r>
            <a:r>
              <a:rPr lang="en-US" b="1" dirty="0"/>
              <a:t>H</a:t>
            </a:r>
            <a:r>
              <a:rPr lang="en-US" b="1" baseline="-25000" dirty="0"/>
              <a:t>2</a:t>
            </a:r>
            <a:r>
              <a:rPr lang="en-US" b="1" dirty="0"/>
              <a:t>O(</a:t>
            </a:r>
            <a:r>
              <a:rPr lang="en-US" b="1" i="1" dirty="0"/>
              <a:t>l</a:t>
            </a:r>
            <a:r>
              <a:rPr lang="en-US" b="1" dirty="0"/>
              <a:t>)	</a:t>
            </a:r>
            <a:r>
              <a:rPr lang="en-US" b="1" dirty="0">
                <a:latin typeface="Cambria Math" panose="02040503050406030204" pitchFamily="18" charset="0"/>
                <a:ea typeface="Cambria Math" panose="02040503050406030204" pitchFamily="18" charset="0"/>
              </a:rPr>
              <a:t>⇌</a:t>
            </a:r>
            <a:endParaRPr lang="en-US" b="1" dirty="0"/>
          </a:p>
          <a:p>
            <a:pPr marL="0" indent="0">
              <a:buNone/>
            </a:pPr>
            <a:endParaRPr lang="en-US" dirty="0"/>
          </a:p>
        </p:txBody>
      </p:sp>
    </p:spTree>
    <p:extLst>
      <p:ext uri="{BB962C8B-B14F-4D97-AF65-F5344CB8AC3E}">
        <p14:creationId xmlns:p14="http://schemas.microsoft.com/office/powerpoint/2010/main" val="485060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914400" y="0"/>
            <a:ext cx="10363200" cy="609600"/>
          </a:xfrm>
        </p:spPr>
        <p:txBody>
          <a:bodyPr/>
          <a:lstStyle/>
          <a:p>
            <a:r>
              <a:rPr lang="en-US" sz="3600" b="1" dirty="0">
                <a:solidFill>
                  <a:schemeClr val="tx1"/>
                </a:solidFill>
              </a:rPr>
              <a:t> </a:t>
            </a:r>
            <a:r>
              <a:rPr lang="en-US" sz="3600" b="1" dirty="0" err="1">
                <a:solidFill>
                  <a:schemeClr val="tx1"/>
                </a:solidFill>
              </a:rPr>
              <a:t>Brønsted</a:t>
            </a:r>
            <a:r>
              <a:rPr lang="en-US" sz="3600" b="1" dirty="0">
                <a:solidFill>
                  <a:schemeClr val="tx1"/>
                </a:solidFill>
              </a:rPr>
              <a:t>-Lowry Acids and Bases</a:t>
            </a:r>
            <a:endParaRPr lang="en-US" b="1" dirty="0">
              <a:solidFill>
                <a:schemeClr val="tx1"/>
              </a:solidFill>
            </a:endParaRPr>
          </a:p>
        </p:txBody>
      </p:sp>
      <p:sp>
        <p:nvSpPr>
          <p:cNvPr id="2" name="Content Placeholder 1"/>
          <p:cNvSpPr>
            <a:spLocks noGrp="1"/>
          </p:cNvSpPr>
          <p:nvPr>
            <p:ph idx="1"/>
          </p:nvPr>
        </p:nvSpPr>
        <p:spPr>
          <a:xfrm>
            <a:off x="609600" y="1295400"/>
            <a:ext cx="11277600" cy="4800600"/>
          </a:xfrm>
        </p:spPr>
        <p:txBody>
          <a:bodyPr/>
          <a:lstStyle/>
          <a:p>
            <a:pPr marL="0" indent="0" algn="ctr">
              <a:buNone/>
            </a:pPr>
            <a:r>
              <a:rPr lang="en-US" dirty="0"/>
              <a:t>HA(</a:t>
            </a:r>
            <a:r>
              <a:rPr lang="en-US" i="1" dirty="0" err="1"/>
              <a:t>aq</a:t>
            </a:r>
            <a:r>
              <a:rPr lang="en-US" dirty="0"/>
              <a:t>)    + H</a:t>
            </a:r>
            <a:r>
              <a:rPr lang="en-US" baseline="-25000" dirty="0"/>
              <a:t>2</a:t>
            </a:r>
            <a:r>
              <a:rPr lang="en-US" dirty="0"/>
              <a:t>O(</a:t>
            </a:r>
            <a:r>
              <a:rPr lang="en-US" i="1" dirty="0"/>
              <a:t>l</a:t>
            </a:r>
            <a:r>
              <a:rPr lang="en-US" dirty="0"/>
              <a:t>) 	 </a:t>
            </a:r>
            <a:r>
              <a:rPr lang="en-US" dirty="0">
                <a:sym typeface="Wingdings 3" pitchFamily="18" charset="2"/>
              </a:rPr>
              <a:t></a:t>
            </a:r>
            <a:r>
              <a:rPr lang="en-US" dirty="0"/>
              <a:t>  	H</a:t>
            </a:r>
            <a:r>
              <a:rPr lang="en-US" baseline="-25000" dirty="0"/>
              <a:t>3</a:t>
            </a:r>
            <a:r>
              <a:rPr lang="en-US" dirty="0"/>
              <a:t>O</a:t>
            </a:r>
            <a:r>
              <a:rPr lang="en-US" baseline="30000" dirty="0"/>
              <a:t>+</a:t>
            </a:r>
            <a:r>
              <a:rPr lang="en-US" dirty="0"/>
              <a:t>(</a:t>
            </a:r>
            <a:r>
              <a:rPr lang="en-US" i="1" dirty="0" err="1"/>
              <a:t>aq</a:t>
            </a:r>
            <a:r>
              <a:rPr lang="en-US" dirty="0"/>
              <a:t>)  +  	A</a:t>
            </a:r>
            <a:r>
              <a:rPr lang="en-US" baseline="30000" dirty="0"/>
              <a:t>-</a:t>
            </a:r>
            <a:r>
              <a:rPr lang="en-US" dirty="0"/>
              <a:t>(</a:t>
            </a:r>
            <a:r>
              <a:rPr lang="en-US" i="1" dirty="0" err="1"/>
              <a:t>aq</a:t>
            </a:r>
            <a:r>
              <a:rPr lang="en-US" dirty="0"/>
              <a:t>)</a:t>
            </a:r>
          </a:p>
          <a:p>
            <a:pPr marL="0" indent="0">
              <a:buNone/>
            </a:pPr>
            <a:r>
              <a:rPr lang="en-US" dirty="0"/>
              <a:t>		</a:t>
            </a:r>
            <a:r>
              <a:rPr lang="en-US" b="1" i="1" dirty="0"/>
              <a:t>Acid      Base    		Conjugate   	Conjugate</a:t>
            </a:r>
            <a:br>
              <a:rPr lang="en-US" b="1" i="1" dirty="0"/>
            </a:br>
            <a:r>
              <a:rPr lang="en-US" b="1" i="1" dirty="0"/>
              <a:t>                                       			Acid        		Base</a:t>
            </a:r>
            <a:br>
              <a:rPr lang="en-US" b="1" i="1" dirty="0"/>
            </a:br>
            <a:endParaRPr lang="en-US" b="1" i="1" dirty="0"/>
          </a:p>
          <a:p>
            <a:pPr marL="0" indent="0">
              <a:buNone/>
            </a:pPr>
            <a:r>
              <a:rPr lang="en-US" sz="2800" dirty="0"/>
              <a:t>The products of a B-L acid base reaction are often referred to as the </a:t>
            </a:r>
            <a:r>
              <a:rPr lang="en-US" sz="2800" dirty="0">
                <a:solidFill>
                  <a:srgbClr val="FF0000"/>
                </a:solidFill>
              </a:rPr>
              <a:t>conjugates</a:t>
            </a:r>
            <a:r>
              <a:rPr lang="en-US" sz="2800" dirty="0"/>
              <a:t> of the reaction.</a:t>
            </a:r>
          </a:p>
          <a:p>
            <a:pPr marL="0" indent="0">
              <a:buNone/>
            </a:pPr>
            <a:br>
              <a:rPr lang="en-US" sz="2800" dirty="0"/>
            </a:br>
            <a:r>
              <a:rPr lang="en-US" sz="2800" u="sng" dirty="0"/>
              <a:t>conjugate base</a:t>
            </a:r>
            <a:r>
              <a:rPr lang="en-US" sz="2800" dirty="0"/>
              <a:t>- everything that remains of the acid molecule after a proton is lost</a:t>
            </a:r>
            <a:br>
              <a:rPr lang="en-US" sz="2800" dirty="0"/>
            </a:br>
            <a:r>
              <a:rPr lang="en-US" sz="2800" u="sng" dirty="0"/>
              <a:t>conjugate acid</a:t>
            </a:r>
            <a:r>
              <a:rPr lang="en-US" sz="2800" dirty="0"/>
              <a:t>- base plus a proton</a:t>
            </a:r>
            <a:br>
              <a:rPr lang="en-US" sz="2800" dirty="0"/>
            </a:b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635000" y="0"/>
            <a:ext cx="11201400" cy="1143000"/>
          </a:xfrm>
        </p:spPr>
        <p:txBody>
          <a:bodyPr/>
          <a:lstStyle/>
          <a:p>
            <a:pPr algn="l"/>
            <a:r>
              <a:rPr lang="en-US" dirty="0"/>
              <a:t>Identify the conjugate bases of these substances.</a:t>
            </a:r>
            <a:endParaRPr lang="en-US" baseline="30000" dirty="0"/>
          </a:p>
        </p:txBody>
      </p:sp>
      <p:sp>
        <p:nvSpPr>
          <p:cNvPr id="2" name="Content Placeholder 1"/>
          <p:cNvSpPr>
            <a:spLocks noGrp="1"/>
          </p:cNvSpPr>
          <p:nvPr>
            <p:ph idx="1"/>
          </p:nvPr>
        </p:nvSpPr>
        <p:spPr/>
        <p:txBody>
          <a:bodyPr/>
          <a:lstStyle/>
          <a:p>
            <a:pPr marL="0" indent="0">
              <a:buNone/>
            </a:pPr>
            <a:r>
              <a:rPr lang="en-US" sz="4000" dirty="0" err="1"/>
              <a:t>HCl</a:t>
            </a:r>
            <a:r>
              <a:rPr lang="en-US" sz="4000" dirty="0"/>
              <a:t>            </a:t>
            </a:r>
            <a:br>
              <a:rPr lang="en-US" sz="4000" dirty="0"/>
            </a:br>
            <a:r>
              <a:rPr lang="en-US" sz="4000" dirty="0"/>
              <a:t>HNO</a:t>
            </a:r>
            <a:r>
              <a:rPr lang="en-US" sz="4000" baseline="-25000" dirty="0"/>
              <a:t>3</a:t>
            </a:r>
            <a:br>
              <a:rPr lang="en-US" sz="4000" dirty="0"/>
            </a:br>
            <a:r>
              <a:rPr lang="en-US" sz="4000" dirty="0"/>
              <a:t>NH</a:t>
            </a:r>
            <a:r>
              <a:rPr lang="en-US" sz="4000" baseline="-25000" dirty="0"/>
              <a:t>3</a:t>
            </a:r>
            <a:br>
              <a:rPr lang="en-US" sz="4000" dirty="0"/>
            </a:br>
            <a:r>
              <a:rPr lang="en-US" sz="4000" dirty="0"/>
              <a:t>HC</a:t>
            </a:r>
            <a:r>
              <a:rPr lang="en-US" sz="4000" baseline="-25000" dirty="0"/>
              <a:t>2</a:t>
            </a:r>
            <a:r>
              <a:rPr lang="en-US" sz="4000" dirty="0"/>
              <a:t>H</a:t>
            </a:r>
            <a:r>
              <a:rPr lang="en-US" sz="4000" baseline="-25000" dirty="0"/>
              <a:t>3</a:t>
            </a:r>
            <a:r>
              <a:rPr lang="en-US" sz="4000" dirty="0"/>
              <a:t>O</a:t>
            </a:r>
            <a:r>
              <a:rPr lang="en-US" sz="4000" baseline="-25000" dirty="0"/>
              <a:t>2</a:t>
            </a:r>
            <a:br>
              <a:rPr lang="en-US" sz="4000" dirty="0"/>
            </a:br>
            <a:r>
              <a:rPr lang="en-US" sz="4000" dirty="0"/>
              <a:t>CH</a:t>
            </a:r>
            <a:r>
              <a:rPr lang="en-US" sz="4000" baseline="-25000" dirty="0"/>
              <a:t>3</a:t>
            </a:r>
            <a:r>
              <a:rPr lang="en-US" sz="4000" dirty="0"/>
              <a:t>NH</a:t>
            </a:r>
            <a:r>
              <a:rPr lang="en-US" sz="4000" baseline="-25000" dirty="0"/>
              <a:t>3</a:t>
            </a:r>
            <a:r>
              <a:rPr lang="en-US" sz="4000" baseline="30000" dirty="0"/>
              <a:t>+</a:t>
            </a:r>
            <a:endParaRPr lang="en-US" sz="4000" dirty="0"/>
          </a:p>
        </p:txBody>
      </p:sp>
      <p:sp>
        <p:nvSpPr>
          <p:cNvPr id="3" name="TextBox 2"/>
          <p:cNvSpPr txBox="1">
            <a:spLocks noChangeArrowheads="1"/>
          </p:cNvSpPr>
          <p:nvPr/>
        </p:nvSpPr>
        <p:spPr bwMode="auto">
          <a:xfrm>
            <a:off x="5202382" y="1956232"/>
            <a:ext cx="1371600" cy="646113"/>
          </a:xfrm>
          <a:prstGeom prst="rect">
            <a:avLst/>
          </a:prstGeom>
          <a:noFill/>
          <a:ln w="9525">
            <a:noFill/>
            <a:miter lim="800000"/>
            <a:headEnd/>
            <a:tailEnd/>
          </a:ln>
        </p:spPr>
        <p:txBody>
          <a:bodyPr>
            <a:spAutoFit/>
          </a:bodyPr>
          <a:lstStyle/>
          <a:p>
            <a:pPr eaLnBrk="0" hangingPunct="0"/>
            <a:r>
              <a:rPr lang="en-US" sz="3600" dirty="0">
                <a:solidFill>
                  <a:schemeClr val="accent2"/>
                </a:solidFill>
              </a:rPr>
              <a:t>Cl</a:t>
            </a:r>
            <a:r>
              <a:rPr lang="en-US" sz="3600" baseline="30000" dirty="0">
                <a:solidFill>
                  <a:schemeClr val="accent2"/>
                </a:solidFill>
              </a:rPr>
              <a:t>-</a:t>
            </a:r>
            <a:endParaRPr lang="en-US" sz="3600" dirty="0">
              <a:solidFill>
                <a:schemeClr val="accent2"/>
              </a:solidFill>
            </a:endParaRPr>
          </a:p>
        </p:txBody>
      </p:sp>
      <p:sp>
        <p:nvSpPr>
          <p:cNvPr id="4" name="TextBox 3"/>
          <p:cNvSpPr txBox="1">
            <a:spLocks noChangeArrowheads="1"/>
          </p:cNvSpPr>
          <p:nvPr/>
        </p:nvSpPr>
        <p:spPr bwMode="auto">
          <a:xfrm>
            <a:off x="5158509" y="2554288"/>
            <a:ext cx="1371600" cy="646113"/>
          </a:xfrm>
          <a:prstGeom prst="rect">
            <a:avLst/>
          </a:prstGeom>
          <a:noFill/>
          <a:ln w="9525">
            <a:noFill/>
            <a:miter lim="800000"/>
            <a:headEnd/>
            <a:tailEnd/>
          </a:ln>
        </p:spPr>
        <p:txBody>
          <a:bodyPr>
            <a:spAutoFit/>
          </a:bodyPr>
          <a:lstStyle/>
          <a:p>
            <a:pPr eaLnBrk="0" hangingPunct="0"/>
            <a:r>
              <a:rPr lang="en-US" sz="3600" dirty="0">
                <a:solidFill>
                  <a:schemeClr val="accent2"/>
                </a:solidFill>
              </a:rPr>
              <a:t>NO</a:t>
            </a:r>
            <a:r>
              <a:rPr lang="en-US" sz="3600" baseline="-25000" dirty="0">
                <a:solidFill>
                  <a:schemeClr val="accent2"/>
                </a:solidFill>
              </a:rPr>
              <a:t>3</a:t>
            </a:r>
            <a:r>
              <a:rPr lang="en-US" sz="3600" baseline="30000" dirty="0">
                <a:solidFill>
                  <a:schemeClr val="accent2"/>
                </a:solidFill>
              </a:rPr>
              <a:t>-</a:t>
            </a:r>
            <a:endParaRPr lang="en-US" sz="3600" dirty="0">
              <a:solidFill>
                <a:schemeClr val="accent2"/>
              </a:solidFill>
            </a:endParaRPr>
          </a:p>
        </p:txBody>
      </p:sp>
      <p:sp>
        <p:nvSpPr>
          <p:cNvPr id="5" name="TextBox 4"/>
          <p:cNvSpPr txBox="1">
            <a:spLocks noChangeArrowheads="1"/>
          </p:cNvSpPr>
          <p:nvPr/>
        </p:nvSpPr>
        <p:spPr bwMode="auto">
          <a:xfrm>
            <a:off x="5174673" y="3156530"/>
            <a:ext cx="5486400" cy="646113"/>
          </a:xfrm>
          <a:prstGeom prst="rect">
            <a:avLst/>
          </a:prstGeom>
          <a:noFill/>
          <a:ln w="9525">
            <a:noFill/>
            <a:miter lim="800000"/>
            <a:headEnd/>
            <a:tailEnd/>
          </a:ln>
        </p:spPr>
        <p:txBody>
          <a:bodyPr>
            <a:spAutoFit/>
          </a:bodyPr>
          <a:lstStyle/>
          <a:p>
            <a:pPr eaLnBrk="0" hangingPunct="0"/>
            <a:r>
              <a:rPr lang="en-US" sz="3600" dirty="0">
                <a:solidFill>
                  <a:schemeClr val="accent2"/>
                </a:solidFill>
              </a:rPr>
              <a:t>NH</a:t>
            </a:r>
            <a:r>
              <a:rPr lang="en-US" sz="3600" baseline="-25000" dirty="0">
                <a:solidFill>
                  <a:schemeClr val="accent2"/>
                </a:solidFill>
              </a:rPr>
              <a:t>2</a:t>
            </a:r>
            <a:r>
              <a:rPr lang="en-US" sz="3600" baseline="30000" dirty="0">
                <a:solidFill>
                  <a:schemeClr val="accent2"/>
                </a:solidFill>
              </a:rPr>
              <a:t>-  </a:t>
            </a:r>
            <a:r>
              <a:rPr lang="en-US" sz="3600" dirty="0">
                <a:solidFill>
                  <a:schemeClr val="accent2"/>
                </a:solidFill>
              </a:rPr>
              <a:t>(amide ion)</a:t>
            </a:r>
          </a:p>
        </p:txBody>
      </p:sp>
      <p:sp>
        <p:nvSpPr>
          <p:cNvPr id="6" name="TextBox 5"/>
          <p:cNvSpPr txBox="1">
            <a:spLocks noChangeArrowheads="1"/>
          </p:cNvSpPr>
          <p:nvPr/>
        </p:nvSpPr>
        <p:spPr bwMode="auto">
          <a:xfrm>
            <a:off x="5207000" y="3760791"/>
            <a:ext cx="2057400" cy="646113"/>
          </a:xfrm>
          <a:prstGeom prst="rect">
            <a:avLst/>
          </a:prstGeom>
          <a:noFill/>
          <a:ln w="9525">
            <a:noFill/>
            <a:miter lim="800000"/>
            <a:headEnd/>
            <a:tailEnd/>
          </a:ln>
        </p:spPr>
        <p:txBody>
          <a:bodyPr>
            <a:spAutoFit/>
          </a:bodyPr>
          <a:lstStyle/>
          <a:p>
            <a:pPr eaLnBrk="0" hangingPunct="0"/>
            <a:r>
              <a:rPr lang="en-US" sz="3600" dirty="0">
                <a:solidFill>
                  <a:schemeClr val="accent2"/>
                </a:solidFill>
              </a:rPr>
              <a:t>C</a:t>
            </a:r>
            <a:r>
              <a:rPr lang="en-US" sz="3600" baseline="-25000" dirty="0">
                <a:solidFill>
                  <a:schemeClr val="accent2"/>
                </a:solidFill>
              </a:rPr>
              <a:t>2</a:t>
            </a:r>
            <a:r>
              <a:rPr lang="en-US" sz="3600" dirty="0">
                <a:solidFill>
                  <a:schemeClr val="accent2"/>
                </a:solidFill>
              </a:rPr>
              <a:t>H</a:t>
            </a:r>
            <a:r>
              <a:rPr lang="en-US" sz="3600" baseline="-25000" dirty="0">
                <a:solidFill>
                  <a:schemeClr val="accent2"/>
                </a:solidFill>
              </a:rPr>
              <a:t>3</a:t>
            </a:r>
            <a:r>
              <a:rPr lang="en-US" sz="3600" dirty="0">
                <a:solidFill>
                  <a:schemeClr val="accent2"/>
                </a:solidFill>
              </a:rPr>
              <a:t>O</a:t>
            </a:r>
            <a:r>
              <a:rPr lang="en-US" sz="3600" baseline="-25000" dirty="0">
                <a:solidFill>
                  <a:schemeClr val="accent2"/>
                </a:solidFill>
              </a:rPr>
              <a:t>2</a:t>
            </a:r>
            <a:r>
              <a:rPr lang="en-US" sz="3600" baseline="30000" dirty="0">
                <a:solidFill>
                  <a:schemeClr val="accent2"/>
                </a:solidFill>
              </a:rPr>
              <a:t>-</a:t>
            </a:r>
            <a:endParaRPr lang="en-US" sz="3600" dirty="0">
              <a:solidFill>
                <a:schemeClr val="accent2"/>
              </a:solidFill>
            </a:endParaRPr>
          </a:p>
        </p:txBody>
      </p:sp>
      <p:sp>
        <p:nvSpPr>
          <p:cNvPr id="7" name="TextBox 6"/>
          <p:cNvSpPr txBox="1">
            <a:spLocks noChangeArrowheads="1"/>
          </p:cNvSpPr>
          <p:nvPr/>
        </p:nvSpPr>
        <p:spPr bwMode="auto">
          <a:xfrm>
            <a:off x="5202382" y="4431872"/>
            <a:ext cx="5486400" cy="646113"/>
          </a:xfrm>
          <a:prstGeom prst="rect">
            <a:avLst/>
          </a:prstGeom>
          <a:noFill/>
          <a:ln w="9525">
            <a:noFill/>
            <a:miter lim="800000"/>
            <a:headEnd/>
            <a:tailEnd/>
          </a:ln>
        </p:spPr>
        <p:txBody>
          <a:bodyPr>
            <a:spAutoFit/>
          </a:bodyPr>
          <a:lstStyle/>
          <a:p>
            <a:pPr eaLnBrk="0" hangingPunct="0"/>
            <a:r>
              <a:rPr lang="en-US" sz="3600" dirty="0">
                <a:solidFill>
                  <a:schemeClr val="accent2"/>
                </a:solidFill>
              </a:rPr>
              <a:t>CH</a:t>
            </a:r>
            <a:r>
              <a:rPr lang="en-US" sz="3600" baseline="-25000" dirty="0">
                <a:solidFill>
                  <a:schemeClr val="accent2"/>
                </a:solidFill>
              </a:rPr>
              <a:t>3</a:t>
            </a:r>
            <a:r>
              <a:rPr lang="en-US" sz="3600" dirty="0">
                <a:solidFill>
                  <a:schemeClr val="accent2"/>
                </a:solidFill>
              </a:rPr>
              <a:t>NH</a:t>
            </a:r>
            <a:r>
              <a:rPr lang="en-US" sz="3600" baseline="-25000" dirty="0">
                <a:solidFill>
                  <a:schemeClr val="accent2"/>
                </a:solidFill>
              </a:rPr>
              <a:t>2 </a:t>
            </a:r>
            <a:r>
              <a:rPr lang="en-US" sz="2800" dirty="0">
                <a:solidFill>
                  <a:schemeClr val="accent2"/>
                </a:solidFill>
              </a:rPr>
              <a:t>(methylamine)</a:t>
            </a:r>
            <a:endParaRPr lang="en-US" sz="3600" baseline="-25000" dirty="0">
              <a:solidFill>
                <a:schemeClr val="accent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907473" y="22226"/>
            <a:ext cx="11049000" cy="1143000"/>
          </a:xfrm>
        </p:spPr>
        <p:txBody>
          <a:bodyPr/>
          <a:lstStyle/>
          <a:p>
            <a:pPr algn="l"/>
            <a:r>
              <a:rPr lang="en-US" dirty="0"/>
              <a:t>Identify the conjugate acids of these substances.</a:t>
            </a:r>
            <a:endParaRPr lang="en-US" baseline="30000" dirty="0"/>
          </a:p>
        </p:txBody>
      </p:sp>
      <p:sp>
        <p:nvSpPr>
          <p:cNvPr id="2" name="Content Placeholder 1"/>
          <p:cNvSpPr>
            <a:spLocks noGrp="1"/>
          </p:cNvSpPr>
          <p:nvPr>
            <p:ph idx="1"/>
          </p:nvPr>
        </p:nvSpPr>
        <p:spPr/>
        <p:txBody>
          <a:bodyPr/>
          <a:lstStyle/>
          <a:p>
            <a:pPr marL="0" indent="0">
              <a:buNone/>
            </a:pPr>
            <a:r>
              <a:rPr lang="en-US" sz="4000" dirty="0"/>
              <a:t>F</a:t>
            </a:r>
            <a:r>
              <a:rPr lang="en-US" sz="4000" baseline="30000" dirty="0"/>
              <a:t>-</a:t>
            </a:r>
            <a:r>
              <a:rPr lang="en-US" sz="4000" dirty="0"/>
              <a:t>            </a:t>
            </a:r>
            <a:br>
              <a:rPr lang="en-US" sz="4000" dirty="0"/>
            </a:br>
            <a:br>
              <a:rPr lang="en-US" sz="4000" dirty="0"/>
            </a:br>
            <a:r>
              <a:rPr lang="en-US" sz="4000" dirty="0"/>
              <a:t>NH</a:t>
            </a:r>
            <a:r>
              <a:rPr lang="en-US" sz="4000" baseline="-25000" dirty="0"/>
              <a:t>3</a:t>
            </a:r>
            <a:br>
              <a:rPr lang="en-US" sz="4000" dirty="0"/>
            </a:br>
            <a:br>
              <a:rPr lang="en-US" sz="4000" dirty="0"/>
            </a:br>
            <a:r>
              <a:rPr lang="en-US" sz="4000" dirty="0"/>
              <a:t>H</a:t>
            </a:r>
            <a:r>
              <a:rPr lang="en-US" sz="4000" baseline="-25000" dirty="0"/>
              <a:t>2</a:t>
            </a:r>
            <a:r>
              <a:rPr lang="en-US" sz="4000" dirty="0"/>
              <a:t>O</a:t>
            </a:r>
            <a:br>
              <a:rPr lang="en-US" dirty="0"/>
            </a:br>
            <a:endParaRPr lang="en-US" dirty="0"/>
          </a:p>
        </p:txBody>
      </p:sp>
      <p:sp>
        <p:nvSpPr>
          <p:cNvPr id="3" name="TextBox 2"/>
          <p:cNvSpPr txBox="1">
            <a:spLocks noChangeArrowheads="1"/>
          </p:cNvSpPr>
          <p:nvPr/>
        </p:nvSpPr>
        <p:spPr bwMode="auto">
          <a:xfrm>
            <a:off x="4191000" y="1920876"/>
            <a:ext cx="1371600" cy="708025"/>
          </a:xfrm>
          <a:prstGeom prst="rect">
            <a:avLst/>
          </a:prstGeom>
          <a:noFill/>
          <a:ln w="9525">
            <a:noFill/>
            <a:miter lim="800000"/>
            <a:headEnd/>
            <a:tailEnd/>
          </a:ln>
        </p:spPr>
        <p:txBody>
          <a:bodyPr>
            <a:spAutoFit/>
          </a:bodyPr>
          <a:lstStyle/>
          <a:p>
            <a:pPr eaLnBrk="0" hangingPunct="0"/>
            <a:r>
              <a:rPr lang="en-US" sz="4000" dirty="0">
                <a:solidFill>
                  <a:schemeClr val="accent2"/>
                </a:solidFill>
              </a:rPr>
              <a:t>HF</a:t>
            </a:r>
          </a:p>
        </p:txBody>
      </p:sp>
      <p:sp>
        <p:nvSpPr>
          <p:cNvPr id="4" name="TextBox 3"/>
          <p:cNvSpPr txBox="1">
            <a:spLocks noChangeArrowheads="1"/>
          </p:cNvSpPr>
          <p:nvPr/>
        </p:nvSpPr>
        <p:spPr bwMode="auto">
          <a:xfrm>
            <a:off x="4135582" y="4310066"/>
            <a:ext cx="1371600" cy="708025"/>
          </a:xfrm>
          <a:prstGeom prst="rect">
            <a:avLst/>
          </a:prstGeom>
          <a:noFill/>
          <a:ln w="9525">
            <a:noFill/>
            <a:miter lim="800000"/>
            <a:headEnd/>
            <a:tailEnd/>
          </a:ln>
        </p:spPr>
        <p:txBody>
          <a:bodyPr>
            <a:spAutoFit/>
          </a:bodyPr>
          <a:lstStyle/>
          <a:p>
            <a:pPr eaLnBrk="0" hangingPunct="0"/>
            <a:r>
              <a:rPr lang="en-US" sz="4000" dirty="0">
                <a:solidFill>
                  <a:schemeClr val="accent2"/>
                </a:solidFill>
              </a:rPr>
              <a:t>H</a:t>
            </a:r>
            <a:r>
              <a:rPr lang="en-US" sz="4000" baseline="-25000" dirty="0">
                <a:solidFill>
                  <a:schemeClr val="accent2"/>
                </a:solidFill>
              </a:rPr>
              <a:t>3</a:t>
            </a:r>
            <a:r>
              <a:rPr lang="en-US" sz="4000" dirty="0">
                <a:solidFill>
                  <a:schemeClr val="accent2"/>
                </a:solidFill>
              </a:rPr>
              <a:t>O</a:t>
            </a:r>
            <a:r>
              <a:rPr lang="en-US" sz="4000" baseline="30000" dirty="0">
                <a:solidFill>
                  <a:schemeClr val="accent2"/>
                </a:solidFill>
              </a:rPr>
              <a:t>+</a:t>
            </a:r>
            <a:endParaRPr lang="en-US" sz="4000" dirty="0">
              <a:solidFill>
                <a:schemeClr val="accent2"/>
              </a:solidFill>
            </a:endParaRPr>
          </a:p>
        </p:txBody>
      </p:sp>
      <p:sp>
        <p:nvSpPr>
          <p:cNvPr id="5" name="TextBox 4"/>
          <p:cNvSpPr txBox="1">
            <a:spLocks noChangeArrowheads="1"/>
          </p:cNvSpPr>
          <p:nvPr/>
        </p:nvSpPr>
        <p:spPr bwMode="auto">
          <a:xfrm>
            <a:off x="4135582" y="3101977"/>
            <a:ext cx="1371600" cy="708025"/>
          </a:xfrm>
          <a:prstGeom prst="rect">
            <a:avLst/>
          </a:prstGeom>
          <a:noFill/>
          <a:ln w="9525">
            <a:noFill/>
            <a:miter lim="800000"/>
            <a:headEnd/>
            <a:tailEnd/>
          </a:ln>
        </p:spPr>
        <p:txBody>
          <a:bodyPr>
            <a:spAutoFit/>
          </a:bodyPr>
          <a:lstStyle/>
          <a:p>
            <a:pPr eaLnBrk="0" hangingPunct="0"/>
            <a:r>
              <a:rPr lang="en-US" sz="4000" dirty="0">
                <a:solidFill>
                  <a:schemeClr val="accent2"/>
                </a:solidFill>
              </a:rPr>
              <a:t>NH</a:t>
            </a:r>
            <a:r>
              <a:rPr lang="en-US" sz="4000" baseline="-25000" dirty="0">
                <a:solidFill>
                  <a:schemeClr val="accent2"/>
                </a:solidFill>
              </a:rPr>
              <a:t>4</a:t>
            </a:r>
            <a:r>
              <a:rPr lang="en-US" sz="4000" baseline="30000" dirty="0">
                <a:solidFill>
                  <a:schemeClr val="accent2"/>
                </a:solidFill>
              </a:rPr>
              <a:t>+</a:t>
            </a:r>
            <a:endParaRPr lang="en-US" sz="4000" dirty="0">
              <a:solidFill>
                <a:schemeClr val="accent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6200"/>
            <a:ext cx="10363200" cy="1143000"/>
          </a:xfrm>
        </p:spPr>
        <p:txBody>
          <a:bodyPr/>
          <a:lstStyle/>
          <a:p>
            <a:r>
              <a:rPr lang="en-US" sz="3600" dirty="0"/>
              <a:t>For the following reactions, identify the acid, base, conjugate acid and conjugate base</a:t>
            </a:r>
          </a:p>
        </p:txBody>
      </p:sp>
      <p:sp>
        <p:nvSpPr>
          <p:cNvPr id="3" name="Content Placeholder 2"/>
          <p:cNvSpPr>
            <a:spLocks noGrp="1"/>
          </p:cNvSpPr>
          <p:nvPr>
            <p:ph idx="1"/>
          </p:nvPr>
        </p:nvSpPr>
        <p:spPr>
          <a:xfrm>
            <a:off x="914400" y="1371600"/>
            <a:ext cx="10363200" cy="4724400"/>
          </a:xfrm>
        </p:spPr>
        <p:txBody>
          <a:bodyPr/>
          <a:lstStyle/>
          <a:p>
            <a:pPr marL="0" lvl="0" indent="0">
              <a:buNone/>
            </a:pPr>
            <a:r>
              <a:rPr lang="en-US" dirty="0"/>
              <a:t>NH</a:t>
            </a:r>
            <a:r>
              <a:rPr lang="en-US" baseline="-25000" dirty="0"/>
              <a:t>3</a:t>
            </a:r>
            <a:r>
              <a:rPr lang="en-US" dirty="0"/>
              <a:t>  	+ 	H</a:t>
            </a:r>
            <a:r>
              <a:rPr lang="en-US" baseline="-25000" dirty="0"/>
              <a:t>3</a:t>
            </a:r>
            <a:r>
              <a:rPr lang="en-US" dirty="0"/>
              <a:t>O</a:t>
            </a:r>
            <a:r>
              <a:rPr lang="en-US" baseline="30000" dirty="0"/>
              <a:t>+</a:t>
            </a:r>
            <a:r>
              <a:rPr lang="en-US" dirty="0"/>
              <a:t> 	</a:t>
            </a:r>
            <a:r>
              <a:rPr lang="en-US" dirty="0">
                <a:latin typeface="Cambria Math" panose="02040503050406030204" pitchFamily="18" charset="0"/>
                <a:ea typeface="Cambria Math" panose="02040503050406030204" pitchFamily="18" charset="0"/>
              </a:rPr>
              <a:t>⇌</a:t>
            </a:r>
            <a:r>
              <a:rPr lang="en-US" dirty="0"/>
              <a:t> 	NH</a:t>
            </a:r>
            <a:r>
              <a:rPr lang="en-US" baseline="-25000" dirty="0"/>
              <a:t>4</a:t>
            </a:r>
            <a:r>
              <a:rPr lang="en-US" baseline="30000" dirty="0"/>
              <a:t>+</a:t>
            </a:r>
            <a:r>
              <a:rPr lang="en-US" dirty="0"/>
              <a:t> 	+ 	H</a:t>
            </a:r>
            <a:r>
              <a:rPr lang="en-US" baseline="-25000" dirty="0"/>
              <a:t>2</a:t>
            </a:r>
            <a:r>
              <a:rPr lang="en-US" dirty="0"/>
              <a:t>O 		</a:t>
            </a:r>
          </a:p>
          <a:p>
            <a:pPr marL="0" lvl="0" indent="0">
              <a:buNone/>
            </a:pPr>
            <a:endParaRPr lang="en-US" dirty="0"/>
          </a:p>
          <a:p>
            <a:pPr marL="0" indent="0">
              <a:buNone/>
            </a:pPr>
            <a:r>
              <a:rPr lang="en-US" dirty="0"/>
              <a:t>CH</a:t>
            </a:r>
            <a:r>
              <a:rPr lang="en-US" baseline="-25000" dirty="0"/>
              <a:t>3</a:t>
            </a:r>
            <a:r>
              <a:rPr lang="en-US" dirty="0"/>
              <a:t>OH 	+ 	NH</a:t>
            </a:r>
            <a:r>
              <a:rPr lang="en-US" baseline="-25000" dirty="0"/>
              <a:t>2</a:t>
            </a:r>
            <a:r>
              <a:rPr lang="en-US" baseline="30000" dirty="0"/>
              <a:t>-</a:t>
            </a:r>
            <a:r>
              <a:rPr lang="en-US" dirty="0"/>
              <a:t> 	</a:t>
            </a:r>
            <a:r>
              <a:rPr lang="en-US" dirty="0">
                <a:latin typeface="Cambria Math" panose="02040503050406030204" pitchFamily="18" charset="0"/>
                <a:ea typeface="Cambria Math" panose="02040503050406030204" pitchFamily="18" charset="0"/>
              </a:rPr>
              <a:t> ⇌ </a:t>
            </a:r>
            <a:r>
              <a:rPr lang="en-US" dirty="0">
                <a:sym typeface="Wingdings" panose="05000000000000000000" pitchFamily="2" charset="2"/>
              </a:rPr>
              <a:t>	</a:t>
            </a:r>
            <a:r>
              <a:rPr lang="en-US" dirty="0"/>
              <a:t> CH</a:t>
            </a:r>
            <a:r>
              <a:rPr lang="en-US" baseline="-25000" dirty="0"/>
              <a:t>3</a:t>
            </a:r>
            <a:r>
              <a:rPr lang="en-US" dirty="0"/>
              <a:t>O</a:t>
            </a:r>
            <a:r>
              <a:rPr lang="en-US" baseline="30000" dirty="0"/>
              <a:t>-</a:t>
            </a:r>
            <a:r>
              <a:rPr lang="en-US" dirty="0"/>
              <a:t> 	+ 	NH</a:t>
            </a:r>
            <a:r>
              <a:rPr lang="en-US" baseline="-25000" dirty="0"/>
              <a:t>3</a:t>
            </a:r>
            <a:endParaRPr lang="en-US" dirty="0"/>
          </a:p>
        </p:txBody>
      </p:sp>
    </p:spTree>
    <p:extLst>
      <p:ext uri="{BB962C8B-B14F-4D97-AF65-F5344CB8AC3E}">
        <p14:creationId xmlns:p14="http://schemas.microsoft.com/office/powerpoint/2010/main" val="13845557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Picture 3"/>
          <p:cNvPicPr>
            <a:picLocks noChangeAspect="1"/>
          </p:cNvPicPr>
          <p:nvPr/>
        </p:nvPicPr>
        <p:blipFill>
          <a:blip r:embed="rId2"/>
          <a:stretch>
            <a:fillRect/>
          </a:stretch>
        </p:blipFill>
        <p:spPr>
          <a:xfrm>
            <a:off x="228600" y="1284582"/>
            <a:ext cx="11811000" cy="4690972"/>
          </a:xfrm>
          <a:prstGeom prst="rect">
            <a:avLst/>
          </a:prstGeom>
        </p:spPr>
      </p:pic>
    </p:spTree>
    <p:extLst>
      <p:ext uri="{BB962C8B-B14F-4D97-AF65-F5344CB8AC3E}">
        <p14:creationId xmlns:p14="http://schemas.microsoft.com/office/powerpoint/2010/main" val="24106110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9000" y="0"/>
            <a:ext cx="10363200" cy="609600"/>
          </a:xfrm>
        </p:spPr>
        <p:txBody>
          <a:bodyPr/>
          <a:lstStyle/>
          <a:p>
            <a:r>
              <a:rPr lang="en-US" sz="4000" dirty="0"/>
              <a:t>Strong and Weak Acids and Bases</a:t>
            </a:r>
          </a:p>
        </p:txBody>
      </p:sp>
      <p:sp>
        <p:nvSpPr>
          <p:cNvPr id="3" name="Content Placeholder 2"/>
          <p:cNvSpPr>
            <a:spLocks noGrp="1"/>
          </p:cNvSpPr>
          <p:nvPr>
            <p:ph idx="1"/>
          </p:nvPr>
        </p:nvSpPr>
        <p:spPr>
          <a:xfrm>
            <a:off x="381000" y="762000"/>
            <a:ext cx="11353800" cy="5334000"/>
          </a:xfrm>
        </p:spPr>
        <p:txBody>
          <a:bodyPr/>
          <a:lstStyle/>
          <a:p>
            <a:pPr marL="0" indent="0">
              <a:buNone/>
            </a:pPr>
            <a:r>
              <a:rPr lang="en-US" sz="2800" b="1" dirty="0"/>
              <a:t>Strong acid</a:t>
            </a:r>
            <a:r>
              <a:rPr lang="en-US" sz="2800" dirty="0"/>
              <a:t> – </a:t>
            </a:r>
            <a:r>
              <a:rPr lang="en-US" sz="2800" dirty="0">
                <a:solidFill>
                  <a:srgbClr val="FF0000"/>
                </a:solidFill>
              </a:rPr>
              <a:t>LARGE</a:t>
            </a:r>
            <a:r>
              <a:rPr lang="en-US" sz="2800" dirty="0"/>
              <a:t> K value, mostly dissociated substance. Write a dissociation reaction for the strong acid, HX:</a:t>
            </a:r>
          </a:p>
          <a:p>
            <a:pPr marL="0" indent="0" algn="ctr">
              <a:buNone/>
            </a:pPr>
            <a:r>
              <a:rPr lang="en-US" sz="2800" dirty="0">
                <a:solidFill>
                  <a:srgbClr val="FF0000"/>
                </a:solidFill>
              </a:rPr>
              <a:t>HX + 	H</a:t>
            </a:r>
            <a:r>
              <a:rPr lang="en-US" sz="2800" baseline="-25000" dirty="0">
                <a:solidFill>
                  <a:srgbClr val="FF0000"/>
                </a:solidFill>
              </a:rPr>
              <a:t>2</a:t>
            </a:r>
            <a:r>
              <a:rPr lang="en-US" sz="2800" dirty="0">
                <a:solidFill>
                  <a:srgbClr val="FF0000"/>
                </a:solidFill>
              </a:rPr>
              <a:t>O 	</a:t>
            </a:r>
            <a:r>
              <a:rPr lang="en-US" sz="2800" dirty="0">
                <a:solidFill>
                  <a:srgbClr val="FF0000"/>
                </a:solidFill>
                <a:latin typeface="Cambria Math" panose="02040503050406030204" pitchFamily="18" charset="0"/>
                <a:ea typeface="Cambria Math" panose="02040503050406030204" pitchFamily="18" charset="0"/>
              </a:rPr>
              <a:t>→</a:t>
            </a:r>
            <a:r>
              <a:rPr lang="en-US" sz="2800" dirty="0">
                <a:solidFill>
                  <a:srgbClr val="FF0000"/>
                </a:solidFill>
              </a:rPr>
              <a:t> H</a:t>
            </a:r>
            <a:r>
              <a:rPr lang="en-US" sz="2800" baseline="-25000" dirty="0">
                <a:solidFill>
                  <a:srgbClr val="FF0000"/>
                </a:solidFill>
              </a:rPr>
              <a:t>3</a:t>
            </a:r>
            <a:r>
              <a:rPr lang="en-US" sz="2800" dirty="0">
                <a:solidFill>
                  <a:srgbClr val="FF0000"/>
                </a:solidFill>
              </a:rPr>
              <a:t>O</a:t>
            </a:r>
            <a:r>
              <a:rPr lang="en-US" sz="2800" baseline="30000" dirty="0">
                <a:solidFill>
                  <a:srgbClr val="FF0000"/>
                </a:solidFill>
              </a:rPr>
              <a:t>+</a:t>
            </a:r>
            <a:r>
              <a:rPr lang="en-US" sz="2800" dirty="0">
                <a:solidFill>
                  <a:srgbClr val="FF0000"/>
                </a:solidFill>
              </a:rPr>
              <a:t>	+	X</a:t>
            </a:r>
            <a:r>
              <a:rPr lang="en-US" sz="2800" baseline="30000" dirty="0">
                <a:solidFill>
                  <a:srgbClr val="FF0000"/>
                </a:solidFill>
              </a:rPr>
              <a:t>-</a:t>
            </a:r>
            <a:endParaRPr lang="en-US" sz="2800" dirty="0">
              <a:solidFill>
                <a:srgbClr val="FF0000"/>
              </a:solidFill>
            </a:endParaRPr>
          </a:p>
          <a:p>
            <a:pPr marL="0" indent="0">
              <a:buNone/>
            </a:pPr>
            <a:r>
              <a:rPr lang="en-US" sz="2800" dirty="0"/>
              <a:t>- equilibrium lies far to the right </a:t>
            </a:r>
          </a:p>
          <a:p>
            <a:pPr>
              <a:buFontTx/>
              <a:buChar char="-"/>
            </a:pPr>
            <a:r>
              <a:rPr lang="en-US" sz="2800" dirty="0"/>
              <a:t>a strong acid yields a weak conjugate base </a:t>
            </a:r>
            <a:r>
              <a:rPr lang="en-US" sz="2000" dirty="0"/>
              <a:t>(much weaker than H</a:t>
            </a:r>
            <a:r>
              <a:rPr lang="en-US" sz="2000" baseline="-25000" dirty="0"/>
              <a:t>2</a:t>
            </a:r>
            <a:r>
              <a:rPr lang="en-US" sz="2000" dirty="0"/>
              <a:t>O)</a:t>
            </a:r>
          </a:p>
          <a:p>
            <a:pPr>
              <a:buFontTx/>
              <a:buChar char="-"/>
            </a:pPr>
            <a:r>
              <a:rPr lang="en-US" sz="2800" dirty="0"/>
              <a:t>Notice the single arrow! K &gt; 10</a:t>
            </a:r>
            <a:r>
              <a:rPr lang="en-US" sz="2800" baseline="30000" dirty="0"/>
              <a:t>5</a:t>
            </a:r>
            <a:br>
              <a:rPr lang="en-US" sz="2800" dirty="0"/>
            </a:br>
            <a:endParaRPr lang="en-US" sz="2800" dirty="0"/>
          </a:p>
          <a:p>
            <a:pPr marL="0" indent="0">
              <a:buNone/>
            </a:pPr>
            <a:r>
              <a:rPr lang="en-US" sz="2800" b="1" dirty="0"/>
              <a:t>Weak acid-</a:t>
            </a:r>
            <a:r>
              <a:rPr lang="en-US" sz="2800" dirty="0"/>
              <a:t> </a:t>
            </a:r>
            <a:r>
              <a:rPr lang="en-US" sz="1800" b="1" dirty="0"/>
              <a:t>SMALL</a:t>
            </a:r>
            <a:r>
              <a:rPr lang="en-US" sz="2800" dirty="0"/>
              <a:t> K value for dissociation, mostly </a:t>
            </a:r>
            <a:r>
              <a:rPr lang="en-US" sz="2800" dirty="0" err="1"/>
              <a:t>undissociated</a:t>
            </a:r>
            <a:endParaRPr lang="en-US" sz="2800" dirty="0"/>
          </a:p>
          <a:p>
            <a:pPr marL="0" indent="0" algn="ctr">
              <a:buNone/>
            </a:pPr>
            <a:r>
              <a:rPr lang="en-US" sz="2800" dirty="0">
                <a:solidFill>
                  <a:srgbClr val="FF0000"/>
                </a:solidFill>
              </a:rPr>
              <a:t>HA + 	H</a:t>
            </a:r>
            <a:r>
              <a:rPr lang="en-US" sz="2800" baseline="-25000" dirty="0">
                <a:solidFill>
                  <a:srgbClr val="FF0000"/>
                </a:solidFill>
              </a:rPr>
              <a:t>2</a:t>
            </a:r>
            <a:r>
              <a:rPr lang="en-US" sz="2800" dirty="0">
                <a:solidFill>
                  <a:srgbClr val="FF0000"/>
                </a:solidFill>
              </a:rPr>
              <a:t>O 	</a:t>
            </a:r>
            <a:r>
              <a:rPr lang="en-US" sz="2800" dirty="0">
                <a:solidFill>
                  <a:srgbClr val="FF0000"/>
                </a:solidFill>
                <a:latin typeface="Cambria Math" panose="02040503050406030204" pitchFamily="18" charset="0"/>
                <a:ea typeface="Cambria Math" panose="02040503050406030204" pitchFamily="18" charset="0"/>
              </a:rPr>
              <a:t>⇌</a:t>
            </a:r>
            <a:r>
              <a:rPr lang="en-US" sz="2800" dirty="0">
                <a:solidFill>
                  <a:srgbClr val="FF0000"/>
                </a:solidFill>
              </a:rPr>
              <a:t> H</a:t>
            </a:r>
            <a:r>
              <a:rPr lang="en-US" sz="2800" baseline="-25000" dirty="0">
                <a:solidFill>
                  <a:srgbClr val="FF0000"/>
                </a:solidFill>
              </a:rPr>
              <a:t>3</a:t>
            </a:r>
            <a:r>
              <a:rPr lang="en-US" sz="2800" dirty="0">
                <a:solidFill>
                  <a:srgbClr val="FF0000"/>
                </a:solidFill>
              </a:rPr>
              <a:t>O</a:t>
            </a:r>
            <a:r>
              <a:rPr lang="en-US" sz="2800" baseline="30000" dirty="0">
                <a:solidFill>
                  <a:srgbClr val="FF0000"/>
                </a:solidFill>
              </a:rPr>
              <a:t>+</a:t>
            </a:r>
            <a:r>
              <a:rPr lang="en-US" sz="2800" dirty="0">
                <a:solidFill>
                  <a:srgbClr val="FF0000"/>
                </a:solidFill>
              </a:rPr>
              <a:t>	+	A</a:t>
            </a:r>
            <a:r>
              <a:rPr lang="en-US" sz="2800" baseline="30000" dirty="0">
                <a:solidFill>
                  <a:srgbClr val="FF0000"/>
                </a:solidFill>
              </a:rPr>
              <a:t>-</a:t>
            </a:r>
            <a:endParaRPr lang="en-US" sz="2800" dirty="0">
              <a:solidFill>
                <a:srgbClr val="FF0000"/>
              </a:solidFill>
            </a:endParaRPr>
          </a:p>
          <a:p>
            <a:pPr>
              <a:buFontTx/>
              <a:buChar char="-"/>
            </a:pPr>
            <a:r>
              <a:rPr lang="en-US" sz="2800" dirty="0"/>
              <a:t>equilibrium lies far to the left</a:t>
            </a:r>
          </a:p>
          <a:p>
            <a:pPr>
              <a:buFontTx/>
              <a:buChar char="-"/>
            </a:pPr>
            <a:r>
              <a:rPr lang="en-US" sz="2800" dirty="0"/>
              <a:t>has a ‘significant’ conjugate base </a:t>
            </a:r>
            <a:r>
              <a:rPr lang="en-US" sz="2000" dirty="0"/>
              <a:t>(stronger than water, but not a “strong” base)</a:t>
            </a:r>
            <a:br>
              <a:rPr lang="en-US" sz="2800" dirty="0"/>
            </a:br>
            <a:r>
              <a:rPr lang="en-US" sz="2800" dirty="0"/>
              <a:t>Notice the double arrow! K &lt; 10</a:t>
            </a:r>
            <a:r>
              <a:rPr lang="en-US" sz="2800" baseline="30000" dirty="0"/>
              <a:t>-5 </a:t>
            </a:r>
            <a:br>
              <a:rPr lang="en-US" dirty="0"/>
            </a:b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2" descr="fig14_04"/>
          <p:cNvPicPr>
            <a:picLocks noChangeAspect="1" noChangeArrowheads="1"/>
          </p:cNvPicPr>
          <p:nvPr/>
        </p:nvPicPr>
        <p:blipFill>
          <a:blip r:embed="rId3" cstate="print"/>
          <a:srcRect/>
          <a:stretch>
            <a:fillRect/>
          </a:stretch>
        </p:blipFill>
        <p:spPr bwMode="auto">
          <a:xfrm>
            <a:off x="3282950" y="0"/>
            <a:ext cx="5367338" cy="6858000"/>
          </a:xfrm>
          <a:prstGeom prst="rect">
            <a:avLst/>
          </a:prstGeom>
          <a:noFill/>
          <a:ln w="9525">
            <a:solidFill>
              <a:schemeClr val="tx1"/>
            </a:solid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irc_mi" descr="http://www.art-saloon.ru/mini/item_4774.jpg"/>
          <p:cNvPicPr>
            <a:picLocks noChangeAspect="1" noChangeArrowheads="1"/>
          </p:cNvPicPr>
          <p:nvPr/>
        </p:nvPicPr>
        <p:blipFill>
          <a:blip r:embed="rId2" cstate="print"/>
          <a:srcRect/>
          <a:stretch>
            <a:fillRect/>
          </a:stretch>
        </p:blipFill>
        <p:spPr bwMode="auto">
          <a:xfrm>
            <a:off x="6400800" y="1600200"/>
            <a:ext cx="3276600" cy="3595688"/>
          </a:xfrm>
          <a:prstGeom prst="rect">
            <a:avLst/>
          </a:prstGeom>
          <a:noFill/>
          <a:ln w="9525">
            <a:noFill/>
            <a:miter lim="800000"/>
            <a:headEnd/>
            <a:tailEnd/>
          </a:ln>
        </p:spPr>
      </p:pic>
      <p:pic>
        <p:nvPicPr>
          <p:cNvPr id="17411" name="Picture 2" descr="http://www.art-saloon.ru/mini/item_4774.jpg"/>
          <p:cNvPicPr>
            <a:picLocks noChangeAspect="1" noChangeArrowheads="1"/>
          </p:cNvPicPr>
          <p:nvPr/>
        </p:nvPicPr>
        <p:blipFill>
          <a:blip r:embed="rId2" cstate="print"/>
          <a:srcRect/>
          <a:stretch>
            <a:fillRect/>
          </a:stretch>
        </p:blipFill>
        <p:spPr bwMode="auto">
          <a:xfrm>
            <a:off x="2209800" y="1600200"/>
            <a:ext cx="3276600" cy="3606800"/>
          </a:xfrm>
          <a:prstGeom prst="rect">
            <a:avLst/>
          </a:prstGeom>
          <a:noFill/>
          <a:ln w="9525">
            <a:noFill/>
            <a:miter lim="800000"/>
            <a:headEnd/>
            <a:tailEnd/>
          </a:ln>
        </p:spPr>
      </p:pic>
      <p:sp>
        <p:nvSpPr>
          <p:cNvPr id="17412" name="Rectangle 3"/>
          <p:cNvSpPr>
            <a:spLocks noChangeArrowheads="1"/>
          </p:cNvSpPr>
          <p:nvPr/>
        </p:nvSpPr>
        <p:spPr bwMode="auto">
          <a:xfrm>
            <a:off x="1524001" y="-2232"/>
            <a:ext cx="184731" cy="461665"/>
          </a:xfrm>
          <a:prstGeom prst="rect">
            <a:avLst/>
          </a:prstGeom>
          <a:noFill/>
          <a:ln w="9525">
            <a:noFill/>
            <a:miter lim="800000"/>
            <a:headEnd/>
            <a:tailEnd/>
          </a:ln>
        </p:spPr>
        <p:txBody>
          <a:bodyPr wrap="none" anchor="ctr">
            <a:spAutoFit/>
          </a:bodyPr>
          <a:lstStyle/>
          <a:p>
            <a:pPr eaLnBrk="0" hangingPunct="0"/>
            <a:endParaRPr lang="en-US"/>
          </a:p>
        </p:txBody>
      </p:sp>
      <p:sp>
        <p:nvSpPr>
          <p:cNvPr id="17413" name="Rectangle 4"/>
          <p:cNvSpPr>
            <a:spLocks noChangeArrowheads="1"/>
          </p:cNvSpPr>
          <p:nvPr/>
        </p:nvSpPr>
        <p:spPr bwMode="auto">
          <a:xfrm>
            <a:off x="1524000" y="41275"/>
            <a:ext cx="8707438" cy="831850"/>
          </a:xfrm>
          <a:prstGeom prst="rect">
            <a:avLst/>
          </a:prstGeom>
          <a:noFill/>
          <a:ln w="9525">
            <a:noFill/>
            <a:miter lim="800000"/>
            <a:headEnd/>
            <a:tailEnd/>
          </a:ln>
        </p:spPr>
        <p:txBody>
          <a:bodyPr wrap="none" anchor="ctr">
            <a:spAutoFit/>
          </a:bodyPr>
          <a:lstStyle/>
          <a:p>
            <a:pPr eaLnBrk="0" hangingPunct="0"/>
            <a:r>
              <a:rPr lang="en-US" dirty="0">
                <a:cs typeface="Times New Roman" pitchFamily="18" charset="0"/>
              </a:rPr>
              <a:t>Sketch what five molecules of HF (weak) and five molecules of </a:t>
            </a:r>
            <a:r>
              <a:rPr lang="en-US" dirty="0" err="1">
                <a:cs typeface="Times New Roman" pitchFamily="18" charset="0"/>
              </a:rPr>
              <a:t>HCl</a:t>
            </a:r>
            <a:r>
              <a:rPr lang="en-US" dirty="0">
                <a:cs typeface="Times New Roman" pitchFamily="18" charset="0"/>
              </a:rPr>
              <a:t> </a:t>
            </a:r>
          </a:p>
          <a:p>
            <a:pPr eaLnBrk="0" hangingPunct="0"/>
            <a:r>
              <a:rPr lang="en-US" dirty="0">
                <a:cs typeface="Times New Roman" pitchFamily="18" charset="0"/>
              </a:rPr>
              <a:t>(strong) would look like in a beaker of water.</a:t>
            </a:r>
            <a:endParaRPr lang="en-US" sz="4800" dirty="0"/>
          </a:p>
        </p:txBody>
      </p:sp>
      <p:sp>
        <p:nvSpPr>
          <p:cNvPr id="17414" name="TextBox 5"/>
          <p:cNvSpPr txBox="1">
            <a:spLocks noChangeArrowheads="1"/>
          </p:cNvSpPr>
          <p:nvPr/>
        </p:nvSpPr>
        <p:spPr bwMode="auto">
          <a:xfrm>
            <a:off x="3048000" y="5867400"/>
            <a:ext cx="1600200" cy="584200"/>
          </a:xfrm>
          <a:prstGeom prst="rect">
            <a:avLst/>
          </a:prstGeom>
          <a:noFill/>
          <a:ln w="9525">
            <a:noFill/>
            <a:miter lim="800000"/>
            <a:headEnd/>
            <a:tailEnd/>
          </a:ln>
        </p:spPr>
        <p:txBody>
          <a:bodyPr>
            <a:spAutoFit/>
          </a:bodyPr>
          <a:lstStyle/>
          <a:p>
            <a:pPr eaLnBrk="0" hangingPunct="0"/>
            <a:r>
              <a:rPr lang="en-US" sz="3200"/>
              <a:t>HF</a:t>
            </a:r>
          </a:p>
        </p:txBody>
      </p:sp>
      <p:sp>
        <p:nvSpPr>
          <p:cNvPr id="17415" name="TextBox 6"/>
          <p:cNvSpPr txBox="1">
            <a:spLocks noChangeArrowheads="1"/>
          </p:cNvSpPr>
          <p:nvPr/>
        </p:nvSpPr>
        <p:spPr bwMode="auto">
          <a:xfrm>
            <a:off x="7391400" y="5791200"/>
            <a:ext cx="1600200" cy="584200"/>
          </a:xfrm>
          <a:prstGeom prst="rect">
            <a:avLst/>
          </a:prstGeom>
          <a:noFill/>
          <a:ln w="9525">
            <a:noFill/>
            <a:miter lim="800000"/>
            <a:headEnd/>
            <a:tailEnd/>
          </a:ln>
        </p:spPr>
        <p:txBody>
          <a:bodyPr>
            <a:spAutoFit/>
          </a:bodyPr>
          <a:lstStyle/>
          <a:p>
            <a:pPr eaLnBrk="0" hangingPunct="0"/>
            <a:r>
              <a:rPr lang="en-US" sz="3200"/>
              <a:t>HCl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irc_mi" descr="http://www.art-saloon.ru/mini/item_4774.jpg"/>
          <p:cNvPicPr>
            <a:picLocks noChangeAspect="1" noChangeArrowheads="1"/>
          </p:cNvPicPr>
          <p:nvPr/>
        </p:nvPicPr>
        <p:blipFill>
          <a:blip r:embed="rId2" cstate="print"/>
          <a:srcRect/>
          <a:stretch>
            <a:fillRect/>
          </a:stretch>
        </p:blipFill>
        <p:spPr bwMode="auto">
          <a:xfrm>
            <a:off x="6400800" y="1600200"/>
            <a:ext cx="3276600" cy="3595688"/>
          </a:xfrm>
          <a:prstGeom prst="rect">
            <a:avLst/>
          </a:prstGeom>
          <a:noFill/>
          <a:ln w="9525">
            <a:noFill/>
            <a:miter lim="800000"/>
            <a:headEnd/>
            <a:tailEnd/>
          </a:ln>
        </p:spPr>
      </p:pic>
      <p:pic>
        <p:nvPicPr>
          <p:cNvPr id="18435" name="Picture 2" descr="http://www.art-saloon.ru/mini/item_4774.jpg"/>
          <p:cNvPicPr>
            <a:picLocks noChangeAspect="1" noChangeArrowheads="1"/>
          </p:cNvPicPr>
          <p:nvPr/>
        </p:nvPicPr>
        <p:blipFill>
          <a:blip r:embed="rId2" cstate="print"/>
          <a:srcRect/>
          <a:stretch>
            <a:fillRect/>
          </a:stretch>
        </p:blipFill>
        <p:spPr bwMode="auto">
          <a:xfrm>
            <a:off x="2190213" y="1483095"/>
            <a:ext cx="3276600" cy="3606800"/>
          </a:xfrm>
          <a:prstGeom prst="rect">
            <a:avLst/>
          </a:prstGeom>
          <a:noFill/>
          <a:ln w="9525">
            <a:noFill/>
            <a:miter lim="800000"/>
            <a:headEnd/>
            <a:tailEnd/>
          </a:ln>
        </p:spPr>
      </p:pic>
      <p:sp>
        <p:nvSpPr>
          <p:cNvPr id="18436" name="Rectangle 3"/>
          <p:cNvSpPr>
            <a:spLocks noChangeArrowheads="1"/>
          </p:cNvSpPr>
          <p:nvPr/>
        </p:nvSpPr>
        <p:spPr bwMode="auto">
          <a:xfrm>
            <a:off x="1524001" y="-2232"/>
            <a:ext cx="184731" cy="461665"/>
          </a:xfrm>
          <a:prstGeom prst="rect">
            <a:avLst/>
          </a:prstGeom>
          <a:noFill/>
          <a:ln w="9525">
            <a:noFill/>
            <a:miter lim="800000"/>
            <a:headEnd/>
            <a:tailEnd/>
          </a:ln>
        </p:spPr>
        <p:txBody>
          <a:bodyPr wrap="none" anchor="ctr">
            <a:spAutoFit/>
          </a:bodyPr>
          <a:lstStyle/>
          <a:p>
            <a:pPr eaLnBrk="0" hangingPunct="0"/>
            <a:endParaRPr lang="en-US"/>
          </a:p>
        </p:txBody>
      </p:sp>
      <p:sp>
        <p:nvSpPr>
          <p:cNvPr id="18437" name="Rectangle 4"/>
          <p:cNvSpPr>
            <a:spLocks noChangeArrowheads="1"/>
          </p:cNvSpPr>
          <p:nvPr/>
        </p:nvSpPr>
        <p:spPr bwMode="auto">
          <a:xfrm>
            <a:off x="1524000" y="41275"/>
            <a:ext cx="8707438" cy="831850"/>
          </a:xfrm>
          <a:prstGeom prst="rect">
            <a:avLst/>
          </a:prstGeom>
          <a:noFill/>
          <a:ln w="9525">
            <a:noFill/>
            <a:miter lim="800000"/>
            <a:headEnd/>
            <a:tailEnd/>
          </a:ln>
        </p:spPr>
        <p:txBody>
          <a:bodyPr wrap="none" anchor="ctr">
            <a:spAutoFit/>
          </a:bodyPr>
          <a:lstStyle/>
          <a:p>
            <a:pPr eaLnBrk="0" hangingPunct="0"/>
            <a:r>
              <a:rPr lang="en-US">
                <a:cs typeface="Times New Roman" pitchFamily="18" charset="0"/>
              </a:rPr>
              <a:t>Sketch what five molecules of HF (weak) and five molecules of HCl </a:t>
            </a:r>
          </a:p>
          <a:p>
            <a:pPr eaLnBrk="0" hangingPunct="0"/>
            <a:r>
              <a:rPr lang="en-US">
                <a:cs typeface="Times New Roman" pitchFamily="18" charset="0"/>
              </a:rPr>
              <a:t>(strong) would look like in a beaker of water.</a:t>
            </a:r>
            <a:endParaRPr lang="en-US" sz="4800"/>
          </a:p>
        </p:txBody>
      </p:sp>
      <p:sp>
        <p:nvSpPr>
          <p:cNvPr id="18438" name="TextBox 5"/>
          <p:cNvSpPr txBox="1">
            <a:spLocks noChangeArrowheads="1"/>
          </p:cNvSpPr>
          <p:nvPr/>
        </p:nvSpPr>
        <p:spPr bwMode="auto">
          <a:xfrm>
            <a:off x="3048000" y="5867400"/>
            <a:ext cx="1600200" cy="584200"/>
          </a:xfrm>
          <a:prstGeom prst="rect">
            <a:avLst/>
          </a:prstGeom>
          <a:noFill/>
          <a:ln w="9525">
            <a:noFill/>
            <a:miter lim="800000"/>
            <a:headEnd/>
            <a:tailEnd/>
          </a:ln>
        </p:spPr>
        <p:txBody>
          <a:bodyPr>
            <a:spAutoFit/>
          </a:bodyPr>
          <a:lstStyle/>
          <a:p>
            <a:pPr eaLnBrk="0" hangingPunct="0"/>
            <a:r>
              <a:rPr lang="en-US" sz="3200"/>
              <a:t>HF</a:t>
            </a:r>
          </a:p>
        </p:txBody>
      </p:sp>
      <p:sp>
        <p:nvSpPr>
          <p:cNvPr id="18439" name="TextBox 6"/>
          <p:cNvSpPr txBox="1">
            <a:spLocks noChangeArrowheads="1"/>
          </p:cNvSpPr>
          <p:nvPr/>
        </p:nvSpPr>
        <p:spPr bwMode="auto">
          <a:xfrm>
            <a:off x="7391400" y="5791200"/>
            <a:ext cx="1600200" cy="584200"/>
          </a:xfrm>
          <a:prstGeom prst="rect">
            <a:avLst/>
          </a:prstGeom>
          <a:noFill/>
          <a:ln w="9525">
            <a:noFill/>
            <a:miter lim="800000"/>
            <a:headEnd/>
            <a:tailEnd/>
          </a:ln>
        </p:spPr>
        <p:txBody>
          <a:bodyPr>
            <a:spAutoFit/>
          </a:bodyPr>
          <a:lstStyle/>
          <a:p>
            <a:pPr eaLnBrk="0" hangingPunct="0"/>
            <a:r>
              <a:rPr lang="en-US" sz="3200"/>
              <a:t>HCl</a:t>
            </a:r>
          </a:p>
        </p:txBody>
      </p:sp>
      <p:grpSp>
        <p:nvGrpSpPr>
          <p:cNvPr id="2" name="Group 1"/>
          <p:cNvGrpSpPr/>
          <p:nvPr/>
        </p:nvGrpSpPr>
        <p:grpSpPr>
          <a:xfrm>
            <a:off x="3152941" y="1757966"/>
            <a:ext cx="1405066" cy="3057057"/>
            <a:chOff x="2971800" y="2286000"/>
            <a:chExt cx="1981200" cy="4191000"/>
          </a:xfrm>
        </p:grpSpPr>
        <p:sp>
          <p:nvSpPr>
            <p:cNvPr id="18441" name="Oval 9"/>
            <p:cNvSpPr>
              <a:spLocks noChangeArrowheads="1"/>
            </p:cNvSpPr>
            <p:nvPr/>
          </p:nvSpPr>
          <p:spPr bwMode="auto">
            <a:xfrm>
              <a:off x="2971800" y="228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grpSp>
          <p:nvGrpSpPr>
            <p:cNvPr id="18447" name="Group 17"/>
            <p:cNvGrpSpPr>
              <a:grpSpLocks/>
            </p:cNvGrpSpPr>
            <p:nvPr/>
          </p:nvGrpSpPr>
          <p:grpSpPr bwMode="auto">
            <a:xfrm>
              <a:off x="4038600" y="6019800"/>
              <a:ext cx="685800" cy="457200"/>
              <a:chOff x="2514600" y="6019800"/>
              <a:chExt cx="685800" cy="457200"/>
            </a:xfrm>
          </p:grpSpPr>
          <p:sp>
            <p:nvSpPr>
              <p:cNvPr id="18467" name="Oval 7"/>
              <p:cNvSpPr>
                <a:spLocks noChangeArrowheads="1"/>
              </p:cNvSpPr>
              <p:nvPr/>
            </p:nvSpPr>
            <p:spPr bwMode="auto">
              <a:xfrm>
                <a:off x="2514600" y="609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68" name="Oval 15"/>
              <p:cNvSpPr>
                <a:spLocks noChangeArrowheads="1"/>
              </p:cNvSpPr>
              <p:nvPr/>
            </p:nvSpPr>
            <p:spPr bwMode="auto">
              <a:xfrm>
                <a:off x="2743200" y="60198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sp>
          <p:nvSpPr>
            <p:cNvPr id="18448" name="Oval 16"/>
            <p:cNvSpPr>
              <a:spLocks noChangeArrowheads="1"/>
            </p:cNvSpPr>
            <p:nvPr/>
          </p:nvSpPr>
          <p:spPr bwMode="auto">
            <a:xfrm>
              <a:off x="4267200" y="30480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nvGrpSpPr>
            <p:cNvPr id="18449" name="Group 18"/>
            <p:cNvGrpSpPr>
              <a:grpSpLocks/>
            </p:cNvGrpSpPr>
            <p:nvPr/>
          </p:nvGrpSpPr>
          <p:grpSpPr bwMode="auto">
            <a:xfrm rot="4336646">
              <a:off x="3657600" y="3657600"/>
              <a:ext cx="685800" cy="457200"/>
              <a:chOff x="2514600" y="6019800"/>
              <a:chExt cx="685800" cy="457200"/>
            </a:xfrm>
          </p:grpSpPr>
          <p:sp>
            <p:nvSpPr>
              <p:cNvPr id="18465" name="Oval 19"/>
              <p:cNvSpPr>
                <a:spLocks noChangeArrowheads="1"/>
              </p:cNvSpPr>
              <p:nvPr/>
            </p:nvSpPr>
            <p:spPr bwMode="auto">
              <a:xfrm>
                <a:off x="2514600" y="609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66" name="Oval 20"/>
              <p:cNvSpPr>
                <a:spLocks noChangeArrowheads="1"/>
              </p:cNvSpPr>
              <p:nvPr/>
            </p:nvSpPr>
            <p:spPr bwMode="auto">
              <a:xfrm>
                <a:off x="2743200" y="60198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grpSp>
          <p:nvGrpSpPr>
            <p:cNvPr id="18450" name="Group 21"/>
            <p:cNvGrpSpPr>
              <a:grpSpLocks/>
            </p:cNvGrpSpPr>
            <p:nvPr/>
          </p:nvGrpSpPr>
          <p:grpSpPr bwMode="auto">
            <a:xfrm>
              <a:off x="2971800" y="2971800"/>
              <a:ext cx="685800" cy="457200"/>
              <a:chOff x="2514600" y="6019800"/>
              <a:chExt cx="685800" cy="457200"/>
            </a:xfrm>
          </p:grpSpPr>
          <p:sp>
            <p:nvSpPr>
              <p:cNvPr id="18463" name="Oval 22"/>
              <p:cNvSpPr>
                <a:spLocks noChangeArrowheads="1"/>
              </p:cNvSpPr>
              <p:nvPr/>
            </p:nvSpPr>
            <p:spPr bwMode="auto">
              <a:xfrm>
                <a:off x="2514600" y="609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64" name="Oval 23"/>
              <p:cNvSpPr>
                <a:spLocks noChangeArrowheads="1"/>
              </p:cNvSpPr>
              <p:nvPr/>
            </p:nvSpPr>
            <p:spPr bwMode="auto">
              <a:xfrm>
                <a:off x="2743200" y="60198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grpSp>
          <p:nvGrpSpPr>
            <p:cNvPr id="18451" name="Group 24"/>
            <p:cNvGrpSpPr>
              <a:grpSpLocks/>
            </p:cNvGrpSpPr>
            <p:nvPr/>
          </p:nvGrpSpPr>
          <p:grpSpPr bwMode="auto">
            <a:xfrm rot="8183823">
              <a:off x="4267200" y="4495800"/>
              <a:ext cx="685800" cy="457200"/>
              <a:chOff x="2514600" y="6019800"/>
              <a:chExt cx="685800" cy="457200"/>
            </a:xfrm>
          </p:grpSpPr>
          <p:sp>
            <p:nvSpPr>
              <p:cNvPr id="18461" name="Oval 25"/>
              <p:cNvSpPr>
                <a:spLocks noChangeArrowheads="1"/>
              </p:cNvSpPr>
              <p:nvPr/>
            </p:nvSpPr>
            <p:spPr bwMode="auto">
              <a:xfrm>
                <a:off x="2514600" y="609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62" name="Oval 26"/>
              <p:cNvSpPr>
                <a:spLocks noChangeArrowheads="1"/>
              </p:cNvSpPr>
              <p:nvPr/>
            </p:nvSpPr>
            <p:spPr bwMode="auto">
              <a:xfrm>
                <a:off x="2743200" y="60198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grpSp>
          <p:nvGrpSpPr>
            <p:cNvPr id="18452" name="Group 27"/>
            <p:cNvGrpSpPr>
              <a:grpSpLocks/>
            </p:cNvGrpSpPr>
            <p:nvPr/>
          </p:nvGrpSpPr>
          <p:grpSpPr bwMode="auto">
            <a:xfrm rot="-3890598">
              <a:off x="2971800" y="4191000"/>
              <a:ext cx="685800" cy="457200"/>
              <a:chOff x="2514600" y="6019800"/>
              <a:chExt cx="685800" cy="457200"/>
            </a:xfrm>
          </p:grpSpPr>
          <p:sp>
            <p:nvSpPr>
              <p:cNvPr id="18459" name="Oval 28"/>
              <p:cNvSpPr>
                <a:spLocks noChangeArrowheads="1"/>
              </p:cNvSpPr>
              <p:nvPr/>
            </p:nvSpPr>
            <p:spPr bwMode="auto">
              <a:xfrm>
                <a:off x="2514600" y="6096000"/>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60" name="Oval 29"/>
              <p:cNvSpPr>
                <a:spLocks noChangeArrowheads="1"/>
              </p:cNvSpPr>
              <p:nvPr/>
            </p:nvSpPr>
            <p:spPr bwMode="auto">
              <a:xfrm>
                <a:off x="2743200" y="6019800"/>
                <a:ext cx="457200" cy="457200"/>
              </a:xfrm>
              <a:prstGeom prst="ellipse">
                <a:avLst/>
              </a:prstGeom>
              <a:solidFill>
                <a:srgbClr val="00B0F0"/>
              </a:solidFill>
              <a:ln w="9525" algn="ctr">
                <a:solidFill>
                  <a:srgbClr val="00B0F0"/>
                </a:solidFill>
                <a:round/>
                <a:headEnd/>
                <a:tailEnd/>
              </a:ln>
            </p:spPr>
            <p:txBody>
              <a:bodyPr/>
              <a:lstStyle/>
              <a:p>
                <a:pPr eaLnBrk="0" hangingPunct="0"/>
                <a:endParaRPr lang="en-US"/>
              </a:p>
            </p:txBody>
          </p:sp>
        </p:grpSp>
      </p:grpSp>
      <p:grpSp>
        <p:nvGrpSpPr>
          <p:cNvPr id="3" name="Group 2"/>
          <p:cNvGrpSpPr/>
          <p:nvPr/>
        </p:nvGrpSpPr>
        <p:grpSpPr>
          <a:xfrm>
            <a:off x="7094603" y="2112963"/>
            <a:ext cx="1515997" cy="2687637"/>
            <a:chOff x="7094603" y="2112963"/>
            <a:chExt cx="2506597" cy="4267200"/>
          </a:xfrm>
        </p:grpSpPr>
        <p:sp>
          <p:nvSpPr>
            <p:cNvPr id="18440" name="Oval 8"/>
            <p:cNvSpPr>
              <a:spLocks noChangeArrowheads="1"/>
            </p:cNvSpPr>
            <p:nvPr/>
          </p:nvSpPr>
          <p:spPr bwMode="auto">
            <a:xfrm>
              <a:off x="8686800" y="59229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42" name="Oval 10"/>
            <p:cNvSpPr>
              <a:spLocks noChangeArrowheads="1"/>
            </p:cNvSpPr>
            <p:nvPr/>
          </p:nvSpPr>
          <p:spPr bwMode="auto">
            <a:xfrm>
              <a:off x="7094603" y="36369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43" name="Oval 11"/>
            <p:cNvSpPr>
              <a:spLocks noChangeArrowheads="1"/>
            </p:cNvSpPr>
            <p:nvPr/>
          </p:nvSpPr>
          <p:spPr bwMode="auto">
            <a:xfrm>
              <a:off x="8694803" y="30273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44" name="Oval 12"/>
            <p:cNvSpPr>
              <a:spLocks noChangeArrowheads="1"/>
            </p:cNvSpPr>
            <p:nvPr/>
          </p:nvSpPr>
          <p:spPr bwMode="auto">
            <a:xfrm>
              <a:off x="7399403" y="26463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45" name="Oval 13"/>
            <p:cNvSpPr>
              <a:spLocks noChangeArrowheads="1"/>
            </p:cNvSpPr>
            <p:nvPr/>
          </p:nvSpPr>
          <p:spPr bwMode="auto">
            <a:xfrm>
              <a:off x="7932803" y="43989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46" name="Oval 14"/>
            <p:cNvSpPr>
              <a:spLocks noChangeArrowheads="1"/>
            </p:cNvSpPr>
            <p:nvPr/>
          </p:nvSpPr>
          <p:spPr bwMode="auto">
            <a:xfrm>
              <a:off x="8237603" y="3865563"/>
              <a:ext cx="228600" cy="228600"/>
            </a:xfrm>
            <a:prstGeom prst="ellipse">
              <a:avLst/>
            </a:prstGeom>
            <a:solidFill>
              <a:schemeClr val="accent1"/>
            </a:solidFill>
            <a:ln w="9525" algn="ctr">
              <a:solidFill>
                <a:srgbClr val="FFFF00"/>
              </a:solidFill>
              <a:round/>
              <a:headEnd/>
              <a:tailEnd/>
            </a:ln>
          </p:spPr>
          <p:txBody>
            <a:bodyPr/>
            <a:lstStyle/>
            <a:p>
              <a:pPr eaLnBrk="0" hangingPunct="0"/>
              <a:endParaRPr lang="en-US"/>
            </a:p>
          </p:txBody>
        </p:sp>
        <p:sp>
          <p:nvSpPr>
            <p:cNvPr id="18453" name="Oval 30"/>
            <p:cNvSpPr>
              <a:spLocks noChangeArrowheads="1"/>
            </p:cNvSpPr>
            <p:nvPr/>
          </p:nvSpPr>
          <p:spPr bwMode="auto">
            <a:xfrm>
              <a:off x="8915400" y="56943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sp>
          <p:nvSpPr>
            <p:cNvPr id="18454" name="Oval 31"/>
            <p:cNvSpPr>
              <a:spLocks noChangeArrowheads="1"/>
            </p:cNvSpPr>
            <p:nvPr/>
          </p:nvSpPr>
          <p:spPr bwMode="auto">
            <a:xfrm>
              <a:off x="8009003" y="21129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sp>
          <p:nvSpPr>
            <p:cNvPr id="18455" name="Oval 32"/>
            <p:cNvSpPr>
              <a:spLocks noChangeArrowheads="1"/>
            </p:cNvSpPr>
            <p:nvPr/>
          </p:nvSpPr>
          <p:spPr bwMode="auto">
            <a:xfrm>
              <a:off x="8618603" y="34845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sp>
          <p:nvSpPr>
            <p:cNvPr id="18456" name="Oval 33"/>
            <p:cNvSpPr>
              <a:spLocks noChangeArrowheads="1"/>
            </p:cNvSpPr>
            <p:nvPr/>
          </p:nvSpPr>
          <p:spPr bwMode="auto">
            <a:xfrm>
              <a:off x="7628003" y="31797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sp>
          <p:nvSpPr>
            <p:cNvPr id="18457" name="Oval 34"/>
            <p:cNvSpPr>
              <a:spLocks noChangeArrowheads="1"/>
            </p:cNvSpPr>
            <p:nvPr/>
          </p:nvSpPr>
          <p:spPr bwMode="auto">
            <a:xfrm>
              <a:off x="7094603" y="42465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sp>
          <p:nvSpPr>
            <p:cNvPr id="18458" name="Oval 35"/>
            <p:cNvSpPr>
              <a:spLocks noChangeArrowheads="1"/>
            </p:cNvSpPr>
            <p:nvPr/>
          </p:nvSpPr>
          <p:spPr bwMode="auto">
            <a:xfrm>
              <a:off x="8618603" y="4322763"/>
              <a:ext cx="685800" cy="685800"/>
            </a:xfrm>
            <a:prstGeom prst="ellipse">
              <a:avLst/>
            </a:prstGeom>
            <a:solidFill>
              <a:srgbClr val="FF9999"/>
            </a:solidFill>
            <a:ln w="9525" algn="ctr">
              <a:solidFill>
                <a:schemeClr val="tx1"/>
              </a:solidFill>
              <a:round/>
              <a:headEnd/>
              <a:tailEnd/>
            </a:ln>
          </p:spPr>
          <p:txBody>
            <a:bodyPr/>
            <a:lstStyle/>
            <a:p>
              <a:pPr eaLnBrk="0" hangingPunct="0"/>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0"/>
            <a:ext cx="3962400" cy="1555652"/>
          </a:xfrm>
        </p:spPr>
        <p:txBody>
          <a:bodyPr>
            <a:noAutofit/>
          </a:bodyPr>
          <a:lstStyle/>
          <a:p>
            <a:pPr algn="r"/>
            <a:r>
              <a:rPr lang="en-US" sz="4000" dirty="0">
                <a:solidFill>
                  <a:schemeClr val="bg1"/>
                </a:solidFill>
              </a:rPr>
              <a:t>8.2 pH and pOH of Strong Acids and Bases</a:t>
            </a:r>
          </a:p>
        </p:txBody>
      </p:sp>
      <p:sp>
        <p:nvSpPr>
          <p:cNvPr id="6" name="Title 1">
            <a:extLst>
              <a:ext uri="{FF2B5EF4-FFF2-40B4-BE49-F238E27FC236}">
                <a16:creationId xmlns:a16="http://schemas.microsoft.com/office/drawing/2014/main" id="{C6A70015-421F-4416-8D0D-62713D2E82CE}"/>
              </a:ext>
            </a:extLst>
          </p:cNvPr>
          <p:cNvSpPr txBox="1">
            <a:spLocks/>
          </p:cNvSpPr>
          <p:nvPr/>
        </p:nvSpPr>
        <p:spPr bwMode="auto">
          <a:xfrm>
            <a:off x="11048999" y="-609599"/>
            <a:ext cx="1140655" cy="7467599"/>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81499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881575" y="0"/>
            <a:ext cx="11158025" cy="1143000"/>
          </a:xfrm>
        </p:spPr>
        <p:txBody>
          <a:bodyPr/>
          <a:lstStyle/>
          <a:p>
            <a:r>
              <a:rPr lang="en-US" u="sng" dirty="0"/>
              <a:t>Reminder: Common strong acids</a:t>
            </a:r>
            <a:r>
              <a:rPr lang="en-US" dirty="0"/>
              <a:t>  </a:t>
            </a:r>
            <a:br>
              <a:rPr lang="en-US" dirty="0"/>
            </a:br>
            <a:r>
              <a:rPr lang="en-US" dirty="0"/>
              <a:t>-all completely dissociate! (Know these!)</a:t>
            </a:r>
            <a:endParaRPr lang="en-US" dirty="0">
              <a:solidFill>
                <a:schemeClr val="tx1"/>
              </a:solidFill>
            </a:endParaRPr>
          </a:p>
        </p:txBody>
      </p:sp>
      <p:sp>
        <p:nvSpPr>
          <p:cNvPr id="2" name="Content Placeholder 1"/>
          <p:cNvSpPr>
            <a:spLocks noGrp="1"/>
          </p:cNvSpPr>
          <p:nvPr>
            <p:ph idx="1"/>
          </p:nvPr>
        </p:nvSpPr>
        <p:spPr>
          <a:xfrm>
            <a:off x="881575" y="1447800"/>
            <a:ext cx="10363200" cy="4648200"/>
          </a:xfrm>
        </p:spPr>
        <p:txBody>
          <a:bodyPr/>
          <a:lstStyle/>
          <a:p>
            <a:pPr marL="0" indent="0">
              <a:buNone/>
            </a:pPr>
            <a:r>
              <a:rPr lang="en-US" dirty="0"/>
              <a:t>Write the conjugate bases for the strong acids:</a:t>
            </a:r>
          </a:p>
          <a:p>
            <a:r>
              <a:rPr lang="en-US" sz="3600" dirty="0">
                <a:solidFill>
                  <a:schemeClr val="accent2"/>
                </a:solidFill>
              </a:rPr>
              <a:t>H</a:t>
            </a:r>
            <a:r>
              <a:rPr lang="en-US" sz="3600" baseline="-25000" dirty="0">
                <a:solidFill>
                  <a:schemeClr val="accent2"/>
                </a:solidFill>
              </a:rPr>
              <a:t>2</a:t>
            </a:r>
            <a:r>
              <a:rPr lang="en-US" sz="3600" dirty="0">
                <a:solidFill>
                  <a:schemeClr val="accent2"/>
                </a:solidFill>
              </a:rPr>
              <a:t>SO</a:t>
            </a:r>
            <a:r>
              <a:rPr lang="en-US" sz="3600" baseline="-25000" dirty="0">
                <a:solidFill>
                  <a:schemeClr val="accent2"/>
                </a:solidFill>
              </a:rPr>
              <a:t>4</a:t>
            </a:r>
            <a:r>
              <a:rPr lang="en-US" sz="3600" dirty="0">
                <a:solidFill>
                  <a:schemeClr val="accent2"/>
                </a:solidFill>
              </a:rPr>
              <a:t>  (sulfuric)</a:t>
            </a:r>
          </a:p>
          <a:p>
            <a:r>
              <a:rPr lang="en-US" sz="3600" dirty="0" err="1">
                <a:solidFill>
                  <a:schemeClr val="accent2"/>
                </a:solidFill>
              </a:rPr>
              <a:t>HCl</a:t>
            </a:r>
            <a:r>
              <a:rPr lang="en-US" sz="3600" dirty="0">
                <a:solidFill>
                  <a:schemeClr val="accent2"/>
                </a:solidFill>
              </a:rPr>
              <a:t>  (hydrochloric)</a:t>
            </a:r>
          </a:p>
          <a:p>
            <a:r>
              <a:rPr lang="en-US" sz="3600" dirty="0">
                <a:solidFill>
                  <a:schemeClr val="accent2"/>
                </a:solidFill>
              </a:rPr>
              <a:t>HNO</a:t>
            </a:r>
            <a:r>
              <a:rPr lang="en-US" sz="3600" baseline="-25000" dirty="0">
                <a:solidFill>
                  <a:schemeClr val="accent2"/>
                </a:solidFill>
              </a:rPr>
              <a:t>3</a:t>
            </a:r>
            <a:r>
              <a:rPr lang="en-US" sz="3600" dirty="0">
                <a:solidFill>
                  <a:schemeClr val="accent2"/>
                </a:solidFill>
              </a:rPr>
              <a:t>  (nitric)</a:t>
            </a:r>
          </a:p>
          <a:p>
            <a:r>
              <a:rPr lang="en-US" sz="3600" dirty="0">
                <a:solidFill>
                  <a:schemeClr val="accent2"/>
                </a:solidFill>
              </a:rPr>
              <a:t>HClO</a:t>
            </a:r>
            <a:r>
              <a:rPr lang="en-US" sz="3600" baseline="-25000" dirty="0">
                <a:solidFill>
                  <a:schemeClr val="accent2"/>
                </a:solidFill>
              </a:rPr>
              <a:t>4</a:t>
            </a:r>
            <a:r>
              <a:rPr lang="en-US" sz="3600" dirty="0">
                <a:solidFill>
                  <a:schemeClr val="accent2"/>
                </a:solidFill>
              </a:rPr>
              <a:t> (</a:t>
            </a:r>
            <a:r>
              <a:rPr lang="en-US" sz="3600" dirty="0" err="1">
                <a:solidFill>
                  <a:schemeClr val="accent2"/>
                </a:solidFill>
              </a:rPr>
              <a:t>perchloric</a:t>
            </a:r>
            <a:r>
              <a:rPr lang="en-US" sz="3600" dirty="0">
                <a:solidFill>
                  <a:schemeClr val="accent2"/>
                </a:solidFill>
              </a:rPr>
              <a:t>)</a:t>
            </a:r>
          </a:p>
          <a:p>
            <a:r>
              <a:rPr lang="en-US" sz="3600" dirty="0">
                <a:solidFill>
                  <a:schemeClr val="accent2"/>
                </a:solidFill>
              </a:rPr>
              <a:t>HI  (</a:t>
            </a:r>
            <a:r>
              <a:rPr lang="en-US" sz="3600" dirty="0" err="1">
                <a:solidFill>
                  <a:schemeClr val="accent2"/>
                </a:solidFill>
              </a:rPr>
              <a:t>hydroiodic</a:t>
            </a:r>
            <a:r>
              <a:rPr lang="en-US" sz="3600" dirty="0">
                <a:solidFill>
                  <a:schemeClr val="accent2"/>
                </a:solidFill>
              </a:rPr>
              <a:t>)</a:t>
            </a:r>
          </a:p>
          <a:p>
            <a:r>
              <a:rPr lang="en-US" sz="3600" dirty="0" err="1">
                <a:solidFill>
                  <a:schemeClr val="accent2"/>
                </a:solidFill>
              </a:rPr>
              <a:t>HBr</a:t>
            </a:r>
            <a:r>
              <a:rPr lang="en-US" sz="3600" dirty="0">
                <a:solidFill>
                  <a:schemeClr val="accent2"/>
                </a:solidFill>
              </a:rPr>
              <a:t> (</a:t>
            </a:r>
            <a:r>
              <a:rPr lang="en-US" sz="3600" dirty="0" err="1">
                <a:solidFill>
                  <a:schemeClr val="accent2"/>
                </a:solidFill>
              </a:rPr>
              <a:t>hydrobromic</a:t>
            </a:r>
            <a:r>
              <a:rPr lang="en-US" sz="4000" dirty="0">
                <a:solidFill>
                  <a:schemeClr val="accent2"/>
                </a:solidFill>
              </a:rPr>
              <a:t>)</a:t>
            </a:r>
            <a:br>
              <a:rPr lang="en-US" sz="4000" dirty="0">
                <a:solidFill>
                  <a:schemeClr val="accent2"/>
                </a:solidFill>
              </a:rPr>
            </a:b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28600" y="304800"/>
            <a:ext cx="11658600" cy="3657600"/>
          </a:xfrm>
        </p:spPr>
        <p:txBody>
          <a:bodyPr/>
          <a:lstStyle/>
          <a:p>
            <a:pPr algn="l"/>
            <a:r>
              <a:rPr lang="en-US" sz="4000" dirty="0">
                <a:solidFill>
                  <a:schemeClr val="tx1"/>
                </a:solidFill>
              </a:rPr>
              <a:t>Sulfuric acid is a </a:t>
            </a:r>
            <a:r>
              <a:rPr lang="en-US" sz="4000" dirty="0">
                <a:solidFill>
                  <a:srgbClr val="FF0000"/>
                </a:solidFill>
              </a:rPr>
              <a:t>diprotic</a:t>
            </a:r>
            <a:r>
              <a:rPr lang="en-US" sz="4000" dirty="0">
                <a:solidFill>
                  <a:schemeClr val="tx1"/>
                </a:solidFill>
              </a:rPr>
              <a:t> acid which means that it has </a:t>
            </a:r>
            <a:r>
              <a:rPr lang="en-US" sz="4000" dirty="0">
                <a:solidFill>
                  <a:srgbClr val="FF0000"/>
                </a:solidFill>
              </a:rPr>
              <a:t>two</a:t>
            </a:r>
            <a:r>
              <a:rPr lang="en-US" sz="4000" dirty="0">
                <a:solidFill>
                  <a:schemeClr val="tx1"/>
                </a:solidFill>
              </a:rPr>
              <a:t> acidic protons.  The first (H</a:t>
            </a:r>
            <a:r>
              <a:rPr lang="en-US" sz="4000" baseline="-25000" dirty="0">
                <a:solidFill>
                  <a:schemeClr val="tx1"/>
                </a:solidFill>
              </a:rPr>
              <a:t>2</a:t>
            </a:r>
            <a:r>
              <a:rPr lang="en-US" sz="4000" dirty="0">
                <a:solidFill>
                  <a:schemeClr val="tx1"/>
                </a:solidFill>
              </a:rPr>
              <a:t>SO</a:t>
            </a:r>
            <a:r>
              <a:rPr lang="en-US" sz="4000" baseline="-25000" dirty="0">
                <a:solidFill>
                  <a:schemeClr val="tx1"/>
                </a:solidFill>
              </a:rPr>
              <a:t>4</a:t>
            </a:r>
            <a:r>
              <a:rPr lang="en-US" sz="4000" dirty="0">
                <a:solidFill>
                  <a:schemeClr val="tx1"/>
                </a:solidFill>
              </a:rPr>
              <a:t>) is strong and the second  (HSO</a:t>
            </a:r>
            <a:r>
              <a:rPr lang="en-US" sz="4000" baseline="-25000" dirty="0">
                <a:solidFill>
                  <a:schemeClr val="tx1"/>
                </a:solidFill>
              </a:rPr>
              <a:t>4</a:t>
            </a:r>
            <a:r>
              <a:rPr lang="en-US" sz="4000" baseline="30000" dirty="0">
                <a:solidFill>
                  <a:schemeClr val="tx1"/>
                </a:solidFill>
                <a:sym typeface="Symbol" pitchFamily="18" charset="2"/>
              </a:rPr>
              <a:t></a:t>
            </a:r>
            <a:r>
              <a:rPr lang="en-US" sz="4000" dirty="0">
                <a:solidFill>
                  <a:schemeClr val="tx1"/>
                </a:solidFill>
              </a:rPr>
              <a:t>) is weak.</a:t>
            </a:r>
            <a:br>
              <a:rPr lang="en-US" sz="4000" dirty="0">
                <a:solidFill>
                  <a:schemeClr val="tx1"/>
                </a:solidFill>
              </a:rPr>
            </a:br>
            <a:br>
              <a:rPr lang="en-US" sz="4000" dirty="0">
                <a:solidFill>
                  <a:schemeClr val="tx1"/>
                </a:solidFill>
              </a:rPr>
            </a:br>
            <a:r>
              <a:rPr lang="en-US" sz="4000" dirty="0"/>
              <a:t>Write equations for the first and second dissociations of sulfuric acid in water.</a:t>
            </a:r>
            <a:endParaRPr lang="en-US" dirty="0">
              <a:solidFill>
                <a:schemeClr val="tx1"/>
              </a:solidFill>
            </a:endParaRPr>
          </a:p>
        </p:txBody>
      </p:sp>
      <p:pic>
        <p:nvPicPr>
          <p:cNvPr id="22531" name="Picture 4" descr="http://us.123rf.com/400wm/400/400/molekuul/molekuul1301/molekuul130100133/17236540-sulfuric-acid-h2so4-oil-of-vitriol-molecule-chemical-structure-h2so4-is-a-highly-corrosive-strong-mi.jpg"/>
          <p:cNvPicPr>
            <a:picLocks noChangeAspect="1" noChangeArrowheads="1"/>
          </p:cNvPicPr>
          <p:nvPr/>
        </p:nvPicPr>
        <p:blipFill>
          <a:blip r:embed="rId3" cstate="print"/>
          <a:srcRect l="8000" t="8800" r="8000" b="8800"/>
          <a:stretch>
            <a:fillRect/>
          </a:stretch>
        </p:blipFill>
        <p:spPr bwMode="auto">
          <a:xfrm>
            <a:off x="9534829" y="4267200"/>
            <a:ext cx="2638778" cy="259080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709"/>
            <a:ext cx="10363200" cy="1143000"/>
          </a:xfrm>
        </p:spPr>
        <p:txBody>
          <a:bodyPr/>
          <a:lstStyle/>
          <a:p>
            <a:r>
              <a:rPr lang="en-US" dirty="0"/>
              <a:t>Strong Bases Completely Dissociate</a:t>
            </a:r>
          </a:p>
        </p:txBody>
      </p:sp>
      <p:sp>
        <p:nvSpPr>
          <p:cNvPr id="3" name="Content Placeholder 2"/>
          <p:cNvSpPr>
            <a:spLocks noGrp="1"/>
          </p:cNvSpPr>
          <p:nvPr>
            <p:ph idx="1"/>
          </p:nvPr>
        </p:nvSpPr>
        <p:spPr>
          <a:xfrm>
            <a:off x="914400" y="1151709"/>
            <a:ext cx="10363200" cy="4944291"/>
          </a:xfrm>
        </p:spPr>
        <p:txBody>
          <a:bodyPr/>
          <a:lstStyle/>
          <a:p>
            <a:pPr marL="0" indent="0">
              <a:buNone/>
            </a:pPr>
            <a:r>
              <a:rPr lang="en-US" dirty="0"/>
              <a:t>The most common strong bases are the hydroxide compounds of the alkali metals, such as </a:t>
            </a:r>
            <a:r>
              <a:rPr lang="en-US" dirty="0" err="1">
                <a:solidFill>
                  <a:srgbClr val="FF0000"/>
                </a:solidFill>
              </a:rPr>
              <a:t>NaOH</a:t>
            </a:r>
            <a:r>
              <a:rPr lang="en-US" dirty="0">
                <a:solidFill>
                  <a:srgbClr val="FF0000"/>
                </a:solidFill>
              </a:rPr>
              <a:t> and KOH</a:t>
            </a:r>
            <a:r>
              <a:rPr lang="en-US" dirty="0"/>
              <a:t>. Other strong bases include hydroxide compounds of the heavier alkaline earth metals, such as </a:t>
            </a:r>
            <a:r>
              <a:rPr lang="en-US" dirty="0">
                <a:solidFill>
                  <a:srgbClr val="FF0000"/>
                </a:solidFill>
              </a:rPr>
              <a:t>Ca(OH)</a:t>
            </a:r>
            <a:r>
              <a:rPr lang="en-US" baseline="-25000" dirty="0">
                <a:solidFill>
                  <a:srgbClr val="FF0000"/>
                </a:solidFill>
              </a:rPr>
              <a:t>2</a:t>
            </a:r>
            <a:r>
              <a:rPr lang="en-US" dirty="0">
                <a:solidFill>
                  <a:srgbClr val="FF0000"/>
                </a:solidFill>
              </a:rPr>
              <a:t>, </a:t>
            </a:r>
            <a:r>
              <a:rPr lang="en-US" dirty="0" err="1">
                <a:solidFill>
                  <a:srgbClr val="FF0000"/>
                </a:solidFill>
              </a:rPr>
              <a:t>Sr</a:t>
            </a:r>
            <a:r>
              <a:rPr lang="en-US" dirty="0">
                <a:solidFill>
                  <a:srgbClr val="FF0000"/>
                </a:solidFill>
              </a:rPr>
              <a:t>(OH)</a:t>
            </a:r>
            <a:r>
              <a:rPr lang="en-US" baseline="-25000" dirty="0">
                <a:solidFill>
                  <a:srgbClr val="FF0000"/>
                </a:solidFill>
              </a:rPr>
              <a:t>2</a:t>
            </a:r>
            <a:r>
              <a:rPr lang="en-US" dirty="0">
                <a:solidFill>
                  <a:srgbClr val="FF0000"/>
                </a:solidFill>
              </a:rPr>
              <a:t>, and Ba(OH)</a:t>
            </a:r>
            <a:r>
              <a:rPr lang="en-US" baseline="-25000" dirty="0">
                <a:solidFill>
                  <a:srgbClr val="FF0000"/>
                </a:solidFill>
              </a:rPr>
              <a:t>2</a:t>
            </a:r>
            <a:r>
              <a:rPr lang="en-US" dirty="0"/>
              <a:t>.</a:t>
            </a:r>
          </a:p>
          <a:p>
            <a:pPr marL="0" indent="0">
              <a:buNone/>
            </a:pPr>
            <a:endParaRPr lang="en-US" dirty="0"/>
          </a:p>
          <a:p>
            <a:pPr marL="0" indent="0">
              <a:buNone/>
            </a:pPr>
            <a:r>
              <a:rPr lang="en-US" dirty="0"/>
              <a:t>Write the dissociation for Ca(OH)</a:t>
            </a:r>
            <a:r>
              <a:rPr lang="en-US" baseline="-25000" dirty="0"/>
              <a:t>2</a:t>
            </a:r>
            <a:r>
              <a:rPr lang="en-US" dirty="0"/>
              <a:t>. What do you notice about the [OH</a:t>
            </a:r>
            <a:r>
              <a:rPr lang="en-US" baseline="30000" dirty="0"/>
              <a:t>-</a:t>
            </a:r>
            <a:r>
              <a:rPr lang="en-US" dirty="0"/>
              <a:t>] for the alkaline earth metal hydroxides?</a:t>
            </a:r>
          </a:p>
        </p:txBody>
      </p:sp>
    </p:spTree>
    <p:extLst>
      <p:ext uri="{BB962C8B-B14F-4D97-AF65-F5344CB8AC3E}">
        <p14:creationId xmlns:p14="http://schemas.microsoft.com/office/powerpoint/2010/main" val="21250449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914400" y="0"/>
            <a:ext cx="10363200" cy="762000"/>
          </a:xfrm>
        </p:spPr>
        <p:txBody>
          <a:bodyPr/>
          <a:lstStyle/>
          <a:p>
            <a:r>
              <a:rPr lang="en-US" dirty="0">
                <a:solidFill>
                  <a:schemeClr val="tx1"/>
                </a:solidFill>
              </a:rPr>
              <a:t> </a:t>
            </a:r>
            <a:r>
              <a:rPr lang="en-US" b="1" dirty="0" err="1">
                <a:solidFill>
                  <a:schemeClr val="tx1"/>
                </a:solidFill>
              </a:rPr>
              <a:t>Autoionization</a:t>
            </a:r>
            <a:r>
              <a:rPr lang="en-US" b="1" dirty="0">
                <a:solidFill>
                  <a:schemeClr val="tx1"/>
                </a:solidFill>
              </a:rPr>
              <a:t> of Water</a:t>
            </a:r>
            <a:endParaRPr lang="en-US" dirty="0">
              <a:solidFill>
                <a:schemeClr val="tx1"/>
              </a:solidFill>
            </a:endParaRPr>
          </a:p>
        </p:txBody>
      </p:sp>
      <p:sp>
        <p:nvSpPr>
          <p:cNvPr id="2" name="Content Placeholder 1"/>
          <p:cNvSpPr>
            <a:spLocks noGrp="1"/>
          </p:cNvSpPr>
          <p:nvPr>
            <p:ph idx="1"/>
          </p:nvPr>
        </p:nvSpPr>
        <p:spPr>
          <a:xfrm>
            <a:off x="914400" y="762000"/>
            <a:ext cx="10363200" cy="5334000"/>
          </a:xfrm>
        </p:spPr>
        <p:txBody>
          <a:bodyPr/>
          <a:lstStyle/>
          <a:p>
            <a:endParaRPr lang="en-US" sz="3600" dirty="0"/>
          </a:p>
          <a:p>
            <a:r>
              <a:rPr lang="en-US" sz="3600" dirty="0"/>
              <a:t>H</a:t>
            </a:r>
            <a:r>
              <a:rPr lang="en-US" sz="3600" baseline="-25000" dirty="0"/>
              <a:t>2</a:t>
            </a:r>
            <a:r>
              <a:rPr lang="en-US" sz="3600" dirty="0"/>
              <a:t>O   	+   	H</a:t>
            </a:r>
            <a:r>
              <a:rPr lang="en-US" sz="3600" baseline="-25000" dirty="0"/>
              <a:t>2</a:t>
            </a:r>
            <a:r>
              <a:rPr lang="en-US" sz="3600" dirty="0"/>
              <a:t>O 	</a:t>
            </a:r>
            <a:r>
              <a:rPr lang="en-US" sz="3600" dirty="0">
                <a:sym typeface="Wingdings 3" pitchFamily="18" charset="2"/>
              </a:rPr>
              <a:t></a:t>
            </a:r>
            <a:r>
              <a:rPr lang="en-US" sz="3600" dirty="0"/>
              <a:t>  	H</a:t>
            </a:r>
            <a:r>
              <a:rPr lang="en-US" sz="3600" baseline="-25000" dirty="0"/>
              <a:t>3</a:t>
            </a:r>
            <a:r>
              <a:rPr lang="en-US" sz="3600" dirty="0"/>
              <a:t>O</a:t>
            </a:r>
            <a:r>
              <a:rPr lang="en-US" sz="3600" baseline="30000" dirty="0"/>
              <a:t>+</a:t>
            </a:r>
            <a:r>
              <a:rPr lang="en-US" sz="3600" dirty="0"/>
              <a:t>  	+  	OH</a:t>
            </a:r>
            <a:r>
              <a:rPr lang="en-US" sz="3600" baseline="30000" dirty="0"/>
              <a:t>-</a:t>
            </a:r>
            <a:br>
              <a:rPr lang="en-US" sz="3600" dirty="0"/>
            </a:br>
            <a:r>
              <a:rPr lang="en-US" sz="3600" dirty="0"/>
              <a:t> base     	acid     		conjugate   </a:t>
            </a:r>
            <a:r>
              <a:rPr lang="en-US" sz="3600" dirty="0" err="1"/>
              <a:t>conjugate</a:t>
            </a:r>
            <a:br>
              <a:rPr lang="en-US" sz="3600" dirty="0"/>
            </a:br>
            <a:r>
              <a:rPr lang="en-US" sz="3600" dirty="0"/>
              <a:t>                             		acid              base</a:t>
            </a:r>
            <a:br>
              <a:rPr lang="en-US" sz="3600" dirty="0"/>
            </a:br>
            <a:r>
              <a:rPr lang="en-US" sz="3600" dirty="0"/>
              <a:t>Write the K expression for the dissociation of water</a:t>
            </a:r>
            <a:br>
              <a:rPr lang="en-US" dirty="0"/>
            </a:br>
            <a:endParaRPr lang="en-US" dirty="0"/>
          </a:p>
        </p:txBody>
      </p:sp>
      <p:pic>
        <p:nvPicPr>
          <p:cNvPr id="31747" name="Picture 4" descr="http://www.middleschoolchemistry.com/img/content/lessons/6.8/autoionization_of_water.jpg"/>
          <p:cNvPicPr>
            <a:picLocks noChangeAspect="1" noChangeArrowheads="1"/>
          </p:cNvPicPr>
          <p:nvPr/>
        </p:nvPicPr>
        <p:blipFill>
          <a:blip r:embed="rId3" cstate="print"/>
          <a:srcRect/>
          <a:stretch>
            <a:fillRect/>
          </a:stretch>
        </p:blipFill>
        <p:spPr bwMode="auto">
          <a:xfrm>
            <a:off x="3048000" y="4769733"/>
            <a:ext cx="6400800" cy="2059364"/>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945931" y="10510"/>
            <a:ext cx="10363200" cy="685800"/>
          </a:xfrm>
        </p:spPr>
        <p:txBody>
          <a:bodyPr/>
          <a:lstStyle/>
          <a:p>
            <a:r>
              <a:rPr lang="en-US" b="1" dirty="0"/>
              <a:t>Ion product constant for water (</a:t>
            </a:r>
            <a:r>
              <a:rPr lang="en-US" b="1" i="1" dirty="0"/>
              <a:t>K</a:t>
            </a:r>
            <a:r>
              <a:rPr lang="en-US" b="1" i="1" baseline="-25000" dirty="0"/>
              <a:t>w</a:t>
            </a:r>
            <a:r>
              <a:rPr lang="en-US" b="1" dirty="0"/>
              <a:t>) </a:t>
            </a:r>
            <a:endParaRPr lang="en-US" dirty="0">
              <a:solidFill>
                <a:schemeClr val="tx1"/>
              </a:solidFill>
            </a:endParaRPr>
          </a:p>
        </p:txBody>
      </p:sp>
      <p:sp>
        <p:nvSpPr>
          <p:cNvPr id="2" name="Content Placeholder 1"/>
          <p:cNvSpPr>
            <a:spLocks noGrp="1"/>
          </p:cNvSpPr>
          <p:nvPr>
            <p:ph idx="1"/>
          </p:nvPr>
        </p:nvSpPr>
        <p:spPr>
          <a:xfrm>
            <a:off x="914400" y="1143000"/>
            <a:ext cx="10363200" cy="4953000"/>
          </a:xfrm>
        </p:spPr>
        <p:txBody>
          <a:bodyPr/>
          <a:lstStyle/>
          <a:p>
            <a:pPr marL="0" indent="0">
              <a:buNone/>
            </a:pPr>
            <a:r>
              <a:rPr lang="en-US" sz="3600" i="1" dirty="0"/>
              <a:t>K</a:t>
            </a:r>
            <a:r>
              <a:rPr lang="en-US" sz="3600" i="1" baseline="-25000" dirty="0"/>
              <a:t>w</a:t>
            </a:r>
            <a:r>
              <a:rPr lang="en-US" sz="3600" dirty="0"/>
              <a:t> = [H</a:t>
            </a:r>
            <a:r>
              <a:rPr lang="en-US" sz="3600" baseline="-25000" dirty="0"/>
              <a:t>3</a:t>
            </a:r>
            <a:r>
              <a:rPr lang="en-US" sz="3600" dirty="0"/>
              <a:t>O</a:t>
            </a:r>
            <a:r>
              <a:rPr lang="en-US" sz="3600" baseline="30000" dirty="0"/>
              <a:t>+</a:t>
            </a:r>
            <a:r>
              <a:rPr lang="en-US" sz="3600" dirty="0"/>
              <a:t>][OH</a:t>
            </a:r>
            <a:r>
              <a:rPr lang="en-US" sz="3600" baseline="30000" dirty="0">
                <a:sym typeface="Symbol" pitchFamily="18" charset="2"/>
              </a:rPr>
              <a:t></a:t>
            </a:r>
            <a:r>
              <a:rPr lang="en-US" sz="3600" dirty="0"/>
              <a:t>]</a:t>
            </a:r>
            <a:br>
              <a:rPr lang="en-US" sz="3600" dirty="0"/>
            </a:br>
            <a:br>
              <a:rPr lang="en-US" sz="3600" dirty="0"/>
            </a:br>
            <a:br>
              <a:rPr lang="en-US" sz="3600" dirty="0"/>
            </a:br>
            <a:r>
              <a:rPr lang="en-US" sz="3600" dirty="0"/>
              <a:t>At 25</a:t>
            </a:r>
            <a:r>
              <a:rPr lang="en-US" sz="3600" baseline="30000" dirty="0"/>
              <a:t>o</a:t>
            </a:r>
            <a:r>
              <a:rPr lang="en-US" sz="3600" dirty="0"/>
              <a:t>C, </a:t>
            </a:r>
            <a:r>
              <a:rPr lang="en-US" sz="3600" i="1" dirty="0"/>
              <a:t>K</a:t>
            </a:r>
            <a:r>
              <a:rPr lang="en-US" sz="3600" i="1" baseline="-25000" dirty="0"/>
              <a:t>w</a:t>
            </a:r>
            <a:r>
              <a:rPr lang="en-US" sz="3600" baseline="-25000" dirty="0"/>
              <a:t> </a:t>
            </a:r>
            <a:r>
              <a:rPr lang="en-US" sz="3600" dirty="0"/>
              <a:t>= 1 </a:t>
            </a:r>
            <a:r>
              <a:rPr lang="en-US" sz="3600" dirty="0">
                <a:cs typeface="Times New Roman" pitchFamily="18" charset="0"/>
              </a:rPr>
              <a:t>×</a:t>
            </a:r>
            <a:r>
              <a:rPr lang="en-US" sz="3600" dirty="0"/>
              <a:t> 10</a:t>
            </a:r>
            <a:r>
              <a:rPr lang="en-US" sz="3600" baseline="30000" dirty="0">
                <a:sym typeface="Symbol" pitchFamily="18" charset="2"/>
              </a:rPr>
              <a:t></a:t>
            </a:r>
            <a:r>
              <a:rPr lang="en-US" sz="3600" baseline="30000" dirty="0"/>
              <a:t>14</a:t>
            </a:r>
            <a:r>
              <a:rPr lang="en-US" sz="3600" dirty="0"/>
              <a:t> because </a:t>
            </a:r>
          </a:p>
          <a:p>
            <a:pPr marL="0" indent="0">
              <a:buNone/>
            </a:pPr>
            <a:r>
              <a:rPr lang="en-US" sz="3600" dirty="0"/>
              <a:t>	[H</a:t>
            </a:r>
            <a:r>
              <a:rPr lang="en-US" sz="3600" baseline="30000" dirty="0"/>
              <a:t>+</a:t>
            </a:r>
            <a:r>
              <a:rPr lang="en-US" sz="3600" dirty="0"/>
              <a:t>] = [OH</a:t>
            </a:r>
            <a:r>
              <a:rPr lang="en-US" sz="3600" baseline="30000" dirty="0">
                <a:sym typeface="Symbol" pitchFamily="18" charset="2"/>
              </a:rPr>
              <a:t></a:t>
            </a:r>
            <a:r>
              <a:rPr lang="en-US" sz="3600" dirty="0"/>
              <a:t>] = 1 </a:t>
            </a:r>
            <a:r>
              <a:rPr lang="en-US" sz="3600" dirty="0">
                <a:cs typeface="Times New Roman" pitchFamily="18" charset="0"/>
              </a:rPr>
              <a:t>×</a:t>
            </a:r>
            <a:r>
              <a:rPr lang="en-US" sz="3600" dirty="0"/>
              <a:t> 10</a:t>
            </a:r>
            <a:r>
              <a:rPr lang="en-US" sz="3600" baseline="30000" dirty="0">
                <a:sym typeface="Symbol" pitchFamily="18" charset="2"/>
              </a:rPr>
              <a:t></a:t>
            </a:r>
            <a:r>
              <a:rPr lang="en-US" sz="3600" baseline="30000" dirty="0"/>
              <a:t>7</a:t>
            </a:r>
            <a:r>
              <a:rPr lang="en-US" sz="3600" dirty="0"/>
              <a:t> </a:t>
            </a:r>
            <a:r>
              <a:rPr lang="en-US" sz="3600" i="1" dirty="0"/>
              <a:t>M</a:t>
            </a:r>
            <a:br>
              <a:rPr lang="en-US" sz="3600" dirty="0"/>
            </a:br>
            <a:endParaRPr lang="en-US" sz="3600" dirty="0"/>
          </a:p>
          <a:p>
            <a:pPr marL="0" indent="0">
              <a:buNone/>
            </a:pPr>
            <a:r>
              <a:rPr lang="en-US" b="1" dirty="0"/>
              <a:t>This is a very important relationship that allows you to calculate [H+], [OH–], pH, and pOH.</a:t>
            </a:r>
          </a:p>
          <a:p>
            <a:pPr marL="0" indent="0">
              <a:buNone/>
            </a:pPr>
            <a:endParaRPr 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914400" y="0"/>
            <a:ext cx="10363200" cy="762000"/>
          </a:xfrm>
        </p:spPr>
        <p:txBody>
          <a:bodyPr/>
          <a:lstStyle/>
          <a:p>
            <a:r>
              <a:rPr lang="en-US" dirty="0">
                <a:solidFill>
                  <a:schemeClr val="tx1"/>
                </a:solidFill>
              </a:rPr>
              <a:t>More about </a:t>
            </a:r>
            <a:r>
              <a:rPr lang="en-US" i="1" dirty="0">
                <a:solidFill>
                  <a:schemeClr val="tx1"/>
                </a:solidFill>
              </a:rPr>
              <a:t>K</a:t>
            </a:r>
            <a:r>
              <a:rPr lang="en-US" i="1" baseline="-25000" dirty="0">
                <a:solidFill>
                  <a:schemeClr val="tx1"/>
                </a:solidFill>
              </a:rPr>
              <a:t>w</a:t>
            </a:r>
            <a:endParaRPr lang="en-US" dirty="0">
              <a:solidFill>
                <a:schemeClr val="tx1"/>
              </a:solidFill>
            </a:endParaRPr>
          </a:p>
        </p:txBody>
      </p:sp>
      <p:sp>
        <p:nvSpPr>
          <p:cNvPr id="2" name="Content Placeholder 1"/>
          <p:cNvSpPr>
            <a:spLocks noGrp="1"/>
          </p:cNvSpPr>
          <p:nvPr>
            <p:ph idx="1"/>
          </p:nvPr>
        </p:nvSpPr>
        <p:spPr>
          <a:xfrm>
            <a:off x="914400" y="1066800"/>
            <a:ext cx="10363200" cy="5029200"/>
          </a:xfrm>
        </p:spPr>
        <p:txBody>
          <a:bodyPr/>
          <a:lstStyle/>
          <a:p>
            <a:pPr marL="0" indent="0">
              <a:buNone/>
            </a:pPr>
            <a:r>
              <a:rPr lang="en-US" dirty="0"/>
              <a:t>No matter what an aqueous solution contains, at 25</a:t>
            </a:r>
            <a:r>
              <a:rPr lang="en-US" baseline="30000" dirty="0"/>
              <a:t>o</a:t>
            </a:r>
            <a:r>
              <a:rPr lang="en-US" dirty="0"/>
              <a:t>C,</a:t>
            </a:r>
          </a:p>
          <a:p>
            <a:pPr marL="0" indent="0" algn="ctr">
              <a:buNone/>
            </a:pPr>
            <a:r>
              <a:rPr lang="en-US" b="1" dirty="0"/>
              <a:t>[H</a:t>
            </a:r>
            <a:r>
              <a:rPr lang="en-US" b="1" baseline="30000" dirty="0"/>
              <a:t>+</a:t>
            </a:r>
            <a:r>
              <a:rPr lang="en-US" b="1" dirty="0"/>
              <a:t>][OH</a:t>
            </a:r>
            <a:r>
              <a:rPr lang="en-US" b="1" baseline="30000" dirty="0">
                <a:sym typeface="Symbol" pitchFamily="18" charset="2"/>
              </a:rPr>
              <a:t></a:t>
            </a:r>
            <a:r>
              <a:rPr lang="en-US" b="1" dirty="0"/>
              <a:t>] = 1 </a:t>
            </a:r>
            <a:r>
              <a:rPr lang="en-US" b="1" dirty="0">
                <a:cs typeface="Times New Roman" pitchFamily="18" charset="0"/>
              </a:rPr>
              <a:t>×</a:t>
            </a:r>
            <a:r>
              <a:rPr lang="en-US" b="1" dirty="0"/>
              <a:t> 10</a:t>
            </a:r>
            <a:r>
              <a:rPr lang="en-US" b="1" baseline="30000" dirty="0">
                <a:sym typeface="Symbol" pitchFamily="18" charset="2"/>
              </a:rPr>
              <a:t></a:t>
            </a:r>
            <a:r>
              <a:rPr lang="en-US" b="1" baseline="30000" dirty="0"/>
              <a:t>14</a:t>
            </a:r>
            <a:endParaRPr lang="en-US" dirty="0"/>
          </a:p>
          <a:p>
            <a:pPr marL="0" indent="0">
              <a:buNone/>
            </a:pPr>
            <a:endParaRPr lang="en-US" dirty="0"/>
          </a:p>
          <a:p>
            <a:pPr marL="0" indent="0">
              <a:buNone/>
            </a:pPr>
            <a:r>
              <a:rPr lang="en-US" dirty="0"/>
              <a:t>Neutral solution  [H</a:t>
            </a:r>
            <a:r>
              <a:rPr lang="en-US" baseline="30000" dirty="0"/>
              <a:t>+</a:t>
            </a:r>
            <a:r>
              <a:rPr lang="en-US" dirty="0"/>
              <a:t>] = [OH</a:t>
            </a:r>
            <a:r>
              <a:rPr lang="en-US" baseline="30000" dirty="0">
                <a:sym typeface="Symbol" pitchFamily="18" charset="2"/>
              </a:rPr>
              <a:t></a:t>
            </a:r>
            <a:r>
              <a:rPr lang="en-US" dirty="0"/>
              <a:t>] and pH = 7</a:t>
            </a:r>
            <a:br>
              <a:rPr lang="en-US" dirty="0"/>
            </a:br>
            <a:r>
              <a:rPr lang="en-US" dirty="0"/>
              <a:t>Acidic solution   [H</a:t>
            </a:r>
            <a:r>
              <a:rPr lang="en-US" baseline="30000" dirty="0"/>
              <a:t>+</a:t>
            </a:r>
            <a:r>
              <a:rPr lang="en-US" dirty="0"/>
              <a:t>] &gt; [OH</a:t>
            </a:r>
            <a:r>
              <a:rPr lang="en-US" baseline="30000" dirty="0">
                <a:sym typeface="Symbol" pitchFamily="18" charset="2"/>
              </a:rPr>
              <a:t></a:t>
            </a:r>
            <a:r>
              <a:rPr lang="en-US" dirty="0"/>
              <a:t>] and pH &lt; 7</a:t>
            </a:r>
            <a:br>
              <a:rPr lang="en-US" dirty="0"/>
            </a:br>
            <a:r>
              <a:rPr lang="en-US" dirty="0"/>
              <a:t>Basic solution     [H</a:t>
            </a:r>
            <a:r>
              <a:rPr lang="en-US" baseline="30000" dirty="0"/>
              <a:t>+</a:t>
            </a:r>
            <a:r>
              <a:rPr lang="en-US" dirty="0"/>
              <a:t>] &lt; [OH</a:t>
            </a:r>
            <a:r>
              <a:rPr lang="en-US" baseline="30000" dirty="0">
                <a:sym typeface="Symbol" pitchFamily="18" charset="2"/>
              </a:rPr>
              <a:t></a:t>
            </a:r>
            <a:r>
              <a:rPr lang="en-US" dirty="0"/>
              <a:t>] and pH &gt; 7</a:t>
            </a:r>
            <a:br>
              <a:rPr lang="en-US" dirty="0"/>
            </a:br>
            <a:br>
              <a:rPr lang="en-US" dirty="0"/>
            </a:br>
            <a:r>
              <a:rPr lang="en-US" i="1" dirty="0"/>
              <a:t>K</a:t>
            </a:r>
            <a:r>
              <a:rPr lang="en-US" i="1" baseline="-25000" dirty="0"/>
              <a:t>w</a:t>
            </a:r>
            <a:r>
              <a:rPr lang="en-US" dirty="0"/>
              <a:t> varies with temperature-this can affect the pH of pure water at different temperatures!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457200" y="0"/>
            <a:ext cx="10820400" cy="1143000"/>
          </a:xfrm>
        </p:spPr>
        <p:txBody>
          <a:bodyPr/>
          <a:lstStyle/>
          <a:p>
            <a:pPr algn="l"/>
            <a:r>
              <a:rPr lang="en-US" b="1" dirty="0">
                <a:solidFill>
                  <a:schemeClr val="tx1"/>
                </a:solidFill>
              </a:rPr>
              <a:t>Calculating the pH of strong acids and bases</a:t>
            </a:r>
          </a:p>
        </p:txBody>
      </p:sp>
      <p:sp>
        <p:nvSpPr>
          <p:cNvPr id="2" name="Content Placeholder 1"/>
          <p:cNvSpPr>
            <a:spLocks noGrp="1"/>
          </p:cNvSpPr>
          <p:nvPr>
            <p:ph idx="1"/>
          </p:nvPr>
        </p:nvSpPr>
        <p:spPr>
          <a:xfrm>
            <a:off x="914400" y="1219200"/>
            <a:ext cx="10363200" cy="4876800"/>
          </a:xfrm>
        </p:spPr>
        <p:txBody>
          <a:bodyPr/>
          <a:lstStyle/>
          <a:p>
            <a:pPr marL="0" indent="0">
              <a:buNone/>
            </a:pPr>
            <a:r>
              <a:rPr lang="en-US" dirty="0">
                <a:solidFill>
                  <a:srgbClr val="FF0000"/>
                </a:solidFill>
              </a:rPr>
              <a:t>pH</a:t>
            </a:r>
            <a:r>
              <a:rPr lang="en-US" dirty="0"/>
              <a:t> is defined as the negative logarithm (in base 10) of the concentration of H</a:t>
            </a:r>
            <a:r>
              <a:rPr lang="en-US" baseline="30000" dirty="0"/>
              <a:t>+</a:t>
            </a:r>
            <a:r>
              <a:rPr lang="en-US" dirty="0"/>
              <a:t> (or H</a:t>
            </a:r>
            <a:r>
              <a:rPr lang="en-US" baseline="-25000" dirty="0"/>
              <a:t>3</a:t>
            </a:r>
            <a:r>
              <a:rPr lang="en-US" dirty="0"/>
              <a:t>O</a:t>
            </a:r>
            <a:r>
              <a:rPr lang="en-US" baseline="30000" dirty="0"/>
              <a:t>+</a:t>
            </a:r>
            <a:r>
              <a:rPr lang="en-US" dirty="0"/>
              <a:t>). </a:t>
            </a:r>
          </a:p>
          <a:p>
            <a:r>
              <a:rPr lang="en-US" dirty="0"/>
              <a:t>pH = ─log[H</a:t>
            </a:r>
            <a:r>
              <a:rPr lang="en-US" baseline="30000" dirty="0"/>
              <a:t>+</a:t>
            </a:r>
            <a:r>
              <a:rPr lang="en-US" dirty="0"/>
              <a:t>]	or	pH = ─log[H</a:t>
            </a:r>
            <a:r>
              <a:rPr lang="en-US" baseline="-25000" dirty="0"/>
              <a:t>3</a:t>
            </a:r>
            <a:r>
              <a:rPr lang="en-US" dirty="0"/>
              <a:t>O</a:t>
            </a:r>
            <a:r>
              <a:rPr lang="en-US" baseline="30000" dirty="0"/>
              <a:t>+</a:t>
            </a:r>
            <a:r>
              <a:rPr lang="en-US" dirty="0"/>
              <a:t>]</a:t>
            </a:r>
          </a:p>
          <a:p>
            <a:r>
              <a:rPr lang="en-US" dirty="0"/>
              <a:t>For example, the pH of a solution in which </a:t>
            </a:r>
          </a:p>
          <a:p>
            <a:pPr marL="0" indent="0">
              <a:buNone/>
            </a:pPr>
            <a:r>
              <a:rPr lang="en-US" dirty="0"/>
              <a:t>			[H</a:t>
            </a:r>
            <a:r>
              <a:rPr lang="en-US" baseline="30000" dirty="0"/>
              <a:t>+</a:t>
            </a:r>
            <a:r>
              <a:rPr lang="en-US" dirty="0"/>
              <a:t>] = 1.0 x 10</a:t>
            </a:r>
            <a:r>
              <a:rPr lang="en-US" baseline="30000" dirty="0"/>
              <a:t>–7</a:t>
            </a:r>
            <a:r>
              <a:rPr lang="en-US" dirty="0"/>
              <a:t> = 7.00</a:t>
            </a:r>
          </a:p>
          <a:p>
            <a:pPr marL="0" indent="0">
              <a:buNone/>
            </a:pPr>
            <a:endParaRPr lang="en-US" dirty="0"/>
          </a:p>
          <a:p>
            <a:pPr marL="0" indent="0">
              <a:buNone/>
            </a:pPr>
            <a:r>
              <a:rPr lang="en-US" dirty="0"/>
              <a:t>Mathematically, this also means that concentration of H</a:t>
            </a:r>
            <a:r>
              <a:rPr lang="en-US" baseline="30000" dirty="0"/>
              <a:t>+</a:t>
            </a:r>
            <a:r>
              <a:rPr lang="en-US" dirty="0"/>
              <a:t> can be found from pH:</a:t>
            </a:r>
          </a:p>
          <a:p>
            <a:pPr marL="0" indent="0" algn="ctr">
              <a:buNone/>
            </a:pPr>
            <a:r>
              <a:rPr lang="en-US" dirty="0"/>
              <a:t>[H</a:t>
            </a:r>
            <a:r>
              <a:rPr lang="en-US" baseline="30000" dirty="0"/>
              <a:t>+</a:t>
            </a:r>
            <a:r>
              <a:rPr lang="en-US" dirty="0"/>
              <a:t>] = </a:t>
            </a:r>
            <a:r>
              <a:rPr lang="en-US" dirty="0">
                <a:solidFill>
                  <a:srgbClr val="FF0000"/>
                </a:solidFill>
              </a:rPr>
              <a:t>10</a:t>
            </a:r>
            <a:r>
              <a:rPr lang="en-US" baseline="30000" dirty="0">
                <a:solidFill>
                  <a:srgbClr val="FF0000"/>
                </a:solidFill>
              </a:rPr>
              <a:t>-pH</a:t>
            </a:r>
            <a:endParaRPr lang="en-US" dirty="0">
              <a:solidFill>
                <a:srgbClr val="FF0000"/>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946030" y="38101"/>
            <a:ext cx="10363200" cy="723899"/>
          </a:xfrm>
        </p:spPr>
        <p:txBody>
          <a:bodyPr/>
          <a:lstStyle/>
          <a:p>
            <a:pPr algn="l"/>
            <a:r>
              <a:rPr lang="en-US" sz="4000" u="sng" dirty="0"/>
              <a:t>Significant figures in pH and other log values</a:t>
            </a:r>
            <a:r>
              <a:rPr lang="en-US" sz="4000" dirty="0"/>
              <a:t>:</a:t>
            </a:r>
            <a:endParaRPr lang="en-US" dirty="0">
              <a:solidFill>
                <a:schemeClr val="tx1"/>
              </a:solidFill>
            </a:endParaRPr>
          </a:p>
        </p:txBody>
      </p:sp>
      <p:sp>
        <p:nvSpPr>
          <p:cNvPr id="2" name="Content Placeholder 1"/>
          <p:cNvSpPr>
            <a:spLocks noGrp="1"/>
          </p:cNvSpPr>
          <p:nvPr>
            <p:ph idx="1"/>
          </p:nvPr>
        </p:nvSpPr>
        <p:spPr>
          <a:xfrm>
            <a:off x="914400" y="1219199"/>
            <a:ext cx="10363200" cy="4876801"/>
          </a:xfrm>
        </p:spPr>
        <p:txBody>
          <a:bodyPr/>
          <a:lstStyle/>
          <a:p>
            <a:r>
              <a:rPr lang="en-US" dirty="0"/>
              <a:t>The number of decimal places in the log value should equal the number of significant digits in the original number (concentration).</a:t>
            </a:r>
          </a:p>
          <a:p>
            <a:endParaRPr lang="en-US" dirty="0">
              <a:latin typeface="Stencil" pitchFamily="82" charset="0"/>
            </a:endParaRPr>
          </a:p>
          <a:p>
            <a:pPr marL="0" indent="0">
              <a:buNone/>
            </a:pPr>
            <a:r>
              <a:rPr lang="en-US" dirty="0"/>
              <a:t>Example: pH = 4.42      How many significant figures??</a:t>
            </a:r>
          </a:p>
          <a:p>
            <a:pPr marL="0" indent="0">
              <a:buNone/>
            </a:pPr>
            <a:endParaRPr lang="en-US" dirty="0"/>
          </a:p>
          <a:p>
            <a:pPr marL="0" indent="0">
              <a:buNone/>
            </a:pPr>
            <a:r>
              <a:rPr lang="en-US" dirty="0"/>
              <a:t>Calculate the pH of a solution where [H</a:t>
            </a:r>
            <a:r>
              <a:rPr lang="en-US" baseline="30000" dirty="0"/>
              <a:t>+</a:t>
            </a:r>
            <a:r>
              <a:rPr lang="en-US" dirty="0"/>
              <a:t>] = 1.3 x 10</a:t>
            </a:r>
            <a:r>
              <a:rPr lang="en-US" baseline="30000" dirty="0"/>
              <a:t>-5 </a:t>
            </a:r>
            <a:r>
              <a:rPr lang="en-US" dirty="0"/>
              <a:t>M</a:t>
            </a:r>
          </a:p>
          <a:p>
            <a:pPr marL="0" indent="0">
              <a:buNone/>
            </a:pPr>
            <a:r>
              <a:rPr lang="en-US" dirty="0"/>
              <a:t>   </a:t>
            </a:r>
          </a:p>
          <a:p>
            <a:pPr marL="0" indent="0">
              <a:buNone/>
            </a:pPr>
            <a:br>
              <a:rPr lang="en-US" dirty="0"/>
            </a:br>
            <a:br>
              <a:rPr lang="en-US" dirty="0"/>
            </a:b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10363200" cy="1143000"/>
          </a:xfrm>
        </p:spPr>
        <p:txBody>
          <a:bodyPr/>
          <a:lstStyle/>
          <a:p>
            <a:r>
              <a:rPr lang="en-US" b="1" dirty="0"/>
              <a:t>pH and pOH</a:t>
            </a:r>
            <a:endParaRPr lang="en-US" dirty="0"/>
          </a:p>
        </p:txBody>
      </p:sp>
      <p:sp>
        <p:nvSpPr>
          <p:cNvPr id="3" name="Content Placeholder 2"/>
          <p:cNvSpPr>
            <a:spLocks noGrp="1"/>
          </p:cNvSpPr>
          <p:nvPr>
            <p:ph idx="1"/>
          </p:nvPr>
        </p:nvSpPr>
        <p:spPr>
          <a:xfrm>
            <a:off x="685800" y="1143000"/>
            <a:ext cx="10896600" cy="4953000"/>
          </a:xfrm>
        </p:spPr>
        <p:txBody>
          <a:bodyPr/>
          <a:lstStyle/>
          <a:p>
            <a:pPr marL="0" indent="0">
              <a:buNone/>
            </a:pPr>
            <a:r>
              <a:rPr lang="en-US" dirty="0"/>
              <a:t>In chemistry, we use the convention that the “negative log” of some quantity is labeled p(quantity). Therefore the concentration of hydroxide ions in solution is expressed in terms of the</a:t>
            </a:r>
            <a:r>
              <a:rPr lang="en-US" u="sng" dirty="0"/>
              <a:t> </a:t>
            </a:r>
            <a:r>
              <a:rPr lang="en-US" u="sng" dirty="0">
                <a:solidFill>
                  <a:srgbClr val="FF0000"/>
                </a:solidFill>
              </a:rPr>
              <a:t>pOH</a:t>
            </a:r>
            <a:r>
              <a:rPr lang="en-US" dirty="0"/>
              <a:t>. Similarly, </a:t>
            </a:r>
            <a:r>
              <a:rPr lang="en-US" dirty="0" err="1"/>
              <a:t>p</a:t>
            </a:r>
            <a:r>
              <a:rPr lang="en-US" i="1" dirty="0" err="1"/>
              <a:t>K</a:t>
            </a:r>
            <a:r>
              <a:rPr lang="en-US" i="1" baseline="-25000" dirty="0" err="1"/>
              <a:t>w</a:t>
            </a:r>
            <a:r>
              <a:rPr lang="en-US" i="1" dirty="0"/>
              <a:t> </a:t>
            </a:r>
            <a:r>
              <a:rPr lang="en-US" dirty="0"/>
              <a:t>= –log (</a:t>
            </a:r>
            <a:r>
              <a:rPr lang="en-US" i="1" dirty="0"/>
              <a:t>K</a:t>
            </a:r>
            <a:r>
              <a:rPr lang="en-US" i="1" baseline="-25000" dirty="0"/>
              <a:t>w</a:t>
            </a:r>
            <a:r>
              <a:rPr lang="en-US" dirty="0"/>
              <a:t>) = </a:t>
            </a:r>
            <a:r>
              <a:rPr lang="en-US" u="sng" dirty="0">
                <a:solidFill>
                  <a:srgbClr val="FF0000"/>
                </a:solidFill>
              </a:rPr>
              <a:t>14 </a:t>
            </a:r>
            <a:r>
              <a:rPr lang="en-US" dirty="0"/>
              <a:t>at 25</a:t>
            </a:r>
            <a:r>
              <a:rPr lang="en-US" baseline="30000" dirty="0"/>
              <a:t>o</a:t>
            </a:r>
            <a:r>
              <a:rPr lang="en-US" dirty="0"/>
              <a:t>C .</a:t>
            </a:r>
          </a:p>
          <a:p>
            <a:pPr marL="0" indent="0">
              <a:buNone/>
            </a:pPr>
            <a:r>
              <a:rPr lang="en-US" dirty="0"/>
              <a:t>You should also know that pH + pOH =</a:t>
            </a:r>
            <a:r>
              <a:rPr lang="en-US" u="sng" dirty="0"/>
              <a:t> </a:t>
            </a:r>
            <a:r>
              <a:rPr lang="en-US" u="sng" dirty="0">
                <a:solidFill>
                  <a:srgbClr val="FF0000"/>
                </a:solidFill>
              </a:rPr>
              <a:t>14</a:t>
            </a:r>
            <a:r>
              <a:rPr lang="en-US" dirty="0"/>
              <a:t>  at 25</a:t>
            </a:r>
            <a:r>
              <a:rPr lang="en-US" baseline="30000" dirty="0"/>
              <a:t>o</a:t>
            </a:r>
            <a:r>
              <a:rPr lang="en-US" dirty="0"/>
              <a:t>C</a:t>
            </a:r>
          </a:p>
          <a:p>
            <a:pPr marL="0" indent="0">
              <a:buNone/>
            </a:pPr>
            <a:endParaRPr lang="en-US" dirty="0"/>
          </a:p>
          <a:p>
            <a:endParaRPr lang="en-US" dirty="0"/>
          </a:p>
        </p:txBody>
      </p:sp>
    </p:spTree>
    <p:extLst>
      <p:ext uri="{BB962C8B-B14F-4D97-AF65-F5344CB8AC3E}">
        <p14:creationId xmlns:p14="http://schemas.microsoft.com/office/powerpoint/2010/main" val="3383194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381000" y="0"/>
            <a:ext cx="11277600" cy="1143000"/>
          </a:xfrm>
        </p:spPr>
        <p:txBody>
          <a:bodyPr/>
          <a:lstStyle/>
          <a:p>
            <a:r>
              <a:rPr lang="en-US" b="1" dirty="0">
                <a:solidFill>
                  <a:schemeClr val="tx1"/>
                </a:solidFill>
              </a:rPr>
              <a:t>pH, pOH and </a:t>
            </a:r>
            <a:r>
              <a:rPr lang="en-US" b="1" dirty="0" err="1">
                <a:solidFill>
                  <a:schemeClr val="tx1"/>
                </a:solidFill>
              </a:rPr>
              <a:t>p</a:t>
            </a:r>
            <a:r>
              <a:rPr lang="en-US" b="1" i="1" dirty="0" err="1">
                <a:solidFill>
                  <a:schemeClr val="tx1"/>
                </a:solidFill>
              </a:rPr>
              <a:t>K</a:t>
            </a:r>
            <a:r>
              <a:rPr lang="en-US" b="1" dirty="0">
                <a:solidFill>
                  <a:schemeClr val="tx1"/>
                </a:solidFill>
              </a:rPr>
              <a:t> are logarithmic functions</a:t>
            </a:r>
            <a:endParaRPr lang="en-US" dirty="0">
              <a:solidFill>
                <a:schemeClr val="tx1"/>
              </a:solidFill>
            </a:endParaRPr>
          </a:p>
        </p:txBody>
      </p:sp>
      <p:sp>
        <p:nvSpPr>
          <p:cNvPr id="2" name="Content Placeholder 1"/>
          <p:cNvSpPr>
            <a:spLocks noGrp="1"/>
          </p:cNvSpPr>
          <p:nvPr>
            <p:ph idx="1"/>
          </p:nvPr>
        </p:nvSpPr>
        <p:spPr>
          <a:xfrm>
            <a:off x="914400" y="1219200"/>
            <a:ext cx="10363200" cy="4876800"/>
          </a:xfrm>
        </p:spPr>
        <p:txBody>
          <a:bodyPr/>
          <a:lstStyle/>
          <a:p>
            <a:r>
              <a:rPr lang="en-US" dirty="0"/>
              <a:t>pH and pOH are logarithmic functions.  The pH changes by 1 for every power of 10 change in [H</a:t>
            </a:r>
            <a:r>
              <a:rPr lang="en-US" baseline="30000" dirty="0"/>
              <a:t>+</a:t>
            </a:r>
            <a:r>
              <a:rPr lang="en-US" dirty="0"/>
              <a:t>].  pH decreases as [H</a:t>
            </a:r>
            <a:r>
              <a:rPr lang="en-US" baseline="30000" dirty="0"/>
              <a:t>+</a:t>
            </a:r>
            <a:r>
              <a:rPr lang="en-US" dirty="0"/>
              <a:t>] increases.  </a:t>
            </a:r>
          </a:p>
          <a:p>
            <a:r>
              <a:rPr lang="en-US" dirty="0"/>
              <a:t>A substance with a pH of 3.00 has ten times the [H</a:t>
            </a:r>
            <a:r>
              <a:rPr lang="en-US" baseline="30000" dirty="0"/>
              <a:t>+</a:t>
            </a:r>
            <a:r>
              <a:rPr lang="en-US" dirty="0"/>
              <a:t>] as a substance with a pH of 4.00.</a:t>
            </a:r>
            <a:br>
              <a:rPr lang="en-US" dirty="0"/>
            </a:b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10363200" cy="762000"/>
          </a:xfrm>
        </p:spPr>
        <p:txBody>
          <a:bodyPr/>
          <a:lstStyle/>
          <a:p>
            <a:r>
              <a:rPr lang="en-US" dirty="0"/>
              <a:t>Practice</a:t>
            </a:r>
          </a:p>
        </p:txBody>
      </p:sp>
      <p:sp>
        <p:nvSpPr>
          <p:cNvPr id="3" name="Content Placeholder 2"/>
          <p:cNvSpPr>
            <a:spLocks noGrp="1"/>
          </p:cNvSpPr>
          <p:nvPr>
            <p:ph idx="1"/>
          </p:nvPr>
        </p:nvSpPr>
        <p:spPr/>
        <p:txBody>
          <a:bodyPr/>
          <a:lstStyle/>
          <a:p>
            <a:endParaRPr lang="en-US" dirty="0"/>
          </a:p>
        </p:txBody>
      </p:sp>
      <p:pic>
        <p:nvPicPr>
          <p:cNvPr id="4" name="Picture 3"/>
          <p:cNvPicPr>
            <a:picLocks noChangeAspect="1"/>
          </p:cNvPicPr>
          <p:nvPr/>
        </p:nvPicPr>
        <p:blipFill>
          <a:blip r:embed="rId2"/>
          <a:stretch>
            <a:fillRect/>
          </a:stretch>
        </p:blipFill>
        <p:spPr>
          <a:xfrm>
            <a:off x="609600" y="1600200"/>
            <a:ext cx="11320697" cy="3810000"/>
          </a:xfrm>
          <a:prstGeom prst="rect">
            <a:avLst/>
          </a:prstGeom>
        </p:spPr>
      </p:pic>
    </p:spTree>
    <p:extLst>
      <p:ext uri="{BB962C8B-B14F-4D97-AF65-F5344CB8AC3E}">
        <p14:creationId xmlns:p14="http://schemas.microsoft.com/office/powerpoint/2010/main" val="1220457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919655" y="0"/>
            <a:ext cx="10363200" cy="1143000"/>
          </a:xfrm>
        </p:spPr>
        <p:txBody>
          <a:bodyPr/>
          <a:lstStyle/>
          <a:p>
            <a:r>
              <a:rPr lang="en-US" sz="3600" b="1" u="sng" dirty="0">
                <a:solidFill>
                  <a:schemeClr val="tx1"/>
                </a:solidFill>
              </a:rPr>
              <a:t>Calculating pH of Strong Acid Solutions</a:t>
            </a:r>
            <a:endParaRPr lang="en-US" dirty="0">
              <a:solidFill>
                <a:schemeClr val="tx1"/>
              </a:solidFill>
            </a:endParaRPr>
          </a:p>
        </p:txBody>
      </p:sp>
      <p:sp>
        <p:nvSpPr>
          <p:cNvPr id="2" name="Content Placeholder 1"/>
          <p:cNvSpPr>
            <a:spLocks noGrp="1"/>
          </p:cNvSpPr>
          <p:nvPr>
            <p:ph idx="1"/>
          </p:nvPr>
        </p:nvSpPr>
        <p:spPr>
          <a:xfrm>
            <a:off x="381000" y="1295400"/>
            <a:ext cx="11430000" cy="4800600"/>
          </a:xfrm>
        </p:spPr>
        <p:txBody>
          <a:bodyPr/>
          <a:lstStyle/>
          <a:p>
            <a:r>
              <a:rPr lang="en-US" dirty="0"/>
              <a:t>The pH of a solution of strong acid is simply calculated by taking the negative logarithm of concentration of a </a:t>
            </a:r>
            <a:r>
              <a:rPr lang="en-US" dirty="0" err="1"/>
              <a:t>monoprotic</a:t>
            </a:r>
            <a:r>
              <a:rPr lang="en-US" dirty="0"/>
              <a:t> strong acid.  </a:t>
            </a:r>
          </a:p>
          <a:p>
            <a:r>
              <a:rPr lang="en-US" dirty="0"/>
              <a:t>For example,  the pH of 0.1 </a:t>
            </a:r>
            <a:r>
              <a:rPr lang="en-US" i="1" dirty="0"/>
              <a:t>M</a:t>
            </a:r>
            <a:r>
              <a:rPr lang="en-US" dirty="0"/>
              <a:t> </a:t>
            </a:r>
            <a:r>
              <a:rPr lang="en-US" dirty="0" err="1"/>
              <a:t>HCl</a:t>
            </a:r>
            <a:r>
              <a:rPr lang="en-US" dirty="0"/>
              <a:t> is 1.0.  </a:t>
            </a:r>
          </a:p>
          <a:p>
            <a:r>
              <a:rPr lang="en-US" dirty="0"/>
              <a:t>Caution: If the acid concentration is less than 1.0 </a:t>
            </a:r>
            <a:r>
              <a:rPr lang="en-US" dirty="0">
                <a:cs typeface="Times New Roman" pitchFamily="18" charset="0"/>
              </a:rPr>
              <a:t>×</a:t>
            </a:r>
            <a:r>
              <a:rPr lang="en-US" dirty="0"/>
              <a:t> 10</a:t>
            </a:r>
            <a:r>
              <a:rPr lang="en-US" baseline="30000" dirty="0">
                <a:sym typeface="Symbol" pitchFamily="18" charset="2"/>
              </a:rPr>
              <a:t></a:t>
            </a:r>
            <a:r>
              <a:rPr lang="en-US" baseline="30000" dirty="0"/>
              <a:t>7</a:t>
            </a:r>
            <a:r>
              <a:rPr lang="en-US" dirty="0"/>
              <a:t>, the water becomes the important source of [H</a:t>
            </a:r>
            <a:r>
              <a:rPr lang="en-US" baseline="30000" dirty="0"/>
              <a:t>+</a:t>
            </a:r>
            <a:r>
              <a:rPr lang="en-US" dirty="0"/>
              <a:t>] and the pH is 7.00.  The pH of an acidic solution can not be greater than 7 at 25</a:t>
            </a:r>
            <a:r>
              <a:rPr lang="en-US" baseline="30000" dirty="0"/>
              <a:t>o</a:t>
            </a:r>
            <a:r>
              <a:rPr lang="en-US" dirty="0"/>
              <a:t>C!!!!!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14400" y="0"/>
            <a:ext cx="10363200" cy="762000"/>
          </a:xfrm>
        </p:spPr>
        <p:txBody>
          <a:bodyPr/>
          <a:lstStyle/>
          <a:p>
            <a:r>
              <a:rPr lang="en-US" dirty="0"/>
              <a:t>Practice: </a:t>
            </a:r>
          </a:p>
        </p:txBody>
      </p:sp>
      <p:sp>
        <p:nvSpPr>
          <p:cNvPr id="5" name="Content Placeholder 4"/>
          <p:cNvSpPr>
            <a:spLocks noGrp="1"/>
          </p:cNvSpPr>
          <p:nvPr>
            <p:ph idx="1"/>
          </p:nvPr>
        </p:nvSpPr>
        <p:spPr>
          <a:xfrm>
            <a:off x="533400" y="914400"/>
            <a:ext cx="10744200" cy="5181600"/>
          </a:xfrm>
        </p:spPr>
        <p:txBody>
          <a:bodyPr/>
          <a:lstStyle/>
          <a:p>
            <a:r>
              <a:rPr lang="en-US" sz="2800" dirty="0"/>
              <a:t>With strong acids, the concentration of H+ in solution the same as the concentration of the acid itself. (This is not the case with weak acids) Calculate the pH for each of the following concentrations of hydrochloric acid. Remember that if the concentration of [H</a:t>
            </a:r>
            <a:r>
              <a:rPr lang="en-US" sz="2800" baseline="-25000" dirty="0"/>
              <a:t>3</a:t>
            </a:r>
            <a:r>
              <a:rPr lang="en-US" sz="2800" dirty="0"/>
              <a:t>O+] has two sig figs, the pH will have 2 decimal places.</a:t>
            </a:r>
          </a:p>
          <a:p>
            <a:pPr marL="0" indent="0">
              <a:buNone/>
            </a:pPr>
            <a:r>
              <a:rPr lang="en-US" dirty="0"/>
              <a:t> </a:t>
            </a:r>
          </a:p>
        </p:txBody>
      </p:sp>
      <p:pic>
        <p:nvPicPr>
          <p:cNvPr id="6" name="Picture 5"/>
          <p:cNvPicPr>
            <a:picLocks noChangeAspect="1"/>
          </p:cNvPicPr>
          <p:nvPr/>
        </p:nvPicPr>
        <p:blipFill>
          <a:blip r:embed="rId2"/>
          <a:stretch>
            <a:fillRect/>
          </a:stretch>
        </p:blipFill>
        <p:spPr>
          <a:xfrm>
            <a:off x="2438400" y="3200399"/>
            <a:ext cx="6248400" cy="3586695"/>
          </a:xfrm>
          <a:prstGeom prst="rect">
            <a:avLst/>
          </a:prstGeom>
        </p:spPr>
      </p:pic>
    </p:spTree>
    <p:extLst>
      <p:ext uri="{BB962C8B-B14F-4D97-AF65-F5344CB8AC3E}">
        <p14:creationId xmlns:p14="http://schemas.microsoft.com/office/powerpoint/2010/main" val="2131364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228600"/>
            <a:ext cx="10363200" cy="5867400"/>
          </a:xfrm>
        </p:spPr>
        <p:txBody>
          <a:bodyPr/>
          <a:lstStyle/>
          <a:p>
            <a:pPr lvl="0"/>
            <a:r>
              <a:rPr lang="en-US" dirty="0"/>
              <a:t>Calculate the concentration of nitric acid for each of the following solutions. Remember that if a pH has 2 decimal places, the concentration of [H</a:t>
            </a:r>
            <a:r>
              <a:rPr lang="en-US" baseline="-25000" dirty="0"/>
              <a:t>3</a:t>
            </a:r>
            <a:r>
              <a:rPr lang="en-US" dirty="0"/>
              <a:t>O+] will have two sig figs.</a:t>
            </a:r>
          </a:p>
        </p:txBody>
      </p:sp>
      <p:pic>
        <p:nvPicPr>
          <p:cNvPr id="4" name="Picture 3"/>
          <p:cNvPicPr>
            <a:picLocks noChangeAspect="1"/>
          </p:cNvPicPr>
          <p:nvPr/>
        </p:nvPicPr>
        <p:blipFill>
          <a:blip r:embed="rId2"/>
          <a:stretch>
            <a:fillRect/>
          </a:stretch>
        </p:blipFill>
        <p:spPr>
          <a:xfrm>
            <a:off x="2514600" y="2460548"/>
            <a:ext cx="6705600" cy="3613681"/>
          </a:xfrm>
          <a:prstGeom prst="rect">
            <a:avLst/>
          </a:prstGeom>
        </p:spPr>
      </p:pic>
    </p:spTree>
    <p:extLst>
      <p:ext uri="{BB962C8B-B14F-4D97-AF65-F5344CB8AC3E}">
        <p14:creationId xmlns:p14="http://schemas.microsoft.com/office/powerpoint/2010/main" val="714095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609600"/>
            <a:ext cx="11049000" cy="1143000"/>
          </a:xfrm>
        </p:spPr>
        <p:txBody>
          <a:bodyPr/>
          <a:lstStyle/>
          <a:p>
            <a:r>
              <a:rPr lang="en-US" sz="3200" dirty="0"/>
              <a:t>Fill in the missing information in the table below. Pay attention to the concentration of hydroxide in the last row of the table. [OH–] is </a:t>
            </a:r>
            <a:r>
              <a:rPr lang="en-US" sz="3200" u="sng" dirty="0"/>
              <a:t>not</a:t>
            </a:r>
            <a:r>
              <a:rPr lang="en-US" sz="3200" dirty="0"/>
              <a:t> equal to 0.0050 </a:t>
            </a:r>
            <a:r>
              <a:rPr lang="en-US" sz="3200" i="1" dirty="0"/>
              <a:t>M </a:t>
            </a:r>
            <a:r>
              <a:rPr lang="en-US" sz="3200" dirty="0"/>
              <a:t>in 0.0050 </a:t>
            </a:r>
            <a:r>
              <a:rPr lang="en-US" sz="3200" i="1" dirty="0"/>
              <a:t>M </a:t>
            </a:r>
            <a:r>
              <a:rPr lang="en-US" sz="3200" dirty="0"/>
              <a:t>Ca(OH)</a:t>
            </a:r>
            <a:r>
              <a:rPr lang="en-US" sz="3200" baseline="-25000" dirty="0"/>
              <a:t>2</a:t>
            </a:r>
            <a:r>
              <a:rPr lang="en-US" sz="3200" dirty="0"/>
              <a:t>.</a:t>
            </a:r>
          </a:p>
        </p:txBody>
      </p:sp>
      <p:pic>
        <p:nvPicPr>
          <p:cNvPr id="4" name="Content Placeholder 3"/>
          <p:cNvPicPr>
            <a:picLocks noGrp="1" noChangeAspect="1"/>
          </p:cNvPicPr>
          <p:nvPr>
            <p:ph idx="1"/>
          </p:nvPr>
        </p:nvPicPr>
        <p:blipFill>
          <a:blip r:embed="rId2"/>
          <a:stretch>
            <a:fillRect/>
          </a:stretch>
        </p:blipFill>
        <p:spPr>
          <a:xfrm>
            <a:off x="685800" y="2133600"/>
            <a:ext cx="10572750" cy="2819400"/>
          </a:xfrm>
          <a:prstGeom prst="rect">
            <a:avLst/>
          </a:prstGeom>
        </p:spPr>
      </p:pic>
    </p:spTree>
    <p:extLst>
      <p:ext uri="{BB962C8B-B14F-4D97-AF65-F5344CB8AC3E}">
        <p14:creationId xmlns:p14="http://schemas.microsoft.com/office/powerpoint/2010/main" val="2358288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4806" y="228600"/>
            <a:ext cx="10363200" cy="1143000"/>
          </a:xfrm>
        </p:spPr>
        <p:txBody>
          <a:bodyPr/>
          <a:lstStyle/>
          <a:p>
            <a:r>
              <a:rPr lang="en-US" sz="3200" dirty="0"/>
              <a:t>Fill in the missing information in the tables below. Remember that something extra should be done to convert from [OH–] into concentration of </a:t>
            </a:r>
            <a:r>
              <a:rPr lang="en-US" sz="3200" dirty="0" err="1"/>
              <a:t>Sr</a:t>
            </a:r>
            <a:r>
              <a:rPr lang="en-US" sz="3200" dirty="0"/>
              <a:t>(OH)</a:t>
            </a:r>
            <a:r>
              <a:rPr lang="en-US" sz="3200" baseline="-25000" dirty="0"/>
              <a:t>2</a:t>
            </a:r>
            <a:r>
              <a:rPr lang="en-US" sz="3200" dirty="0"/>
              <a:t>.</a:t>
            </a:r>
          </a:p>
        </p:txBody>
      </p:sp>
      <p:pic>
        <p:nvPicPr>
          <p:cNvPr id="4" name="Content Placeholder 3"/>
          <p:cNvPicPr>
            <a:picLocks noGrp="1" noChangeAspect="1"/>
          </p:cNvPicPr>
          <p:nvPr>
            <p:ph idx="1"/>
          </p:nvPr>
        </p:nvPicPr>
        <p:blipFill>
          <a:blip r:embed="rId2"/>
          <a:stretch>
            <a:fillRect/>
          </a:stretch>
        </p:blipFill>
        <p:spPr>
          <a:xfrm>
            <a:off x="304800" y="1600200"/>
            <a:ext cx="11750040" cy="1981200"/>
          </a:xfrm>
          <a:prstGeom prst="rect">
            <a:avLst/>
          </a:prstGeom>
        </p:spPr>
      </p:pic>
    </p:spTree>
    <p:extLst>
      <p:ext uri="{BB962C8B-B14F-4D97-AF65-F5344CB8AC3E}">
        <p14:creationId xmlns:p14="http://schemas.microsoft.com/office/powerpoint/2010/main" val="888469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https://lh7-rt.googleusercontent.com/slidesz/AGV_vUfO2cKvZfVFw_1LN0dw1TFox8sFEH-Yj8cA7KxfHrBIdNarGiP6Crj4m5qiYNRNFChio_Ujtn4LK72tg6fVq6IY7rHQJaP8WwZwe1BgiGtIuwp68NWcXBi7BRi4czYf7fBdcb5jCA=s2048?key=9Cc5YZSA_7u3DL8ZtBrNoyGh">
            <a:extLst>
              <a:ext uri="{FF2B5EF4-FFF2-40B4-BE49-F238E27FC236}">
                <a16:creationId xmlns:a16="http://schemas.microsoft.com/office/drawing/2014/main" id="{1067E337-9650-4665-ABD3-9A7F4F3C79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79690"/>
            <a:ext cx="11155183" cy="6625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97073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0"/>
            <a:ext cx="4267200" cy="1555652"/>
          </a:xfrm>
        </p:spPr>
        <p:txBody>
          <a:bodyPr>
            <a:noAutofit/>
          </a:bodyPr>
          <a:lstStyle/>
          <a:p>
            <a:pPr algn="r"/>
            <a:r>
              <a:rPr lang="en-US" sz="4000" dirty="0">
                <a:solidFill>
                  <a:schemeClr val="bg1"/>
                </a:solidFill>
              </a:rPr>
              <a:t>8.3 Weak Acid and Base Equilibria</a:t>
            </a:r>
          </a:p>
        </p:txBody>
      </p:sp>
      <p:sp>
        <p:nvSpPr>
          <p:cNvPr id="6" name="Title 1">
            <a:extLst>
              <a:ext uri="{FF2B5EF4-FFF2-40B4-BE49-F238E27FC236}">
                <a16:creationId xmlns:a16="http://schemas.microsoft.com/office/drawing/2014/main" id="{82BCBC4E-0020-4CE6-9567-5AC1531ADEEF}"/>
              </a:ext>
            </a:extLst>
          </p:cNvPr>
          <p:cNvSpPr txBox="1">
            <a:spLocks/>
          </p:cNvSpPr>
          <p:nvPr/>
        </p:nvSpPr>
        <p:spPr bwMode="auto">
          <a:xfrm>
            <a:off x="11048999" y="0"/>
            <a:ext cx="1140655" cy="6858000"/>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337270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27709"/>
            <a:ext cx="10363200" cy="762000"/>
          </a:xfrm>
        </p:spPr>
        <p:txBody>
          <a:bodyPr/>
          <a:lstStyle/>
          <a:p>
            <a:r>
              <a:rPr lang="en-US" dirty="0"/>
              <a:t>Acid Dissociation Reaction</a:t>
            </a:r>
          </a:p>
        </p:txBody>
      </p:sp>
      <p:sp>
        <p:nvSpPr>
          <p:cNvPr id="3" name="Content Placeholder 2"/>
          <p:cNvSpPr>
            <a:spLocks noGrp="1"/>
          </p:cNvSpPr>
          <p:nvPr>
            <p:ph idx="1"/>
          </p:nvPr>
        </p:nvSpPr>
        <p:spPr>
          <a:xfrm>
            <a:off x="914400" y="914400"/>
            <a:ext cx="10363200" cy="5181600"/>
          </a:xfrm>
        </p:spPr>
        <p:txBody>
          <a:bodyPr/>
          <a:lstStyle/>
          <a:p>
            <a:pPr marL="0" indent="0">
              <a:buNone/>
            </a:pPr>
            <a:r>
              <a:rPr lang="en-US" dirty="0"/>
              <a:t>Write a dissociation reaction for </a:t>
            </a:r>
            <a:r>
              <a:rPr lang="en-US" dirty="0" err="1"/>
              <a:t>HCl</a:t>
            </a:r>
            <a:r>
              <a:rPr lang="en-US" dirty="0"/>
              <a:t>, a STRONG acid, in water. Write the dissociation constant.</a:t>
            </a:r>
          </a:p>
          <a:p>
            <a:pPr marL="0" indent="0">
              <a:buNone/>
            </a:pPr>
            <a:endParaRPr lang="en-US" dirty="0"/>
          </a:p>
          <a:p>
            <a:pPr marL="0" indent="0">
              <a:buNone/>
            </a:pPr>
            <a:endParaRPr lang="en-US" dirty="0"/>
          </a:p>
          <a:p>
            <a:pPr marL="0" indent="0">
              <a:buNone/>
            </a:pPr>
            <a:r>
              <a:rPr lang="en-US" dirty="0"/>
              <a:t>Write a dissociation reaction for HCN, a </a:t>
            </a:r>
            <a:r>
              <a:rPr lang="en-US" sz="1600" dirty="0"/>
              <a:t>WEAK</a:t>
            </a:r>
            <a:r>
              <a:rPr lang="en-US" dirty="0"/>
              <a:t> acid, in water. Write the dissociation constant.</a:t>
            </a:r>
          </a:p>
        </p:txBody>
      </p:sp>
    </p:spTree>
    <p:extLst>
      <p:ext uri="{BB962C8B-B14F-4D97-AF65-F5344CB8AC3E}">
        <p14:creationId xmlns:p14="http://schemas.microsoft.com/office/powerpoint/2010/main" val="39636324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990600" y="0"/>
            <a:ext cx="10363200" cy="1143000"/>
          </a:xfrm>
        </p:spPr>
        <p:txBody>
          <a:bodyPr/>
          <a:lstStyle/>
          <a:p>
            <a:r>
              <a:rPr lang="en-US" sz="3600" u="sng" dirty="0">
                <a:solidFill>
                  <a:schemeClr val="tx1"/>
                </a:solidFill>
              </a:rPr>
              <a:t>Acid dissociation constant</a:t>
            </a:r>
            <a:r>
              <a:rPr lang="en-US" sz="3600" dirty="0">
                <a:solidFill>
                  <a:schemeClr val="tx1"/>
                </a:solidFill>
              </a:rPr>
              <a:t> (</a:t>
            </a:r>
            <a:r>
              <a:rPr lang="en-US" sz="3600" i="1" dirty="0" err="1">
                <a:solidFill>
                  <a:schemeClr val="tx1"/>
                </a:solidFill>
              </a:rPr>
              <a:t>K</a:t>
            </a:r>
            <a:r>
              <a:rPr lang="en-US" sz="3600" i="1" baseline="-25000" dirty="0" err="1">
                <a:solidFill>
                  <a:schemeClr val="tx1"/>
                </a:solidFill>
              </a:rPr>
              <a:t>a</a:t>
            </a:r>
            <a:r>
              <a:rPr lang="en-US" sz="3600" dirty="0">
                <a:solidFill>
                  <a:schemeClr val="tx1"/>
                </a:solidFill>
              </a:rPr>
              <a:t>)</a:t>
            </a:r>
            <a:endParaRPr lang="en-US" dirty="0">
              <a:solidFill>
                <a:schemeClr val="tx1"/>
              </a:solidFill>
            </a:endParaRPr>
          </a:p>
        </p:txBody>
      </p:sp>
      <p:sp>
        <p:nvSpPr>
          <p:cNvPr id="2" name="Content Placeholder 1"/>
          <p:cNvSpPr>
            <a:spLocks noGrp="1"/>
          </p:cNvSpPr>
          <p:nvPr>
            <p:ph idx="1"/>
          </p:nvPr>
        </p:nvSpPr>
        <p:spPr>
          <a:xfrm>
            <a:off x="381000" y="1143000"/>
            <a:ext cx="11506200" cy="4953000"/>
          </a:xfrm>
        </p:spPr>
        <p:txBody>
          <a:bodyPr/>
          <a:lstStyle/>
          <a:p>
            <a:r>
              <a:rPr lang="en-US" dirty="0"/>
              <a:t>Equilibrium expressions and conditions are used to calculate concentrations of H</a:t>
            </a:r>
            <a:r>
              <a:rPr lang="en-US" baseline="30000" dirty="0"/>
              <a:t>+</a:t>
            </a:r>
            <a:r>
              <a:rPr lang="en-US" dirty="0"/>
              <a:t>, conjugate bases, and </a:t>
            </a:r>
            <a:r>
              <a:rPr lang="en-US" dirty="0" err="1"/>
              <a:t>remaning</a:t>
            </a:r>
            <a:r>
              <a:rPr lang="en-US" dirty="0"/>
              <a:t> acids </a:t>
            </a:r>
          </a:p>
          <a:p>
            <a:r>
              <a:rPr lang="en-US" dirty="0"/>
              <a:t>The equilibrium expression for the dissociation of a weak acid is called the acid dissociation constant, or the </a:t>
            </a:r>
            <a:r>
              <a:rPr lang="en-US" i="1" dirty="0" err="1">
                <a:solidFill>
                  <a:srgbClr val="FF0000"/>
                </a:solidFill>
              </a:rPr>
              <a:t>K</a:t>
            </a:r>
            <a:r>
              <a:rPr lang="en-US" i="1" baseline="-25000" dirty="0" err="1">
                <a:solidFill>
                  <a:srgbClr val="FF0000"/>
                </a:solidFill>
              </a:rPr>
              <a:t>a</a:t>
            </a:r>
            <a:r>
              <a:rPr lang="en-US" i="1" dirty="0"/>
              <a:t>.</a:t>
            </a:r>
            <a:endParaRPr lang="en-US" dirty="0"/>
          </a:p>
          <a:p>
            <a:pPr marL="0" indent="0">
              <a:buNone/>
            </a:pPr>
            <a:r>
              <a:rPr lang="en-US" i="1" dirty="0" err="1"/>
              <a:t>K</a:t>
            </a:r>
            <a:r>
              <a:rPr lang="en-US" i="1" baseline="-25000" dirty="0" err="1"/>
              <a:t>a</a:t>
            </a:r>
            <a:r>
              <a:rPr lang="en-US" dirty="0"/>
              <a:t> = [H</a:t>
            </a:r>
            <a:r>
              <a:rPr lang="en-US" baseline="-25000" dirty="0"/>
              <a:t>3</a:t>
            </a:r>
            <a:r>
              <a:rPr lang="en-US" dirty="0"/>
              <a:t>O</a:t>
            </a:r>
            <a:r>
              <a:rPr lang="en-US" baseline="30000" dirty="0"/>
              <a:t>+</a:t>
            </a:r>
            <a:r>
              <a:rPr lang="en-US" dirty="0"/>
              <a:t>][A</a:t>
            </a:r>
            <a:r>
              <a:rPr lang="en-US" baseline="30000" dirty="0"/>
              <a:t>-</a:t>
            </a:r>
            <a:r>
              <a:rPr lang="en-US" dirty="0"/>
              <a:t>]       or 	</a:t>
            </a:r>
            <a:r>
              <a:rPr lang="en-US" i="1" dirty="0" err="1"/>
              <a:t>K</a:t>
            </a:r>
            <a:r>
              <a:rPr lang="en-US" i="1" baseline="-25000" dirty="0" err="1"/>
              <a:t>a</a:t>
            </a:r>
            <a:r>
              <a:rPr lang="en-US" dirty="0"/>
              <a:t> = [H</a:t>
            </a:r>
            <a:r>
              <a:rPr lang="en-US" baseline="30000" dirty="0"/>
              <a:t>+</a:t>
            </a:r>
            <a:r>
              <a:rPr lang="en-US" dirty="0"/>
              <a:t>][A</a:t>
            </a:r>
            <a:r>
              <a:rPr lang="en-US" baseline="30000" dirty="0"/>
              <a:t>-</a:t>
            </a:r>
            <a:r>
              <a:rPr lang="en-US" dirty="0"/>
              <a:t>]</a:t>
            </a:r>
            <a:br>
              <a:rPr lang="en-US" dirty="0"/>
            </a:br>
            <a:r>
              <a:rPr lang="en-US" dirty="0"/>
              <a:t>             [HA]                          	 [HA]</a:t>
            </a:r>
            <a:br>
              <a:rPr lang="en-US" dirty="0"/>
            </a:br>
            <a:endParaRPr lang="en-US" dirty="0"/>
          </a:p>
          <a:p>
            <a:r>
              <a:rPr lang="en-US" dirty="0"/>
              <a:t>Write the </a:t>
            </a:r>
            <a:r>
              <a:rPr lang="en-US" dirty="0" err="1"/>
              <a:t>K</a:t>
            </a:r>
            <a:r>
              <a:rPr lang="en-US" baseline="-25000" dirty="0" err="1"/>
              <a:t>a</a:t>
            </a:r>
            <a:r>
              <a:rPr lang="en-US" dirty="0"/>
              <a:t> expression for the weak acid, HCN.</a:t>
            </a:r>
          </a:p>
          <a:p>
            <a:endParaRPr lang="en-US" dirty="0"/>
          </a:p>
        </p:txBody>
      </p:sp>
      <p:sp>
        <p:nvSpPr>
          <p:cNvPr id="14339" name="Line 4"/>
          <p:cNvSpPr>
            <a:spLocks noChangeShapeType="1"/>
          </p:cNvSpPr>
          <p:nvPr/>
        </p:nvSpPr>
        <p:spPr bwMode="auto">
          <a:xfrm>
            <a:off x="5638800" y="3886200"/>
            <a:ext cx="1905000" cy="0"/>
          </a:xfrm>
          <a:prstGeom prst="line">
            <a:avLst/>
          </a:prstGeom>
          <a:noFill/>
          <a:ln w="9525">
            <a:solidFill>
              <a:schemeClr val="tx1"/>
            </a:solidFill>
            <a:round/>
            <a:headEnd/>
            <a:tailEnd/>
          </a:ln>
        </p:spPr>
        <p:txBody>
          <a:bodyPr/>
          <a:lstStyle/>
          <a:p>
            <a:endParaRPr lang="en-US"/>
          </a:p>
        </p:txBody>
      </p:sp>
      <p:sp>
        <p:nvSpPr>
          <p:cNvPr id="14340" name="Line 6"/>
          <p:cNvSpPr>
            <a:spLocks noChangeShapeType="1"/>
          </p:cNvSpPr>
          <p:nvPr/>
        </p:nvSpPr>
        <p:spPr bwMode="auto">
          <a:xfrm flipV="1">
            <a:off x="1219200" y="3886200"/>
            <a:ext cx="2133600" cy="0"/>
          </a:xfrm>
          <a:prstGeom prst="line">
            <a:avLst/>
          </a:prstGeom>
          <a:noFill/>
          <a:ln w="9525">
            <a:solidFill>
              <a:schemeClr val="tx1"/>
            </a:solidFill>
            <a:round/>
            <a:headEnd/>
            <a:tailEnd/>
          </a:ln>
        </p:spPr>
        <p:txBody>
          <a:bodyPr/>
          <a:lstStyle/>
          <a:p>
            <a:endParaRPr lang="en-US"/>
          </a:p>
        </p:txBody>
      </p:sp>
      <p:sp>
        <p:nvSpPr>
          <p:cNvPr id="14341" name="TextBox 4"/>
          <p:cNvSpPr txBox="1">
            <a:spLocks noChangeArrowheads="1"/>
          </p:cNvSpPr>
          <p:nvPr/>
        </p:nvSpPr>
        <p:spPr bwMode="auto">
          <a:xfrm>
            <a:off x="2057400" y="6273800"/>
            <a:ext cx="7924800" cy="584200"/>
          </a:xfrm>
          <a:prstGeom prst="rect">
            <a:avLst/>
          </a:prstGeom>
          <a:noFill/>
          <a:ln w="9525">
            <a:noFill/>
            <a:miter lim="800000"/>
            <a:headEnd/>
            <a:tailEnd/>
          </a:ln>
        </p:spPr>
        <p:txBody>
          <a:bodyPr>
            <a:spAutoFit/>
          </a:bodyPr>
          <a:lstStyle/>
          <a:p>
            <a:pPr eaLnBrk="0" hangingPunct="0"/>
            <a:r>
              <a:rPr lang="en-US" sz="3200" dirty="0">
                <a:solidFill>
                  <a:srgbClr val="FF0000"/>
                </a:solidFill>
              </a:rPr>
              <a:t>Why isn’t water included in the </a:t>
            </a:r>
            <a:r>
              <a:rPr lang="en-US" sz="3200" i="1" dirty="0" err="1">
                <a:solidFill>
                  <a:srgbClr val="FF0000"/>
                </a:solidFill>
              </a:rPr>
              <a:t>K</a:t>
            </a:r>
            <a:r>
              <a:rPr lang="en-US" sz="3200" i="1" baseline="-25000" dirty="0" err="1">
                <a:solidFill>
                  <a:srgbClr val="FF0000"/>
                </a:solidFill>
              </a:rPr>
              <a:t>a</a:t>
            </a:r>
            <a:r>
              <a:rPr lang="en-US" sz="3200" dirty="0">
                <a:solidFill>
                  <a:srgbClr val="FF0000"/>
                </a:solidFill>
              </a:rPr>
              <a:t> expression?</a:t>
            </a:r>
          </a:p>
        </p:txBody>
      </p:sp>
    </p:spTree>
    <p:extLst>
      <p:ext uri="{BB962C8B-B14F-4D97-AF65-F5344CB8AC3E}">
        <p14:creationId xmlns:p14="http://schemas.microsoft.com/office/powerpoint/2010/main" val="30249024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914400" y="0"/>
            <a:ext cx="10363200" cy="838200"/>
          </a:xfrm>
        </p:spPr>
        <p:txBody>
          <a:bodyPr/>
          <a:lstStyle/>
          <a:p>
            <a:r>
              <a:rPr lang="en-US" sz="3600" b="1" u="sng" dirty="0">
                <a:solidFill>
                  <a:schemeClr val="tx1"/>
                </a:solidFill>
              </a:rPr>
              <a:t>Calculating pH of Weak Acid Solutions</a:t>
            </a:r>
            <a:endParaRPr lang="en-US" dirty="0">
              <a:solidFill>
                <a:schemeClr val="tx1"/>
              </a:solidFill>
            </a:endParaRPr>
          </a:p>
        </p:txBody>
      </p:sp>
      <p:sp>
        <p:nvSpPr>
          <p:cNvPr id="2" name="Content Placeholder 1"/>
          <p:cNvSpPr>
            <a:spLocks noGrp="1"/>
          </p:cNvSpPr>
          <p:nvPr>
            <p:ph idx="1"/>
          </p:nvPr>
        </p:nvSpPr>
        <p:spPr>
          <a:xfrm>
            <a:off x="457200" y="838200"/>
            <a:ext cx="11506200" cy="5715000"/>
          </a:xfrm>
        </p:spPr>
        <p:txBody>
          <a:bodyPr/>
          <a:lstStyle/>
          <a:p>
            <a:pPr marL="0" indent="0">
              <a:buNone/>
            </a:pPr>
            <a:r>
              <a:rPr lang="en-US" dirty="0"/>
              <a:t>Calculating pH of weak acids involves setting up an equilibrium.  Weak acids have </a:t>
            </a:r>
            <a:r>
              <a:rPr lang="en-US" sz="2400" dirty="0">
                <a:solidFill>
                  <a:srgbClr val="FF0000"/>
                </a:solidFill>
              </a:rPr>
              <a:t>SMALL</a:t>
            </a:r>
            <a:r>
              <a:rPr lang="en-US" dirty="0"/>
              <a:t> K values, so an approximation for a small </a:t>
            </a:r>
            <a:r>
              <a:rPr lang="en-US" i="1" dirty="0"/>
              <a:t>a</a:t>
            </a:r>
            <a:r>
              <a:rPr lang="en-US" dirty="0"/>
              <a:t> can be used.</a:t>
            </a:r>
          </a:p>
          <a:p>
            <a:pPr marL="0" indent="0">
              <a:buNone/>
            </a:pPr>
            <a:r>
              <a:rPr lang="en-US" dirty="0"/>
              <a:t>Always solve by:</a:t>
            </a:r>
          </a:p>
          <a:p>
            <a:pPr marL="514350" indent="-514350">
              <a:buFont typeface="+mj-lt"/>
              <a:buAutoNum type="arabicPeriod"/>
            </a:pPr>
            <a:r>
              <a:rPr lang="en-US" sz="2800" dirty="0"/>
              <a:t>Writing the equation, </a:t>
            </a:r>
          </a:p>
          <a:p>
            <a:pPr marL="514350" indent="-514350">
              <a:buFont typeface="+mj-lt"/>
              <a:buAutoNum type="arabicPeriod"/>
            </a:pPr>
            <a:r>
              <a:rPr lang="en-US" sz="2800" dirty="0"/>
              <a:t>Setting up the acid equilibrium expression (</a:t>
            </a:r>
            <a:r>
              <a:rPr lang="en-US" sz="2800" i="1" dirty="0" err="1"/>
              <a:t>K</a:t>
            </a:r>
            <a:r>
              <a:rPr lang="en-US" sz="2800" i="1" baseline="-25000" dirty="0" err="1"/>
              <a:t>a</a:t>
            </a:r>
            <a:r>
              <a:rPr lang="en-US" sz="2800" dirty="0"/>
              <a:t>), </a:t>
            </a:r>
          </a:p>
          <a:p>
            <a:pPr marL="514350" indent="-514350">
              <a:buFont typeface="+mj-lt"/>
              <a:buAutoNum type="arabicPeriod"/>
            </a:pPr>
            <a:r>
              <a:rPr lang="en-US" sz="2800" dirty="0"/>
              <a:t>Defining initial concentrations, changes, and equilibrium concentrations in terms of </a:t>
            </a:r>
            <a:r>
              <a:rPr lang="en-US" sz="2800" i="1" dirty="0"/>
              <a:t>a</a:t>
            </a:r>
            <a:r>
              <a:rPr lang="en-US" sz="2800" dirty="0"/>
              <a:t>, </a:t>
            </a:r>
          </a:p>
          <a:p>
            <a:pPr marL="514350" indent="-514350">
              <a:buFont typeface="+mj-lt"/>
              <a:buAutoNum type="arabicPeriod"/>
            </a:pPr>
            <a:r>
              <a:rPr lang="en-US" sz="2800" dirty="0"/>
              <a:t>Substituting values and variables into the </a:t>
            </a:r>
            <a:r>
              <a:rPr lang="en-US" sz="2800" i="1" dirty="0"/>
              <a:t>K</a:t>
            </a:r>
            <a:r>
              <a:rPr lang="en-US" sz="2800" i="1" baseline="-25000" dirty="0"/>
              <a:t>a</a:t>
            </a:r>
            <a:r>
              <a:rPr lang="en-US" sz="2800" dirty="0"/>
              <a:t> expression and solving for </a:t>
            </a:r>
            <a:r>
              <a:rPr lang="en-US" sz="2800" i="1" dirty="0"/>
              <a:t>a</a:t>
            </a:r>
            <a:r>
              <a:rPr lang="en-US" sz="2800" dirty="0"/>
              <a:t>, and </a:t>
            </a:r>
          </a:p>
          <a:p>
            <a:pPr marL="514350" indent="-514350">
              <a:buFont typeface="+mj-lt"/>
              <a:buAutoNum type="arabicPeriod"/>
            </a:pPr>
            <a:r>
              <a:rPr lang="en-US" sz="2800" dirty="0"/>
              <a:t>Using the </a:t>
            </a:r>
            <a:r>
              <a:rPr lang="en-US" sz="2800" i="1" dirty="0"/>
              <a:t>a</a:t>
            </a:r>
            <a:r>
              <a:rPr lang="en-US" sz="2800" dirty="0"/>
              <a:t> value to find the pH of the acid solution</a:t>
            </a:r>
            <a:br>
              <a:rPr lang="en-US" sz="2800" dirty="0"/>
            </a:b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609600" y="0"/>
            <a:ext cx="11049000" cy="885825"/>
          </a:xfrm>
        </p:spPr>
        <p:txBody>
          <a:bodyPr/>
          <a:lstStyle/>
          <a:p>
            <a:pPr algn="l"/>
            <a:r>
              <a:rPr lang="en-US" sz="3200" b="1" dirty="0">
                <a:solidFill>
                  <a:schemeClr val="tx1"/>
                </a:solidFill>
              </a:rPr>
              <a:t>Practice: Calculate the pH of a 0.100 </a:t>
            </a:r>
            <a:r>
              <a:rPr lang="en-US" sz="3200" b="1" i="1" dirty="0">
                <a:solidFill>
                  <a:schemeClr val="tx1"/>
                </a:solidFill>
              </a:rPr>
              <a:t>M</a:t>
            </a:r>
            <a:r>
              <a:rPr lang="en-US" sz="3200" b="1" dirty="0">
                <a:solidFill>
                  <a:schemeClr val="tx1"/>
                </a:solidFill>
              </a:rPr>
              <a:t> solution of acetic acid. The </a:t>
            </a:r>
            <a:r>
              <a:rPr lang="en-US" sz="3200" b="1" i="1" dirty="0" err="1">
                <a:solidFill>
                  <a:schemeClr val="tx1"/>
                </a:solidFill>
              </a:rPr>
              <a:t>K</a:t>
            </a:r>
            <a:r>
              <a:rPr lang="en-US" sz="3200" b="1" i="1" baseline="-25000" dirty="0" err="1">
                <a:solidFill>
                  <a:schemeClr val="tx1"/>
                </a:solidFill>
              </a:rPr>
              <a:t>a</a:t>
            </a:r>
            <a:r>
              <a:rPr lang="en-US" sz="3200" b="1" baseline="-25000" dirty="0">
                <a:solidFill>
                  <a:schemeClr val="tx1"/>
                </a:solidFill>
              </a:rPr>
              <a:t> </a:t>
            </a:r>
            <a:r>
              <a:rPr lang="en-US" sz="3200" b="1" dirty="0">
                <a:solidFill>
                  <a:schemeClr val="tx1"/>
                </a:solidFill>
              </a:rPr>
              <a:t>of acetic acid is 1.8 </a:t>
            </a:r>
            <a:r>
              <a:rPr lang="en-US" sz="3200" b="1" dirty="0">
                <a:solidFill>
                  <a:schemeClr val="tx1"/>
                </a:solidFill>
                <a:cs typeface="Times New Roman" pitchFamily="18" charset="0"/>
              </a:rPr>
              <a:t>×</a:t>
            </a:r>
            <a:r>
              <a:rPr lang="en-US" sz="3200" b="1" dirty="0">
                <a:solidFill>
                  <a:schemeClr val="tx1"/>
                </a:solidFill>
              </a:rPr>
              <a:t> 10</a:t>
            </a:r>
            <a:r>
              <a:rPr lang="en-US" sz="3200" b="1" baseline="30000" dirty="0">
                <a:solidFill>
                  <a:schemeClr val="tx1"/>
                </a:solidFill>
                <a:sym typeface="Symbol" pitchFamily="18" charset="2"/>
              </a:rPr>
              <a:t></a:t>
            </a:r>
            <a:r>
              <a:rPr lang="en-US" sz="3200" b="1" baseline="30000" dirty="0">
                <a:solidFill>
                  <a:schemeClr val="tx1"/>
                </a:solidFill>
              </a:rPr>
              <a:t>5</a:t>
            </a:r>
            <a:r>
              <a:rPr lang="en-US" sz="3200" b="1" dirty="0">
                <a:solidFill>
                  <a:schemeClr val="tx1"/>
                </a:solidFill>
              </a:rPr>
              <a:t>.</a:t>
            </a:r>
            <a:endParaRPr lang="en-US" sz="3200" dirty="0">
              <a:solidFill>
                <a:schemeClr val="tx1"/>
              </a:solidFill>
            </a:endParaRPr>
          </a:p>
        </p:txBody>
      </p:sp>
      <p:sp>
        <p:nvSpPr>
          <p:cNvPr id="2" name="Content Placeholder 1"/>
          <p:cNvSpPr>
            <a:spLocks noGrp="1"/>
          </p:cNvSpPr>
          <p:nvPr>
            <p:ph idx="1"/>
          </p:nvPr>
        </p:nvSpPr>
        <p:spPr>
          <a:xfrm>
            <a:off x="914400" y="1066800"/>
            <a:ext cx="10363200" cy="5029200"/>
          </a:xfrm>
        </p:spPr>
        <p:txBody>
          <a:bodyPr/>
          <a:lstStyle/>
          <a:p>
            <a:endParaRPr lang="en-US" baseline="30000" dirty="0">
              <a:sym typeface="Symbol"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9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938" grpId="0"/>
    </p:bld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8915" name="Rectangle 3"/>
          <p:cNvSpPr>
            <a:spLocks noGrp="1" noChangeArrowheads="1"/>
          </p:cNvSpPr>
          <p:nvPr>
            <p:ph type="body" idx="1"/>
          </p:nvPr>
        </p:nvSpPr>
        <p:spPr>
          <a:xfrm>
            <a:off x="2133600" y="457200"/>
            <a:ext cx="8534400" cy="4114800"/>
          </a:xfrm>
        </p:spPr>
        <p:txBody>
          <a:bodyPr/>
          <a:lstStyle/>
          <a:p>
            <a:pPr>
              <a:lnSpc>
                <a:spcPct val="80000"/>
              </a:lnSpc>
              <a:buFontTx/>
              <a:buNone/>
            </a:pPr>
            <a:r>
              <a:rPr lang="en-US" sz="2800" b="1" dirty="0">
                <a:solidFill>
                  <a:srgbClr val="CC0000"/>
                </a:solidFill>
              </a:rPr>
              <a:t>R</a:t>
            </a:r>
            <a:r>
              <a:rPr lang="en-US" sz="2800" dirty="0">
                <a:solidFill>
                  <a:srgbClr val="CC0000"/>
                </a:solidFill>
              </a:rPr>
              <a:t>eaction         HC</a:t>
            </a:r>
            <a:r>
              <a:rPr lang="en-US" sz="2800" baseline="-25000" dirty="0">
                <a:solidFill>
                  <a:srgbClr val="CC0000"/>
                </a:solidFill>
              </a:rPr>
              <a:t>2</a:t>
            </a:r>
            <a:r>
              <a:rPr lang="en-US" sz="2800" dirty="0">
                <a:solidFill>
                  <a:srgbClr val="CC0000"/>
                </a:solidFill>
              </a:rPr>
              <a:t>H</a:t>
            </a:r>
            <a:r>
              <a:rPr lang="en-US" sz="2800" baseline="-25000" dirty="0">
                <a:solidFill>
                  <a:srgbClr val="CC0000"/>
                </a:solidFill>
              </a:rPr>
              <a:t>3</a:t>
            </a:r>
            <a:r>
              <a:rPr lang="en-US" sz="2800" dirty="0">
                <a:solidFill>
                  <a:srgbClr val="CC0000"/>
                </a:solidFill>
              </a:rPr>
              <a:t>O</a:t>
            </a:r>
            <a:r>
              <a:rPr lang="en-US" sz="2800" baseline="-25000" dirty="0">
                <a:solidFill>
                  <a:srgbClr val="CC0000"/>
                </a:solidFill>
              </a:rPr>
              <a:t>2</a:t>
            </a:r>
            <a:r>
              <a:rPr lang="en-US" sz="2800" dirty="0">
                <a:solidFill>
                  <a:srgbClr val="CC0000"/>
                </a:solidFill>
              </a:rPr>
              <a:t>       </a:t>
            </a:r>
            <a:r>
              <a:rPr lang="en-US" sz="2800" dirty="0">
                <a:solidFill>
                  <a:srgbClr val="CC0000"/>
                </a:solidFill>
                <a:sym typeface="Wingdings 3" pitchFamily="18" charset="2"/>
              </a:rPr>
              <a:t></a:t>
            </a:r>
            <a:r>
              <a:rPr lang="en-US" sz="2800" dirty="0">
                <a:solidFill>
                  <a:srgbClr val="CC0000"/>
                </a:solidFill>
              </a:rPr>
              <a:t>   H</a:t>
            </a:r>
            <a:r>
              <a:rPr lang="en-US" sz="2800" baseline="30000" dirty="0">
                <a:solidFill>
                  <a:srgbClr val="CC0000"/>
                </a:solidFill>
              </a:rPr>
              <a:t>+</a:t>
            </a:r>
            <a:r>
              <a:rPr lang="en-US" sz="2800" dirty="0">
                <a:solidFill>
                  <a:srgbClr val="CC0000"/>
                </a:solidFill>
              </a:rPr>
              <a:t>     +   C</a:t>
            </a:r>
            <a:r>
              <a:rPr lang="en-US" sz="2800" baseline="-25000" dirty="0">
                <a:solidFill>
                  <a:srgbClr val="CC0000"/>
                </a:solidFill>
              </a:rPr>
              <a:t>2</a:t>
            </a:r>
            <a:r>
              <a:rPr lang="en-US" sz="2800" dirty="0">
                <a:solidFill>
                  <a:srgbClr val="CC0000"/>
                </a:solidFill>
              </a:rPr>
              <a:t>H</a:t>
            </a:r>
            <a:r>
              <a:rPr lang="en-US" sz="2800" baseline="-25000" dirty="0">
                <a:solidFill>
                  <a:srgbClr val="CC0000"/>
                </a:solidFill>
              </a:rPr>
              <a:t>3</a:t>
            </a:r>
            <a:r>
              <a:rPr lang="en-US" sz="2800" dirty="0">
                <a:solidFill>
                  <a:srgbClr val="CC0000"/>
                </a:solidFill>
              </a:rPr>
              <a:t>O</a:t>
            </a:r>
            <a:r>
              <a:rPr lang="en-US" sz="2800" baseline="-25000" dirty="0">
                <a:solidFill>
                  <a:srgbClr val="CC0000"/>
                </a:solidFill>
              </a:rPr>
              <a:t>2</a:t>
            </a:r>
            <a:r>
              <a:rPr lang="en-US" sz="2800" baseline="30000" dirty="0">
                <a:solidFill>
                  <a:srgbClr val="CC0000"/>
                </a:solidFill>
                <a:sym typeface="Symbol" pitchFamily="18" charset="2"/>
              </a:rPr>
              <a:t></a:t>
            </a:r>
            <a:endParaRPr lang="en-US" sz="2800" baseline="30000" dirty="0">
              <a:solidFill>
                <a:srgbClr val="CC0000"/>
              </a:solidFill>
            </a:endParaRPr>
          </a:p>
          <a:p>
            <a:pPr>
              <a:lnSpc>
                <a:spcPct val="80000"/>
              </a:lnSpc>
              <a:buFontTx/>
              <a:buNone/>
            </a:pPr>
            <a:r>
              <a:rPr lang="en-US" sz="2800" b="1" dirty="0">
                <a:solidFill>
                  <a:srgbClr val="CC0000"/>
                </a:solidFill>
              </a:rPr>
              <a:t>I</a:t>
            </a:r>
            <a:r>
              <a:rPr lang="en-US" sz="2800" dirty="0">
                <a:solidFill>
                  <a:srgbClr val="CC0000"/>
                </a:solidFill>
              </a:rPr>
              <a:t>nitial  </a:t>
            </a:r>
            <a:r>
              <a:rPr lang="en-US" sz="2800" dirty="0"/>
              <a:t>          0.100                       0              0</a:t>
            </a:r>
          </a:p>
          <a:p>
            <a:pPr>
              <a:lnSpc>
                <a:spcPct val="80000"/>
              </a:lnSpc>
              <a:buFontTx/>
              <a:buNone/>
            </a:pPr>
            <a:r>
              <a:rPr lang="en-US" sz="2800" b="1" dirty="0">
                <a:solidFill>
                  <a:srgbClr val="CC0000"/>
                </a:solidFill>
              </a:rPr>
              <a:t>C</a:t>
            </a:r>
            <a:r>
              <a:rPr lang="en-US" sz="2800" dirty="0">
                <a:solidFill>
                  <a:srgbClr val="CC0000"/>
                </a:solidFill>
              </a:rPr>
              <a:t>hange </a:t>
            </a:r>
            <a:r>
              <a:rPr lang="en-US" sz="2800" dirty="0"/>
              <a:t>             -</a:t>
            </a:r>
            <a:r>
              <a:rPr lang="en-US" sz="2800" i="1" dirty="0"/>
              <a:t>x</a:t>
            </a:r>
            <a:r>
              <a:rPr lang="en-US" sz="2800" dirty="0"/>
              <a:t>                      +</a:t>
            </a:r>
            <a:r>
              <a:rPr lang="en-US" sz="2800" i="1" dirty="0"/>
              <a:t>x</a:t>
            </a:r>
            <a:r>
              <a:rPr lang="en-US" sz="2800" dirty="0"/>
              <a:t>             +</a:t>
            </a:r>
            <a:r>
              <a:rPr lang="en-US" sz="2800" i="1" dirty="0"/>
              <a:t>x</a:t>
            </a:r>
          </a:p>
          <a:p>
            <a:pPr>
              <a:lnSpc>
                <a:spcPct val="80000"/>
              </a:lnSpc>
              <a:buFontTx/>
              <a:buNone/>
            </a:pPr>
            <a:r>
              <a:rPr lang="en-US" sz="2800" b="1" dirty="0">
                <a:solidFill>
                  <a:srgbClr val="CC0000"/>
                </a:solidFill>
              </a:rPr>
              <a:t>E</a:t>
            </a:r>
            <a:r>
              <a:rPr lang="en-US" sz="2800" dirty="0">
                <a:solidFill>
                  <a:srgbClr val="CC0000"/>
                </a:solidFill>
              </a:rPr>
              <a:t>quilibrium   </a:t>
            </a:r>
            <a:r>
              <a:rPr lang="en-US" sz="2800" dirty="0"/>
              <a:t>0.100- </a:t>
            </a:r>
            <a:r>
              <a:rPr lang="en-US" sz="2800" i="1" dirty="0"/>
              <a:t>x</a:t>
            </a:r>
            <a:r>
              <a:rPr lang="en-US" sz="2800" dirty="0"/>
              <a:t>                  </a:t>
            </a:r>
            <a:r>
              <a:rPr lang="en-US" sz="2800" i="1" dirty="0" err="1"/>
              <a:t>x</a:t>
            </a:r>
            <a:r>
              <a:rPr lang="en-US" sz="2800" dirty="0"/>
              <a:t>               </a:t>
            </a:r>
            <a:r>
              <a:rPr lang="en-US" sz="2800" i="1" dirty="0" err="1"/>
              <a:t>x</a:t>
            </a:r>
            <a:endParaRPr lang="en-US" sz="2800" i="1" dirty="0"/>
          </a:p>
          <a:p>
            <a:pPr>
              <a:lnSpc>
                <a:spcPct val="80000"/>
              </a:lnSpc>
              <a:buFontTx/>
              <a:buNone/>
            </a:pPr>
            <a:r>
              <a:rPr lang="en-US" sz="1200" dirty="0"/>
              <a:t>                                                                       </a:t>
            </a:r>
          </a:p>
          <a:p>
            <a:pPr>
              <a:lnSpc>
                <a:spcPct val="80000"/>
              </a:lnSpc>
              <a:buFontTx/>
              <a:buNone/>
            </a:pPr>
            <a:endParaRPr lang="en-US" sz="1200" dirty="0"/>
          </a:p>
          <a:p>
            <a:pPr>
              <a:lnSpc>
                <a:spcPct val="80000"/>
              </a:lnSpc>
              <a:buFontTx/>
              <a:buNone/>
            </a:pPr>
            <a:endParaRPr lang="en-US" sz="1200" dirty="0"/>
          </a:p>
          <a:p>
            <a:pPr>
              <a:lnSpc>
                <a:spcPct val="80000"/>
              </a:lnSpc>
              <a:buFontTx/>
              <a:buNone/>
            </a:pPr>
            <a:endParaRPr lang="en-US" sz="1200" dirty="0"/>
          </a:p>
          <a:p>
            <a:pPr>
              <a:lnSpc>
                <a:spcPct val="80000"/>
              </a:lnSpc>
              <a:buFontTx/>
              <a:buNone/>
            </a:pPr>
            <a:endParaRPr lang="en-US" sz="1200" dirty="0"/>
          </a:p>
          <a:p>
            <a:pPr>
              <a:lnSpc>
                <a:spcPct val="80000"/>
              </a:lnSpc>
              <a:buFontTx/>
              <a:buNone/>
            </a:pPr>
            <a:endParaRPr lang="en-US" sz="1200" dirty="0"/>
          </a:p>
          <a:p>
            <a:pPr>
              <a:lnSpc>
                <a:spcPct val="80000"/>
              </a:lnSpc>
              <a:buFontTx/>
              <a:buNone/>
            </a:pPr>
            <a:r>
              <a:rPr lang="en-US" sz="2400" dirty="0"/>
              <a:t>                                                  </a:t>
            </a:r>
          </a:p>
          <a:p>
            <a:pPr>
              <a:lnSpc>
                <a:spcPct val="80000"/>
              </a:lnSpc>
              <a:buFontTx/>
              <a:buNone/>
            </a:pPr>
            <a:endParaRPr lang="en-US" sz="2400" dirty="0"/>
          </a:p>
          <a:p>
            <a:pPr>
              <a:lnSpc>
                <a:spcPct val="80000"/>
              </a:lnSpc>
              <a:buFontTx/>
              <a:buNone/>
            </a:pPr>
            <a:r>
              <a:rPr lang="en-US" sz="2400" dirty="0"/>
              <a:t>                                                   </a:t>
            </a:r>
            <a:r>
              <a:rPr lang="en-US" sz="2800" dirty="0"/>
              <a:t>Often, the -</a:t>
            </a:r>
            <a:r>
              <a:rPr lang="en-US" sz="2800" i="1" dirty="0"/>
              <a:t>x</a:t>
            </a:r>
            <a:r>
              <a:rPr lang="en-US" sz="2800" dirty="0"/>
              <a:t> in a </a:t>
            </a:r>
            <a:r>
              <a:rPr lang="en-US" sz="2800" i="1" dirty="0" err="1"/>
              <a:t>K</a:t>
            </a:r>
            <a:r>
              <a:rPr lang="en-US" sz="2800" i="1" baseline="-25000" dirty="0" err="1"/>
              <a:t>a</a:t>
            </a:r>
            <a:r>
              <a:rPr lang="en-US" sz="2800" dirty="0"/>
              <a:t> expression</a:t>
            </a:r>
          </a:p>
          <a:p>
            <a:pPr>
              <a:lnSpc>
                <a:spcPct val="80000"/>
              </a:lnSpc>
              <a:buFontTx/>
              <a:buNone/>
            </a:pPr>
            <a:r>
              <a:rPr lang="en-US" sz="2800" dirty="0"/>
              <a:t>                                           can be treated as negligible.</a:t>
            </a:r>
            <a:br>
              <a:rPr lang="en-US" sz="2800" dirty="0"/>
            </a:br>
            <a:endParaRPr lang="en-US" sz="2800" dirty="0"/>
          </a:p>
          <a:p>
            <a:pPr>
              <a:lnSpc>
                <a:spcPct val="80000"/>
              </a:lnSpc>
              <a:buFontTx/>
              <a:buNone/>
            </a:pPr>
            <a:r>
              <a:rPr lang="en-US" sz="2800" dirty="0"/>
              <a:t>                      </a:t>
            </a:r>
          </a:p>
          <a:p>
            <a:pPr>
              <a:lnSpc>
                <a:spcPct val="80000"/>
              </a:lnSpc>
              <a:buFontTx/>
              <a:buNone/>
            </a:pPr>
            <a:r>
              <a:rPr lang="en-US" sz="2800" i="1" dirty="0"/>
              <a:t> x</a:t>
            </a:r>
            <a:r>
              <a:rPr lang="en-US" sz="2800" dirty="0"/>
              <a:t> = 1.34 </a:t>
            </a:r>
            <a:r>
              <a:rPr lang="en-US" sz="2800" dirty="0">
                <a:cs typeface="Times New Roman" pitchFamily="18" charset="0"/>
              </a:rPr>
              <a:t>×</a:t>
            </a:r>
            <a:r>
              <a:rPr lang="en-US" sz="2800" dirty="0"/>
              <a:t> 10</a:t>
            </a:r>
            <a:r>
              <a:rPr lang="en-US" sz="2800" baseline="30000" dirty="0">
                <a:sym typeface="Symbol" pitchFamily="18" charset="2"/>
              </a:rPr>
              <a:t></a:t>
            </a:r>
            <a:r>
              <a:rPr lang="en-US" sz="2800" baseline="30000" dirty="0"/>
              <a:t>3</a:t>
            </a:r>
            <a:br>
              <a:rPr lang="en-US" sz="2800" dirty="0"/>
            </a:br>
            <a:r>
              <a:rPr lang="en-US" sz="2800" dirty="0"/>
              <a:t>              </a:t>
            </a:r>
            <a:br>
              <a:rPr lang="en-US" sz="2800" dirty="0"/>
            </a:br>
            <a:br>
              <a:rPr lang="en-US" sz="2800" dirty="0"/>
            </a:br>
            <a:endParaRPr lang="en-US" sz="2800" dirty="0"/>
          </a:p>
        </p:txBody>
      </p:sp>
      <p:sp>
        <p:nvSpPr>
          <p:cNvPr id="40964" name="Rectangle 4"/>
          <p:cNvSpPr>
            <a:spLocks noChangeArrowheads="1"/>
          </p:cNvSpPr>
          <p:nvPr/>
        </p:nvSpPr>
        <p:spPr bwMode="auto">
          <a:xfrm>
            <a:off x="2133600" y="381000"/>
            <a:ext cx="7772400" cy="1981200"/>
          </a:xfrm>
          <a:prstGeom prst="rect">
            <a:avLst/>
          </a:prstGeom>
          <a:noFill/>
          <a:ln w="9525">
            <a:solidFill>
              <a:schemeClr val="tx1"/>
            </a:solidFill>
            <a:miter lim="800000"/>
            <a:headEnd/>
            <a:tailEnd/>
          </a:ln>
        </p:spPr>
        <p:txBody>
          <a:bodyPr wrap="none" anchor="ctr"/>
          <a:lstStyle/>
          <a:p>
            <a:pPr eaLnBrk="0" hangingPunct="0"/>
            <a:endParaRPr lang="en-US"/>
          </a:p>
        </p:txBody>
      </p:sp>
      <p:graphicFrame>
        <p:nvGraphicFramePr>
          <p:cNvPr id="7" name="Object 7"/>
          <p:cNvGraphicFramePr>
            <a:graphicFrameLocks noChangeAspect="1"/>
          </p:cNvGraphicFramePr>
          <p:nvPr/>
        </p:nvGraphicFramePr>
        <p:xfrm>
          <a:off x="2362201" y="3768726"/>
          <a:ext cx="3090863" cy="919163"/>
        </p:xfrm>
        <a:graphic>
          <a:graphicData uri="http://schemas.openxmlformats.org/presentationml/2006/ole">
            <mc:AlternateContent xmlns:mc="http://schemas.openxmlformats.org/markup-compatibility/2006">
              <mc:Choice xmlns:v="urn:schemas-microsoft-com:vml" Requires="v">
                <p:oleObj spid="_x0000_s2282" name="Equation" r:id="rId4" imgW="1409400" imgH="419040" progId="Equation.3">
                  <p:embed/>
                </p:oleObj>
              </mc:Choice>
              <mc:Fallback>
                <p:oleObj name="Equation" r:id="rId4" imgW="1409400" imgH="419040" progId="Equation.3">
                  <p:embed/>
                  <p:pic>
                    <p:nvPicPr>
                      <p:cNvPr id="0"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1" y="3768726"/>
                        <a:ext cx="3090863" cy="9191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0968" name="Object 8"/>
          <p:cNvGraphicFramePr>
            <a:graphicFrameLocks noChangeAspect="1"/>
          </p:cNvGraphicFramePr>
          <p:nvPr/>
        </p:nvGraphicFramePr>
        <p:xfrm>
          <a:off x="2514600" y="4648201"/>
          <a:ext cx="2617788" cy="919163"/>
        </p:xfrm>
        <a:graphic>
          <a:graphicData uri="http://schemas.openxmlformats.org/presentationml/2006/ole">
            <mc:AlternateContent xmlns:mc="http://schemas.openxmlformats.org/markup-compatibility/2006">
              <mc:Choice xmlns:v="urn:schemas-microsoft-com:vml" Requires="v">
                <p:oleObj spid="_x0000_s2283" name="Equation" r:id="rId6" imgW="1193760" imgH="419040" progId="Equation.3">
                  <p:embed/>
                </p:oleObj>
              </mc:Choice>
              <mc:Fallback>
                <p:oleObj name="Equation" r:id="rId6" imgW="1193760" imgH="419040" progId="Equation.3">
                  <p:embed/>
                  <p:pic>
                    <p:nvPicPr>
                      <p:cNvPr id="0"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14600" y="4648201"/>
                        <a:ext cx="2617788" cy="9191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TextBox 8"/>
          <p:cNvSpPr txBox="1">
            <a:spLocks noChangeArrowheads="1"/>
          </p:cNvSpPr>
          <p:nvPr/>
        </p:nvSpPr>
        <p:spPr bwMode="auto">
          <a:xfrm>
            <a:off x="1752600" y="6334126"/>
            <a:ext cx="8458200" cy="523875"/>
          </a:xfrm>
          <a:prstGeom prst="rect">
            <a:avLst/>
          </a:prstGeom>
          <a:noFill/>
          <a:ln w="9525">
            <a:noFill/>
            <a:miter lim="800000"/>
            <a:headEnd/>
            <a:tailEnd/>
          </a:ln>
        </p:spPr>
        <p:txBody>
          <a:bodyPr>
            <a:spAutoFit/>
          </a:bodyPr>
          <a:lstStyle/>
          <a:p>
            <a:pPr eaLnBrk="0" hangingPunct="0"/>
            <a:r>
              <a:rPr lang="en-US" sz="2800" dirty="0">
                <a:latin typeface="Segoe UI Semibold" pitchFamily="34" charset="0"/>
              </a:rPr>
              <a:t>Remember the 5% rule? Was the x negligible?</a:t>
            </a:r>
          </a:p>
        </p:txBody>
      </p:sp>
      <p:graphicFrame>
        <p:nvGraphicFramePr>
          <p:cNvPr id="40969" name="Object 9"/>
          <p:cNvGraphicFramePr>
            <a:graphicFrameLocks noChangeAspect="1"/>
          </p:cNvGraphicFramePr>
          <p:nvPr>
            <p:extLst>
              <p:ext uri="{D42A27DB-BD31-4B8C-83A1-F6EECF244321}">
                <p14:modId xmlns:p14="http://schemas.microsoft.com/office/powerpoint/2010/main" val="577892855"/>
              </p:ext>
            </p:extLst>
          </p:nvPr>
        </p:nvGraphicFramePr>
        <p:xfrm>
          <a:off x="6294437" y="2724944"/>
          <a:ext cx="3621088" cy="1503363"/>
        </p:xfrm>
        <a:graphic>
          <a:graphicData uri="http://schemas.openxmlformats.org/presentationml/2006/ole">
            <mc:AlternateContent xmlns:mc="http://schemas.openxmlformats.org/markup-compatibility/2006">
              <mc:Choice xmlns:v="urn:schemas-microsoft-com:vml" Requires="v">
                <p:oleObj spid="_x0000_s2284" name="Equation" r:id="rId8" imgW="1650960" imgH="685800" progId="Equation.3">
                  <p:embed/>
                </p:oleObj>
              </mc:Choice>
              <mc:Fallback>
                <p:oleObj name="Equation" r:id="rId8" imgW="1650960" imgH="685800" progId="Equation.3">
                  <p:embed/>
                  <p:pic>
                    <p:nvPicPr>
                      <p:cNvPr id="0" name="Object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294437" y="2724944"/>
                        <a:ext cx="3621088" cy="1503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 name="Object 9"/>
          <p:cNvGraphicFramePr>
            <a:graphicFrameLocks noChangeAspect="1"/>
          </p:cNvGraphicFramePr>
          <p:nvPr>
            <p:extLst>
              <p:ext uri="{D42A27DB-BD31-4B8C-83A1-F6EECF244321}">
                <p14:modId xmlns:p14="http://schemas.microsoft.com/office/powerpoint/2010/main" val="2449857610"/>
              </p:ext>
            </p:extLst>
          </p:nvPr>
        </p:nvGraphicFramePr>
        <p:xfrm>
          <a:off x="1576389" y="2666244"/>
          <a:ext cx="3876675" cy="925436"/>
        </p:xfrm>
        <a:graphic>
          <a:graphicData uri="http://schemas.openxmlformats.org/presentationml/2006/ole">
            <mc:AlternateContent xmlns:mc="http://schemas.openxmlformats.org/markup-compatibility/2006">
              <mc:Choice xmlns:v="urn:schemas-microsoft-com:vml" Requires="v">
                <p:oleObj spid="_x0000_s2285" name="Equation" r:id="rId10" imgW="1968480" imgH="469800" progId="Equation.3">
                  <p:embed/>
                </p:oleObj>
              </mc:Choice>
              <mc:Fallback>
                <p:oleObj name="Equation" r:id="rId10" imgW="1968480" imgH="469800" progId="Equation.3">
                  <p:embed/>
                  <p:pic>
                    <p:nvPicPr>
                      <p:cNvPr id="7" name="Object 6"/>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576389" y="2666244"/>
                        <a:ext cx="3876675" cy="925436"/>
                      </a:xfrm>
                      <a:prstGeom prst="rect">
                        <a:avLst/>
                      </a:prstGeom>
                      <a:noFill/>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96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891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3891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3891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096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38915">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499"/>
                                          </p:stCondLst>
                                        </p:cTn>
                                        <p:tgtEl>
                                          <p:spTgt spid="38915">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499"/>
                                          </p:stCondLst>
                                        </p:cTn>
                                        <p:tgtEl>
                                          <p:spTgt spid="38915">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096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8915">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499"/>
                                          </p:stCondLst>
                                        </p:cTn>
                                        <p:tgtEl>
                                          <p:spTgt spid="38915">
                                            <p:txEl>
                                              <p:pRg st="15" end="1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4096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5" grpId="0" build="p" autoUpdateAnimBg="0"/>
      <p:bldP spid="40964" grpId="0" animBg="1"/>
      <p:bldP spid="9"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p:cNvSpPr>
            <a:spLocks noGrp="1"/>
          </p:cNvSpPr>
          <p:nvPr>
            <p:ph type="title"/>
          </p:nvPr>
        </p:nvSpPr>
        <p:spPr/>
        <p:txBody>
          <a:bodyPr/>
          <a:lstStyle/>
          <a:p>
            <a:r>
              <a:rPr lang="en-US" sz="3600"/>
              <a:t>The question asked for the pH.</a:t>
            </a:r>
          </a:p>
        </p:txBody>
      </p:sp>
      <p:sp>
        <p:nvSpPr>
          <p:cNvPr id="45059" name="Content Placeholder 2"/>
          <p:cNvSpPr>
            <a:spLocks noGrp="1"/>
          </p:cNvSpPr>
          <p:nvPr>
            <p:ph idx="1"/>
          </p:nvPr>
        </p:nvSpPr>
        <p:spPr/>
        <p:txBody>
          <a:bodyPr/>
          <a:lstStyle/>
          <a:p>
            <a:pPr>
              <a:buFontTx/>
              <a:buNone/>
            </a:pPr>
            <a:r>
              <a:rPr lang="en-US"/>
              <a:t>pH = </a:t>
            </a:r>
            <a:r>
              <a:rPr lang="en-US">
                <a:sym typeface="Symbol" pitchFamily="18" charset="2"/>
              </a:rPr>
              <a:t></a:t>
            </a:r>
            <a:r>
              <a:rPr lang="en-US"/>
              <a:t>log [H</a:t>
            </a:r>
            <a:r>
              <a:rPr lang="en-US" baseline="30000"/>
              <a:t>+</a:t>
            </a:r>
            <a:r>
              <a:rPr lang="en-US"/>
              <a:t>]</a:t>
            </a:r>
          </a:p>
          <a:p>
            <a:pPr>
              <a:buFontTx/>
              <a:buNone/>
            </a:pPr>
            <a:r>
              <a:rPr lang="en-US"/>
              <a:t>[H</a:t>
            </a:r>
            <a:r>
              <a:rPr lang="en-US" baseline="30000"/>
              <a:t>+</a:t>
            </a:r>
            <a:r>
              <a:rPr lang="en-US"/>
              <a:t>] = </a:t>
            </a:r>
            <a:r>
              <a:rPr lang="en-US" i="1"/>
              <a:t>x</a:t>
            </a:r>
            <a:r>
              <a:rPr lang="en-US"/>
              <a:t> = 1.34</a:t>
            </a:r>
            <a:r>
              <a:rPr lang="en-US">
                <a:cs typeface="Times New Roman" pitchFamily="18" charset="0"/>
              </a:rPr>
              <a:t>×</a:t>
            </a:r>
            <a:r>
              <a:rPr lang="en-US"/>
              <a:t>10</a:t>
            </a:r>
            <a:r>
              <a:rPr lang="en-US" baseline="30000">
                <a:sym typeface="Symbol" pitchFamily="18" charset="2"/>
              </a:rPr>
              <a:t></a:t>
            </a:r>
            <a:r>
              <a:rPr lang="en-US" baseline="30000"/>
              <a:t>3</a:t>
            </a:r>
            <a:endParaRPr lang="en-US"/>
          </a:p>
          <a:p>
            <a:pPr>
              <a:buFontTx/>
              <a:buNone/>
            </a:pPr>
            <a:r>
              <a:rPr lang="en-US"/>
              <a:t>pH = </a:t>
            </a:r>
            <a:r>
              <a:rPr lang="en-US">
                <a:sym typeface="Symbol" pitchFamily="18" charset="2"/>
              </a:rPr>
              <a:t>log</a:t>
            </a:r>
            <a:r>
              <a:rPr lang="en-US"/>
              <a:t> 1.34</a:t>
            </a:r>
            <a:r>
              <a:rPr lang="en-US">
                <a:cs typeface="Times New Roman" pitchFamily="18" charset="0"/>
              </a:rPr>
              <a:t>×</a:t>
            </a:r>
            <a:r>
              <a:rPr lang="en-US"/>
              <a:t>10</a:t>
            </a:r>
            <a:r>
              <a:rPr lang="en-US" baseline="30000">
                <a:sym typeface="Symbol" pitchFamily="18" charset="2"/>
              </a:rPr>
              <a:t></a:t>
            </a:r>
            <a:r>
              <a:rPr lang="en-US" baseline="30000"/>
              <a:t>3</a:t>
            </a:r>
          </a:p>
          <a:p>
            <a:pPr>
              <a:buFontTx/>
              <a:buNone/>
            </a:pPr>
            <a:r>
              <a:rPr lang="en-US">
                <a:solidFill>
                  <a:schemeClr val="accent2"/>
                </a:solidFill>
              </a:rPr>
              <a:t>pH = 2.87</a:t>
            </a:r>
          </a:p>
          <a:p>
            <a:pPr>
              <a:buFontTx/>
              <a:buNone/>
            </a:pPr>
            <a:r>
              <a:rPr lang="en-US"/>
              <a:t>The answer has two significant figures because the </a:t>
            </a:r>
            <a:r>
              <a:rPr lang="en-US" i="1"/>
              <a:t>K</a:t>
            </a:r>
            <a:r>
              <a:rPr lang="en-US" i="1" baseline="-25000"/>
              <a:t>a</a:t>
            </a:r>
            <a:r>
              <a:rPr lang="en-US"/>
              <a:t> had only two significant figures.  The answer is a reasonable pH for a solution of a weak acid.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ext Box 8"/>
          <p:cNvSpPr txBox="1">
            <a:spLocks noChangeArrowheads="1"/>
          </p:cNvSpPr>
          <p:nvPr/>
        </p:nvSpPr>
        <p:spPr bwMode="auto">
          <a:xfrm>
            <a:off x="990601" y="-66675"/>
            <a:ext cx="10286999" cy="1352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endParaRPr lang="en-US" altLang="en-US" dirty="0">
              <a:latin typeface="Times New Roman" pitchFamily="18" charset="0"/>
              <a:ea typeface="ＭＳ Ｐゴシック" pitchFamily="34" charset="-128"/>
            </a:endParaRPr>
          </a:p>
        </p:txBody>
      </p:sp>
      <p:sp>
        <p:nvSpPr>
          <p:cNvPr id="2" name="Title 1"/>
          <p:cNvSpPr>
            <a:spLocks noGrp="1"/>
          </p:cNvSpPr>
          <p:nvPr>
            <p:ph type="title"/>
          </p:nvPr>
        </p:nvSpPr>
        <p:spPr>
          <a:xfrm>
            <a:off x="952500" y="38099"/>
            <a:ext cx="10363200" cy="1028701"/>
          </a:xfrm>
        </p:spPr>
        <p:txBody>
          <a:bodyPr/>
          <a:lstStyle/>
          <a:p>
            <a:r>
              <a:rPr lang="en-US" sz="3200" dirty="0"/>
              <a:t>Given the initial concentration and pH of a weak acid solution, the </a:t>
            </a:r>
            <a:r>
              <a:rPr lang="en-US" sz="3200" i="1" dirty="0" err="1"/>
              <a:t>K</a:t>
            </a:r>
            <a:r>
              <a:rPr lang="en-US" sz="3200" i="1" baseline="-25000" dirty="0" err="1"/>
              <a:t>a</a:t>
            </a:r>
            <a:r>
              <a:rPr lang="en-US" sz="3200" i="1" dirty="0"/>
              <a:t> </a:t>
            </a:r>
            <a:r>
              <a:rPr lang="en-US" sz="3200" dirty="0"/>
              <a:t>can be calculated</a:t>
            </a:r>
          </a:p>
        </p:txBody>
      </p:sp>
      <p:sp>
        <p:nvSpPr>
          <p:cNvPr id="3" name="Content Placeholder 2"/>
          <p:cNvSpPr>
            <a:spLocks noGrp="1"/>
          </p:cNvSpPr>
          <p:nvPr>
            <p:ph idx="1"/>
          </p:nvPr>
        </p:nvSpPr>
        <p:spPr>
          <a:xfrm>
            <a:off x="914400" y="1285875"/>
            <a:ext cx="10363200" cy="4810125"/>
          </a:xfrm>
        </p:spPr>
        <p:txBody>
          <a:bodyPr/>
          <a:lstStyle/>
          <a:p>
            <a:pPr marL="0" indent="0">
              <a:buNone/>
            </a:pPr>
            <a:r>
              <a:rPr lang="en-US" altLang="en-US" sz="2800" dirty="0">
                <a:latin typeface="Times New Roman" pitchFamily="18" charset="0"/>
                <a:ea typeface="ＭＳ Ｐゴシック" pitchFamily="34" charset="-128"/>
              </a:rPr>
              <a:t>Practice: A 0.100 M weak acid (HA) solution has a pH of 4.25. Find </a:t>
            </a:r>
            <a:r>
              <a:rPr lang="en-US" altLang="en-US" sz="2800" i="1" dirty="0" err="1">
                <a:latin typeface="Times New Roman" pitchFamily="18" charset="0"/>
                <a:ea typeface="ＭＳ Ｐゴシック" pitchFamily="34" charset="-128"/>
              </a:rPr>
              <a:t>K</a:t>
            </a:r>
            <a:r>
              <a:rPr lang="en-US" altLang="en-US" sz="2800" baseline="-25000" dirty="0" err="1">
                <a:latin typeface="Times New Roman" pitchFamily="18" charset="0"/>
                <a:ea typeface="ＭＳ Ｐゴシック" pitchFamily="34" charset="-128"/>
              </a:rPr>
              <a:t>a</a:t>
            </a:r>
            <a:r>
              <a:rPr lang="en-US" altLang="en-US" sz="2800" dirty="0">
                <a:latin typeface="Times New Roman" pitchFamily="18" charset="0"/>
                <a:ea typeface="ＭＳ Ｐゴシック" pitchFamily="34" charset="-128"/>
              </a:rPr>
              <a:t> for the acid.</a:t>
            </a:r>
          </a:p>
          <a:p>
            <a:endParaRPr lang="en-US" dirty="0"/>
          </a:p>
        </p:txBody>
      </p:sp>
    </p:spTree>
    <p:extLst>
      <p:ext uri="{BB962C8B-B14F-4D97-AF65-F5344CB8AC3E}">
        <p14:creationId xmlns:p14="http://schemas.microsoft.com/office/powerpoint/2010/main" val="5273393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914400" y="0"/>
            <a:ext cx="10363200" cy="990600"/>
          </a:xfrm>
        </p:spPr>
        <p:txBody>
          <a:bodyPr/>
          <a:lstStyle/>
          <a:p>
            <a:r>
              <a:rPr lang="en-US" sz="3600" u="sng" dirty="0">
                <a:solidFill>
                  <a:schemeClr val="tx1"/>
                </a:solidFill>
              </a:rPr>
              <a:t>Determination of the Percent Dissociation </a:t>
            </a:r>
            <a:br>
              <a:rPr lang="en-US" sz="3600" u="sng" dirty="0">
                <a:solidFill>
                  <a:schemeClr val="tx1"/>
                </a:solidFill>
              </a:rPr>
            </a:br>
            <a:r>
              <a:rPr lang="en-US" sz="3600" u="sng" dirty="0">
                <a:solidFill>
                  <a:schemeClr val="tx1"/>
                </a:solidFill>
              </a:rPr>
              <a:t>(or Ionization) of a Weak Acid</a:t>
            </a:r>
            <a:endParaRPr lang="en-US" dirty="0">
              <a:solidFill>
                <a:schemeClr val="tx1"/>
              </a:solidFill>
            </a:endParaRPr>
          </a:p>
        </p:txBody>
      </p:sp>
      <p:sp>
        <p:nvSpPr>
          <p:cNvPr id="2" name="Content Placeholder 1"/>
          <p:cNvSpPr>
            <a:spLocks noGrp="1"/>
          </p:cNvSpPr>
          <p:nvPr>
            <p:ph idx="1"/>
          </p:nvPr>
        </p:nvSpPr>
        <p:spPr>
          <a:xfrm>
            <a:off x="609600" y="1219200"/>
            <a:ext cx="11201400" cy="4876800"/>
          </a:xfrm>
        </p:spPr>
        <p:txBody>
          <a:bodyPr/>
          <a:lstStyle/>
          <a:p>
            <a:r>
              <a:rPr lang="en-US" sz="2800" dirty="0"/>
              <a:t>Percent Dissociation of a weak acid can be used to calculate pH, and vice versa</a:t>
            </a:r>
          </a:p>
          <a:p>
            <a:r>
              <a:rPr lang="en-US" sz="2800" dirty="0"/>
              <a:t>% dissociation = </a:t>
            </a:r>
            <a:r>
              <a:rPr lang="en-US" sz="2800" u="sng" dirty="0"/>
              <a:t>amount dissociated (</a:t>
            </a:r>
            <a:r>
              <a:rPr lang="en-US" sz="2800" u="sng" dirty="0" err="1"/>
              <a:t>mol</a:t>
            </a:r>
            <a:r>
              <a:rPr lang="en-US" sz="2800" u="sng" dirty="0"/>
              <a:t>/L)</a:t>
            </a:r>
            <a:r>
              <a:rPr lang="en-US" sz="2800" dirty="0"/>
              <a:t>  	</a:t>
            </a:r>
            <a:r>
              <a:rPr lang="en-US" sz="2800" dirty="0">
                <a:cs typeface="Times New Roman" pitchFamily="18" charset="0"/>
              </a:rPr>
              <a:t>×</a:t>
            </a:r>
            <a:r>
              <a:rPr lang="en-US" sz="2800" dirty="0"/>
              <a:t>100                                                   	     		initial concentration (</a:t>
            </a:r>
            <a:r>
              <a:rPr lang="en-US" sz="2800" dirty="0" err="1"/>
              <a:t>mol</a:t>
            </a:r>
            <a:r>
              <a:rPr lang="en-US" sz="2800" dirty="0"/>
              <a:t>/L)</a:t>
            </a:r>
          </a:p>
          <a:p>
            <a:pPr marL="0" indent="0">
              <a:buNone/>
            </a:pPr>
            <a:r>
              <a:rPr lang="en-US" sz="900" dirty="0"/>
              <a:t> </a:t>
            </a:r>
            <a:br>
              <a:rPr lang="en-US" sz="2800" dirty="0"/>
            </a:br>
            <a:r>
              <a:rPr lang="en-US" sz="2800" dirty="0"/>
              <a:t>        = 	</a:t>
            </a:r>
            <a:r>
              <a:rPr lang="en-US" sz="2800" u="sng" dirty="0"/>
              <a:t>final [H</a:t>
            </a:r>
            <a:r>
              <a:rPr lang="en-US" sz="2800" u="sng" baseline="30000" dirty="0"/>
              <a:t>+</a:t>
            </a:r>
            <a:r>
              <a:rPr lang="en-US" sz="2800" dirty="0"/>
              <a:t>]   </a:t>
            </a:r>
            <a:r>
              <a:rPr lang="en-US" sz="2800" dirty="0">
                <a:cs typeface="Times New Roman" pitchFamily="18" charset="0"/>
              </a:rPr>
              <a:t>×</a:t>
            </a:r>
            <a:r>
              <a:rPr lang="en-US" sz="2800" dirty="0"/>
              <a:t>100</a:t>
            </a:r>
            <a:br>
              <a:rPr lang="en-US" sz="2800" dirty="0"/>
            </a:br>
            <a:r>
              <a:rPr lang="en-US" sz="2800" dirty="0"/>
              <a:t>		initial [HA]</a:t>
            </a:r>
            <a:br>
              <a:rPr lang="en-US" sz="2800" u="sng" dirty="0"/>
            </a:br>
            <a:r>
              <a:rPr lang="en-US" sz="2800" dirty="0"/>
              <a:t> </a:t>
            </a:r>
          </a:p>
          <a:p>
            <a:r>
              <a:rPr lang="en-US" sz="2800" dirty="0"/>
              <a:t>For a weak acid, percent dissociation  (or ionization) </a:t>
            </a:r>
            <a:r>
              <a:rPr lang="en-US" sz="2800" dirty="0">
                <a:solidFill>
                  <a:srgbClr val="FF0000"/>
                </a:solidFill>
              </a:rPr>
              <a:t>increases</a:t>
            </a:r>
            <a:r>
              <a:rPr lang="en-US" sz="2800" dirty="0"/>
              <a:t> as the acid becomes more dilute (</a:t>
            </a:r>
            <a:r>
              <a:rPr lang="en-US" sz="2800" dirty="0">
                <a:solidFill>
                  <a:srgbClr val="FF0000"/>
                </a:solidFill>
              </a:rPr>
              <a:t>lower</a:t>
            </a:r>
            <a:r>
              <a:rPr lang="en-US" sz="2800" dirty="0"/>
              <a:t> molarity).  Equilibrium shifts to the right for lower molarities.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11277600" cy="1143000"/>
          </a:xfrm>
        </p:spPr>
        <p:txBody>
          <a:bodyPr/>
          <a:lstStyle/>
          <a:p>
            <a:r>
              <a:rPr lang="en-US" sz="3200" dirty="0"/>
              <a:t>Practice: Calculate the percent dissociation of the </a:t>
            </a:r>
            <a:r>
              <a:rPr lang="en-US" altLang="en-US" sz="3200" dirty="0">
                <a:latin typeface="Times New Roman" pitchFamily="18" charset="0"/>
                <a:ea typeface="ＭＳ Ｐゴシック" pitchFamily="34" charset="-128"/>
              </a:rPr>
              <a:t>0.100 M weak acid (HA) solution with pH of 4.25 (from the last problem.)</a:t>
            </a:r>
            <a:endParaRPr lang="en-US" sz="3200"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6344776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6927"/>
            <a:ext cx="10363200" cy="526473"/>
          </a:xfrm>
        </p:spPr>
        <p:txBody>
          <a:bodyPr/>
          <a:lstStyle/>
          <a:p>
            <a:r>
              <a:rPr lang="en-US" sz="3600" dirty="0" err="1"/>
              <a:t>p</a:t>
            </a:r>
            <a:r>
              <a:rPr lang="en-US" sz="3600" i="1" dirty="0" err="1"/>
              <a:t>Ka</a:t>
            </a:r>
            <a:r>
              <a:rPr lang="en-US" sz="3600" dirty="0"/>
              <a:t> and </a:t>
            </a:r>
            <a:r>
              <a:rPr lang="en-US" sz="3600" dirty="0" err="1"/>
              <a:t>p</a:t>
            </a:r>
            <a:r>
              <a:rPr lang="en-US" sz="3600" i="1" dirty="0" err="1"/>
              <a:t>Kb</a:t>
            </a:r>
            <a:endParaRPr lang="en-US" sz="3600" i="1" dirty="0"/>
          </a:p>
        </p:txBody>
      </p:sp>
      <p:sp>
        <p:nvSpPr>
          <p:cNvPr id="3" name="Content Placeholder 2"/>
          <p:cNvSpPr>
            <a:spLocks noGrp="1"/>
          </p:cNvSpPr>
          <p:nvPr>
            <p:ph idx="1"/>
          </p:nvPr>
        </p:nvSpPr>
        <p:spPr>
          <a:xfrm>
            <a:off x="381000" y="609600"/>
            <a:ext cx="11582400" cy="6019800"/>
          </a:xfrm>
        </p:spPr>
        <p:txBody>
          <a:bodyPr/>
          <a:lstStyle/>
          <a:p>
            <a:r>
              <a:rPr lang="en-US" sz="2500" dirty="0"/>
              <a:t>Like pH and pOH, </a:t>
            </a:r>
            <a:r>
              <a:rPr lang="en-US" sz="2500" dirty="0" err="1"/>
              <a:t>pKa</a:t>
            </a:r>
            <a:r>
              <a:rPr lang="en-US" sz="2500" dirty="0"/>
              <a:t> and </a:t>
            </a:r>
            <a:r>
              <a:rPr lang="en-US" sz="2500" dirty="0" err="1"/>
              <a:t>pKb</a:t>
            </a:r>
            <a:r>
              <a:rPr lang="en-US" sz="2500" dirty="0"/>
              <a:t> express the values of Ka and Kb in a log function</a:t>
            </a:r>
          </a:p>
          <a:p>
            <a:pPr marL="0" indent="0">
              <a:buNone/>
            </a:pPr>
            <a:r>
              <a:rPr lang="en-US" sz="2500" dirty="0"/>
              <a:t>	where 	</a:t>
            </a:r>
            <a:r>
              <a:rPr lang="en-US" sz="2500" dirty="0" err="1"/>
              <a:t>pKa</a:t>
            </a:r>
            <a:r>
              <a:rPr lang="en-US" sz="2500" dirty="0"/>
              <a:t> = -log </a:t>
            </a:r>
            <a:r>
              <a:rPr lang="en-US" sz="2500" i="1" dirty="0" err="1"/>
              <a:t>Ka</a:t>
            </a:r>
            <a:r>
              <a:rPr lang="en-US" sz="2500" i="1" dirty="0"/>
              <a:t> </a:t>
            </a:r>
            <a:r>
              <a:rPr lang="en-US" sz="2500" dirty="0"/>
              <a:t> and </a:t>
            </a:r>
            <a:r>
              <a:rPr lang="en-US" sz="2500" i="1" dirty="0" err="1"/>
              <a:t>Ka</a:t>
            </a:r>
            <a:r>
              <a:rPr lang="en-US" sz="2500" dirty="0"/>
              <a:t> = 10</a:t>
            </a:r>
            <a:r>
              <a:rPr lang="en-US" sz="2500" baseline="30000" dirty="0"/>
              <a:t>-pKa</a:t>
            </a:r>
            <a:br>
              <a:rPr lang="en-US" sz="2500" dirty="0"/>
            </a:br>
            <a:r>
              <a:rPr lang="en-US" sz="2500" dirty="0"/>
              <a:t>	and 		</a:t>
            </a:r>
            <a:r>
              <a:rPr lang="en-US" sz="2500" dirty="0" err="1"/>
              <a:t>pKb</a:t>
            </a:r>
            <a:r>
              <a:rPr lang="en-US" sz="2500" dirty="0"/>
              <a:t> = -log </a:t>
            </a:r>
            <a:r>
              <a:rPr lang="en-US" sz="2500" i="1" dirty="0"/>
              <a:t>Kb </a:t>
            </a:r>
            <a:r>
              <a:rPr lang="en-US" sz="2500" dirty="0"/>
              <a:t>and </a:t>
            </a:r>
            <a:r>
              <a:rPr lang="en-US" sz="2500" i="1" dirty="0"/>
              <a:t>Kb</a:t>
            </a:r>
            <a:r>
              <a:rPr lang="en-US" sz="2500" dirty="0"/>
              <a:t> = 10</a:t>
            </a:r>
            <a:r>
              <a:rPr lang="en-US" sz="2500" baseline="30000" dirty="0"/>
              <a:t>-pKb</a:t>
            </a:r>
            <a:endParaRPr lang="en-US" sz="2500" i="1" dirty="0"/>
          </a:p>
          <a:p>
            <a:r>
              <a:rPr lang="en-US" sz="2500" dirty="0"/>
              <a:t> Also, an acid and it’s conjugate base show the following relationship:</a:t>
            </a:r>
          </a:p>
          <a:p>
            <a:r>
              <a:rPr lang="en-US" sz="2500" i="1" dirty="0"/>
              <a:t>		K</a:t>
            </a:r>
            <a:r>
              <a:rPr lang="en-US" sz="2500" i="1" baseline="-25000" dirty="0"/>
              <a:t>a</a:t>
            </a:r>
            <a:r>
              <a:rPr lang="en-US" sz="2500" dirty="0"/>
              <a:t> </a:t>
            </a:r>
            <a:r>
              <a:rPr lang="en-US" sz="2500" dirty="0">
                <a:cs typeface="Times New Roman" pitchFamily="18" charset="0"/>
              </a:rPr>
              <a:t>×</a:t>
            </a:r>
            <a:r>
              <a:rPr lang="en-US" sz="2500" dirty="0"/>
              <a:t> </a:t>
            </a:r>
            <a:r>
              <a:rPr lang="en-US" sz="2500" i="1" dirty="0"/>
              <a:t>K</a:t>
            </a:r>
            <a:r>
              <a:rPr lang="en-US" sz="2500" i="1" baseline="-25000" dirty="0"/>
              <a:t>b</a:t>
            </a:r>
            <a:r>
              <a:rPr lang="en-US" sz="2500" baseline="-25000" dirty="0"/>
              <a:t> </a:t>
            </a:r>
            <a:r>
              <a:rPr lang="en-US" sz="2500" dirty="0"/>
              <a:t>= </a:t>
            </a:r>
            <a:r>
              <a:rPr lang="en-US" sz="2500" i="1" dirty="0"/>
              <a:t>K</a:t>
            </a:r>
            <a:r>
              <a:rPr lang="en-US" sz="2500" i="1" baseline="-25000" dirty="0"/>
              <a:t>w		</a:t>
            </a:r>
            <a:r>
              <a:rPr lang="en-US" sz="2500" i="1" dirty="0" err="1"/>
              <a:t>pKa</a:t>
            </a:r>
            <a:r>
              <a:rPr lang="en-US" sz="2500" i="1" dirty="0"/>
              <a:t> + </a:t>
            </a:r>
            <a:r>
              <a:rPr lang="en-US" sz="2500" i="1" dirty="0" err="1"/>
              <a:t>pKb</a:t>
            </a:r>
            <a:r>
              <a:rPr lang="en-US" sz="2500" i="1" dirty="0"/>
              <a:t> </a:t>
            </a:r>
            <a:r>
              <a:rPr lang="en-US" sz="2500" dirty="0"/>
              <a:t>= 14 </a:t>
            </a:r>
          </a:p>
          <a:p>
            <a:r>
              <a:rPr lang="en-US" sz="2500" dirty="0"/>
              <a:t>The above relationship is also true for a base and it’s conjugate acid</a:t>
            </a:r>
          </a:p>
          <a:p>
            <a:pPr marL="0" indent="0">
              <a:buNone/>
            </a:pPr>
            <a:r>
              <a:rPr lang="en-US" sz="2500" dirty="0"/>
              <a:t>Find the </a:t>
            </a:r>
            <a:r>
              <a:rPr lang="en-US" sz="2500" dirty="0" err="1"/>
              <a:t>pKa</a:t>
            </a:r>
            <a:r>
              <a:rPr lang="en-US" sz="2500" dirty="0"/>
              <a:t> of acetic acid, HC</a:t>
            </a:r>
            <a:r>
              <a:rPr lang="en-US" sz="2500" baseline="-25000" dirty="0"/>
              <a:t>2</a:t>
            </a:r>
            <a:r>
              <a:rPr lang="en-US" sz="2500" dirty="0"/>
              <a:t>H</a:t>
            </a:r>
            <a:r>
              <a:rPr lang="en-US" sz="2500" baseline="-25000" dirty="0"/>
              <a:t>3</a:t>
            </a:r>
            <a:r>
              <a:rPr lang="en-US" sz="2500" dirty="0"/>
              <a:t>O</a:t>
            </a:r>
            <a:r>
              <a:rPr lang="en-US" sz="2500" baseline="-25000" dirty="0"/>
              <a:t>2</a:t>
            </a:r>
            <a:r>
              <a:rPr lang="en-US" sz="2500" dirty="0"/>
              <a:t>, whose Ka =1.8 × 10</a:t>
            </a:r>
            <a:r>
              <a:rPr lang="en-US" sz="2500" baseline="30000" dirty="0">
                <a:sym typeface="Symbol" pitchFamily="18" charset="2"/>
              </a:rPr>
              <a:t></a:t>
            </a:r>
            <a:r>
              <a:rPr lang="en-US" sz="2500" baseline="30000" dirty="0"/>
              <a:t>5</a:t>
            </a:r>
            <a:r>
              <a:rPr lang="en-US" sz="2500" dirty="0"/>
              <a:t>.</a:t>
            </a:r>
          </a:p>
          <a:p>
            <a:pPr marL="0" indent="0">
              <a:buNone/>
            </a:pPr>
            <a:endParaRPr lang="en-US" sz="2500" dirty="0"/>
          </a:p>
          <a:p>
            <a:pPr marL="0" indent="0">
              <a:buNone/>
            </a:pPr>
            <a:r>
              <a:rPr lang="en-US" sz="2500" dirty="0"/>
              <a:t>What is the </a:t>
            </a:r>
            <a:r>
              <a:rPr lang="en-US" sz="2500" dirty="0" err="1"/>
              <a:t>pKb</a:t>
            </a:r>
            <a:r>
              <a:rPr lang="en-US" sz="2500" dirty="0"/>
              <a:t> of the conjugate base, C</a:t>
            </a:r>
            <a:r>
              <a:rPr lang="en-US" sz="2500" baseline="-25000" dirty="0"/>
              <a:t>2</a:t>
            </a:r>
            <a:r>
              <a:rPr lang="en-US" sz="2500" dirty="0"/>
              <a:t>H</a:t>
            </a:r>
            <a:r>
              <a:rPr lang="en-US" sz="2500" baseline="-25000" dirty="0"/>
              <a:t>3</a:t>
            </a:r>
            <a:r>
              <a:rPr lang="en-US" sz="2500" dirty="0"/>
              <a:t>O</a:t>
            </a:r>
            <a:r>
              <a:rPr lang="en-US" sz="2500" baseline="-25000" dirty="0"/>
              <a:t>2</a:t>
            </a:r>
            <a:r>
              <a:rPr lang="en-US" sz="2500" baseline="30000" dirty="0"/>
              <a:t>-1</a:t>
            </a:r>
            <a:r>
              <a:rPr lang="en-US" sz="2500" dirty="0"/>
              <a:t>?</a:t>
            </a:r>
          </a:p>
          <a:p>
            <a:pPr marL="0" indent="0">
              <a:buNone/>
            </a:pPr>
            <a:endParaRPr lang="en-US" sz="2500" dirty="0"/>
          </a:p>
          <a:p>
            <a:pPr marL="0" indent="0">
              <a:buNone/>
            </a:pPr>
            <a:r>
              <a:rPr lang="en-US" sz="2500" dirty="0"/>
              <a:t>What is the </a:t>
            </a:r>
            <a:r>
              <a:rPr lang="en-US" sz="2500" dirty="0" err="1"/>
              <a:t>Kb</a:t>
            </a:r>
            <a:r>
              <a:rPr lang="en-US" sz="2500" dirty="0"/>
              <a:t> of C</a:t>
            </a:r>
            <a:r>
              <a:rPr lang="en-US" sz="2500" baseline="-25000" dirty="0"/>
              <a:t>2</a:t>
            </a:r>
            <a:r>
              <a:rPr lang="en-US" sz="2500" dirty="0"/>
              <a:t>H</a:t>
            </a:r>
            <a:r>
              <a:rPr lang="en-US" sz="2500" baseline="-25000" dirty="0"/>
              <a:t>3</a:t>
            </a:r>
            <a:r>
              <a:rPr lang="en-US" sz="2500" dirty="0"/>
              <a:t>O</a:t>
            </a:r>
            <a:r>
              <a:rPr lang="en-US" sz="2500" baseline="-25000" dirty="0"/>
              <a:t>2</a:t>
            </a:r>
            <a:r>
              <a:rPr lang="en-US" sz="2500" baseline="30000" dirty="0"/>
              <a:t>-1</a:t>
            </a:r>
            <a:r>
              <a:rPr lang="en-US" sz="2500" dirty="0"/>
              <a:t>?</a:t>
            </a:r>
          </a:p>
          <a:p>
            <a:pPr marL="0" indent="0">
              <a:buNone/>
            </a:pPr>
            <a:endParaRPr lang="en-US" sz="2500" dirty="0"/>
          </a:p>
          <a:p>
            <a:pPr marL="0" indent="0">
              <a:buNone/>
            </a:pPr>
            <a:r>
              <a:rPr lang="en-US" sz="2500" dirty="0"/>
              <a:t>How are the Ka and the </a:t>
            </a:r>
            <a:r>
              <a:rPr lang="en-US" sz="2500" dirty="0" err="1"/>
              <a:t>Kb</a:t>
            </a:r>
            <a:r>
              <a:rPr lang="en-US" sz="2500" dirty="0"/>
              <a:t> related?</a:t>
            </a:r>
          </a:p>
        </p:txBody>
      </p:sp>
    </p:spTree>
    <p:extLst>
      <p:ext uri="{BB962C8B-B14F-4D97-AF65-F5344CB8AC3E}">
        <p14:creationId xmlns:p14="http://schemas.microsoft.com/office/powerpoint/2010/main" val="22509135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1219200" y="30707"/>
            <a:ext cx="10363200" cy="533400"/>
          </a:xfrm>
        </p:spPr>
        <p:txBody>
          <a:bodyPr/>
          <a:lstStyle/>
          <a:p>
            <a:r>
              <a:rPr lang="en-US" sz="4000" u="sng" dirty="0">
                <a:solidFill>
                  <a:schemeClr val="tx1"/>
                </a:solidFill>
              </a:rPr>
              <a:t>Calculating pH of </a:t>
            </a:r>
            <a:r>
              <a:rPr lang="en-US" sz="4000" u="sng" dirty="0" err="1">
                <a:solidFill>
                  <a:schemeClr val="tx1"/>
                </a:solidFill>
              </a:rPr>
              <a:t>polyprotic</a:t>
            </a:r>
            <a:r>
              <a:rPr lang="en-US" sz="4000" u="sng" dirty="0">
                <a:solidFill>
                  <a:schemeClr val="tx1"/>
                </a:solidFill>
              </a:rPr>
              <a:t> acids</a:t>
            </a:r>
            <a:r>
              <a:rPr lang="en-US" dirty="0">
                <a:solidFill>
                  <a:schemeClr val="tx1"/>
                </a:solidFill>
              </a:rPr>
              <a:t>	</a:t>
            </a:r>
          </a:p>
        </p:txBody>
      </p:sp>
      <p:sp>
        <p:nvSpPr>
          <p:cNvPr id="2" name="Content Placeholder 1"/>
          <p:cNvSpPr>
            <a:spLocks noGrp="1"/>
          </p:cNvSpPr>
          <p:nvPr>
            <p:ph idx="1"/>
          </p:nvPr>
        </p:nvSpPr>
        <p:spPr>
          <a:xfrm>
            <a:off x="914400" y="914400"/>
            <a:ext cx="10363200" cy="5181600"/>
          </a:xfrm>
        </p:spPr>
        <p:txBody>
          <a:bodyPr/>
          <a:lstStyle/>
          <a:p>
            <a:r>
              <a:rPr lang="en-US" dirty="0"/>
              <a:t>All </a:t>
            </a:r>
            <a:r>
              <a:rPr lang="en-US" dirty="0" err="1"/>
              <a:t>polyprotic</a:t>
            </a:r>
            <a:r>
              <a:rPr lang="en-US" dirty="0"/>
              <a:t> acids dissociate stepwise.  Each dissociation has its own </a:t>
            </a:r>
            <a:r>
              <a:rPr lang="en-US" i="1" dirty="0" err="1"/>
              <a:t>K</a:t>
            </a:r>
            <a:r>
              <a:rPr lang="en-US" i="1" baseline="-25000" dirty="0" err="1"/>
              <a:t>a</a:t>
            </a:r>
            <a:r>
              <a:rPr lang="en-US" dirty="0"/>
              <a:t> value called </a:t>
            </a:r>
            <a:r>
              <a:rPr lang="en-US" i="1" dirty="0"/>
              <a:t>K</a:t>
            </a:r>
            <a:r>
              <a:rPr lang="en-US" i="1" baseline="-25000" dirty="0"/>
              <a:t>a1, </a:t>
            </a:r>
            <a:r>
              <a:rPr lang="en-US" i="1" dirty="0"/>
              <a:t>K</a:t>
            </a:r>
            <a:r>
              <a:rPr lang="en-US" i="1" baseline="-25000" dirty="0"/>
              <a:t>a2 </a:t>
            </a:r>
            <a:r>
              <a:rPr lang="en-US" i="1" dirty="0"/>
              <a:t>K</a:t>
            </a:r>
            <a:r>
              <a:rPr lang="en-US" i="1" baseline="-25000" dirty="0"/>
              <a:t>a3</a:t>
            </a:r>
            <a:endParaRPr lang="en-US" dirty="0"/>
          </a:p>
          <a:p>
            <a:r>
              <a:rPr lang="en-US" dirty="0"/>
              <a:t>As each H is removed, the remaining acid gets </a:t>
            </a:r>
            <a:r>
              <a:rPr lang="en-US" dirty="0">
                <a:solidFill>
                  <a:srgbClr val="FF0000"/>
                </a:solidFill>
              </a:rPr>
              <a:t>weaker</a:t>
            </a:r>
            <a:r>
              <a:rPr lang="en-US" dirty="0"/>
              <a:t> and therefore has a </a:t>
            </a:r>
            <a:r>
              <a:rPr lang="en-US" dirty="0">
                <a:solidFill>
                  <a:srgbClr val="FF0000"/>
                </a:solidFill>
              </a:rPr>
              <a:t>smaller</a:t>
            </a:r>
            <a:r>
              <a:rPr lang="en-US" dirty="0"/>
              <a:t> </a:t>
            </a:r>
            <a:r>
              <a:rPr lang="en-US" i="1" dirty="0" err="1"/>
              <a:t>K</a:t>
            </a:r>
            <a:r>
              <a:rPr lang="en-US" i="1" baseline="-25000" dirty="0" err="1"/>
              <a:t>a</a:t>
            </a:r>
            <a:r>
              <a:rPr lang="en-US" dirty="0"/>
              <a:t>.  And as the negative charge on the acid increases it becomes more difficult to remove the positively charged proton. </a:t>
            </a:r>
          </a:p>
          <a:p>
            <a:r>
              <a:rPr lang="en-US" dirty="0"/>
              <a:t>Because the</a:t>
            </a:r>
            <a:r>
              <a:rPr lang="en-US" i="1" baseline="-25000" dirty="0">
                <a:solidFill>
                  <a:srgbClr val="FF0000"/>
                </a:solidFill>
              </a:rPr>
              <a:t> </a:t>
            </a:r>
            <a:r>
              <a:rPr lang="en-US" i="1" dirty="0">
                <a:solidFill>
                  <a:srgbClr val="FF0000"/>
                </a:solidFill>
              </a:rPr>
              <a:t>K</a:t>
            </a:r>
            <a:r>
              <a:rPr lang="en-US" i="1" baseline="-25000" dirty="0">
                <a:solidFill>
                  <a:srgbClr val="FF0000"/>
                </a:solidFill>
              </a:rPr>
              <a:t>a2 </a:t>
            </a:r>
            <a:r>
              <a:rPr lang="en-US" dirty="0"/>
              <a:t>is much smaller than the </a:t>
            </a:r>
            <a:r>
              <a:rPr lang="en-US" i="1" dirty="0">
                <a:solidFill>
                  <a:srgbClr val="FF0000"/>
                </a:solidFill>
              </a:rPr>
              <a:t>K</a:t>
            </a:r>
            <a:r>
              <a:rPr lang="en-US" i="1" baseline="-25000" dirty="0">
                <a:solidFill>
                  <a:srgbClr val="FF0000"/>
                </a:solidFill>
              </a:rPr>
              <a:t>a1</a:t>
            </a:r>
            <a:r>
              <a:rPr lang="en-US" i="1" baseline="-25000" dirty="0"/>
              <a:t> </a:t>
            </a:r>
            <a:r>
              <a:rPr lang="en-US" dirty="0"/>
              <a:t>value, we treat ANY weak acid species as if it loses only 1 H</a:t>
            </a:r>
            <a:r>
              <a:rPr lang="en-US" baseline="30000" dirty="0"/>
              <a:t>+</a:t>
            </a:r>
            <a:r>
              <a:rPr lang="en-US" dirty="0"/>
              <a:t> in significant quantities (only analyze the </a:t>
            </a:r>
            <a:r>
              <a:rPr lang="en-US" b="1" dirty="0">
                <a:solidFill>
                  <a:srgbClr val="FF0000"/>
                </a:solidFill>
              </a:rPr>
              <a:t>FIRST</a:t>
            </a:r>
            <a:r>
              <a:rPr lang="en-US" dirty="0"/>
              <a:t> H+ removal) </a:t>
            </a:r>
          </a:p>
          <a:p>
            <a:pPr marL="0" indent="0">
              <a:buNone/>
            </a:pP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 Box 8"/>
          <p:cNvSpPr txBox="1">
            <a:spLocks noChangeArrowheads="1"/>
          </p:cNvSpPr>
          <p:nvPr/>
        </p:nvSpPr>
        <p:spPr bwMode="auto">
          <a:xfrm>
            <a:off x="381000" y="0"/>
            <a:ext cx="11125200" cy="1143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None/>
            </a:pPr>
            <a:r>
              <a:rPr lang="en-US" altLang="en-US" sz="2800" dirty="0">
                <a:latin typeface="Times New Roman" pitchFamily="18" charset="0"/>
                <a:ea typeface="ＭＳ Ｐゴシック" pitchFamily="34" charset="-128"/>
              </a:rPr>
              <a:t>Practice: Consider a 0.200 M H</a:t>
            </a:r>
            <a:r>
              <a:rPr lang="en-US" altLang="en-US" sz="2800" baseline="-25000" dirty="0">
                <a:latin typeface="Times New Roman" pitchFamily="18" charset="0"/>
                <a:ea typeface="ＭＳ Ｐゴシック" pitchFamily="34" charset="-128"/>
              </a:rPr>
              <a:t>2</a:t>
            </a:r>
            <a:r>
              <a:rPr lang="en-US" altLang="en-US" sz="2800" dirty="0">
                <a:latin typeface="Times New Roman" pitchFamily="18" charset="0"/>
                <a:ea typeface="ＭＳ Ｐゴシック" pitchFamily="34" charset="-128"/>
              </a:rPr>
              <a:t>PO</a:t>
            </a:r>
            <a:r>
              <a:rPr lang="en-US" altLang="en-US" sz="2800" baseline="-25000" dirty="0">
                <a:latin typeface="Times New Roman" pitchFamily="18" charset="0"/>
                <a:ea typeface="ＭＳ Ｐゴシック" pitchFamily="34" charset="-128"/>
              </a:rPr>
              <a:t>4</a:t>
            </a:r>
            <a:r>
              <a:rPr lang="en-US" altLang="en-US" sz="2800" baseline="30000" dirty="0">
                <a:latin typeface="Times New Roman" pitchFamily="18" charset="0"/>
                <a:ea typeface="ＭＳ Ｐゴシック" pitchFamily="34" charset="-128"/>
              </a:rPr>
              <a:t>-1</a:t>
            </a:r>
            <a:r>
              <a:rPr lang="en-US" altLang="en-US" sz="2800" dirty="0">
                <a:latin typeface="Times New Roman" pitchFamily="18" charset="0"/>
                <a:ea typeface="ＭＳ Ｐゴシック" pitchFamily="34" charset="-128"/>
              </a:rPr>
              <a:t> solution. </a:t>
            </a:r>
          </a:p>
          <a:p>
            <a:pPr>
              <a:spcBef>
                <a:spcPct val="0"/>
              </a:spcBef>
              <a:buNone/>
            </a:pPr>
            <a:r>
              <a:rPr lang="en-US" altLang="en-US" sz="2800" dirty="0">
                <a:latin typeface="Times New Roman" pitchFamily="18" charset="0"/>
                <a:ea typeface="ＭＳ Ｐゴシック" pitchFamily="34" charset="-128"/>
              </a:rPr>
              <a:t>The </a:t>
            </a:r>
            <a:r>
              <a:rPr lang="en-US" altLang="en-US" sz="2800" dirty="0" err="1">
                <a:latin typeface="Times New Roman" pitchFamily="18" charset="0"/>
                <a:ea typeface="ＭＳ Ｐゴシック" pitchFamily="34" charset="-128"/>
              </a:rPr>
              <a:t>p</a:t>
            </a:r>
            <a:r>
              <a:rPr lang="en-US" altLang="en-US" sz="2800" i="1" dirty="0" err="1">
                <a:latin typeface="Times New Roman" pitchFamily="18" charset="0"/>
                <a:ea typeface="ＭＳ Ｐゴシック" pitchFamily="34" charset="-128"/>
              </a:rPr>
              <a:t>K</a:t>
            </a:r>
            <a:r>
              <a:rPr lang="en-US" altLang="en-US" sz="2800" i="1" baseline="-25000" dirty="0" err="1">
                <a:latin typeface="Times New Roman" pitchFamily="18" charset="0"/>
                <a:ea typeface="ＭＳ Ｐゴシック" pitchFamily="34" charset="-128"/>
              </a:rPr>
              <a:t>a</a:t>
            </a:r>
            <a:r>
              <a:rPr lang="en-US" altLang="en-US" sz="2800" dirty="0">
                <a:latin typeface="Times New Roman" pitchFamily="18" charset="0"/>
                <a:ea typeface="ＭＳ Ｐゴシック" pitchFamily="34" charset="-128"/>
              </a:rPr>
              <a:t> of H</a:t>
            </a:r>
            <a:r>
              <a:rPr lang="en-US" altLang="en-US" sz="2800" baseline="-25000" dirty="0">
                <a:latin typeface="Times New Roman" pitchFamily="18" charset="0"/>
                <a:ea typeface="ＭＳ Ｐゴシック" pitchFamily="34" charset="-128"/>
              </a:rPr>
              <a:t>2</a:t>
            </a:r>
            <a:r>
              <a:rPr lang="en-US" altLang="en-US" sz="2800" dirty="0">
                <a:latin typeface="Times New Roman" pitchFamily="18" charset="0"/>
                <a:ea typeface="ＭＳ Ｐゴシック" pitchFamily="34" charset="-128"/>
              </a:rPr>
              <a:t>PO</a:t>
            </a:r>
            <a:r>
              <a:rPr lang="en-US" altLang="en-US" sz="2800" baseline="-25000" dirty="0">
                <a:latin typeface="Times New Roman" pitchFamily="18" charset="0"/>
                <a:ea typeface="ＭＳ Ｐゴシック" pitchFamily="34" charset="-128"/>
              </a:rPr>
              <a:t>4</a:t>
            </a:r>
            <a:r>
              <a:rPr lang="en-US" altLang="en-US" sz="2800" baseline="30000" dirty="0">
                <a:latin typeface="Times New Roman" pitchFamily="18" charset="0"/>
                <a:ea typeface="ＭＳ Ｐゴシック" pitchFamily="34" charset="-128"/>
              </a:rPr>
              <a:t>-1 </a:t>
            </a:r>
            <a:r>
              <a:rPr lang="en-US" altLang="en-US" sz="2800" dirty="0">
                <a:latin typeface="Times New Roman" pitchFamily="18" charset="0"/>
                <a:ea typeface="ＭＳ Ｐゴシック" pitchFamily="34" charset="-128"/>
              </a:rPr>
              <a:t>is 7.20 at 25°C.</a:t>
            </a:r>
          </a:p>
          <a:p>
            <a:pPr marL="1257300" lvl="1" indent="-514350">
              <a:spcBef>
                <a:spcPct val="0"/>
              </a:spcBef>
              <a:buFontTx/>
              <a:buAutoNum type="alphaLcPeriod"/>
            </a:pPr>
            <a:r>
              <a:rPr lang="en-US" altLang="en-US" sz="2400" dirty="0">
                <a:latin typeface="Times New Roman" pitchFamily="18" charset="0"/>
                <a:ea typeface="ＭＳ Ｐゴシック" pitchFamily="34" charset="-128"/>
              </a:rPr>
              <a:t>List all ions present in the solution.</a:t>
            </a:r>
          </a:p>
          <a:p>
            <a:pPr marL="1257300" lvl="1" indent="-514350">
              <a:spcBef>
                <a:spcPct val="0"/>
              </a:spcBef>
              <a:buFontTx/>
              <a:buAutoNum type="alphaLcPeriod"/>
            </a:pPr>
            <a:r>
              <a:rPr lang="en-US" altLang="en-US" sz="2400" dirty="0">
                <a:latin typeface="Times New Roman" pitchFamily="18" charset="0"/>
                <a:ea typeface="ＭＳ Ｐゴシック" pitchFamily="34" charset="-128"/>
              </a:rPr>
              <a:t>Calculate the </a:t>
            </a:r>
            <a:r>
              <a:rPr lang="en-US" altLang="en-US" sz="2400" dirty="0" err="1">
                <a:latin typeface="Times New Roman" pitchFamily="18" charset="0"/>
                <a:ea typeface="ＭＳ Ｐゴシック" pitchFamily="34" charset="-128"/>
              </a:rPr>
              <a:t>Ka</a:t>
            </a:r>
            <a:r>
              <a:rPr lang="en-US" altLang="en-US" sz="2400" dirty="0">
                <a:latin typeface="Times New Roman" pitchFamily="18" charset="0"/>
                <a:ea typeface="ＭＳ Ｐゴシック" pitchFamily="34" charset="-128"/>
              </a:rPr>
              <a:t> of the acid.</a:t>
            </a:r>
          </a:p>
          <a:p>
            <a:pPr marL="1257300" lvl="1" indent="-514350">
              <a:spcBef>
                <a:spcPct val="0"/>
              </a:spcBef>
              <a:buFontTx/>
              <a:buAutoNum type="alphaLcPeriod"/>
            </a:pPr>
            <a:r>
              <a:rPr lang="en-US" altLang="en-US" sz="2400" dirty="0">
                <a:latin typeface="Times New Roman" pitchFamily="18" charset="0"/>
                <a:ea typeface="ＭＳ Ｐゴシック" pitchFamily="34" charset="-128"/>
              </a:rPr>
              <a:t>Write a dissociation reaction and equilibrium expression.</a:t>
            </a:r>
          </a:p>
          <a:p>
            <a:pPr marL="1257300" lvl="1" indent="-514350">
              <a:spcBef>
                <a:spcPct val="0"/>
              </a:spcBef>
              <a:buFontTx/>
              <a:buAutoNum type="alphaLcPeriod"/>
            </a:pPr>
            <a:r>
              <a:rPr lang="en-US" altLang="en-US" sz="2400" dirty="0">
                <a:latin typeface="Times New Roman" pitchFamily="18" charset="0"/>
                <a:ea typeface="ＭＳ Ｐゴシック" pitchFamily="34" charset="-128"/>
              </a:rPr>
              <a:t>Find the pH of the solution at 25°C.</a:t>
            </a:r>
          </a:p>
        </p:txBody>
      </p:sp>
    </p:spTree>
    <p:extLst>
      <p:ext uri="{BB962C8B-B14F-4D97-AF65-F5344CB8AC3E}">
        <p14:creationId xmlns:p14="http://schemas.microsoft.com/office/powerpoint/2010/main" val="33381886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942109" y="0"/>
            <a:ext cx="10363200" cy="1143000"/>
          </a:xfrm>
        </p:spPr>
        <p:txBody>
          <a:bodyPr/>
          <a:lstStyle/>
          <a:p>
            <a:pPr algn="l"/>
            <a:r>
              <a:rPr lang="en-US" u="sng" dirty="0">
                <a:solidFill>
                  <a:schemeClr val="tx1"/>
                </a:solidFill>
              </a:rPr>
              <a:t>Determination of the pH of a Mixture of Weak Acids</a:t>
            </a:r>
            <a:endParaRPr lang="en-US" dirty="0">
              <a:solidFill>
                <a:schemeClr val="tx1"/>
              </a:solidFill>
            </a:endParaRPr>
          </a:p>
        </p:txBody>
      </p:sp>
      <p:sp>
        <p:nvSpPr>
          <p:cNvPr id="2" name="Content Placeholder 1"/>
          <p:cNvSpPr>
            <a:spLocks noGrp="1"/>
          </p:cNvSpPr>
          <p:nvPr>
            <p:ph idx="1"/>
          </p:nvPr>
        </p:nvSpPr>
        <p:spPr>
          <a:xfrm>
            <a:off x="914400" y="1371600"/>
            <a:ext cx="10363200" cy="4724400"/>
          </a:xfrm>
        </p:spPr>
        <p:txBody>
          <a:bodyPr/>
          <a:lstStyle/>
          <a:p>
            <a:r>
              <a:rPr lang="en-US" dirty="0"/>
              <a:t>In a mixture of weak acids, only the acid with the </a:t>
            </a:r>
            <a:r>
              <a:rPr lang="en-US" dirty="0">
                <a:solidFill>
                  <a:srgbClr val="FF0000"/>
                </a:solidFill>
              </a:rPr>
              <a:t>largest</a:t>
            </a:r>
            <a:r>
              <a:rPr lang="en-US" dirty="0"/>
              <a:t> </a:t>
            </a:r>
            <a:r>
              <a:rPr lang="en-US" i="1" dirty="0" err="1"/>
              <a:t>K</a:t>
            </a:r>
            <a:r>
              <a:rPr lang="en-US" i="1" baseline="-25000" dirty="0" err="1"/>
              <a:t>a</a:t>
            </a:r>
            <a:r>
              <a:rPr lang="en-US" dirty="0"/>
              <a:t> value will contribute an appreciable [H</a:t>
            </a:r>
            <a:r>
              <a:rPr lang="en-US" baseline="30000" dirty="0"/>
              <a:t>+</a:t>
            </a:r>
            <a:r>
              <a:rPr lang="en-US" dirty="0"/>
              <a:t>].  Determine the pH based on this acid and </a:t>
            </a:r>
            <a:r>
              <a:rPr lang="en-US" dirty="0">
                <a:solidFill>
                  <a:srgbClr val="FF0000"/>
                </a:solidFill>
              </a:rPr>
              <a:t>ignore</a:t>
            </a:r>
            <a:r>
              <a:rPr lang="en-US" dirty="0"/>
              <a:t> any others.</a:t>
            </a:r>
            <a:br>
              <a:rPr lang="en-US" dirty="0"/>
            </a:br>
            <a:br>
              <a:rPr lang="en-US" dirty="0"/>
            </a:br>
            <a:br>
              <a:rPr lang="en-US" dirty="0"/>
            </a:br>
            <a:br>
              <a:rPr lang="en-US" dirty="0"/>
            </a:b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a:xfrm>
            <a:off x="990600" y="0"/>
            <a:ext cx="10363200" cy="533400"/>
          </a:xfrm>
        </p:spPr>
        <p:txBody>
          <a:bodyPr/>
          <a:lstStyle/>
          <a:p>
            <a:r>
              <a:rPr lang="en-US" sz="4000" b="1" u="sng" dirty="0">
                <a:solidFill>
                  <a:schemeClr val="tx1"/>
                </a:solidFill>
              </a:rPr>
              <a:t>Analysis of weak bases</a:t>
            </a:r>
          </a:p>
        </p:txBody>
      </p:sp>
      <p:sp>
        <p:nvSpPr>
          <p:cNvPr id="2" name="Content Placeholder 1"/>
          <p:cNvSpPr>
            <a:spLocks noGrp="1"/>
          </p:cNvSpPr>
          <p:nvPr>
            <p:ph idx="1"/>
          </p:nvPr>
        </p:nvSpPr>
        <p:spPr>
          <a:xfrm>
            <a:off x="457200" y="838200"/>
            <a:ext cx="11353800" cy="5257800"/>
          </a:xfrm>
        </p:spPr>
        <p:txBody>
          <a:bodyPr/>
          <a:lstStyle/>
          <a:p>
            <a:r>
              <a:rPr lang="en-US" sz="2800" dirty="0"/>
              <a:t>Weak bases (bases without OH</a:t>
            </a:r>
            <a:r>
              <a:rPr lang="en-US" sz="2800" baseline="30000" dirty="0">
                <a:sym typeface="Symbol" pitchFamily="18" charset="2"/>
              </a:rPr>
              <a:t></a:t>
            </a:r>
            <a:r>
              <a:rPr lang="en-US" sz="2800" dirty="0"/>
              <a:t>) react with water to produce a hydroxide ion.  Common examples of weak bases are ammonia (NH</a:t>
            </a:r>
            <a:r>
              <a:rPr lang="en-US" sz="2800" baseline="-25000" dirty="0"/>
              <a:t>3</a:t>
            </a:r>
            <a:r>
              <a:rPr lang="en-US" sz="2800" dirty="0"/>
              <a:t>), methylamine (CH</a:t>
            </a:r>
            <a:r>
              <a:rPr lang="en-US" sz="2800" baseline="-25000" dirty="0"/>
              <a:t>3</a:t>
            </a:r>
            <a:r>
              <a:rPr lang="en-US" sz="2800" dirty="0"/>
              <a:t>NH</a:t>
            </a:r>
            <a:r>
              <a:rPr lang="en-US" sz="2800" baseline="-25000" dirty="0"/>
              <a:t>2</a:t>
            </a:r>
            <a:r>
              <a:rPr lang="en-US" sz="2800" dirty="0"/>
              <a:t>), and ethylamine (C</a:t>
            </a:r>
            <a:r>
              <a:rPr lang="en-US" sz="2800" baseline="-25000" dirty="0"/>
              <a:t>2</a:t>
            </a:r>
            <a:r>
              <a:rPr lang="en-US" sz="2800" dirty="0"/>
              <a:t>H</a:t>
            </a:r>
            <a:r>
              <a:rPr lang="en-US" sz="2800" baseline="-25000" dirty="0"/>
              <a:t>5</a:t>
            </a:r>
            <a:r>
              <a:rPr lang="en-US" sz="2800" dirty="0"/>
              <a:t>NH</a:t>
            </a:r>
            <a:r>
              <a:rPr lang="en-US" sz="2800" baseline="-25000" dirty="0"/>
              <a:t>2</a:t>
            </a:r>
            <a:r>
              <a:rPr lang="en-US" sz="2800" dirty="0"/>
              <a:t>). </a:t>
            </a:r>
          </a:p>
          <a:p>
            <a:r>
              <a:rPr lang="en-US" sz="2800" dirty="0"/>
              <a:t>The lone pair on N forms a bond with a H</a:t>
            </a:r>
            <a:r>
              <a:rPr lang="en-US" sz="2800" baseline="30000" dirty="0"/>
              <a:t>+</a:t>
            </a:r>
            <a:r>
              <a:rPr lang="en-US" sz="2800" dirty="0"/>
              <a:t>.  Most weak bases involve N.</a:t>
            </a:r>
          </a:p>
          <a:p>
            <a:r>
              <a:rPr lang="en-US" sz="2800" dirty="0"/>
              <a:t>The general form of the dissociation of a base in water:</a:t>
            </a:r>
          </a:p>
          <a:p>
            <a:pPr marL="0" indent="0">
              <a:buNone/>
            </a:pPr>
            <a:r>
              <a:rPr lang="en-US" sz="2800" dirty="0"/>
              <a:t>		B(</a:t>
            </a:r>
            <a:r>
              <a:rPr lang="en-US" sz="2800" i="1" dirty="0" err="1"/>
              <a:t>aq</a:t>
            </a:r>
            <a:r>
              <a:rPr lang="en-US" sz="2800" dirty="0"/>
              <a:t>)    + H</a:t>
            </a:r>
            <a:r>
              <a:rPr lang="en-US" sz="2800" baseline="-25000" dirty="0"/>
              <a:t>2</a:t>
            </a:r>
            <a:r>
              <a:rPr lang="en-US" sz="2800" dirty="0"/>
              <a:t>O(</a:t>
            </a:r>
            <a:r>
              <a:rPr lang="en-US" sz="2800" i="1" dirty="0"/>
              <a:t>l</a:t>
            </a:r>
            <a:r>
              <a:rPr lang="en-US" sz="2800" dirty="0"/>
              <a:t>) </a:t>
            </a:r>
            <a:r>
              <a:rPr lang="en-US" sz="2800" dirty="0">
                <a:sym typeface="Wingdings 3" pitchFamily="18" charset="2"/>
              </a:rPr>
              <a:t></a:t>
            </a:r>
            <a:r>
              <a:rPr lang="en-US" sz="2800" dirty="0"/>
              <a:t>  	BH</a:t>
            </a:r>
            <a:r>
              <a:rPr lang="en-US" sz="2800" baseline="30000" dirty="0"/>
              <a:t>+</a:t>
            </a:r>
            <a:r>
              <a:rPr lang="en-US" sz="2800" dirty="0"/>
              <a:t>(</a:t>
            </a:r>
            <a:r>
              <a:rPr lang="en-US" sz="2800" i="1" dirty="0" err="1"/>
              <a:t>aq</a:t>
            </a:r>
            <a:r>
              <a:rPr lang="en-US" sz="2800" dirty="0"/>
              <a:t>)    +   	OH</a:t>
            </a:r>
            <a:r>
              <a:rPr lang="en-US" sz="2800" baseline="30000" dirty="0">
                <a:sym typeface="Symbol" pitchFamily="18" charset="2"/>
              </a:rPr>
              <a:t></a:t>
            </a:r>
            <a:r>
              <a:rPr lang="en-US" sz="2800" dirty="0"/>
              <a:t>(</a:t>
            </a:r>
            <a:r>
              <a:rPr lang="en-US" sz="2800" i="1" dirty="0" err="1"/>
              <a:t>aq</a:t>
            </a:r>
            <a:r>
              <a:rPr lang="en-US" sz="2800" dirty="0"/>
              <a:t>)</a:t>
            </a:r>
            <a:r>
              <a:rPr lang="en-US" sz="2800" i="1" dirty="0"/>
              <a:t> </a:t>
            </a:r>
            <a:br>
              <a:rPr lang="en-US" sz="2800" dirty="0"/>
            </a:br>
            <a:r>
              <a:rPr lang="en-US" sz="2800" dirty="0"/>
              <a:t>      		base       acid     		conjugate      	conjugate</a:t>
            </a:r>
            <a:br>
              <a:rPr lang="en-US" sz="2800" dirty="0"/>
            </a:br>
            <a:r>
              <a:rPr lang="en-US" sz="2800" dirty="0"/>
              <a:t>                                      			acid			base</a:t>
            </a:r>
            <a:br>
              <a:rPr lang="en-US" sz="2800" dirty="0"/>
            </a:br>
            <a:br>
              <a:rPr lang="en-US" sz="2800" dirty="0"/>
            </a:br>
            <a:r>
              <a:rPr lang="en-US" sz="2800" dirty="0"/>
              <a:t>Practice: Write the equation for the dissociation of NH</a:t>
            </a:r>
            <a:r>
              <a:rPr lang="en-US" sz="2800" baseline="-25000" dirty="0"/>
              <a:t>3</a:t>
            </a:r>
            <a:r>
              <a:rPr lang="en-US" sz="2800" dirty="0"/>
              <a:t> in water</a:t>
            </a:r>
            <a:br>
              <a:rPr lang="en-US" sz="2800" dirty="0"/>
            </a:br>
            <a:r>
              <a:rPr lang="en-US" sz="2800" dirty="0"/>
              <a:t>       </a:t>
            </a:r>
            <a:br>
              <a:rPr lang="en-US" sz="2800" dirty="0"/>
            </a:br>
            <a:br>
              <a:rPr lang="en-US" sz="2800" dirty="0"/>
            </a:br>
            <a:r>
              <a:rPr lang="en-US" sz="2800" dirty="0"/>
              <a:t>     </a:t>
            </a:r>
            <a:br>
              <a:rPr lang="en-US" sz="2800" dirty="0"/>
            </a:br>
            <a:br>
              <a:rPr lang="en-US" sz="2800" dirty="0"/>
            </a:br>
            <a:br>
              <a:rPr lang="en-US" sz="2800" dirty="0"/>
            </a:br>
            <a:br>
              <a:rPr lang="en-US" dirty="0"/>
            </a:br>
            <a:r>
              <a:rPr lang="en-US" dirty="0"/>
              <a:t>   </a:t>
            </a:r>
          </a:p>
          <a:p>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sz="3200" u="sng" dirty="0">
                <a:solidFill>
                  <a:schemeClr val="tx1"/>
                </a:solidFill>
              </a:rPr>
              <a:t>Base dissociation constant</a:t>
            </a:r>
            <a:r>
              <a:rPr lang="en-US" sz="3200" dirty="0">
                <a:solidFill>
                  <a:schemeClr val="tx1"/>
                </a:solidFill>
              </a:rPr>
              <a:t> (</a:t>
            </a:r>
            <a:r>
              <a:rPr lang="en-US" sz="3200" i="1" dirty="0">
                <a:solidFill>
                  <a:schemeClr val="tx1"/>
                </a:solidFill>
              </a:rPr>
              <a:t>K</a:t>
            </a:r>
            <a:r>
              <a:rPr lang="en-US" sz="3200" i="1" baseline="-25000" dirty="0">
                <a:solidFill>
                  <a:schemeClr val="tx1"/>
                </a:solidFill>
              </a:rPr>
              <a:t>b</a:t>
            </a:r>
            <a:r>
              <a:rPr lang="en-US" sz="3200" dirty="0">
                <a:solidFill>
                  <a:schemeClr val="tx1"/>
                </a:solidFill>
              </a:rPr>
              <a:t>)</a:t>
            </a:r>
          </a:p>
        </p:txBody>
      </p:sp>
      <p:sp>
        <p:nvSpPr>
          <p:cNvPr id="2" name="Content Placeholder 1"/>
          <p:cNvSpPr>
            <a:spLocks noGrp="1"/>
          </p:cNvSpPr>
          <p:nvPr>
            <p:ph idx="1"/>
          </p:nvPr>
        </p:nvSpPr>
        <p:spPr>
          <a:xfrm>
            <a:off x="457200" y="1981200"/>
            <a:ext cx="10820400" cy="4114800"/>
          </a:xfrm>
        </p:spPr>
        <p:txBody>
          <a:bodyPr/>
          <a:lstStyle/>
          <a:p>
            <a:r>
              <a:rPr lang="en-US" dirty="0"/>
              <a:t>The general form for the base dissociation constant is:</a:t>
            </a:r>
          </a:p>
          <a:p>
            <a:r>
              <a:rPr lang="en-US" i="1" dirty="0"/>
              <a:t>K</a:t>
            </a:r>
            <a:r>
              <a:rPr lang="en-US" i="1" baseline="-25000" dirty="0"/>
              <a:t>b</a:t>
            </a:r>
            <a:r>
              <a:rPr lang="en-US" dirty="0"/>
              <a:t> = [BH</a:t>
            </a:r>
            <a:r>
              <a:rPr lang="en-US" baseline="30000" dirty="0"/>
              <a:t>+</a:t>
            </a:r>
            <a:r>
              <a:rPr lang="en-US" dirty="0"/>
              <a:t>][OH</a:t>
            </a:r>
            <a:r>
              <a:rPr lang="en-US" baseline="30000" dirty="0">
                <a:sym typeface="Symbol" pitchFamily="18" charset="2"/>
              </a:rPr>
              <a:t></a:t>
            </a:r>
            <a:r>
              <a:rPr lang="en-US" dirty="0"/>
              <a:t>]          and </a:t>
            </a:r>
            <a:r>
              <a:rPr lang="en-US" dirty="0" err="1"/>
              <a:t>pKb</a:t>
            </a:r>
            <a:r>
              <a:rPr lang="en-US" dirty="0"/>
              <a:t> = -log Kb</a:t>
            </a:r>
          </a:p>
          <a:p>
            <a:pPr marL="0" indent="0">
              <a:buNone/>
            </a:pPr>
            <a:r>
              <a:rPr lang="en-US" dirty="0"/>
              <a:t>		 [B] </a:t>
            </a:r>
          </a:p>
          <a:p>
            <a:pPr marL="0" indent="0">
              <a:buNone/>
            </a:pPr>
            <a:r>
              <a:rPr lang="en-US" dirty="0"/>
              <a:t>Practice: Write the  </a:t>
            </a:r>
            <a:r>
              <a:rPr lang="en-US" i="1" dirty="0"/>
              <a:t>K</a:t>
            </a:r>
            <a:r>
              <a:rPr lang="en-US" i="1" baseline="-25000" dirty="0"/>
              <a:t>b</a:t>
            </a:r>
            <a:r>
              <a:rPr lang="en-US" baseline="-25000" dirty="0"/>
              <a:t> </a:t>
            </a:r>
            <a:r>
              <a:rPr lang="en-US" dirty="0"/>
              <a:t>expression for the dissociation of NH</a:t>
            </a:r>
            <a:r>
              <a:rPr lang="en-US" baseline="-25000" dirty="0"/>
              <a:t>3</a:t>
            </a:r>
            <a:r>
              <a:rPr lang="en-US" dirty="0"/>
              <a:t> in water.</a:t>
            </a:r>
            <a:br>
              <a:rPr lang="en-US" dirty="0"/>
            </a:br>
            <a:endParaRPr lang="en-US" dirty="0"/>
          </a:p>
          <a:p>
            <a:endParaRPr lang="en-US" dirty="0"/>
          </a:p>
        </p:txBody>
      </p:sp>
      <p:sp>
        <p:nvSpPr>
          <p:cNvPr id="59395" name="Line 3"/>
          <p:cNvSpPr>
            <a:spLocks noChangeShapeType="1"/>
          </p:cNvSpPr>
          <p:nvPr/>
        </p:nvSpPr>
        <p:spPr bwMode="auto">
          <a:xfrm flipH="1">
            <a:off x="1600200" y="3124200"/>
            <a:ext cx="2286000" cy="0"/>
          </a:xfrm>
          <a:prstGeom prst="line">
            <a:avLst/>
          </a:prstGeom>
          <a:noFill/>
          <a:ln w="9525">
            <a:solidFill>
              <a:schemeClr val="tx1"/>
            </a:solidFill>
            <a:round/>
            <a:headEnd/>
            <a:tailEnd/>
          </a:ln>
        </p:spPr>
        <p:txBody>
          <a:bodyPr/>
          <a:lstStyle/>
          <a:p>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949036" y="0"/>
            <a:ext cx="10363200" cy="838200"/>
          </a:xfrm>
        </p:spPr>
        <p:txBody>
          <a:bodyPr/>
          <a:lstStyle/>
          <a:p>
            <a:r>
              <a:rPr lang="en-US" sz="3600" dirty="0">
                <a:solidFill>
                  <a:schemeClr val="tx1"/>
                </a:solidFill>
              </a:rPr>
              <a:t>Analysis of pH of weak bases</a:t>
            </a:r>
          </a:p>
        </p:txBody>
      </p:sp>
      <p:sp>
        <p:nvSpPr>
          <p:cNvPr id="2" name="Content Placeholder 1"/>
          <p:cNvSpPr>
            <a:spLocks noGrp="1"/>
          </p:cNvSpPr>
          <p:nvPr>
            <p:ph idx="1"/>
          </p:nvPr>
        </p:nvSpPr>
        <p:spPr>
          <a:xfrm>
            <a:off x="381000" y="685800"/>
            <a:ext cx="11430000" cy="5410200"/>
          </a:xfrm>
        </p:spPr>
        <p:txBody>
          <a:bodyPr/>
          <a:lstStyle/>
          <a:p>
            <a:r>
              <a:rPr lang="en-US" sz="2800" dirty="0"/>
              <a:t>Determination of the pH of a weak base is very similar to the determination of the pH of a weak acid.  Follow the same steps.  Remember, however, that </a:t>
            </a:r>
            <a:r>
              <a:rPr lang="en-US" sz="2800" i="1" dirty="0"/>
              <a:t>b</a:t>
            </a:r>
            <a:r>
              <a:rPr lang="en-US" sz="2800" dirty="0"/>
              <a:t> is the [OH</a:t>
            </a:r>
            <a:r>
              <a:rPr lang="en-US" sz="2800" baseline="30000" dirty="0">
                <a:sym typeface="Symbol" pitchFamily="18" charset="2"/>
              </a:rPr>
              <a:t></a:t>
            </a:r>
            <a:r>
              <a:rPr lang="en-US" sz="2800" dirty="0"/>
              <a:t>] and taking the negative log of </a:t>
            </a:r>
            <a:r>
              <a:rPr lang="en-US" sz="2800" i="1" dirty="0"/>
              <a:t>x</a:t>
            </a:r>
            <a:r>
              <a:rPr lang="en-US" sz="2800" dirty="0"/>
              <a:t> will give you the pOH and not the pH!</a:t>
            </a:r>
          </a:p>
          <a:p>
            <a:pPr marL="0" indent="0">
              <a:buNone/>
            </a:pPr>
            <a:r>
              <a:rPr lang="en-US" sz="2800" b="1" dirty="0"/>
              <a:t>Practice: Calculate the [OH</a:t>
            </a:r>
            <a:r>
              <a:rPr lang="en-US" sz="2800" b="1" baseline="30000" dirty="0">
                <a:sym typeface="Symbol" pitchFamily="18" charset="2"/>
              </a:rPr>
              <a:t></a:t>
            </a:r>
            <a:r>
              <a:rPr lang="en-US" sz="2800" b="1" dirty="0"/>
              <a:t>] and the pH for a 15.0 </a:t>
            </a:r>
            <a:r>
              <a:rPr lang="en-US" sz="2800" b="1" i="1" dirty="0"/>
              <a:t>M</a:t>
            </a:r>
            <a:r>
              <a:rPr lang="en-US" sz="2800" b="1" dirty="0"/>
              <a:t> NH</a:t>
            </a:r>
            <a:r>
              <a:rPr lang="en-US" sz="2800" b="1" baseline="-25000" dirty="0"/>
              <a:t>3</a:t>
            </a:r>
            <a:r>
              <a:rPr lang="en-US" sz="2800" b="1" dirty="0"/>
              <a:t> solution. The </a:t>
            </a:r>
            <a:r>
              <a:rPr lang="en-US" sz="2800" b="1" i="1" dirty="0"/>
              <a:t>K</a:t>
            </a:r>
            <a:r>
              <a:rPr lang="en-US" sz="2800" b="1" i="1" baseline="-25000" dirty="0"/>
              <a:t>b</a:t>
            </a:r>
            <a:r>
              <a:rPr lang="en-US" sz="2800" b="1" i="1" dirty="0"/>
              <a:t> </a:t>
            </a:r>
            <a:r>
              <a:rPr lang="en-US" sz="2800" b="1" dirty="0"/>
              <a:t>for NH</a:t>
            </a:r>
            <a:r>
              <a:rPr lang="en-US" sz="2800" b="1" baseline="-25000" dirty="0"/>
              <a:t>3</a:t>
            </a:r>
            <a:r>
              <a:rPr lang="en-US" sz="2800" b="1" dirty="0"/>
              <a:t> is 1.8</a:t>
            </a:r>
            <a:r>
              <a:rPr lang="en-US" sz="2800" b="1" dirty="0">
                <a:cs typeface="Times New Roman" pitchFamily="18" charset="0"/>
              </a:rPr>
              <a:t>×</a:t>
            </a:r>
            <a:r>
              <a:rPr lang="en-US" sz="2800" b="1" dirty="0"/>
              <a:t>10</a:t>
            </a:r>
            <a:r>
              <a:rPr lang="en-US" sz="2800" b="1" baseline="30000" dirty="0">
                <a:sym typeface="Symbol" pitchFamily="18" charset="2"/>
              </a:rPr>
              <a:t></a:t>
            </a:r>
            <a:r>
              <a:rPr lang="en-US" sz="2800" b="1" baseline="30000" dirty="0"/>
              <a:t>5</a:t>
            </a:r>
            <a:r>
              <a:rPr lang="en-US" sz="2800" b="1" dirty="0"/>
              <a:t>.</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09800" y="990600"/>
            <a:ext cx="7772400" cy="1143000"/>
          </a:xfrm>
        </p:spPr>
        <p:txBody>
          <a:bodyPr/>
          <a:lstStyle/>
          <a:p>
            <a:pPr algn="l"/>
            <a:r>
              <a:rPr lang="en-US" sz="2800" b="1" dirty="0">
                <a:solidFill>
                  <a:schemeClr val="tx1"/>
                </a:solidFill>
              </a:rPr>
              <a:t>Ex.  Calculate the [OH</a:t>
            </a:r>
            <a:r>
              <a:rPr lang="en-US" sz="2800" b="1" baseline="30000" dirty="0">
                <a:solidFill>
                  <a:schemeClr val="tx1"/>
                </a:solidFill>
                <a:sym typeface="Symbol" pitchFamily="18" charset="2"/>
              </a:rPr>
              <a:t></a:t>
            </a:r>
            <a:r>
              <a:rPr lang="en-US" sz="2800" b="1" dirty="0">
                <a:solidFill>
                  <a:schemeClr val="tx1"/>
                </a:solidFill>
              </a:rPr>
              <a:t>] and the pH for a 15.0 </a:t>
            </a:r>
            <a:r>
              <a:rPr lang="en-US" sz="2800" b="1" i="1" dirty="0">
                <a:solidFill>
                  <a:schemeClr val="tx1"/>
                </a:solidFill>
              </a:rPr>
              <a:t>M</a:t>
            </a:r>
            <a:r>
              <a:rPr lang="en-US" sz="2800" b="1" dirty="0">
                <a:solidFill>
                  <a:schemeClr val="tx1"/>
                </a:solidFill>
              </a:rPr>
              <a:t> NH</a:t>
            </a:r>
            <a:r>
              <a:rPr lang="en-US" sz="2800" b="1" baseline="-25000" dirty="0">
                <a:solidFill>
                  <a:schemeClr val="tx1"/>
                </a:solidFill>
              </a:rPr>
              <a:t>3</a:t>
            </a:r>
            <a:r>
              <a:rPr lang="en-US" sz="2800" b="1" dirty="0">
                <a:solidFill>
                  <a:schemeClr val="tx1"/>
                </a:solidFill>
              </a:rPr>
              <a:t> solution. The </a:t>
            </a:r>
            <a:r>
              <a:rPr lang="en-US" sz="2800" b="1" i="1" dirty="0">
                <a:solidFill>
                  <a:schemeClr val="tx1"/>
                </a:solidFill>
              </a:rPr>
              <a:t>K</a:t>
            </a:r>
            <a:r>
              <a:rPr lang="en-US" sz="2800" b="1" i="1" baseline="-25000" dirty="0">
                <a:solidFill>
                  <a:schemeClr val="tx1"/>
                </a:solidFill>
              </a:rPr>
              <a:t>b</a:t>
            </a:r>
            <a:r>
              <a:rPr lang="en-US" sz="2800" b="1" i="1" dirty="0">
                <a:solidFill>
                  <a:schemeClr val="tx1"/>
                </a:solidFill>
              </a:rPr>
              <a:t> </a:t>
            </a:r>
            <a:r>
              <a:rPr lang="en-US" sz="2800" b="1" dirty="0">
                <a:solidFill>
                  <a:schemeClr val="tx1"/>
                </a:solidFill>
              </a:rPr>
              <a:t>for NH</a:t>
            </a:r>
            <a:r>
              <a:rPr lang="en-US" sz="2800" b="1" baseline="-25000" dirty="0">
                <a:solidFill>
                  <a:schemeClr val="tx1"/>
                </a:solidFill>
              </a:rPr>
              <a:t>3</a:t>
            </a:r>
            <a:r>
              <a:rPr lang="en-US" sz="2800" b="1" dirty="0">
                <a:solidFill>
                  <a:schemeClr val="tx1"/>
                </a:solidFill>
              </a:rPr>
              <a:t> is 1.8</a:t>
            </a:r>
            <a:r>
              <a:rPr lang="en-US" sz="2800" b="1" dirty="0">
                <a:solidFill>
                  <a:schemeClr val="tx1"/>
                </a:solidFill>
                <a:cs typeface="Times New Roman" pitchFamily="18" charset="0"/>
              </a:rPr>
              <a:t>×</a:t>
            </a:r>
            <a:r>
              <a:rPr lang="en-US" sz="2800" b="1" dirty="0">
                <a:solidFill>
                  <a:schemeClr val="tx1"/>
                </a:solidFill>
              </a:rPr>
              <a:t>10</a:t>
            </a:r>
            <a:r>
              <a:rPr lang="en-US" sz="2800" b="1" baseline="30000" dirty="0">
                <a:solidFill>
                  <a:schemeClr val="tx1"/>
                </a:solidFill>
                <a:sym typeface="Symbol" pitchFamily="18" charset="2"/>
              </a:rPr>
              <a:t></a:t>
            </a:r>
            <a:r>
              <a:rPr lang="en-US" sz="2800" b="1" baseline="30000" dirty="0">
                <a:solidFill>
                  <a:schemeClr val="tx1"/>
                </a:solidFill>
              </a:rPr>
              <a:t>5</a:t>
            </a:r>
            <a:r>
              <a:rPr lang="en-US" sz="2800" b="1" dirty="0">
                <a:solidFill>
                  <a:schemeClr val="tx1"/>
                </a:solidFill>
              </a:rPr>
              <a:t>.</a:t>
            </a:r>
            <a:br>
              <a:rPr lang="en-US" sz="3200" b="1" dirty="0">
                <a:solidFill>
                  <a:schemeClr val="tx1"/>
                </a:solidFill>
              </a:rPr>
            </a:br>
            <a:br>
              <a:rPr lang="en-US" sz="3200" dirty="0">
                <a:solidFill>
                  <a:schemeClr val="tx1"/>
                </a:solidFill>
              </a:rPr>
            </a:br>
            <a:r>
              <a:rPr lang="en-US" sz="3200" dirty="0">
                <a:solidFill>
                  <a:schemeClr val="tx1"/>
                </a:solidFill>
              </a:rPr>
              <a:t>             </a:t>
            </a:r>
            <a:br>
              <a:rPr lang="en-US" dirty="0">
                <a:solidFill>
                  <a:schemeClr val="tx1"/>
                </a:solidFill>
              </a:rPr>
            </a:br>
            <a:endParaRPr lang="en-US" dirty="0">
              <a:solidFill>
                <a:schemeClr val="tx1"/>
              </a:solidFill>
            </a:endParaRPr>
          </a:p>
        </p:txBody>
      </p:sp>
      <p:sp>
        <p:nvSpPr>
          <p:cNvPr id="66563" name="Rectangle 3"/>
          <p:cNvSpPr>
            <a:spLocks noGrp="1" noChangeArrowheads="1"/>
          </p:cNvSpPr>
          <p:nvPr>
            <p:ph type="body" idx="1"/>
          </p:nvPr>
        </p:nvSpPr>
        <p:spPr>
          <a:xfrm>
            <a:off x="1905000" y="1219200"/>
            <a:ext cx="8382000" cy="4114800"/>
          </a:xfrm>
        </p:spPr>
        <p:txBody>
          <a:bodyPr/>
          <a:lstStyle/>
          <a:p>
            <a:pPr>
              <a:buFontTx/>
              <a:buNone/>
            </a:pPr>
            <a:r>
              <a:rPr lang="en-US" sz="2800" dirty="0">
                <a:solidFill>
                  <a:srgbClr val="CC0000"/>
                </a:solidFill>
              </a:rPr>
              <a:t>Reaction   NH</a:t>
            </a:r>
            <a:r>
              <a:rPr lang="en-US" sz="2800" baseline="-25000" dirty="0">
                <a:solidFill>
                  <a:srgbClr val="CC0000"/>
                </a:solidFill>
              </a:rPr>
              <a:t>3</a:t>
            </a:r>
            <a:r>
              <a:rPr lang="en-US" sz="2800" dirty="0">
                <a:solidFill>
                  <a:srgbClr val="CC0000"/>
                </a:solidFill>
              </a:rPr>
              <a:t>   +   H</a:t>
            </a:r>
            <a:r>
              <a:rPr lang="en-US" sz="2800" baseline="-25000" dirty="0">
                <a:solidFill>
                  <a:srgbClr val="CC0000"/>
                </a:solidFill>
              </a:rPr>
              <a:t>2</a:t>
            </a:r>
            <a:r>
              <a:rPr lang="en-US" sz="2800" dirty="0">
                <a:solidFill>
                  <a:srgbClr val="CC0000"/>
                </a:solidFill>
              </a:rPr>
              <a:t>O   </a:t>
            </a:r>
            <a:r>
              <a:rPr lang="en-US" sz="2800" dirty="0">
                <a:solidFill>
                  <a:srgbClr val="CC0000"/>
                </a:solidFill>
                <a:sym typeface="Wingdings 3" pitchFamily="18" charset="2"/>
              </a:rPr>
              <a:t></a:t>
            </a:r>
            <a:r>
              <a:rPr lang="en-US" sz="2800" dirty="0">
                <a:solidFill>
                  <a:srgbClr val="CC0000"/>
                </a:solidFill>
              </a:rPr>
              <a:t>    NH</a:t>
            </a:r>
            <a:r>
              <a:rPr lang="en-US" sz="2800" baseline="-25000" dirty="0">
                <a:solidFill>
                  <a:srgbClr val="CC0000"/>
                </a:solidFill>
              </a:rPr>
              <a:t>4</a:t>
            </a:r>
            <a:r>
              <a:rPr lang="en-US" sz="2800" baseline="30000" dirty="0">
                <a:solidFill>
                  <a:srgbClr val="CC0000"/>
                </a:solidFill>
              </a:rPr>
              <a:t>+</a:t>
            </a:r>
            <a:r>
              <a:rPr lang="en-US" sz="2800" dirty="0">
                <a:solidFill>
                  <a:srgbClr val="CC0000"/>
                </a:solidFill>
              </a:rPr>
              <a:t>     +    OH</a:t>
            </a:r>
            <a:r>
              <a:rPr lang="en-US" sz="2800" baseline="30000" dirty="0">
                <a:solidFill>
                  <a:srgbClr val="CC0000"/>
                </a:solidFill>
                <a:sym typeface="Symbol" pitchFamily="18" charset="2"/>
              </a:rPr>
              <a:t></a:t>
            </a:r>
            <a:endParaRPr lang="en-US" sz="2800" dirty="0">
              <a:solidFill>
                <a:srgbClr val="CC0000"/>
              </a:solidFill>
            </a:endParaRPr>
          </a:p>
          <a:p>
            <a:pPr>
              <a:buFontTx/>
              <a:buNone/>
            </a:pPr>
            <a:r>
              <a:rPr lang="en-US" sz="2800" dirty="0">
                <a:solidFill>
                  <a:srgbClr val="CC0000"/>
                </a:solidFill>
              </a:rPr>
              <a:t>Initial  </a:t>
            </a:r>
            <a:r>
              <a:rPr lang="en-US" sz="2800" dirty="0"/>
              <a:t>     15.0        ---                0                0</a:t>
            </a:r>
          </a:p>
          <a:p>
            <a:pPr>
              <a:buFontTx/>
              <a:buNone/>
            </a:pPr>
            <a:r>
              <a:rPr lang="en-US" sz="2800" dirty="0">
                <a:solidFill>
                  <a:srgbClr val="CC0000"/>
                </a:solidFill>
              </a:rPr>
              <a:t>Change   </a:t>
            </a:r>
            <a:r>
              <a:rPr lang="en-US" sz="2800" dirty="0"/>
              <a:t>   </a:t>
            </a:r>
            <a:r>
              <a:rPr lang="en-US" sz="2800" dirty="0">
                <a:sym typeface="Symbol" pitchFamily="18" charset="2"/>
              </a:rPr>
              <a:t></a:t>
            </a:r>
            <a:r>
              <a:rPr lang="en-US" sz="2800" i="1" dirty="0"/>
              <a:t>x</a:t>
            </a:r>
            <a:r>
              <a:rPr lang="en-US" sz="2800" dirty="0"/>
              <a:t>          ---              +</a:t>
            </a:r>
            <a:r>
              <a:rPr lang="en-US" sz="2800" i="1" dirty="0"/>
              <a:t>x</a:t>
            </a:r>
            <a:r>
              <a:rPr lang="en-US" sz="2800" dirty="0"/>
              <a:t>              +</a:t>
            </a:r>
            <a:r>
              <a:rPr lang="en-US" sz="2800" i="1" dirty="0"/>
              <a:t>x</a:t>
            </a:r>
          </a:p>
          <a:p>
            <a:pPr>
              <a:buFontTx/>
              <a:buNone/>
            </a:pPr>
            <a:r>
              <a:rPr lang="en-US" sz="2800" dirty="0" err="1">
                <a:solidFill>
                  <a:srgbClr val="CC0000"/>
                </a:solidFill>
              </a:rPr>
              <a:t>Equil</a:t>
            </a:r>
            <a:r>
              <a:rPr lang="en-US" sz="2800" dirty="0">
                <a:solidFill>
                  <a:srgbClr val="CC0000"/>
                </a:solidFill>
              </a:rPr>
              <a:t> </a:t>
            </a:r>
            <a:r>
              <a:rPr lang="en-US" sz="2800" dirty="0"/>
              <a:t>    15.0</a:t>
            </a:r>
            <a:r>
              <a:rPr lang="en-US" sz="2800" dirty="0">
                <a:sym typeface="Symbol" pitchFamily="18" charset="2"/>
              </a:rPr>
              <a:t></a:t>
            </a:r>
            <a:r>
              <a:rPr lang="en-US" sz="2800" i="1" dirty="0"/>
              <a:t>x</a:t>
            </a:r>
            <a:r>
              <a:rPr lang="en-US" sz="2800" dirty="0"/>
              <a:t>        ---                </a:t>
            </a:r>
            <a:r>
              <a:rPr lang="en-US" sz="2800" i="1" dirty="0"/>
              <a:t>x</a:t>
            </a:r>
            <a:r>
              <a:rPr lang="en-US" sz="2800" dirty="0"/>
              <a:t>                </a:t>
            </a:r>
            <a:r>
              <a:rPr lang="en-US" sz="2800" i="1" dirty="0" err="1"/>
              <a:t>x</a:t>
            </a:r>
            <a:br>
              <a:rPr lang="en-US" sz="2800" dirty="0"/>
            </a:br>
            <a:endParaRPr lang="en-US" sz="2800" dirty="0"/>
          </a:p>
          <a:p>
            <a:pPr>
              <a:buFontTx/>
              <a:buNone/>
            </a:pPr>
            <a:r>
              <a:rPr lang="en-US" sz="2800" dirty="0"/>
              <a:t> </a:t>
            </a:r>
            <a:r>
              <a:rPr lang="en-US" sz="2800" i="1" dirty="0" err="1"/>
              <a:t>K</a:t>
            </a:r>
            <a:r>
              <a:rPr lang="en-US" sz="2800" i="1" baseline="-25000" dirty="0" err="1"/>
              <a:t>b</a:t>
            </a:r>
            <a:r>
              <a:rPr lang="en-US" sz="2800" dirty="0"/>
              <a:t> = 1.8</a:t>
            </a:r>
            <a:r>
              <a:rPr lang="en-US" sz="2800" dirty="0">
                <a:cs typeface="Times New Roman" pitchFamily="18" charset="0"/>
              </a:rPr>
              <a:t>×</a:t>
            </a:r>
            <a:r>
              <a:rPr lang="en-US" sz="2800" dirty="0"/>
              <a:t>10</a:t>
            </a:r>
            <a:r>
              <a:rPr lang="en-US" sz="2800" baseline="30000" dirty="0"/>
              <a:t>-5</a:t>
            </a:r>
            <a:r>
              <a:rPr lang="en-US" sz="2800" dirty="0"/>
              <a:t> = [NH</a:t>
            </a:r>
            <a:r>
              <a:rPr lang="en-US" sz="2800" baseline="-25000" dirty="0"/>
              <a:t>4</a:t>
            </a:r>
            <a:r>
              <a:rPr lang="en-US" sz="2800" baseline="30000" dirty="0"/>
              <a:t>+</a:t>
            </a:r>
            <a:r>
              <a:rPr lang="en-US" sz="2800" dirty="0"/>
              <a:t>][OH</a:t>
            </a:r>
            <a:r>
              <a:rPr lang="en-US" sz="2800" baseline="30000" dirty="0">
                <a:sym typeface="Symbol" pitchFamily="18" charset="2"/>
              </a:rPr>
              <a:t></a:t>
            </a:r>
            <a:r>
              <a:rPr lang="en-US" sz="2800" dirty="0"/>
              <a:t>]  </a:t>
            </a:r>
            <a:r>
              <a:rPr lang="en-US" sz="2800" dirty="0">
                <a:sym typeface="Symbol" pitchFamily="18" charset="2"/>
              </a:rPr>
              <a:t>=</a:t>
            </a:r>
            <a:r>
              <a:rPr lang="en-US" sz="2800" dirty="0"/>
              <a:t>       </a:t>
            </a:r>
            <a:r>
              <a:rPr lang="en-US" sz="2800" i="1" dirty="0"/>
              <a:t>x</a:t>
            </a:r>
            <a:r>
              <a:rPr lang="en-US" sz="2800" baseline="30000" dirty="0"/>
              <a:t>2</a:t>
            </a:r>
            <a:r>
              <a:rPr lang="en-US" sz="2800" dirty="0"/>
              <a:t>        </a:t>
            </a:r>
            <a:r>
              <a:rPr lang="en-US" sz="2800" dirty="0">
                <a:sym typeface="Symbol" pitchFamily="18" charset="2"/>
              </a:rPr>
              <a:t></a:t>
            </a:r>
            <a:r>
              <a:rPr lang="en-US" sz="2800" dirty="0"/>
              <a:t>    </a:t>
            </a:r>
            <a:r>
              <a:rPr lang="en-US" sz="2800" i="1" dirty="0"/>
              <a:t>x</a:t>
            </a:r>
            <a:r>
              <a:rPr lang="en-US" sz="2800" baseline="30000" dirty="0"/>
              <a:t>2 </a:t>
            </a:r>
          </a:p>
          <a:p>
            <a:pPr>
              <a:buFontTx/>
              <a:buNone/>
            </a:pPr>
            <a:r>
              <a:rPr lang="en-US" sz="2800" baseline="30000" dirty="0"/>
              <a:t>                                               </a:t>
            </a:r>
            <a:r>
              <a:rPr lang="en-US" sz="2800" dirty="0"/>
              <a:t>[NH</a:t>
            </a:r>
            <a:r>
              <a:rPr lang="en-US" sz="2800" baseline="-25000" dirty="0"/>
              <a:t>3</a:t>
            </a:r>
            <a:r>
              <a:rPr lang="en-US" sz="2800" dirty="0"/>
              <a:t>]               15.0</a:t>
            </a:r>
            <a:r>
              <a:rPr lang="en-US" sz="2800" dirty="0">
                <a:sym typeface="Symbol" pitchFamily="18" charset="2"/>
              </a:rPr>
              <a:t></a:t>
            </a:r>
            <a:r>
              <a:rPr lang="en-US" sz="2800" i="1" dirty="0"/>
              <a:t>x</a:t>
            </a:r>
            <a:r>
              <a:rPr lang="en-US" sz="2800" dirty="0"/>
              <a:t>       15.0</a:t>
            </a:r>
          </a:p>
          <a:p>
            <a:pPr>
              <a:buFontTx/>
              <a:buNone/>
            </a:pPr>
            <a:r>
              <a:rPr lang="en-US" sz="2800" i="1" dirty="0"/>
              <a:t>x</a:t>
            </a:r>
            <a:r>
              <a:rPr lang="en-US" sz="2800" dirty="0"/>
              <a:t> = </a:t>
            </a:r>
            <a:r>
              <a:rPr lang="en-US" sz="2800" b="1" dirty="0"/>
              <a:t>1.6</a:t>
            </a:r>
            <a:r>
              <a:rPr lang="en-US" sz="2800" b="1" dirty="0">
                <a:cs typeface="Times New Roman" pitchFamily="18" charset="0"/>
              </a:rPr>
              <a:t>×</a:t>
            </a:r>
            <a:r>
              <a:rPr lang="en-US" sz="2800" b="1" dirty="0"/>
              <a:t>10</a:t>
            </a:r>
            <a:r>
              <a:rPr lang="en-US" sz="2800" b="1" baseline="30000" dirty="0"/>
              <a:t>-2</a:t>
            </a:r>
            <a:r>
              <a:rPr lang="en-US" sz="2800" b="1" dirty="0"/>
              <a:t> = [OH</a:t>
            </a:r>
            <a:r>
              <a:rPr lang="en-US" sz="2800" b="1" baseline="30000" dirty="0"/>
              <a:t>-</a:t>
            </a:r>
            <a:r>
              <a:rPr lang="en-US" sz="2800" b="1" dirty="0"/>
              <a:t>]</a:t>
            </a:r>
            <a:endParaRPr lang="en-US" sz="2800" dirty="0"/>
          </a:p>
          <a:p>
            <a:pPr>
              <a:buFontTx/>
              <a:buNone/>
            </a:pPr>
            <a:r>
              <a:rPr lang="en-US" sz="2800" dirty="0"/>
              <a:t>pOH = </a:t>
            </a:r>
            <a:r>
              <a:rPr lang="en-US" sz="2800" dirty="0">
                <a:sym typeface="Symbol" pitchFamily="18" charset="2"/>
              </a:rPr>
              <a:t></a:t>
            </a:r>
            <a:r>
              <a:rPr lang="en-US" sz="2800" dirty="0"/>
              <a:t>log 1.6</a:t>
            </a:r>
            <a:r>
              <a:rPr lang="en-US" sz="2800" dirty="0">
                <a:cs typeface="Times New Roman" pitchFamily="18" charset="0"/>
              </a:rPr>
              <a:t>×</a:t>
            </a:r>
            <a:r>
              <a:rPr lang="en-US" sz="2800" dirty="0"/>
              <a:t>10</a:t>
            </a:r>
            <a:r>
              <a:rPr lang="en-US" sz="2800" baseline="30000" dirty="0">
                <a:sym typeface="Symbol" pitchFamily="18" charset="2"/>
              </a:rPr>
              <a:t></a:t>
            </a:r>
            <a:r>
              <a:rPr lang="en-US" sz="2800" baseline="30000" dirty="0"/>
              <a:t>2  </a:t>
            </a:r>
            <a:r>
              <a:rPr lang="en-US" sz="2800" dirty="0"/>
              <a:t> = 1.78</a:t>
            </a:r>
          </a:p>
          <a:p>
            <a:pPr>
              <a:buFontTx/>
              <a:buNone/>
            </a:pPr>
            <a:r>
              <a:rPr lang="en-US" sz="2800" dirty="0"/>
              <a:t>pH = 14</a:t>
            </a:r>
            <a:r>
              <a:rPr lang="en-US" sz="2800" dirty="0">
                <a:sym typeface="Symbol" pitchFamily="18" charset="2"/>
              </a:rPr>
              <a:t></a:t>
            </a:r>
            <a:r>
              <a:rPr lang="en-US" sz="2800" dirty="0"/>
              <a:t>1.78 = </a:t>
            </a:r>
            <a:r>
              <a:rPr lang="en-US" sz="2800" b="1" dirty="0">
                <a:solidFill>
                  <a:schemeClr val="accent2"/>
                </a:solidFill>
              </a:rPr>
              <a:t>12.22</a:t>
            </a:r>
            <a:br>
              <a:rPr lang="en-US" sz="2800" dirty="0">
                <a:solidFill>
                  <a:schemeClr val="accent2"/>
                </a:solidFill>
              </a:rPr>
            </a:br>
            <a:endParaRPr lang="en-US" sz="2400" dirty="0"/>
          </a:p>
        </p:txBody>
      </p:sp>
      <p:sp>
        <p:nvSpPr>
          <p:cNvPr id="59396" name="Line 4"/>
          <p:cNvSpPr>
            <a:spLocks noChangeShapeType="1"/>
          </p:cNvSpPr>
          <p:nvPr/>
        </p:nvSpPr>
        <p:spPr bwMode="auto">
          <a:xfrm>
            <a:off x="4495800" y="4267200"/>
            <a:ext cx="1905000" cy="0"/>
          </a:xfrm>
          <a:prstGeom prst="line">
            <a:avLst/>
          </a:prstGeom>
          <a:noFill/>
          <a:ln w="9525">
            <a:solidFill>
              <a:schemeClr val="tx1"/>
            </a:solidFill>
            <a:round/>
            <a:headEnd/>
            <a:tailEnd/>
          </a:ln>
        </p:spPr>
        <p:txBody>
          <a:bodyPr wrap="none" anchor="ctr"/>
          <a:lstStyle/>
          <a:p>
            <a:endParaRPr lang="en-US"/>
          </a:p>
        </p:txBody>
      </p:sp>
      <p:sp>
        <p:nvSpPr>
          <p:cNvPr id="59397" name="Line 5"/>
          <p:cNvSpPr>
            <a:spLocks noChangeShapeType="1"/>
          </p:cNvSpPr>
          <p:nvPr/>
        </p:nvSpPr>
        <p:spPr bwMode="auto">
          <a:xfrm>
            <a:off x="7010400" y="4191000"/>
            <a:ext cx="838200" cy="0"/>
          </a:xfrm>
          <a:prstGeom prst="line">
            <a:avLst/>
          </a:prstGeom>
          <a:noFill/>
          <a:ln w="9525">
            <a:solidFill>
              <a:schemeClr val="tx1"/>
            </a:solidFill>
            <a:round/>
            <a:headEnd/>
            <a:tailEnd/>
          </a:ln>
        </p:spPr>
        <p:txBody>
          <a:bodyPr wrap="none" anchor="ctr"/>
          <a:lstStyle/>
          <a:p>
            <a:endParaRPr lang="en-US"/>
          </a:p>
        </p:txBody>
      </p:sp>
      <p:sp>
        <p:nvSpPr>
          <p:cNvPr id="59398" name="Line 6"/>
          <p:cNvSpPr>
            <a:spLocks noChangeShapeType="1"/>
          </p:cNvSpPr>
          <p:nvPr/>
        </p:nvSpPr>
        <p:spPr bwMode="auto">
          <a:xfrm>
            <a:off x="8610600" y="4191000"/>
            <a:ext cx="609600" cy="0"/>
          </a:xfrm>
          <a:prstGeom prst="line">
            <a:avLst/>
          </a:prstGeom>
          <a:noFill/>
          <a:ln w="9525">
            <a:solidFill>
              <a:schemeClr val="tx1"/>
            </a:solidFill>
            <a:round/>
            <a:headEnd/>
            <a:tailEnd/>
          </a:ln>
        </p:spPr>
        <p:txBody>
          <a:bodyPr wrap="none" anchor="ctr"/>
          <a:lstStyle/>
          <a:p>
            <a:endParaRPr lang="en-US"/>
          </a:p>
        </p:txBody>
      </p:sp>
      <p:sp>
        <p:nvSpPr>
          <p:cNvPr id="59399" name="Rectangle 7"/>
          <p:cNvSpPr>
            <a:spLocks noChangeArrowheads="1"/>
          </p:cNvSpPr>
          <p:nvPr/>
        </p:nvSpPr>
        <p:spPr bwMode="auto">
          <a:xfrm>
            <a:off x="1828800" y="1295400"/>
            <a:ext cx="7315200" cy="2209800"/>
          </a:xfrm>
          <a:prstGeom prst="rect">
            <a:avLst/>
          </a:prstGeom>
          <a:noFill/>
          <a:ln w="9525">
            <a:solidFill>
              <a:schemeClr val="tx1"/>
            </a:solidFill>
            <a:miter lim="800000"/>
            <a:headEnd/>
            <a:tailEnd/>
          </a:ln>
        </p:spPr>
        <p:txBody>
          <a:bodyPr wrap="none" anchor="ctr"/>
          <a:lstStyle/>
          <a:p>
            <a:pPr eaLnBrk="0" hangingPunct="0"/>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65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3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6656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6656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6656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66563">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39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39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39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499"/>
                                          </p:stCondLst>
                                        </p:cTn>
                                        <p:tgtEl>
                                          <p:spTgt spid="66563">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499"/>
                                          </p:stCondLst>
                                        </p:cTn>
                                        <p:tgtEl>
                                          <p:spTgt spid="66563">
                                            <p:txEl>
                                              <p:pRg st="6" end="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499"/>
                                          </p:stCondLst>
                                        </p:cTn>
                                        <p:tgtEl>
                                          <p:spTgt spid="66563">
                                            <p:txEl>
                                              <p:pRg st="7" end="7"/>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499"/>
                                          </p:stCondLst>
                                        </p:cTn>
                                        <p:tgtEl>
                                          <p:spTgt spid="6656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3" grpId="0" build="p" autoUpdateAnimBg="0"/>
      <p:bldP spid="59396" grpId="0" animBg="1"/>
      <p:bldP spid="59397" grpId="0" animBg="1"/>
      <p:bldP spid="59398" grpId="0" animBg="1"/>
      <p:bldP spid="59399"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Text Box 8"/>
          <p:cNvSpPr txBox="1">
            <a:spLocks noChangeArrowheads="1"/>
          </p:cNvSpPr>
          <p:nvPr/>
        </p:nvSpPr>
        <p:spPr bwMode="auto">
          <a:xfrm>
            <a:off x="457200" y="704850"/>
            <a:ext cx="11277599" cy="3352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eaLnBrk="0" hangingPunct="0">
              <a:defRPr sz="1600">
                <a:solidFill>
                  <a:schemeClr val="tx1"/>
                </a:solidFill>
                <a:latin typeface="Times New Roman" pitchFamily="18" charset="0"/>
                <a:ea typeface="ＭＳ Ｐゴシック" pitchFamily="34" charset="-128"/>
              </a:defRPr>
            </a:lvl1pPr>
            <a:lvl2pPr marL="742950" indent="-285750" eaLnBrk="0" hangingPunct="0">
              <a:defRPr sz="1600">
                <a:solidFill>
                  <a:schemeClr val="tx1"/>
                </a:solidFill>
                <a:latin typeface="Times New Roman" pitchFamily="18" charset="0"/>
                <a:ea typeface="ＭＳ Ｐゴシック" pitchFamily="34" charset="-128"/>
              </a:defRPr>
            </a:lvl2pPr>
            <a:lvl3pPr marL="1143000" indent="-228600" eaLnBrk="0" hangingPunct="0">
              <a:defRPr sz="1600">
                <a:solidFill>
                  <a:schemeClr val="tx1"/>
                </a:solidFill>
                <a:latin typeface="Times New Roman" pitchFamily="18" charset="0"/>
                <a:ea typeface="ＭＳ Ｐゴシック" pitchFamily="34" charset="-128"/>
              </a:defRPr>
            </a:lvl3pPr>
            <a:lvl4pPr marL="1600200" indent="-228600" eaLnBrk="0" hangingPunct="0">
              <a:defRPr sz="1600">
                <a:solidFill>
                  <a:schemeClr val="tx1"/>
                </a:solidFill>
                <a:latin typeface="Times New Roman" pitchFamily="18" charset="0"/>
                <a:ea typeface="ＭＳ Ｐゴシック" pitchFamily="34" charset="-128"/>
              </a:defRPr>
            </a:lvl4pPr>
            <a:lvl5pPr marL="2057400" indent="-228600" eaLnBrk="0" hangingPunct="0">
              <a:defRPr sz="1600">
                <a:solidFill>
                  <a:schemeClr val="tx1"/>
                </a:solidFill>
                <a:latin typeface="Times New Roman" pitchFamily="18" charset="0"/>
                <a:ea typeface="ＭＳ Ｐゴシック" pitchFamily="34" charset="-128"/>
              </a:defRPr>
            </a:lvl5pPr>
            <a:lvl6pPr marL="2514600" indent="-228600" eaLnBrk="0" fontAlgn="base" hangingPunct="0">
              <a:spcBef>
                <a:spcPct val="0"/>
              </a:spcBef>
              <a:spcAft>
                <a:spcPct val="0"/>
              </a:spcAft>
              <a:defRPr sz="1600">
                <a:solidFill>
                  <a:schemeClr val="tx1"/>
                </a:solidFill>
                <a:latin typeface="Times New Roman" pitchFamily="18" charset="0"/>
                <a:ea typeface="ＭＳ Ｐゴシック" pitchFamily="34" charset="-128"/>
              </a:defRPr>
            </a:lvl6pPr>
            <a:lvl7pPr marL="2971800" indent="-228600" eaLnBrk="0" fontAlgn="base" hangingPunct="0">
              <a:spcBef>
                <a:spcPct val="0"/>
              </a:spcBef>
              <a:spcAft>
                <a:spcPct val="0"/>
              </a:spcAft>
              <a:defRPr sz="1600">
                <a:solidFill>
                  <a:schemeClr val="tx1"/>
                </a:solidFill>
                <a:latin typeface="Times New Roman" pitchFamily="18" charset="0"/>
                <a:ea typeface="ＭＳ Ｐゴシック" pitchFamily="34" charset="-128"/>
              </a:defRPr>
            </a:lvl7pPr>
            <a:lvl8pPr marL="3429000" indent="-228600" eaLnBrk="0" fontAlgn="base" hangingPunct="0">
              <a:spcBef>
                <a:spcPct val="0"/>
              </a:spcBef>
              <a:spcAft>
                <a:spcPct val="0"/>
              </a:spcAft>
              <a:defRPr sz="1600">
                <a:solidFill>
                  <a:schemeClr val="tx1"/>
                </a:solidFill>
                <a:latin typeface="Times New Roman" pitchFamily="18" charset="0"/>
                <a:ea typeface="ＭＳ Ｐゴシック" pitchFamily="34" charset="-128"/>
              </a:defRPr>
            </a:lvl8pPr>
            <a:lvl9pPr marL="3886200" indent="-228600" eaLnBrk="0" fontAlgn="base" hangingPunct="0">
              <a:spcBef>
                <a:spcPct val="0"/>
              </a:spcBef>
              <a:spcAft>
                <a:spcPct val="0"/>
              </a:spcAft>
              <a:defRPr sz="1600">
                <a:solidFill>
                  <a:schemeClr val="tx1"/>
                </a:solidFill>
                <a:latin typeface="Times New Roman" pitchFamily="18" charset="0"/>
                <a:ea typeface="ＭＳ Ｐゴシック" pitchFamily="34" charset="-128"/>
              </a:defRPr>
            </a:lvl9pPr>
          </a:lstStyle>
          <a:p>
            <a:pPr>
              <a:defRPr/>
            </a:pPr>
            <a:r>
              <a:rPr lang="en-US" altLang="en-US" sz="2800" dirty="0"/>
              <a:t>Practice: Find the [OH</a:t>
            </a:r>
            <a:r>
              <a:rPr lang="en-US" altLang="en-US" sz="2800" baseline="30000" dirty="0"/>
              <a:t>−</a:t>
            </a:r>
            <a:r>
              <a:rPr lang="en-US" altLang="en-US" sz="2800" dirty="0"/>
              <a:t>] and pH of a 0.100 M solution of p</a:t>
            </a:r>
            <a:r>
              <a:rPr lang="en-US" sz="2800" dirty="0"/>
              <a:t>yridine, C</a:t>
            </a:r>
            <a:r>
              <a:rPr lang="en-US" sz="2800" baseline="-25000" dirty="0"/>
              <a:t>5</a:t>
            </a:r>
            <a:r>
              <a:rPr lang="en-US" sz="2800" dirty="0"/>
              <a:t>H</a:t>
            </a:r>
            <a:r>
              <a:rPr lang="en-US" sz="2800" baseline="-25000" dirty="0"/>
              <a:t>5</a:t>
            </a:r>
            <a:r>
              <a:rPr lang="en-US" sz="2800" dirty="0"/>
              <a:t>N. (</a:t>
            </a:r>
            <a:r>
              <a:rPr lang="en-US" sz="2800" dirty="0" err="1"/>
              <a:t>p</a:t>
            </a:r>
            <a:r>
              <a:rPr lang="en-US" sz="2800" i="1" dirty="0" err="1"/>
              <a:t>K</a:t>
            </a:r>
            <a:r>
              <a:rPr lang="en-US" sz="2800" i="1" baseline="-25000" dirty="0" err="1"/>
              <a:t>b</a:t>
            </a:r>
            <a:r>
              <a:rPr lang="en-US" sz="2800" dirty="0"/>
              <a:t> = 8.85)</a:t>
            </a:r>
            <a:endParaRPr lang="en-US" altLang="en-US" sz="2800" dirty="0"/>
          </a:p>
          <a:p>
            <a:pPr marL="514350" indent="-514350">
              <a:buFontTx/>
              <a:buAutoNum type="alphaLcPeriod"/>
              <a:defRPr/>
            </a:pPr>
            <a:r>
              <a:rPr lang="en-US" altLang="en-US" sz="2800" dirty="0"/>
              <a:t>Write a Kb expression, and find Kb from </a:t>
            </a:r>
            <a:r>
              <a:rPr lang="en-US" altLang="en-US" sz="2800" dirty="0" err="1"/>
              <a:t>pKb</a:t>
            </a:r>
            <a:r>
              <a:rPr lang="en-US" altLang="en-US" sz="2800" dirty="0"/>
              <a:t>.</a:t>
            </a:r>
          </a:p>
          <a:p>
            <a:pPr marL="514350" indent="-514350">
              <a:buFontTx/>
              <a:buAutoNum type="alphaLcPeriod"/>
              <a:defRPr/>
            </a:pPr>
            <a:r>
              <a:rPr lang="en-US" altLang="en-US" sz="2800" dirty="0"/>
              <a:t>Find the [OH-] and </a:t>
            </a:r>
            <a:r>
              <a:rPr lang="en-US" altLang="en-US" sz="2800" dirty="0" err="1"/>
              <a:t>pH.</a:t>
            </a:r>
            <a:endParaRPr lang="en-US" altLang="en-US" sz="2800" dirty="0"/>
          </a:p>
        </p:txBody>
      </p:sp>
    </p:spTree>
    <p:extLst>
      <p:ext uri="{BB962C8B-B14F-4D97-AF65-F5344CB8AC3E}">
        <p14:creationId xmlns:p14="http://schemas.microsoft.com/office/powerpoint/2010/main" val="26761716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
            <a:ext cx="4495800" cy="1555652"/>
          </a:xfrm>
        </p:spPr>
        <p:txBody>
          <a:bodyPr>
            <a:noAutofit/>
          </a:bodyPr>
          <a:lstStyle/>
          <a:p>
            <a:pPr algn="r"/>
            <a:r>
              <a:rPr lang="en-US" sz="3600" dirty="0">
                <a:solidFill>
                  <a:schemeClr val="bg1"/>
                </a:solidFill>
              </a:rPr>
              <a:t>8.4 Acid Base Reactions and Buffers</a:t>
            </a:r>
          </a:p>
        </p:txBody>
      </p:sp>
      <p:sp>
        <p:nvSpPr>
          <p:cNvPr id="6" name="Title 1">
            <a:extLst>
              <a:ext uri="{FF2B5EF4-FFF2-40B4-BE49-F238E27FC236}">
                <a16:creationId xmlns:a16="http://schemas.microsoft.com/office/drawing/2014/main" id="{007333CD-50E1-4B49-AC12-C8FB37DD0D17}"/>
              </a:ext>
            </a:extLst>
          </p:cNvPr>
          <p:cNvSpPr txBox="1">
            <a:spLocks/>
          </p:cNvSpPr>
          <p:nvPr/>
        </p:nvSpPr>
        <p:spPr bwMode="auto">
          <a:xfrm>
            <a:off x="11048999" y="0"/>
            <a:ext cx="1140655" cy="6858000"/>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18623028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914400" y="0"/>
            <a:ext cx="10363200" cy="1066800"/>
          </a:xfrm>
        </p:spPr>
        <p:txBody>
          <a:bodyPr/>
          <a:lstStyle/>
          <a:p>
            <a:r>
              <a:rPr lang="en-US" sz="4000" dirty="0">
                <a:solidFill>
                  <a:schemeClr val="tx1"/>
                </a:solidFill>
              </a:rPr>
              <a:t>Remember: Weak Acids and Bases have </a:t>
            </a:r>
            <a:r>
              <a:rPr lang="en-US" sz="4000" i="1" dirty="0">
                <a:solidFill>
                  <a:schemeClr val="tx1"/>
                </a:solidFill>
              </a:rPr>
              <a:t>significant</a:t>
            </a:r>
            <a:r>
              <a:rPr lang="en-US" sz="4000" dirty="0">
                <a:solidFill>
                  <a:schemeClr val="tx1"/>
                </a:solidFill>
              </a:rPr>
              <a:t> conjugates</a:t>
            </a:r>
          </a:p>
        </p:txBody>
      </p:sp>
      <p:sp>
        <p:nvSpPr>
          <p:cNvPr id="2" name="Content Placeholder 1"/>
          <p:cNvSpPr>
            <a:spLocks noGrp="1"/>
          </p:cNvSpPr>
          <p:nvPr>
            <p:ph idx="1"/>
          </p:nvPr>
        </p:nvSpPr>
        <p:spPr>
          <a:xfrm>
            <a:off x="457200" y="1219200"/>
            <a:ext cx="11506200" cy="5410200"/>
          </a:xfrm>
        </p:spPr>
        <p:txBody>
          <a:bodyPr/>
          <a:lstStyle/>
          <a:p>
            <a:r>
              <a:rPr lang="en-US" dirty="0"/>
              <a:t>Because the conjugates of weak acids and bases are significant, their presence alone (without their partner) in water will cause the solution pH ≠ 7</a:t>
            </a:r>
          </a:p>
          <a:p>
            <a:r>
              <a:rPr lang="en-US" dirty="0"/>
              <a:t>Example: The salt NaCl</a:t>
            </a:r>
            <a:r>
              <a:rPr lang="en-US" baseline="-25000" dirty="0"/>
              <a:t>2</a:t>
            </a:r>
            <a:r>
              <a:rPr lang="en-US" dirty="0"/>
              <a:t>O contains </a:t>
            </a:r>
            <a:r>
              <a:rPr lang="en-US" dirty="0">
                <a:solidFill>
                  <a:srgbClr val="FF0000"/>
                </a:solidFill>
              </a:rPr>
              <a:t>Cl</a:t>
            </a:r>
            <a:r>
              <a:rPr lang="en-US" baseline="-25000" dirty="0">
                <a:solidFill>
                  <a:srgbClr val="FF0000"/>
                </a:solidFill>
              </a:rPr>
              <a:t>2</a:t>
            </a:r>
            <a:r>
              <a:rPr lang="en-US" dirty="0">
                <a:solidFill>
                  <a:srgbClr val="FF0000"/>
                </a:solidFill>
              </a:rPr>
              <a:t>O</a:t>
            </a:r>
            <a:r>
              <a:rPr lang="en-US" baseline="30000" dirty="0">
                <a:solidFill>
                  <a:srgbClr val="FF0000"/>
                </a:solidFill>
              </a:rPr>
              <a:t>-</a:t>
            </a:r>
            <a:r>
              <a:rPr lang="en-US" dirty="0"/>
              <a:t>, the conjugate base of </a:t>
            </a:r>
            <a:r>
              <a:rPr lang="en-US" dirty="0">
                <a:solidFill>
                  <a:srgbClr val="FF0000"/>
                </a:solidFill>
              </a:rPr>
              <a:t>HCl</a:t>
            </a:r>
            <a:r>
              <a:rPr lang="en-US" baseline="-25000" dirty="0">
                <a:solidFill>
                  <a:srgbClr val="FF0000"/>
                </a:solidFill>
              </a:rPr>
              <a:t>2</a:t>
            </a:r>
            <a:r>
              <a:rPr lang="en-US" dirty="0">
                <a:solidFill>
                  <a:srgbClr val="FF0000"/>
                </a:solidFill>
              </a:rPr>
              <a:t>O</a:t>
            </a:r>
            <a:r>
              <a:rPr lang="en-US" dirty="0"/>
              <a:t>. The presence of this conjugate base would make the solution basic according to the following reaction:</a:t>
            </a:r>
          </a:p>
          <a:p>
            <a:pPr marL="0" indent="0" algn="ctr">
              <a:buNone/>
            </a:pPr>
            <a:r>
              <a:rPr lang="en-US" dirty="0">
                <a:solidFill>
                  <a:srgbClr val="FF0000"/>
                </a:solidFill>
              </a:rPr>
              <a:t>Cl</a:t>
            </a:r>
            <a:r>
              <a:rPr lang="en-US" baseline="-25000" dirty="0">
                <a:solidFill>
                  <a:srgbClr val="FF0000"/>
                </a:solidFill>
              </a:rPr>
              <a:t>2</a:t>
            </a:r>
            <a:r>
              <a:rPr lang="en-US" dirty="0">
                <a:solidFill>
                  <a:srgbClr val="FF0000"/>
                </a:solidFill>
              </a:rPr>
              <a:t>O</a:t>
            </a:r>
            <a:r>
              <a:rPr lang="en-US" baseline="30000" dirty="0">
                <a:solidFill>
                  <a:srgbClr val="FF0000"/>
                </a:solidFill>
              </a:rPr>
              <a:t>-</a:t>
            </a:r>
            <a:r>
              <a:rPr lang="en-US" dirty="0">
                <a:solidFill>
                  <a:srgbClr val="FF0000"/>
                </a:solidFill>
              </a:rPr>
              <a:t> + H</a:t>
            </a:r>
            <a:r>
              <a:rPr lang="en-US" baseline="-25000" dirty="0">
                <a:solidFill>
                  <a:srgbClr val="FF0000"/>
                </a:solidFill>
              </a:rPr>
              <a:t>2</a:t>
            </a:r>
            <a:r>
              <a:rPr lang="en-US" dirty="0">
                <a:solidFill>
                  <a:srgbClr val="FF0000"/>
                </a:solidFill>
              </a:rPr>
              <a:t>O </a:t>
            </a:r>
            <a:r>
              <a:rPr lang="en-US" dirty="0">
                <a:solidFill>
                  <a:srgbClr val="FF0000"/>
                </a:solidFill>
                <a:latin typeface="Cambria Math" panose="02040503050406030204" pitchFamily="18" charset="0"/>
                <a:ea typeface="Cambria Math" panose="02040503050406030204" pitchFamily="18" charset="0"/>
              </a:rPr>
              <a:t>⇌ </a:t>
            </a:r>
            <a:r>
              <a:rPr lang="en-US" dirty="0">
                <a:solidFill>
                  <a:srgbClr val="FF0000"/>
                </a:solidFill>
              </a:rPr>
              <a:t>HCl</a:t>
            </a:r>
            <a:r>
              <a:rPr lang="en-US" baseline="-25000" dirty="0">
                <a:solidFill>
                  <a:srgbClr val="FF0000"/>
                </a:solidFill>
              </a:rPr>
              <a:t>2</a:t>
            </a:r>
            <a:r>
              <a:rPr lang="en-US" dirty="0">
                <a:solidFill>
                  <a:srgbClr val="FF0000"/>
                </a:solidFill>
              </a:rPr>
              <a:t>O + OH</a:t>
            </a:r>
            <a:r>
              <a:rPr lang="en-US" baseline="30000" dirty="0">
                <a:solidFill>
                  <a:srgbClr val="FF0000"/>
                </a:solidFill>
              </a:rPr>
              <a:t>-</a:t>
            </a:r>
            <a:endParaRPr lang="en-US"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 calcmode="lin" valueType="num">
                                      <p:cBhvr additive="base">
                                        <p:cTn id="7"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11277600" cy="1143000"/>
          </a:xfrm>
        </p:spPr>
        <p:txBody>
          <a:bodyPr/>
          <a:lstStyle/>
          <a:p>
            <a:r>
              <a:rPr lang="en-US" sz="3200" dirty="0"/>
              <a:t>Each of these salts contains a conjugate acid or base. Identify the significant conjugate acid or base, the partner, and hypothesize if a solution of salt would be acidic or basic or neutral.</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69783086"/>
              </p:ext>
            </p:extLst>
          </p:nvPr>
        </p:nvGraphicFramePr>
        <p:xfrm>
          <a:off x="616527" y="1828800"/>
          <a:ext cx="11125200" cy="3276598"/>
        </p:xfrm>
        <a:graphic>
          <a:graphicData uri="http://schemas.openxmlformats.org/drawingml/2006/table">
            <a:tbl>
              <a:tblPr firstRow="1" bandRow="1">
                <a:tableStyleId>{F5AB1C69-6EDB-4FF4-983F-18BD219EF322}</a:tableStyleId>
              </a:tblPr>
              <a:tblGrid>
                <a:gridCol w="1669473">
                  <a:extLst>
                    <a:ext uri="{9D8B030D-6E8A-4147-A177-3AD203B41FA5}">
                      <a16:colId xmlns:a16="http://schemas.microsoft.com/office/drawing/2014/main" val="1282587220"/>
                    </a:ext>
                  </a:extLst>
                </a:gridCol>
                <a:gridCol w="2057400">
                  <a:extLst>
                    <a:ext uri="{9D8B030D-6E8A-4147-A177-3AD203B41FA5}">
                      <a16:colId xmlns:a16="http://schemas.microsoft.com/office/drawing/2014/main" val="53801046"/>
                    </a:ext>
                  </a:extLst>
                </a:gridCol>
                <a:gridCol w="1981200">
                  <a:extLst>
                    <a:ext uri="{9D8B030D-6E8A-4147-A177-3AD203B41FA5}">
                      <a16:colId xmlns:a16="http://schemas.microsoft.com/office/drawing/2014/main" val="418396899"/>
                    </a:ext>
                  </a:extLst>
                </a:gridCol>
                <a:gridCol w="2438400">
                  <a:extLst>
                    <a:ext uri="{9D8B030D-6E8A-4147-A177-3AD203B41FA5}">
                      <a16:colId xmlns:a16="http://schemas.microsoft.com/office/drawing/2014/main" val="2710300317"/>
                    </a:ext>
                  </a:extLst>
                </a:gridCol>
                <a:gridCol w="2978727">
                  <a:extLst>
                    <a:ext uri="{9D8B030D-6E8A-4147-A177-3AD203B41FA5}">
                      <a16:colId xmlns:a16="http://schemas.microsoft.com/office/drawing/2014/main" val="2028585753"/>
                    </a:ext>
                  </a:extLst>
                </a:gridCol>
              </a:tblGrid>
              <a:tr h="1026006">
                <a:tc>
                  <a:txBody>
                    <a:bodyPr/>
                    <a:lstStyle/>
                    <a:p>
                      <a:r>
                        <a:rPr lang="en-US" sz="2800" dirty="0">
                          <a:solidFill>
                            <a:schemeClr val="tx1"/>
                          </a:solidFill>
                        </a:rPr>
                        <a:t>Salt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Significant 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Partner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pH</a:t>
                      </a:r>
                      <a:r>
                        <a:rPr lang="en-US" sz="2800" baseline="0" dirty="0">
                          <a:solidFill>
                            <a:schemeClr val="tx1"/>
                          </a:solidFill>
                        </a:rPr>
                        <a:t> of salt solution?</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Basic,</a:t>
                      </a:r>
                      <a:r>
                        <a:rPr lang="en-US" sz="2800" baseline="0" dirty="0">
                          <a:solidFill>
                            <a:schemeClr val="tx1"/>
                          </a:solidFill>
                        </a:rPr>
                        <a:t> Acidic or Neutral Salt?</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49516278"/>
                  </a:ext>
                </a:extLst>
              </a:tr>
              <a:tr h="562648">
                <a:tc>
                  <a:txBody>
                    <a:bodyPr/>
                    <a:lstStyle/>
                    <a:p>
                      <a:r>
                        <a:rPr lang="en-US" sz="2800" dirty="0">
                          <a:solidFill>
                            <a:schemeClr val="tx1"/>
                          </a:solidFill>
                        </a:rPr>
                        <a:t>NaCl</a:t>
                      </a:r>
                      <a:r>
                        <a:rPr lang="en-US" sz="2800" baseline="-25000" dirty="0">
                          <a:solidFill>
                            <a:schemeClr val="tx1"/>
                          </a:solidFill>
                        </a:rPr>
                        <a:t>2</a:t>
                      </a:r>
                      <a:r>
                        <a:rPr lang="en-US" sz="2800" baseline="0" dirty="0">
                          <a:solidFill>
                            <a:schemeClr val="tx1"/>
                          </a:solidFill>
                        </a:rPr>
                        <a:t>O</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Cl</a:t>
                      </a:r>
                      <a:r>
                        <a:rPr lang="en-US" sz="2800" baseline="-25000" dirty="0">
                          <a:solidFill>
                            <a:schemeClr val="tx1"/>
                          </a:solidFill>
                        </a:rPr>
                        <a:t>2</a:t>
                      </a:r>
                      <a:r>
                        <a:rPr lang="en-US" sz="2800" baseline="0" dirty="0">
                          <a:solidFill>
                            <a:schemeClr val="tx1"/>
                          </a:solidFill>
                        </a:rPr>
                        <a:t>O</a:t>
                      </a:r>
                      <a:r>
                        <a:rPr lang="en-US" sz="2800" baseline="30000" dirty="0">
                          <a:solidFill>
                            <a:schemeClr val="tx1"/>
                          </a:solidFill>
                        </a:rPr>
                        <a:t>-</a:t>
                      </a:r>
                      <a:r>
                        <a:rPr lang="en-US" sz="2800" baseline="0" dirty="0">
                          <a:solidFill>
                            <a:schemeClr val="tx1"/>
                          </a:solidFill>
                        </a:rPr>
                        <a:t> (CB)</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2800" dirty="0">
                          <a:solidFill>
                            <a:schemeClr val="tx1"/>
                          </a:solidFill>
                        </a:rPr>
                        <a:t>HCl</a:t>
                      </a:r>
                      <a:r>
                        <a:rPr lang="en-US" sz="2800" baseline="-25000" dirty="0">
                          <a:solidFill>
                            <a:schemeClr val="tx1"/>
                          </a:solidFill>
                        </a:rPr>
                        <a:t>2</a:t>
                      </a:r>
                      <a:r>
                        <a:rPr lang="en-US" sz="2800" baseline="0" dirty="0">
                          <a:solidFill>
                            <a:schemeClr val="tx1"/>
                          </a:solidFill>
                        </a:rPr>
                        <a:t>O</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64336589"/>
                  </a:ext>
                </a:extLst>
              </a:tr>
              <a:tr h="562648">
                <a:tc>
                  <a:txBody>
                    <a:bodyPr/>
                    <a:lstStyle/>
                    <a:p>
                      <a:r>
                        <a:rPr lang="en-US" sz="2800" dirty="0">
                          <a:solidFill>
                            <a:schemeClr val="tx1"/>
                          </a:solidFill>
                        </a:rPr>
                        <a:t>NH</a:t>
                      </a:r>
                      <a:r>
                        <a:rPr lang="en-US" sz="2800" baseline="-25000" dirty="0">
                          <a:solidFill>
                            <a:schemeClr val="tx1"/>
                          </a:solidFill>
                        </a:rPr>
                        <a:t>4</a:t>
                      </a:r>
                      <a:r>
                        <a:rPr lang="en-US" sz="2800" baseline="0" dirty="0">
                          <a:solidFill>
                            <a:schemeClr val="tx1"/>
                          </a:solidFill>
                        </a:rPr>
                        <a:t>Cl</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21811726"/>
                  </a:ext>
                </a:extLst>
              </a:tr>
              <a:tr h="562648">
                <a:tc>
                  <a:txBody>
                    <a:bodyPr/>
                    <a:lstStyle/>
                    <a:p>
                      <a:r>
                        <a:rPr lang="en-US" sz="2800" dirty="0">
                          <a:solidFill>
                            <a:schemeClr val="tx1"/>
                          </a:solidFill>
                        </a:rPr>
                        <a:t>NaNO</a:t>
                      </a:r>
                      <a:r>
                        <a:rPr lang="en-US" sz="2800" baseline="-25000" dirty="0">
                          <a:solidFill>
                            <a:schemeClr val="tx1"/>
                          </a:solidFill>
                        </a:rPr>
                        <a:t>3</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73490969"/>
                  </a:ext>
                </a:extLst>
              </a:tr>
              <a:tr h="562648">
                <a:tc>
                  <a:txBody>
                    <a:bodyPr/>
                    <a:lstStyle/>
                    <a:p>
                      <a:r>
                        <a:rPr lang="en-US" sz="2800" dirty="0">
                          <a:solidFill>
                            <a:schemeClr val="tx1"/>
                          </a:solidFill>
                        </a:rPr>
                        <a:t>K</a:t>
                      </a:r>
                      <a:r>
                        <a:rPr lang="en-US" sz="2800" baseline="0" dirty="0">
                          <a:solidFill>
                            <a:schemeClr val="tx1"/>
                          </a:solidFill>
                        </a:rPr>
                        <a:t>C</a:t>
                      </a:r>
                      <a:r>
                        <a:rPr lang="en-US" sz="2800" baseline="-25000" dirty="0">
                          <a:solidFill>
                            <a:schemeClr val="tx1"/>
                          </a:solidFill>
                        </a:rPr>
                        <a:t>2</a:t>
                      </a:r>
                      <a:r>
                        <a:rPr lang="en-US" sz="2800" baseline="0" dirty="0">
                          <a:solidFill>
                            <a:schemeClr val="tx1"/>
                          </a:solidFill>
                        </a:rPr>
                        <a:t>H</a:t>
                      </a:r>
                      <a:r>
                        <a:rPr lang="en-US" sz="2800" baseline="-25000" dirty="0">
                          <a:solidFill>
                            <a:schemeClr val="tx1"/>
                          </a:solidFill>
                        </a:rPr>
                        <a:t>3</a:t>
                      </a:r>
                      <a:r>
                        <a:rPr lang="en-US" sz="2800" baseline="0" dirty="0">
                          <a:solidFill>
                            <a:schemeClr val="tx1"/>
                          </a:solidFill>
                        </a:rPr>
                        <a:t>O</a:t>
                      </a:r>
                      <a:r>
                        <a:rPr lang="en-US" sz="2800" baseline="-25000" dirty="0">
                          <a:solidFill>
                            <a:schemeClr val="tx1"/>
                          </a:solidFill>
                        </a:rPr>
                        <a:t>2</a:t>
                      </a:r>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2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19903950"/>
                  </a:ext>
                </a:extLst>
              </a:tr>
            </a:tbl>
          </a:graphicData>
        </a:graphic>
      </p:graphicFrame>
    </p:spTree>
    <p:extLst>
      <p:ext uri="{BB962C8B-B14F-4D97-AF65-F5344CB8AC3E}">
        <p14:creationId xmlns:p14="http://schemas.microsoft.com/office/powerpoint/2010/main" val="21645569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914400" y="27709"/>
            <a:ext cx="10363200" cy="1143000"/>
          </a:xfrm>
        </p:spPr>
        <p:txBody>
          <a:bodyPr/>
          <a:lstStyle/>
          <a:p>
            <a:r>
              <a:rPr lang="en-US" sz="4000" b="1" u="sng" dirty="0">
                <a:solidFill>
                  <a:schemeClr val="tx1"/>
                </a:solidFill>
              </a:rPr>
              <a:t>Neutral Salts</a:t>
            </a:r>
          </a:p>
        </p:txBody>
      </p:sp>
      <p:sp>
        <p:nvSpPr>
          <p:cNvPr id="2" name="Content Placeholder 1"/>
          <p:cNvSpPr>
            <a:spLocks noGrp="1"/>
          </p:cNvSpPr>
          <p:nvPr>
            <p:ph idx="1"/>
          </p:nvPr>
        </p:nvSpPr>
        <p:spPr>
          <a:xfrm>
            <a:off x="914400" y="1170709"/>
            <a:ext cx="10363200" cy="4925291"/>
          </a:xfrm>
        </p:spPr>
        <p:txBody>
          <a:bodyPr/>
          <a:lstStyle/>
          <a:p>
            <a:r>
              <a:rPr lang="en-US" b="1" u="sng" dirty="0"/>
              <a:t>Neutral Salts</a:t>
            </a:r>
            <a:r>
              <a:rPr lang="en-US" b="1" dirty="0"/>
              <a:t>-</a:t>
            </a:r>
            <a:r>
              <a:rPr lang="en-US" dirty="0"/>
              <a:t>  Salts that are formed from the cation of a strong base and the anion from a strong acid form neutral solutions when dissolved in water.  Ex.  </a:t>
            </a:r>
            <a:r>
              <a:rPr lang="en-US" dirty="0" err="1"/>
              <a:t>NaCl</a:t>
            </a:r>
            <a:r>
              <a:rPr lang="en-US" dirty="0"/>
              <a:t>, KNO</a:t>
            </a:r>
            <a:r>
              <a:rPr lang="en-US" baseline="-25000" dirty="0"/>
              <a:t>3</a:t>
            </a:r>
          </a:p>
          <a:p>
            <a:r>
              <a:rPr lang="en-US" dirty="0"/>
              <a:t>The pH of these salts is always </a:t>
            </a:r>
            <a:r>
              <a:rPr lang="en-US" dirty="0">
                <a:solidFill>
                  <a:srgbClr val="FF0000"/>
                </a:solidFill>
              </a:rPr>
              <a:t>7</a:t>
            </a:r>
            <a:br>
              <a:rPr lang="en-US" dirty="0"/>
            </a:br>
            <a:br>
              <a:rPr lang="en-US" dirty="0"/>
            </a:br>
            <a:endParaRPr lang="en-US" dirty="0"/>
          </a:p>
          <a:p>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a:xfrm>
            <a:off x="914400" y="0"/>
            <a:ext cx="10363200" cy="1143000"/>
          </a:xfrm>
        </p:spPr>
        <p:txBody>
          <a:bodyPr/>
          <a:lstStyle/>
          <a:p>
            <a:r>
              <a:rPr lang="en-US" dirty="0">
                <a:solidFill>
                  <a:schemeClr val="tx1"/>
                </a:solidFill>
              </a:rPr>
              <a:t>Acidic Salts</a:t>
            </a:r>
          </a:p>
        </p:txBody>
      </p:sp>
      <p:sp>
        <p:nvSpPr>
          <p:cNvPr id="2" name="Content Placeholder 1"/>
          <p:cNvSpPr>
            <a:spLocks noGrp="1"/>
          </p:cNvSpPr>
          <p:nvPr>
            <p:ph idx="1"/>
          </p:nvPr>
        </p:nvSpPr>
        <p:spPr>
          <a:xfrm>
            <a:off x="914400" y="1143000"/>
            <a:ext cx="10363200" cy="4953000"/>
          </a:xfrm>
        </p:spPr>
        <p:txBody>
          <a:bodyPr/>
          <a:lstStyle/>
          <a:p>
            <a:r>
              <a:rPr lang="en-US" b="1" u="sng" dirty="0"/>
              <a:t>Acid Salts</a:t>
            </a:r>
            <a:r>
              <a:rPr lang="en-US" dirty="0"/>
              <a:t>-    Salts that are formed from the conjugate acid of a weak base and the anion from a strong acid form acidic solutions when dissolved in water.  </a:t>
            </a:r>
            <a:br>
              <a:rPr lang="en-US" dirty="0"/>
            </a:br>
            <a:br>
              <a:rPr lang="en-US" dirty="0"/>
            </a:br>
            <a:r>
              <a:rPr lang="en-US" dirty="0"/>
              <a:t>Ex.  NH</a:t>
            </a:r>
            <a:r>
              <a:rPr lang="en-US" baseline="-25000" dirty="0"/>
              <a:t>4</a:t>
            </a:r>
            <a:r>
              <a:rPr lang="en-US" dirty="0"/>
              <a:t>Cl   (notice the N atom!) Write the reaction of the significant conjugate in water:</a:t>
            </a:r>
            <a:br>
              <a:rPr lang="en-US" dirty="0"/>
            </a:br>
            <a:br>
              <a:rPr lang="en-US" dirty="0"/>
            </a:br>
            <a:endParaRPr lang="en-US" dirty="0"/>
          </a:p>
          <a:p>
            <a:r>
              <a:rPr lang="en-US" dirty="0"/>
              <a:t>The resulting solution will be </a:t>
            </a:r>
            <a:r>
              <a:rPr lang="en-US" dirty="0">
                <a:solidFill>
                  <a:srgbClr val="FF0000"/>
                </a:solidFill>
              </a:rPr>
              <a:t>ACIDIC</a:t>
            </a:r>
            <a:r>
              <a:rPr lang="en-US" dirty="0"/>
              <a:t> because NH</a:t>
            </a:r>
            <a:r>
              <a:rPr lang="en-US" baseline="-25000" dirty="0"/>
              <a:t>4</a:t>
            </a:r>
            <a:r>
              <a:rPr lang="en-US" baseline="30000" dirty="0"/>
              <a:t>+</a:t>
            </a:r>
            <a:r>
              <a:rPr lang="en-US" dirty="0"/>
              <a:t> donates a proton from water</a:t>
            </a:r>
          </a:p>
        </p:txBody>
      </p:sp>
      <p:sp>
        <p:nvSpPr>
          <p:cNvPr id="3" name="TextBox 2"/>
          <p:cNvSpPr txBox="1"/>
          <p:nvPr/>
        </p:nvSpPr>
        <p:spPr>
          <a:xfrm>
            <a:off x="2819400" y="4343400"/>
            <a:ext cx="6096000" cy="584775"/>
          </a:xfrm>
          <a:prstGeom prst="rect">
            <a:avLst/>
          </a:prstGeom>
          <a:noFill/>
        </p:spPr>
        <p:txBody>
          <a:bodyPr wrap="square" rtlCol="0">
            <a:spAutoFit/>
          </a:bodyPr>
          <a:lstStyle/>
          <a:p>
            <a:r>
              <a:rPr lang="en-US" sz="3200" dirty="0">
                <a:solidFill>
                  <a:srgbClr val="FF0000"/>
                </a:solidFill>
              </a:rPr>
              <a:t>NH</a:t>
            </a:r>
            <a:r>
              <a:rPr lang="en-US" sz="3200" baseline="-25000" dirty="0">
                <a:solidFill>
                  <a:srgbClr val="FF0000"/>
                </a:solidFill>
              </a:rPr>
              <a:t>4</a:t>
            </a:r>
            <a:r>
              <a:rPr lang="en-US" sz="3200" baseline="30000" dirty="0">
                <a:solidFill>
                  <a:srgbClr val="FF0000"/>
                </a:solidFill>
              </a:rPr>
              <a:t>+ </a:t>
            </a:r>
            <a:r>
              <a:rPr lang="en-US" sz="3200" dirty="0">
                <a:solidFill>
                  <a:srgbClr val="FF0000"/>
                </a:solidFill>
              </a:rPr>
              <a:t>   +   H</a:t>
            </a:r>
            <a:r>
              <a:rPr lang="en-US" sz="3200" baseline="-25000" dirty="0">
                <a:solidFill>
                  <a:srgbClr val="FF0000"/>
                </a:solidFill>
              </a:rPr>
              <a:t>2</a:t>
            </a:r>
            <a:r>
              <a:rPr lang="en-US" sz="3200" dirty="0">
                <a:solidFill>
                  <a:srgbClr val="FF0000"/>
                </a:solidFill>
              </a:rPr>
              <a:t>O   </a:t>
            </a:r>
            <a:r>
              <a:rPr lang="en-US" sz="3200" dirty="0">
                <a:solidFill>
                  <a:srgbClr val="FF0000"/>
                </a:solidFill>
                <a:sym typeface="Wingdings 3" pitchFamily="18" charset="2"/>
              </a:rPr>
              <a:t></a:t>
            </a:r>
            <a:r>
              <a:rPr lang="en-US" sz="3200" dirty="0">
                <a:solidFill>
                  <a:srgbClr val="FF0000"/>
                </a:solidFill>
              </a:rPr>
              <a:t> H</a:t>
            </a:r>
            <a:r>
              <a:rPr lang="en-US" sz="3200" baseline="-25000" dirty="0">
                <a:solidFill>
                  <a:srgbClr val="FF0000"/>
                </a:solidFill>
              </a:rPr>
              <a:t>3</a:t>
            </a:r>
            <a:r>
              <a:rPr lang="en-US" sz="3200" dirty="0">
                <a:solidFill>
                  <a:srgbClr val="FF0000"/>
                </a:solidFill>
              </a:rPr>
              <a:t>O</a:t>
            </a:r>
            <a:r>
              <a:rPr lang="en-US" sz="3200" baseline="30000" dirty="0">
                <a:solidFill>
                  <a:srgbClr val="FF0000"/>
                </a:solidFill>
              </a:rPr>
              <a:t>+</a:t>
            </a:r>
            <a:r>
              <a:rPr lang="en-US" sz="3200" dirty="0">
                <a:solidFill>
                  <a:srgbClr val="FF0000"/>
                </a:solidFill>
              </a:rPr>
              <a:t>     +   NH</a:t>
            </a:r>
            <a:r>
              <a:rPr lang="en-US" sz="3200" baseline="-25000" dirty="0">
                <a:solidFill>
                  <a:srgbClr val="FF0000"/>
                </a:solidFill>
              </a:rPr>
              <a:t>3</a:t>
            </a:r>
            <a:endParaRPr lang="en-US" sz="3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a:xfrm>
            <a:off x="914400" y="0"/>
            <a:ext cx="10363200" cy="1143000"/>
          </a:xfrm>
        </p:spPr>
        <p:txBody>
          <a:bodyPr/>
          <a:lstStyle/>
          <a:p>
            <a:r>
              <a:rPr lang="en-US" dirty="0">
                <a:solidFill>
                  <a:schemeClr val="tx1"/>
                </a:solidFill>
              </a:rPr>
              <a:t>Basic Salts</a:t>
            </a:r>
          </a:p>
        </p:txBody>
      </p:sp>
      <p:sp>
        <p:nvSpPr>
          <p:cNvPr id="2" name="Content Placeholder 1"/>
          <p:cNvSpPr>
            <a:spLocks noGrp="1"/>
          </p:cNvSpPr>
          <p:nvPr>
            <p:ph idx="1"/>
          </p:nvPr>
        </p:nvSpPr>
        <p:spPr>
          <a:xfrm>
            <a:off x="914400" y="1143000"/>
            <a:ext cx="10363200" cy="4953000"/>
          </a:xfrm>
        </p:spPr>
        <p:txBody>
          <a:bodyPr/>
          <a:lstStyle/>
          <a:p>
            <a:r>
              <a:rPr lang="en-US" b="1" u="sng" dirty="0"/>
              <a:t>Basic Salts</a:t>
            </a:r>
            <a:r>
              <a:rPr lang="en-US" dirty="0"/>
              <a:t>-    Salts that are formed from the conjugate base of a weak acid and the neutral cation form acidic solutions when dissolved in water.  </a:t>
            </a:r>
            <a:br>
              <a:rPr lang="en-US" dirty="0"/>
            </a:br>
            <a:br>
              <a:rPr lang="en-US" dirty="0"/>
            </a:br>
            <a:r>
              <a:rPr lang="en-US" dirty="0"/>
              <a:t>Ex.  NaNO</a:t>
            </a:r>
            <a:r>
              <a:rPr lang="en-US" baseline="-25000" dirty="0"/>
              <a:t>2</a:t>
            </a:r>
            <a:r>
              <a:rPr lang="en-US" dirty="0"/>
              <a:t> Write the reaction of the significant conjugate in water:</a:t>
            </a:r>
            <a:br>
              <a:rPr lang="en-US" dirty="0"/>
            </a:br>
            <a:endParaRPr lang="en-US" dirty="0"/>
          </a:p>
          <a:p>
            <a:endParaRPr lang="en-US" dirty="0"/>
          </a:p>
          <a:p>
            <a:r>
              <a:rPr lang="en-US" dirty="0"/>
              <a:t>The resulting solution will be </a:t>
            </a:r>
            <a:r>
              <a:rPr lang="en-US" dirty="0">
                <a:solidFill>
                  <a:srgbClr val="FF0000"/>
                </a:solidFill>
              </a:rPr>
              <a:t>BASIC</a:t>
            </a:r>
            <a:r>
              <a:rPr lang="en-US" dirty="0"/>
              <a:t> because NO</a:t>
            </a:r>
            <a:r>
              <a:rPr lang="en-US" baseline="-25000" dirty="0"/>
              <a:t>2</a:t>
            </a:r>
            <a:r>
              <a:rPr lang="en-US" baseline="30000" dirty="0"/>
              <a:t>-</a:t>
            </a:r>
            <a:r>
              <a:rPr lang="en-US" dirty="0"/>
              <a:t> accepts a proton from water</a:t>
            </a:r>
          </a:p>
          <a:p>
            <a:pPr marL="0" indent="0">
              <a:buNone/>
            </a:pPr>
            <a:br>
              <a:rPr lang="en-US" dirty="0"/>
            </a:br>
            <a:endParaRPr lang="en-US" dirty="0"/>
          </a:p>
        </p:txBody>
      </p:sp>
      <p:sp>
        <p:nvSpPr>
          <p:cNvPr id="3" name="TextBox 2"/>
          <p:cNvSpPr txBox="1"/>
          <p:nvPr/>
        </p:nvSpPr>
        <p:spPr>
          <a:xfrm>
            <a:off x="2590800" y="4267200"/>
            <a:ext cx="6781800" cy="584775"/>
          </a:xfrm>
          <a:prstGeom prst="rect">
            <a:avLst/>
          </a:prstGeom>
          <a:noFill/>
        </p:spPr>
        <p:txBody>
          <a:bodyPr wrap="square" rtlCol="0">
            <a:spAutoFit/>
          </a:bodyPr>
          <a:lstStyle/>
          <a:p>
            <a:r>
              <a:rPr lang="en-US" sz="3200" dirty="0">
                <a:solidFill>
                  <a:srgbClr val="FF0000"/>
                </a:solidFill>
              </a:rPr>
              <a:t>NO</a:t>
            </a:r>
            <a:r>
              <a:rPr lang="en-US" sz="3200" baseline="-25000" dirty="0">
                <a:solidFill>
                  <a:srgbClr val="FF0000"/>
                </a:solidFill>
              </a:rPr>
              <a:t>2</a:t>
            </a:r>
            <a:r>
              <a:rPr lang="en-US" sz="3200" baseline="30000" dirty="0">
                <a:solidFill>
                  <a:srgbClr val="FF0000"/>
                </a:solidFill>
              </a:rPr>
              <a:t>- </a:t>
            </a:r>
            <a:r>
              <a:rPr lang="en-US" sz="3200" dirty="0">
                <a:solidFill>
                  <a:srgbClr val="FF0000"/>
                </a:solidFill>
              </a:rPr>
              <a:t>   +   H</a:t>
            </a:r>
            <a:r>
              <a:rPr lang="en-US" sz="3200" baseline="-25000" dirty="0">
                <a:solidFill>
                  <a:srgbClr val="FF0000"/>
                </a:solidFill>
              </a:rPr>
              <a:t>2</a:t>
            </a:r>
            <a:r>
              <a:rPr lang="en-US" sz="3200" dirty="0">
                <a:solidFill>
                  <a:srgbClr val="FF0000"/>
                </a:solidFill>
              </a:rPr>
              <a:t>O   </a:t>
            </a:r>
            <a:r>
              <a:rPr lang="en-US" sz="3200" dirty="0">
                <a:solidFill>
                  <a:srgbClr val="FF0000"/>
                </a:solidFill>
                <a:sym typeface="Wingdings 3" pitchFamily="18" charset="2"/>
              </a:rPr>
              <a:t></a:t>
            </a:r>
            <a:r>
              <a:rPr lang="en-US" sz="3200" dirty="0">
                <a:solidFill>
                  <a:srgbClr val="FF0000"/>
                </a:solidFill>
              </a:rPr>
              <a:t> 	OH</a:t>
            </a:r>
            <a:r>
              <a:rPr lang="en-US" sz="3200" baseline="30000" dirty="0">
                <a:solidFill>
                  <a:srgbClr val="FF0000"/>
                </a:solidFill>
              </a:rPr>
              <a:t>-</a:t>
            </a:r>
            <a:r>
              <a:rPr lang="en-US" sz="3200" dirty="0">
                <a:solidFill>
                  <a:srgbClr val="FF0000"/>
                </a:solidFill>
              </a:rPr>
              <a:t>     +   HNO</a:t>
            </a:r>
            <a:r>
              <a:rPr lang="en-US" sz="3200" baseline="-25000" dirty="0">
                <a:solidFill>
                  <a:srgbClr val="FF0000"/>
                </a:solidFill>
              </a:rPr>
              <a:t>2</a:t>
            </a:r>
            <a:endParaRPr lang="en-US" sz="3200" dirty="0"/>
          </a:p>
        </p:txBody>
      </p:sp>
    </p:spTree>
    <p:extLst>
      <p:ext uri="{BB962C8B-B14F-4D97-AF65-F5344CB8AC3E}">
        <p14:creationId xmlns:p14="http://schemas.microsoft.com/office/powerpoint/2010/main" val="3173095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Title 1"/>
          <p:cNvSpPr>
            <a:spLocks noGrp="1"/>
          </p:cNvSpPr>
          <p:nvPr>
            <p:ph type="title"/>
          </p:nvPr>
        </p:nvSpPr>
        <p:spPr>
          <a:xfrm>
            <a:off x="2362200" y="2209800"/>
            <a:ext cx="7924800" cy="1143000"/>
          </a:xfrm>
        </p:spPr>
        <p:txBody>
          <a:bodyPr/>
          <a:lstStyle/>
          <a:p>
            <a:pPr algn="l"/>
            <a:br>
              <a:rPr lang="en-US" dirty="0"/>
            </a:br>
            <a:br>
              <a:rPr lang="en-US" dirty="0"/>
            </a:br>
            <a:r>
              <a:rPr lang="en-US" dirty="0"/>
              <a:t> </a:t>
            </a:r>
            <a:br>
              <a:rPr lang="en-US" dirty="0"/>
            </a:br>
            <a:r>
              <a:rPr lang="en-US" dirty="0"/>
              <a:t>                    </a:t>
            </a:r>
            <a:r>
              <a:rPr lang="en-US" sz="2800" b="1" dirty="0"/>
              <a:t>General Order of pH  </a:t>
            </a:r>
            <a:br>
              <a:rPr lang="en-US" sz="2800" dirty="0"/>
            </a:br>
            <a:r>
              <a:rPr lang="en-US" sz="2800" dirty="0"/>
              <a:t>                 Strong Bases (SB)</a:t>
            </a:r>
            <a:br>
              <a:rPr lang="en-US" sz="2800" dirty="0"/>
            </a:br>
            <a:r>
              <a:rPr lang="en-US" sz="2800" dirty="0"/>
              <a:t>                 Weak Bases (WB)</a:t>
            </a:r>
            <a:br>
              <a:rPr lang="en-US" sz="2800" dirty="0"/>
            </a:br>
            <a:r>
              <a:rPr lang="en-US" sz="2800" dirty="0"/>
              <a:t>                  Basic Salts (BS)</a:t>
            </a:r>
            <a:br>
              <a:rPr lang="en-US" sz="2800" dirty="0"/>
            </a:br>
            <a:r>
              <a:rPr lang="en-US" sz="2800" dirty="0"/>
              <a:t>                  Neutral Salts (NS)</a:t>
            </a:r>
            <a:br>
              <a:rPr lang="en-US" sz="2800" dirty="0"/>
            </a:br>
            <a:r>
              <a:rPr lang="en-US" sz="2800" dirty="0"/>
              <a:t>                  Acidic Salts (AS)</a:t>
            </a:r>
            <a:br>
              <a:rPr lang="en-US" sz="2800" dirty="0"/>
            </a:br>
            <a:r>
              <a:rPr lang="en-US" sz="2800" dirty="0"/>
              <a:t>                  Weak Acids (WA) </a:t>
            </a:r>
            <a:br>
              <a:rPr lang="en-US" sz="2800" dirty="0"/>
            </a:br>
            <a:r>
              <a:rPr lang="en-US" sz="2800" dirty="0"/>
              <a:t>                  Strong Acids (SA)</a:t>
            </a:r>
            <a:br>
              <a:rPr lang="en-US" sz="2800" dirty="0"/>
            </a:br>
            <a:br>
              <a:rPr lang="en-US" dirty="0"/>
            </a:br>
            <a:r>
              <a:rPr lang="en-US" sz="2800" b="1" dirty="0"/>
              <a:t>When asked to rank a mixture of compounds by pH, label each as shown above and then arrange them.  </a:t>
            </a:r>
            <a:br>
              <a:rPr lang="en-US" dirty="0"/>
            </a:br>
            <a:endParaRPr lang="en-US" dirty="0"/>
          </a:p>
        </p:txBody>
      </p:sp>
      <p:sp>
        <p:nvSpPr>
          <p:cNvPr id="67587" name="TextBox 2"/>
          <p:cNvSpPr txBox="1">
            <a:spLocks noChangeArrowheads="1"/>
          </p:cNvSpPr>
          <p:nvPr/>
        </p:nvSpPr>
        <p:spPr bwMode="auto">
          <a:xfrm>
            <a:off x="1905000" y="1371601"/>
            <a:ext cx="1295400" cy="461963"/>
          </a:xfrm>
          <a:prstGeom prst="rect">
            <a:avLst/>
          </a:prstGeom>
          <a:noFill/>
          <a:ln w="9525">
            <a:noFill/>
            <a:miter lim="800000"/>
            <a:headEnd/>
            <a:tailEnd/>
          </a:ln>
        </p:spPr>
        <p:txBody>
          <a:bodyPr>
            <a:spAutoFit/>
          </a:bodyPr>
          <a:lstStyle/>
          <a:p>
            <a:pPr eaLnBrk="0" hangingPunct="0"/>
            <a:r>
              <a:rPr lang="en-US" dirty="0">
                <a:latin typeface="Tw Cen MT Condensed Extra Bold" pitchFamily="34" charset="0"/>
              </a:rPr>
              <a:t>High pH</a:t>
            </a:r>
          </a:p>
        </p:txBody>
      </p:sp>
      <p:sp>
        <p:nvSpPr>
          <p:cNvPr id="67588" name="TextBox 3"/>
          <p:cNvSpPr txBox="1">
            <a:spLocks noChangeArrowheads="1"/>
          </p:cNvSpPr>
          <p:nvPr/>
        </p:nvSpPr>
        <p:spPr bwMode="auto">
          <a:xfrm>
            <a:off x="1981200" y="3886201"/>
            <a:ext cx="1295400" cy="461963"/>
          </a:xfrm>
          <a:prstGeom prst="rect">
            <a:avLst/>
          </a:prstGeom>
          <a:noFill/>
          <a:ln w="9525">
            <a:noFill/>
            <a:miter lim="800000"/>
            <a:headEnd/>
            <a:tailEnd/>
          </a:ln>
        </p:spPr>
        <p:txBody>
          <a:bodyPr>
            <a:spAutoFit/>
          </a:bodyPr>
          <a:lstStyle/>
          <a:p>
            <a:pPr eaLnBrk="0" hangingPunct="0"/>
            <a:r>
              <a:rPr lang="en-US">
                <a:latin typeface="Tw Cen MT Condensed Extra Bold" pitchFamily="34" charset="0"/>
              </a:rPr>
              <a:t>Low pH</a:t>
            </a:r>
          </a:p>
        </p:txBody>
      </p:sp>
      <p:cxnSp>
        <p:nvCxnSpPr>
          <p:cNvPr id="67589" name="Straight Arrow Connector 5"/>
          <p:cNvCxnSpPr>
            <a:cxnSpLocks noChangeShapeType="1"/>
          </p:cNvCxnSpPr>
          <p:nvPr/>
        </p:nvCxnSpPr>
        <p:spPr bwMode="auto">
          <a:xfrm flipV="1">
            <a:off x="2286000" y="1828800"/>
            <a:ext cx="0" cy="2133600"/>
          </a:xfrm>
          <a:prstGeom prst="straightConnector1">
            <a:avLst/>
          </a:prstGeom>
          <a:noFill/>
          <a:ln w="9525" algn="ctr">
            <a:solidFill>
              <a:schemeClr val="tx1"/>
            </a:solidFill>
            <a:round/>
            <a:headEnd/>
            <a:tailEnd type="arrow" w="med" len="med"/>
          </a:ln>
        </p:spPr>
      </p:cxn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1"/>
          <p:cNvSpPr>
            <a:spLocks noChangeArrowheads="1"/>
          </p:cNvSpPr>
          <p:nvPr/>
        </p:nvSpPr>
        <p:spPr bwMode="auto">
          <a:xfrm>
            <a:off x="1752600" y="381000"/>
            <a:ext cx="8763000" cy="5446713"/>
          </a:xfrm>
          <a:prstGeom prst="rect">
            <a:avLst/>
          </a:prstGeom>
          <a:noFill/>
          <a:ln w="9525">
            <a:noFill/>
            <a:miter lim="800000"/>
            <a:headEnd/>
            <a:tailEnd/>
          </a:ln>
          <a:effectLst/>
        </p:spPr>
        <p:txBody>
          <a:bodyPr anchor="ctr">
            <a:spAutoFit/>
          </a:bodyPr>
          <a:lstStyle/>
          <a:p>
            <a:pPr>
              <a:defRPr/>
            </a:pPr>
            <a:r>
              <a:rPr lang="en-US" sz="3200" b="1" dirty="0">
                <a:ea typeface="Times New Roman" pitchFamily="18" charset="0"/>
                <a:cs typeface="Times New Roman" pitchFamily="18" charset="0"/>
              </a:rPr>
              <a:t>Arrange the following 0.1 </a:t>
            </a:r>
            <a:r>
              <a:rPr lang="en-US" sz="3200" b="1" i="1" dirty="0">
                <a:ea typeface="Times New Roman" pitchFamily="18" charset="0"/>
                <a:cs typeface="Times New Roman" pitchFamily="18" charset="0"/>
              </a:rPr>
              <a:t>M</a:t>
            </a:r>
            <a:r>
              <a:rPr lang="en-US" sz="3200" b="1" dirty="0">
                <a:ea typeface="Times New Roman" pitchFamily="18" charset="0"/>
                <a:cs typeface="Times New Roman" pitchFamily="18" charset="0"/>
              </a:rPr>
              <a:t> solutions in order </a:t>
            </a:r>
          </a:p>
          <a:p>
            <a:pPr>
              <a:defRPr/>
            </a:pPr>
            <a:r>
              <a:rPr lang="en-US" sz="3200" b="1" dirty="0">
                <a:ea typeface="Times New Roman" pitchFamily="18" charset="0"/>
                <a:cs typeface="Times New Roman" pitchFamily="18" charset="0"/>
              </a:rPr>
              <a:t>of decreasing </a:t>
            </a:r>
            <a:r>
              <a:rPr lang="en-US" sz="3200" b="1" dirty="0" err="1">
                <a:ea typeface="Times New Roman" pitchFamily="18" charset="0"/>
                <a:cs typeface="Times New Roman" pitchFamily="18" charset="0"/>
              </a:rPr>
              <a:t>pH.</a:t>
            </a:r>
            <a:endParaRPr lang="en-US" sz="1800" dirty="0">
              <a:latin typeface="Arial" pitchFamily="34" charset="0"/>
            </a:endParaRPr>
          </a:p>
          <a:p>
            <a:pPr eaLnBrk="0" hangingPunct="0">
              <a:defRPr/>
            </a:pPr>
            <a:r>
              <a:rPr lang="en-US" sz="3200" dirty="0">
                <a:ea typeface="Times New Roman" pitchFamily="18" charset="0"/>
                <a:cs typeface="Times New Roman" pitchFamily="18" charset="0"/>
              </a:rPr>
              <a:t>NaOH</a:t>
            </a:r>
            <a:endParaRPr lang="en-US" sz="1800" dirty="0">
              <a:latin typeface="Arial" pitchFamily="34" charset="0"/>
            </a:endParaRPr>
          </a:p>
          <a:p>
            <a:pPr eaLnBrk="0" hangingPunct="0">
              <a:defRPr/>
            </a:pPr>
            <a:r>
              <a:rPr lang="en-US" sz="3200" dirty="0" err="1">
                <a:ea typeface="Times New Roman" pitchFamily="18" charset="0"/>
                <a:cs typeface="Times New Roman" pitchFamily="18" charset="0"/>
              </a:rPr>
              <a:t>NaCN</a:t>
            </a:r>
            <a:r>
              <a:rPr lang="en-US" sz="3200" dirty="0">
                <a:ea typeface="Times New Roman" pitchFamily="18" charset="0"/>
                <a:cs typeface="Times New Roman" pitchFamily="18" charset="0"/>
              </a:rPr>
              <a:t> </a:t>
            </a:r>
            <a:endParaRPr lang="en-US" sz="1800" dirty="0">
              <a:latin typeface="Arial" pitchFamily="34" charset="0"/>
            </a:endParaRPr>
          </a:p>
          <a:p>
            <a:pPr eaLnBrk="0" hangingPunct="0">
              <a:defRPr/>
            </a:pPr>
            <a:r>
              <a:rPr lang="en-US" sz="3200" dirty="0" err="1">
                <a:ea typeface="Times New Roman" pitchFamily="18" charset="0"/>
                <a:cs typeface="Times New Roman" pitchFamily="18" charset="0"/>
              </a:rPr>
              <a:t>KCl</a:t>
            </a:r>
            <a:r>
              <a:rPr lang="en-US" sz="3200" dirty="0">
                <a:ea typeface="Times New Roman" pitchFamily="18" charset="0"/>
                <a:cs typeface="Times New Roman" pitchFamily="18" charset="0"/>
              </a:rPr>
              <a:t> </a:t>
            </a:r>
            <a:endParaRPr lang="en-US" sz="1800" dirty="0">
              <a:latin typeface="Arial" pitchFamily="34" charset="0"/>
            </a:endParaRPr>
          </a:p>
          <a:p>
            <a:pPr eaLnBrk="0" hangingPunct="0">
              <a:defRPr/>
            </a:pPr>
            <a:r>
              <a:rPr lang="en-US" sz="3200" dirty="0">
                <a:ea typeface="Times New Roman" pitchFamily="18" charset="0"/>
                <a:cs typeface="Times New Roman" pitchFamily="18" charset="0"/>
              </a:rPr>
              <a:t>CH</a:t>
            </a:r>
            <a:r>
              <a:rPr lang="en-US" sz="3200" baseline="-30000" dirty="0">
                <a:ea typeface="Times New Roman" pitchFamily="18" charset="0"/>
                <a:cs typeface="Times New Roman" pitchFamily="18" charset="0"/>
              </a:rPr>
              <a:t>3</a:t>
            </a:r>
            <a:r>
              <a:rPr lang="en-US" sz="3200" dirty="0">
                <a:ea typeface="Times New Roman" pitchFamily="18" charset="0"/>
                <a:cs typeface="Times New Roman" pitchFamily="18" charset="0"/>
              </a:rPr>
              <a:t>NH</a:t>
            </a:r>
            <a:r>
              <a:rPr lang="en-US" sz="3200" baseline="-30000" dirty="0">
                <a:ea typeface="Times New Roman" pitchFamily="18" charset="0"/>
                <a:cs typeface="Times New Roman" pitchFamily="18" charset="0"/>
              </a:rPr>
              <a:t>2</a:t>
            </a:r>
            <a:endParaRPr lang="en-US" sz="1800" dirty="0">
              <a:latin typeface="Arial" pitchFamily="34" charset="0"/>
            </a:endParaRPr>
          </a:p>
          <a:p>
            <a:pPr eaLnBrk="0" hangingPunct="0">
              <a:defRPr/>
            </a:pPr>
            <a:r>
              <a:rPr lang="en-US" sz="3200" dirty="0">
                <a:ea typeface="Times New Roman" pitchFamily="18" charset="0"/>
                <a:cs typeface="Times New Roman" pitchFamily="18" charset="0"/>
              </a:rPr>
              <a:t>H</a:t>
            </a:r>
            <a:r>
              <a:rPr lang="en-US" sz="3200" baseline="-30000" dirty="0">
                <a:ea typeface="Times New Roman" pitchFamily="18" charset="0"/>
                <a:cs typeface="Times New Roman" pitchFamily="18" charset="0"/>
              </a:rPr>
              <a:t>3</a:t>
            </a:r>
            <a:r>
              <a:rPr lang="en-US" sz="3200" dirty="0">
                <a:ea typeface="Times New Roman" pitchFamily="18" charset="0"/>
                <a:cs typeface="Times New Roman" pitchFamily="18" charset="0"/>
              </a:rPr>
              <a:t>PO</a:t>
            </a:r>
            <a:r>
              <a:rPr lang="en-US" sz="3200" baseline="-30000" dirty="0">
                <a:ea typeface="Times New Roman" pitchFamily="18" charset="0"/>
                <a:cs typeface="Times New Roman" pitchFamily="18" charset="0"/>
              </a:rPr>
              <a:t>4</a:t>
            </a:r>
            <a:endParaRPr lang="en-US" sz="1800" dirty="0">
              <a:latin typeface="Arial" pitchFamily="34" charset="0"/>
            </a:endParaRPr>
          </a:p>
          <a:p>
            <a:pPr eaLnBrk="0" hangingPunct="0">
              <a:defRPr/>
            </a:pPr>
            <a:r>
              <a:rPr lang="en-US" sz="3200" dirty="0">
                <a:ea typeface="Times New Roman" pitchFamily="18" charset="0"/>
                <a:cs typeface="Times New Roman" pitchFamily="18" charset="0"/>
              </a:rPr>
              <a:t>NH</a:t>
            </a:r>
            <a:r>
              <a:rPr lang="en-US" sz="3200" baseline="-30000" dirty="0">
                <a:ea typeface="Times New Roman" pitchFamily="18" charset="0"/>
                <a:cs typeface="Times New Roman" pitchFamily="18" charset="0"/>
              </a:rPr>
              <a:t>4</a:t>
            </a:r>
            <a:r>
              <a:rPr lang="en-US" sz="3200" dirty="0">
                <a:ea typeface="Times New Roman" pitchFamily="18" charset="0"/>
                <a:cs typeface="Times New Roman" pitchFamily="18" charset="0"/>
              </a:rPr>
              <a:t>NO</a:t>
            </a:r>
            <a:r>
              <a:rPr lang="en-US" sz="3200" baseline="-30000" dirty="0">
                <a:ea typeface="Times New Roman" pitchFamily="18" charset="0"/>
                <a:cs typeface="Times New Roman" pitchFamily="18" charset="0"/>
              </a:rPr>
              <a:t>3</a:t>
            </a:r>
            <a:endParaRPr lang="en-US" sz="1800" dirty="0">
              <a:latin typeface="Arial" pitchFamily="34" charset="0"/>
            </a:endParaRPr>
          </a:p>
          <a:p>
            <a:pPr eaLnBrk="0" hangingPunct="0">
              <a:defRPr/>
            </a:pPr>
            <a:r>
              <a:rPr lang="en-US" sz="3200" dirty="0" err="1">
                <a:ea typeface="Times New Roman" pitchFamily="18" charset="0"/>
                <a:cs typeface="Times New Roman" pitchFamily="18" charset="0"/>
              </a:rPr>
              <a:t>HBr</a:t>
            </a:r>
            <a:r>
              <a:rPr lang="en-US" sz="3200" dirty="0">
                <a:ea typeface="Times New Roman" pitchFamily="18" charset="0"/>
                <a:cs typeface="Times New Roman" pitchFamily="18" charset="0"/>
              </a:rPr>
              <a:t> </a:t>
            </a:r>
          </a:p>
          <a:p>
            <a:pPr eaLnBrk="0" hangingPunct="0">
              <a:defRPr/>
            </a:pPr>
            <a:endParaRPr lang="en-US" sz="3200" dirty="0">
              <a:cs typeface="Times New Roman" pitchFamily="18" charset="0"/>
            </a:endParaRPr>
          </a:p>
          <a:p>
            <a:pPr eaLnBrk="0" hangingPunct="0">
              <a:defRPr/>
            </a:pPr>
            <a:r>
              <a:rPr lang="en-US" sz="2800" dirty="0">
                <a:solidFill>
                  <a:schemeClr val="accent2"/>
                </a:solidFill>
                <a:latin typeface="+mn-lt"/>
                <a:cs typeface="Times New Roman" pitchFamily="18" charset="0"/>
              </a:rPr>
              <a:t>NaOH&gt;CH</a:t>
            </a:r>
            <a:r>
              <a:rPr lang="en-US" sz="2800" baseline="-25000" dirty="0">
                <a:solidFill>
                  <a:schemeClr val="accent2"/>
                </a:solidFill>
                <a:latin typeface="+mn-lt"/>
                <a:cs typeface="Times New Roman" pitchFamily="18" charset="0"/>
              </a:rPr>
              <a:t>3</a:t>
            </a:r>
            <a:r>
              <a:rPr lang="en-US" sz="2800" dirty="0">
                <a:solidFill>
                  <a:schemeClr val="accent2"/>
                </a:solidFill>
                <a:latin typeface="+mn-lt"/>
                <a:cs typeface="Times New Roman" pitchFamily="18" charset="0"/>
              </a:rPr>
              <a:t>NH</a:t>
            </a:r>
            <a:r>
              <a:rPr lang="en-US" sz="2800" baseline="-25000" dirty="0">
                <a:solidFill>
                  <a:schemeClr val="accent2"/>
                </a:solidFill>
                <a:latin typeface="+mn-lt"/>
                <a:cs typeface="Times New Roman" pitchFamily="18" charset="0"/>
              </a:rPr>
              <a:t>2</a:t>
            </a:r>
            <a:r>
              <a:rPr lang="en-US" sz="2800" dirty="0">
                <a:solidFill>
                  <a:schemeClr val="accent2"/>
                </a:solidFill>
                <a:latin typeface="+mn-lt"/>
                <a:cs typeface="Times New Roman" pitchFamily="18" charset="0"/>
              </a:rPr>
              <a:t>&gt;</a:t>
            </a:r>
            <a:r>
              <a:rPr lang="en-US" sz="2800" dirty="0" err="1">
                <a:solidFill>
                  <a:schemeClr val="accent2"/>
                </a:solidFill>
                <a:latin typeface="+mn-lt"/>
                <a:cs typeface="Times New Roman" pitchFamily="18" charset="0"/>
              </a:rPr>
              <a:t>NaCN</a:t>
            </a:r>
            <a:r>
              <a:rPr lang="en-US" sz="2800" dirty="0">
                <a:solidFill>
                  <a:schemeClr val="accent2"/>
                </a:solidFill>
                <a:latin typeface="+mn-lt"/>
                <a:cs typeface="Times New Roman" pitchFamily="18" charset="0"/>
              </a:rPr>
              <a:t>&gt;</a:t>
            </a:r>
            <a:r>
              <a:rPr lang="en-US" sz="2800" dirty="0" err="1">
                <a:solidFill>
                  <a:schemeClr val="accent2"/>
                </a:solidFill>
                <a:latin typeface="+mn-lt"/>
                <a:cs typeface="Times New Roman" pitchFamily="18" charset="0"/>
              </a:rPr>
              <a:t>KCl</a:t>
            </a:r>
            <a:r>
              <a:rPr lang="en-US" sz="2800" dirty="0">
                <a:solidFill>
                  <a:schemeClr val="accent2"/>
                </a:solidFill>
                <a:latin typeface="+mn-lt"/>
                <a:cs typeface="Times New Roman" pitchFamily="18" charset="0"/>
              </a:rPr>
              <a:t>&gt;NH</a:t>
            </a:r>
            <a:r>
              <a:rPr lang="en-US" sz="2800" baseline="-25000" dirty="0">
                <a:solidFill>
                  <a:schemeClr val="accent2"/>
                </a:solidFill>
                <a:latin typeface="+mn-lt"/>
                <a:cs typeface="Times New Roman" pitchFamily="18" charset="0"/>
              </a:rPr>
              <a:t>4</a:t>
            </a:r>
            <a:r>
              <a:rPr lang="en-US" sz="2800" dirty="0">
                <a:solidFill>
                  <a:schemeClr val="accent2"/>
                </a:solidFill>
                <a:latin typeface="+mn-lt"/>
                <a:cs typeface="Times New Roman" pitchFamily="18" charset="0"/>
              </a:rPr>
              <a:t>NO</a:t>
            </a:r>
            <a:r>
              <a:rPr lang="en-US" sz="2800" baseline="-25000" dirty="0">
                <a:solidFill>
                  <a:schemeClr val="accent2"/>
                </a:solidFill>
                <a:latin typeface="+mn-lt"/>
                <a:cs typeface="Times New Roman" pitchFamily="18" charset="0"/>
              </a:rPr>
              <a:t>3</a:t>
            </a:r>
            <a:r>
              <a:rPr lang="en-US" sz="2800" dirty="0">
                <a:solidFill>
                  <a:schemeClr val="accent2"/>
                </a:solidFill>
                <a:latin typeface="+mn-lt"/>
                <a:cs typeface="Times New Roman" pitchFamily="18" charset="0"/>
              </a:rPr>
              <a:t>&gt;H</a:t>
            </a:r>
            <a:r>
              <a:rPr lang="en-US" sz="2800" baseline="-25000" dirty="0">
                <a:solidFill>
                  <a:schemeClr val="accent2"/>
                </a:solidFill>
                <a:latin typeface="+mn-lt"/>
                <a:cs typeface="Times New Roman" pitchFamily="18" charset="0"/>
              </a:rPr>
              <a:t>3</a:t>
            </a:r>
            <a:r>
              <a:rPr lang="en-US" sz="2800" dirty="0">
                <a:solidFill>
                  <a:schemeClr val="accent2"/>
                </a:solidFill>
                <a:latin typeface="+mn-lt"/>
                <a:cs typeface="Times New Roman" pitchFamily="18" charset="0"/>
              </a:rPr>
              <a:t>PO</a:t>
            </a:r>
            <a:r>
              <a:rPr lang="en-US" sz="2800" baseline="-25000" dirty="0">
                <a:solidFill>
                  <a:schemeClr val="accent2"/>
                </a:solidFill>
                <a:latin typeface="+mn-lt"/>
                <a:cs typeface="Times New Roman" pitchFamily="18" charset="0"/>
              </a:rPr>
              <a:t>4</a:t>
            </a:r>
            <a:r>
              <a:rPr lang="en-US" sz="2800" dirty="0">
                <a:solidFill>
                  <a:schemeClr val="accent2"/>
                </a:solidFill>
                <a:latin typeface="+mn-lt"/>
                <a:cs typeface="Times New Roman" pitchFamily="18" charset="0"/>
              </a:rPr>
              <a:t>&gt; </a:t>
            </a:r>
            <a:r>
              <a:rPr lang="en-US" sz="2800" dirty="0" err="1">
                <a:solidFill>
                  <a:schemeClr val="accent2"/>
                </a:solidFill>
                <a:latin typeface="+mn-lt"/>
                <a:cs typeface="Times New Roman" pitchFamily="18" charset="0"/>
              </a:rPr>
              <a:t>HBr</a:t>
            </a:r>
            <a:endParaRPr lang="en-US" sz="2000" dirty="0">
              <a:solidFill>
                <a:schemeClr val="accent2"/>
              </a:solidFill>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516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a:xfrm>
            <a:off x="914400" y="0"/>
            <a:ext cx="10363200" cy="609600"/>
          </a:xfrm>
        </p:spPr>
        <p:txBody>
          <a:bodyPr/>
          <a:lstStyle/>
          <a:p>
            <a:r>
              <a:rPr lang="en-US" sz="4000" b="1" u="sng" dirty="0">
                <a:solidFill>
                  <a:schemeClr val="tx1"/>
                </a:solidFill>
              </a:rPr>
              <a:t>Determination of the pH of Salts</a:t>
            </a:r>
            <a:endParaRPr lang="en-US" sz="4000" dirty="0">
              <a:solidFill>
                <a:schemeClr val="tx1"/>
              </a:solidFill>
            </a:endParaRPr>
          </a:p>
        </p:txBody>
      </p:sp>
      <p:sp>
        <p:nvSpPr>
          <p:cNvPr id="2" name="Content Placeholder 1"/>
          <p:cNvSpPr>
            <a:spLocks noGrp="1"/>
          </p:cNvSpPr>
          <p:nvPr>
            <p:ph idx="1"/>
          </p:nvPr>
        </p:nvSpPr>
        <p:spPr>
          <a:xfrm>
            <a:off x="381000" y="762000"/>
            <a:ext cx="11582400" cy="5334000"/>
          </a:xfrm>
        </p:spPr>
        <p:txBody>
          <a:bodyPr/>
          <a:lstStyle/>
          <a:p>
            <a:r>
              <a:rPr lang="en-US" sz="2800" dirty="0"/>
              <a:t>When determining the exact pH of salt solutions, we can find the </a:t>
            </a:r>
            <a:r>
              <a:rPr lang="en-US" sz="2800" i="1" dirty="0"/>
              <a:t>K</a:t>
            </a:r>
            <a:r>
              <a:rPr lang="en-US" sz="2800" dirty="0"/>
              <a:t> value of the significant conjugate from the </a:t>
            </a:r>
            <a:r>
              <a:rPr lang="en-US" sz="2800" i="1" dirty="0"/>
              <a:t>K</a:t>
            </a:r>
            <a:r>
              <a:rPr lang="en-US" sz="2800" dirty="0"/>
              <a:t> value of the weak partner. They are related with the equation:</a:t>
            </a:r>
          </a:p>
          <a:p>
            <a:pPr marL="0" indent="0">
              <a:buNone/>
            </a:pPr>
            <a:br>
              <a:rPr lang="en-US" sz="2800" dirty="0"/>
            </a:br>
            <a:r>
              <a:rPr lang="en-US" sz="2800" dirty="0"/>
              <a:t>            </a:t>
            </a:r>
            <a:r>
              <a:rPr lang="en-US" sz="2800" i="1" dirty="0" err="1"/>
              <a:t>K</a:t>
            </a:r>
            <a:r>
              <a:rPr lang="en-US" sz="2800" i="1" baseline="-25000" dirty="0" err="1"/>
              <a:t>a</a:t>
            </a:r>
            <a:r>
              <a:rPr lang="en-US" sz="2800" dirty="0"/>
              <a:t> </a:t>
            </a:r>
            <a:r>
              <a:rPr lang="en-US" sz="2800" dirty="0">
                <a:cs typeface="Times New Roman" pitchFamily="18" charset="0"/>
              </a:rPr>
              <a:t>×</a:t>
            </a:r>
            <a:r>
              <a:rPr lang="en-US" sz="2800" dirty="0"/>
              <a:t> </a:t>
            </a:r>
            <a:r>
              <a:rPr lang="en-US" sz="2800" i="1" dirty="0"/>
              <a:t>K</a:t>
            </a:r>
            <a:r>
              <a:rPr lang="en-US" sz="2800" i="1" baseline="-25000" dirty="0"/>
              <a:t>b</a:t>
            </a:r>
            <a:r>
              <a:rPr lang="en-US" sz="2800" baseline="-25000" dirty="0"/>
              <a:t> </a:t>
            </a:r>
            <a:r>
              <a:rPr lang="en-US" sz="2800" dirty="0"/>
              <a:t>= </a:t>
            </a:r>
            <a:r>
              <a:rPr lang="en-US" sz="2800" i="1" dirty="0"/>
              <a:t>K</a:t>
            </a:r>
            <a:r>
              <a:rPr lang="en-US" sz="2800" i="1" baseline="-25000" dirty="0"/>
              <a:t>w	</a:t>
            </a:r>
            <a:r>
              <a:rPr lang="en-US" sz="2800" dirty="0"/>
              <a:t>Also,	 </a:t>
            </a:r>
            <a:r>
              <a:rPr lang="en-US" sz="2800" i="1" dirty="0" err="1"/>
              <a:t>pKa</a:t>
            </a:r>
            <a:r>
              <a:rPr lang="en-US" sz="2800" i="1" dirty="0"/>
              <a:t> + </a:t>
            </a:r>
            <a:r>
              <a:rPr lang="en-US" sz="2800" i="1" dirty="0" err="1"/>
              <a:t>pKb</a:t>
            </a:r>
            <a:r>
              <a:rPr lang="en-US" sz="2800" i="1" dirty="0"/>
              <a:t> = 14 </a:t>
            </a:r>
            <a:br>
              <a:rPr lang="en-US" sz="2800" dirty="0"/>
            </a:br>
            <a:r>
              <a:rPr lang="en-US" sz="2800" dirty="0"/>
              <a:t>	where </a:t>
            </a:r>
            <a:r>
              <a:rPr lang="en-US" sz="2800" dirty="0" err="1"/>
              <a:t>pKa</a:t>
            </a:r>
            <a:r>
              <a:rPr lang="en-US" sz="2800" dirty="0"/>
              <a:t> = -log </a:t>
            </a:r>
            <a:r>
              <a:rPr lang="en-US" sz="2800" i="1" dirty="0" err="1"/>
              <a:t>Ka</a:t>
            </a:r>
            <a:r>
              <a:rPr lang="en-US" sz="2800" i="1" dirty="0"/>
              <a:t> </a:t>
            </a:r>
            <a:br>
              <a:rPr lang="en-US" sz="2800" dirty="0"/>
            </a:br>
            <a:r>
              <a:rPr lang="en-US" sz="2800" dirty="0"/>
              <a:t>	and </a:t>
            </a:r>
            <a:r>
              <a:rPr lang="en-US" sz="2800" dirty="0" err="1"/>
              <a:t>pKb</a:t>
            </a:r>
            <a:r>
              <a:rPr lang="en-US" sz="2800" dirty="0"/>
              <a:t> = -log </a:t>
            </a:r>
            <a:r>
              <a:rPr lang="en-US" sz="2800" i="1" dirty="0"/>
              <a:t>Kb</a:t>
            </a:r>
          </a:p>
          <a:p>
            <a:endParaRPr lang="en-US" sz="2800" dirty="0"/>
          </a:p>
          <a:p>
            <a:r>
              <a:rPr lang="en-US" sz="2800" i="1" dirty="0" err="1"/>
              <a:t>K</a:t>
            </a:r>
            <a:r>
              <a:rPr lang="en-US" sz="2800" i="1" baseline="-25000" dirty="0" err="1"/>
              <a:t>a</a:t>
            </a:r>
            <a:r>
              <a:rPr lang="en-US" sz="2800" baseline="-25000" dirty="0"/>
              <a:t> </a:t>
            </a:r>
            <a:r>
              <a:rPr lang="en-US" sz="2800" dirty="0"/>
              <a:t>of a significant conjugate acid can be found from the </a:t>
            </a:r>
            <a:r>
              <a:rPr lang="en-US" sz="2800" i="1" dirty="0"/>
              <a:t>K</a:t>
            </a:r>
            <a:r>
              <a:rPr lang="en-US" sz="2800" i="1" baseline="-25000" dirty="0"/>
              <a:t>b</a:t>
            </a:r>
            <a:r>
              <a:rPr lang="en-US" sz="2800" dirty="0"/>
              <a:t> of the weak base partner.</a:t>
            </a:r>
          </a:p>
          <a:p>
            <a:r>
              <a:rPr lang="en-US" sz="2800" i="1" dirty="0"/>
              <a:t>K</a:t>
            </a:r>
            <a:r>
              <a:rPr lang="en-US" sz="2800" i="1" baseline="-25000" dirty="0"/>
              <a:t>b</a:t>
            </a:r>
            <a:r>
              <a:rPr lang="en-US" sz="2800" baseline="-25000" dirty="0"/>
              <a:t> </a:t>
            </a:r>
            <a:r>
              <a:rPr lang="en-US" sz="2800" dirty="0"/>
              <a:t>of a significant conjugate base can be found from the </a:t>
            </a:r>
            <a:r>
              <a:rPr lang="en-US" sz="2800" i="1" dirty="0" err="1"/>
              <a:t>K</a:t>
            </a:r>
            <a:r>
              <a:rPr lang="en-US" sz="2800" i="1" baseline="-25000" dirty="0" err="1"/>
              <a:t>a</a:t>
            </a:r>
            <a:r>
              <a:rPr lang="en-US" sz="2800" dirty="0"/>
              <a:t> of the weak acid partner.</a:t>
            </a:r>
          </a:p>
          <a:p>
            <a:pPr marL="0" indent="0">
              <a:buNone/>
            </a:pPr>
            <a:br>
              <a:rPr lang="en-US" sz="3600" dirty="0"/>
            </a:br>
            <a:br>
              <a:rPr lang="en-US" b="1" dirty="0"/>
            </a:br>
            <a:endParaRPr lang="en-US" b="1" dirty="0"/>
          </a:p>
          <a:p>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a:xfrm>
            <a:off x="914400" y="0"/>
            <a:ext cx="10363200" cy="609600"/>
          </a:xfrm>
        </p:spPr>
        <p:txBody>
          <a:bodyPr/>
          <a:lstStyle/>
          <a:p>
            <a:endParaRPr lang="en-US" sz="4000" dirty="0">
              <a:solidFill>
                <a:schemeClr val="tx1"/>
              </a:solidFill>
            </a:endParaRPr>
          </a:p>
        </p:txBody>
      </p:sp>
      <p:sp>
        <p:nvSpPr>
          <p:cNvPr id="2" name="Content Placeholder 1"/>
          <p:cNvSpPr>
            <a:spLocks noGrp="1"/>
          </p:cNvSpPr>
          <p:nvPr>
            <p:ph idx="1"/>
          </p:nvPr>
        </p:nvSpPr>
        <p:spPr>
          <a:xfrm>
            <a:off x="381000" y="762000"/>
            <a:ext cx="11582400" cy="5334000"/>
          </a:xfrm>
        </p:spPr>
        <p:txBody>
          <a:bodyPr/>
          <a:lstStyle/>
          <a:p>
            <a:pPr marL="0" indent="0">
              <a:buNone/>
            </a:pPr>
            <a:br>
              <a:rPr lang="en-US" sz="2800" dirty="0"/>
            </a:br>
            <a:r>
              <a:rPr lang="en-US" sz="2800" dirty="0"/>
              <a:t>            </a:t>
            </a:r>
            <a:r>
              <a:rPr lang="en-US" sz="2800" i="1" dirty="0"/>
              <a:t>K</a:t>
            </a:r>
            <a:r>
              <a:rPr lang="en-US" sz="2800" i="1" baseline="-25000" dirty="0"/>
              <a:t>a</a:t>
            </a:r>
            <a:r>
              <a:rPr lang="en-US" sz="2800" dirty="0"/>
              <a:t> </a:t>
            </a:r>
            <a:r>
              <a:rPr lang="en-US" sz="2800" dirty="0">
                <a:cs typeface="Times New Roman" pitchFamily="18" charset="0"/>
              </a:rPr>
              <a:t>×</a:t>
            </a:r>
            <a:r>
              <a:rPr lang="en-US" sz="2800" dirty="0"/>
              <a:t> </a:t>
            </a:r>
            <a:r>
              <a:rPr lang="en-US" sz="2800" i="1" dirty="0"/>
              <a:t>K</a:t>
            </a:r>
            <a:r>
              <a:rPr lang="en-US" sz="2800" i="1" baseline="-25000" dirty="0"/>
              <a:t>b</a:t>
            </a:r>
            <a:r>
              <a:rPr lang="en-US" sz="2800" baseline="-25000" dirty="0"/>
              <a:t> </a:t>
            </a:r>
            <a:r>
              <a:rPr lang="en-US" sz="2800" dirty="0"/>
              <a:t>= </a:t>
            </a:r>
            <a:r>
              <a:rPr lang="en-US" sz="2800" i="1" dirty="0"/>
              <a:t>K</a:t>
            </a:r>
            <a:r>
              <a:rPr lang="en-US" sz="2800" i="1" baseline="-25000" dirty="0"/>
              <a:t>w	</a:t>
            </a:r>
            <a:r>
              <a:rPr lang="en-US" sz="2800" dirty="0"/>
              <a:t>Also,	 </a:t>
            </a:r>
            <a:r>
              <a:rPr lang="en-US" sz="2800" i="1" dirty="0" err="1"/>
              <a:t>pKa</a:t>
            </a:r>
            <a:r>
              <a:rPr lang="en-US" sz="2800" i="1" dirty="0"/>
              <a:t> + </a:t>
            </a:r>
            <a:r>
              <a:rPr lang="en-US" sz="2800" i="1" dirty="0" err="1"/>
              <a:t>pKb</a:t>
            </a:r>
            <a:r>
              <a:rPr lang="en-US" sz="2800" i="1" dirty="0"/>
              <a:t> = 14 </a:t>
            </a:r>
          </a:p>
          <a:p>
            <a:pPr marL="0" indent="0">
              <a:buNone/>
            </a:pPr>
            <a:br>
              <a:rPr lang="en-US" sz="2800" dirty="0"/>
            </a:br>
            <a:r>
              <a:rPr lang="en-US" sz="2800" dirty="0"/>
              <a:t>Practice: If NH</a:t>
            </a:r>
            <a:r>
              <a:rPr lang="en-US" sz="2800" baseline="-25000" dirty="0"/>
              <a:t>3</a:t>
            </a:r>
            <a:r>
              <a:rPr lang="en-US" sz="2800" dirty="0"/>
              <a:t> has a Kb value of 1.8x10</a:t>
            </a:r>
            <a:r>
              <a:rPr lang="en-US" sz="2800" baseline="30000" dirty="0"/>
              <a:t>-5</a:t>
            </a:r>
            <a:r>
              <a:rPr lang="en-US" sz="2800" dirty="0"/>
              <a:t>, what is the </a:t>
            </a:r>
            <a:r>
              <a:rPr lang="en-US" sz="2800" i="1" dirty="0"/>
              <a:t>K</a:t>
            </a:r>
            <a:r>
              <a:rPr lang="en-US" sz="2800" i="1" baseline="-25000" dirty="0"/>
              <a:t>a</a:t>
            </a:r>
            <a:r>
              <a:rPr lang="en-US" sz="2800" dirty="0"/>
              <a:t> needed to analyze the salt NH</a:t>
            </a:r>
            <a:r>
              <a:rPr lang="en-US" sz="2800" baseline="-25000" dirty="0"/>
              <a:t>4</a:t>
            </a:r>
            <a:r>
              <a:rPr lang="en-US" sz="2800" dirty="0"/>
              <a:t>Cl?</a:t>
            </a:r>
          </a:p>
          <a:p>
            <a:pPr marL="0" indent="0">
              <a:buNone/>
            </a:pPr>
            <a:br>
              <a:rPr lang="en-US" sz="3600" dirty="0"/>
            </a:br>
            <a:br>
              <a:rPr lang="en-US" b="1" dirty="0"/>
            </a:br>
            <a:endParaRPr lang="en-US" b="1" dirty="0"/>
          </a:p>
          <a:p>
            <a:endParaRPr lang="en-US" dirty="0"/>
          </a:p>
        </p:txBody>
      </p:sp>
    </p:spTree>
    <p:extLst>
      <p:ext uri="{BB962C8B-B14F-4D97-AF65-F5344CB8AC3E}">
        <p14:creationId xmlns:p14="http://schemas.microsoft.com/office/powerpoint/2010/main" val="15853445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533400" y="304800"/>
            <a:ext cx="11353800" cy="1143000"/>
          </a:xfrm>
        </p:spPr>
        <p:txBody>
          <a:bodyPr/>
          <a:lstStyle/>
          <a:p>
            <a:pPr algn="l"/>
            <a:r>
              <a:rPr lang="en-US" sz="2800" b="1" dirty="0">
                <a:solidFill>
                  <a:schemeClr val="tx1"/>
                </a:solidFill>
              </a:rPr>
              <a:t>Practice: Calculate the pH of a 0.15 </a:t>
            </a:r>
            <a:r>
              <a:rPr lang="en-US" sz="2800" b="1" i="1" dirty="0">
                <a:solidFill>
                  <a:schemeClr val="tx1"/>
                </a:solidFill>
              </a:rPr>
              <a:t>M</a:t>
            </a:r>
            <a:r>
              <a:rPr lang="en-US" sz="2800" b="1" dirty="0">
                <a:solidFill>
                  <a:schemeClr val="tx1"/>
                </a:solidFill>
              </a:rPr>
              <a:t> solution of sodium acetate.</a:t>
            </a:r>
            <a:br>
              <a:rPr lang="en-US" sz="2800" b="1" dirty="0">
                <a:solidFill>
                  <a:schemeClr val="tx1"/>
                </a:solidFill>
              </a:rPr>
            </a:br>
            <a:r>
              <a:rPr lang="en-US" sz="2800" b="1" dirty="0">
                <a:solidFill>
                  <a:schemeClr val="tx1"/>
                </a:solidFill>
              </a:rPr>
              <a:t>The K</a:t>
            </a:r>
            <a:r>
              <a:rPr lang="en-US" sz="2800" b="1" baseline="-25000" dirty="0">
                <a:solidFill>
                  <a:schemeClr val="tx1"/>
                </a:solidFill>
              </a:rPr>
              <a:t>a</a:t>
            </a:r>
            <a:r>
              <a:rPr lang="en-US" sz="2800" b="1" dirty="0">
                <a:solidFill>
                  <a:schemeClr val="tx1"/>
                </a:solidFill>
              </a:rPr>
              <a:t> of acetic acid is 1.8 x 10</a:t>
            </a:r>
            <a:r>
              <a:rPr lang="en-US" sz="2800" b="1" baseline="30000" dirty="0">
                <a:solidFill>
                  <a:schemeClr val="tx1"/>
                </a:solidFill>
              </a:rPr>
              <a:t>-5</a:t>
            </a:r>
            <a:r>
              <a:rPr lang="en-US" sz="2800" b="1" dirty="0">
                <a:solidFill>
                  <a:schemeClr val="tx1"/>
                </a:solidFill>
              </a:rPr>
              <a:t>.</a:t>
            </a:r>
            <a:endParaRPr lang="en-US" dirty="0">
              <a:solidFill>
                <a:schemeClr val="tx1"/>
              </a:solidFill>
            </a:endParaRPr>
          </a:p>
        </p:txBody>
      </p:sp>
      <p:sp>
        <p:nvSpPr>
          <p:cNvPr id="72707" name="Rectangle 3"/>
          <p:cNvSpPr>
            <a:spLocks noGrp="1" noChangeArrowheads="1"/>
          </p:cNvSpPr>
          <p:nvPr>
            <p:ph type="body" idx="1"/>
          </p:nvPr>
        </p:nvSpPr>
        <p:spPr>
          <a:xfrm>
            <a:off x="1752600" y="2743200"/>
            <a:ext cx="8610600" cy="4114800"/>
          </a:xfrm>
        </p:spPr>
        <p:txBody>
          <a:bodyPr/>
          <a:lstStyle/>
          <a:p>
            <a:pPr>
              <a:buFontTx/>
              <a:buNone/>
            </a:pPr>
            <a:endParaRPr lang="en-US">
              <a:solidFill>
                <a:srgbClr val="CC0000"/>
              </a:solidFill>
            </a:endParaRPr>
          </a:p>
          <a:p>
            <a:pPr>
              <a:buFontTx/>
              <a:buNone/>
            </a:pPr>
            <a:r>
              <a:rPr lang="en-US">
                <a:solidFill>
                  <a:srgbClr val="CC0000"/>
                </a:solidFill>
              </a:rPr>
              <a:t>Reaction  C</a:t>
            </a:r>
            <a:r>
              <a:rPr lang="en-US" baseline="-25000">
                <a:solidFill>
                  <a:srgbClr val="CC0000"/>
                </a:solidFill>
              </a:rPr>
              <a:t>2</a:t>
            </a:r>
            <a:r>
              <a:rPr lang="en-US">
                <a:solidFill>
                  <a:srgbClr val="CC0000"/>
                </a:solidFill>
              </a:rPr>
              <a:t>H</a:t>
            </a:r>
            <a:r>
              <a:rPr lang="en-US" baseline="-25000">
                <a:solidFill>
                  <a:srgbClr val="CC0000"/>
                </a:solidFill>
              </a:rPr>
              <a:t>3</a:t>
            </a:r>
            <a:r>
              <a:rPr lang="en-US">
                <a:solidFill>
                  <a:srgbClr val="CC0000"/>
                </a:solidFill>
              </a:rPr>
              <a:t>O</a:t>
            </a:r>
            <a:r>
              <a:rPr lang="en-US" baseline="-25000">
                <a:solidFill>
                  <a:srgbClr val="CC0000"/>
                </a:solidFill>
              </a:rPr>
              <a:t>2</a:t>
            </a:r>
            <a:r>
              <a:rPr lang="en-US" baseline="30000">
                <a:solidFill>
                  <a:srgbClr val="CC0000"/>
                </a:solidFill>
                <a:sym typeface="Symbol" pitchFamily="18" charset="2"/>
              </a:rPr>
              <a:t></a:t>
            </a:r>
            <a:r>
              <a:rPr lang="en-US">
                <a:solidFill>
                  <a:srgbClr val="CC0000"/>
                </a:solidFill>
              </a:rPr>
              <a:t> + H</a:t>
            </a:r>
            <a:r>
              <a:rPr lang="en-US" baseline="-25000">
                <a:solidFill>
                  <a:srgbClr val="CC0000"/>
                </a:solidFill>
              </a:rPr>
              <a:t>2</a:t>
            </a:r>
            <a:r>
              <a:rPr lang="en-US">
                <a:solidFill>
                  <a:srgbClr val="CC0000"/>
                </a:solidFill>
              </a:rPr>
              <a:t>O </a:t>
            </a:r>
            <a:r>
              <a:rPr lang="en-US">
                <a:solidFill>
                  <a:srgbClr val="CC0000"/>
                </a:solidFill>
                <a:sym typeface="Wingdings 3" pitchFamily="18" charset="2"/>
              </a:rPr>
              <a:t></a:t>
            </a:r>
            <a:r>
              <a:rPr lang="en-US">
                <a:solidFill>
                  <a:srgbClr val="CC0000"/>
                </a:solidFill>
              </a:rPr>
              <a:t> HC</a:t>
            </a:r>
            <a:r>
              <a:rPr lang="en-US" baseline="-25000">
                <a:solidFill>
                  <a:srgbClr val="CC0000"/>
                </a:solidFill>
              </a:rPr>
              <a:t>2</a:t>
            </a:r>
            <a:r>
              <a:rPr lang="en-US">
                <a:solidFill>
                  <a:srgbClr val="CC0000"/>
                </a:solidFill>
              </a:rPr>
              <a:t>H</a:t>
            </a:r>
            <a:r>
              <a:rPr lang="en-US" baseline="-25000">
                <a:solidFill>
                  <a:srgbClr val="CC0000"/>
                </a:solidFill>
              </a:rPr>
              <a:t>3</a:t>
            </a:r>
            <a:r>
              <a:rPr lang="en-US">
                <a:solidFill>
                  <a:srgbClr val="CC0000"/>
                </a:solidFill>
              </a:rPr>
              <a:t>O</a:t>
            </a:r>
            <a:r>
              <a:rPr lang="en-US" baseline="-25000">
                <a:solidFill>
                  <a:srgbClr val="CC0000"/>
                </a:solidFill>
              </a:rPr>
              <a:t>2</a:t>
            </a:r>
            <a:r>
              <a:rPr lang="en-US">
                <a:solidFill>
                  <a:srgbClr val="CC0000"/>
                </a:solidFill>
              </a:rPr>
              <a:t> + OH</a:t>
            </a:r>
            <a:r>
              <a:rPr lang="en-US" baseline="30000">
                <a:solidFill>
                  <a:srgbClr val="CC0000"/>
                </a:solidFill>
                <a:sym typeface="Symbol" pitchFamily="18" charset="2"/>
              </a:rPr>
              <a:t></a:t>
            </a:r>
            <a:endParaRPr lang="en-US">
              <a:solidFill>
                <a:srgbClr val="CC0000"/>
              </a:solidFill>
            </a:endParaRPr>
          </a:p>
          <a:p>
            <a:pPr>
              <a:buFontTx/>
              <a:buNone/>
            </a:pPr>
            <a:r>
              <a:rPr lang="en-US">
                <a:solidFill>
                  <a:srgbClr val="CC0000"/>
                </a:solidFill>
              </a:rPr>
              <a:t>Initial    </a:t>
            </a:r>
            <a:r>
              <a:rPr lang="en-US"/>
              <a:t>   0.15</a:t>
            </a:r>
            <a:r>
              <a:rPr lang="en-US" i="1"/>
              <a:t>M</a:t>
            </a:r>
            <a:r>
              <a:rPr lang="en-US"/>
              <a:t>       ----              0            0</a:t>
            </a:r>
          </a:p>
          <a:p>
            <a:pPr>
              <a:buFontTx/>
              <a:buNone/>
            </a:pPr>
            <a:r>
              <a:rPr lang="en-US">
                <a:solidFill>
                  <a:srgbClr val="CC0000"/>
                </a:solidFill>
              </a:rPr>
              <a:t>Change</a:t>
            </a:r>
            <a:r>
              <a:rPr lang="en-US"/>
              <a:t>     </a:t>
            </a:r>
            <a:r>
              <a:rPr lang="en-US">
                <a:sym typeface="Symbol" pitchFamily="18" charset="2"/>
              </a:rPr>
              <a:t></a:t>
            </a:r>
            <a:r>
              <a:rPr lang="en-US" i="1"/>
              <a:t>x</a:t>
            </a:r>
            <a:r>
              <a:rPr lang="en-US"/>
              <a:t>                               +</a:t>
            </a:r>
            <a:r>
              <a:rPr lang="en-US" i="1"/>
              <a:t>x</a:t>
            </a:r>
            <a:r>
              <a:rPr lang="en-US"/>
              <a:t>          +</a:t>
            </a:r>
            <a:r>
              <a:rPr lang="en-US" i="1"/>
              <a:t>x</a:t>
            </a:r>
          </a:p>
          <a:p>
            <a:pPr>
              <a:buFontTx/>
              <a:buNone/>
            </a:pPr>
            <a:r>
              <a:rPr lang="en-US">
                <a:solidFill>
                  <a:srgbClr val="CC0000"/>
                </a:solidFill>
              </a:rPr>
              <a:t>Equil.</a:t>
            </a:r>
            <a:r>
              <a:rPr lang="en-US"/>
              <a:t>       0.15</a:t>
            </a:r>
            <a:r>
              <a:rPr lang="en-US">
                <a:sym typeface="Symbol" pitchFamily="18" charset="2"/>
              </a:rPr>
              <a:t></a:t>
            </a:r>
            <a:r>
              <a:rPr lang="en-US"/>
              <a:t> </a:t>
            </a:r>
            <a:r>
              <a:rPr lang="en-US" i="1"/>
              <a:t>x</a:t>
            </a:r>
            <a:r>
              <a:rPr lang="en-US"/>
              <a:t>                         </a:t>
            </a:r>
            <a:r>
              <a:rPr lang="en-US" i="1"/>
              <a:t>x</a:t>
            </a:r>
            <a:r>
              <a:rPr lang="en-US"/>
              <a:t>             </a:t>
            </a:r>
            <a:r>
              <a:rPr lang="en-US" i="1"/>
              <a:t>x</a:t>
            </a:r>
            <a:br>
              <a:rPr lang="en-US"/>
            </a:br>
            <a:br>
              <a:rPr lang="en-US"/>
            </a:br>
            <a:endParaRPr lang="en-US"/>
          </a:p>
        </p:txBody>
      </p:sp>
      <p:sp>
        <p:nvSpPr>
          <p:cNvPr id="65540" name="Rectangle 4"/>
          <p:cNvSpPr>
            <a:spLocks noChangeArrowheads="1"/>
          </p:cNvSpPr>
          <p:nvPr/>
        </p:nvSpPr>
        <p:spPr bwMode="auto">
          <a:xfrm>
            <a:off x="1752600" y="3200400"/>
            <a:ext cx="8077200" cy="2514600"/>
          </a:xfrm>
          <a:prstGeom prst="rect">
            <a:avLst/>
          </a:prstGeom>
          <a:noFill/>
          <a:ln w="9525">
            <a:solidFill>
              <a:schemeClr val="tx1"/>
            </a:solidFill>
            <a:miter lim="800000"/>
            <a:headEnd/>
            <a:tailEnd/>
          </a:ln>
        </p:spPr>
        <p:txBody>
          <a:bodyPr wrap="none" anchor="ctr"/>
          <a:lstStyle/>
          <a:p>
            <a:pPr algn="ctr" eaLnBrk="0" hangingPunct="0"/>
            <a:endParaRPr lang="en-US">
              <a:solidFill>
                <a:srgbClr val="CC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2707">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554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7270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7270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727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7" grpId="0" build="p" autoUpdateAnimBg="0"/>
      <p:bldP spid="65540" grpId="0" animBg="1"/>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pPr algn="l"/>
            <a:r>
              <a:rPr lang="en-US">
                <a:solidFill>
                  <a:schemeClr val="tx1"/>
                </a:solidFill>
              </a:rPr>
              <a:t> </a:t>
            </a:r>
            <a:endParaRPr lang="en-US" sz="2800">
              <a:solidFill>
                <a:schemeClr val="tx1"/>
              </a:solidFill>
            </a:endParaRPr>
          </a:p>
        </p:txBody>
      </p:sp>
      <p:sp>
        <p:nvSpPr>
          <p:cNvPr id="73737" name="Rectangle 9"/>
          <p:cNvSpPr>
            <a:spLocks noGrp="1" noChangeArrowheads="1"/>
          </p:cNvSpPr>
          <p:nvPr>
            <p:ph type="body" idx="1"/>
          </p:nvPr>
        </p:nvSpPr>
        <p:spPr>
          <a:xfrm>
            <a:off x="1981200" y="685800"/>
            <a:ext cx="8458200" cy="4114800"/>
          </a:xfrm>
        </p:spPr>
        <p:txBody>
          <a:bodyPr/>
          <a:lstStyle/>
          <a:p>
            <a:pPr>
              <a:buFontTx/>
              <a:buNone/>
            </a:pPr>
            <a:endParaRPr lang="en-US" dirty="0"/>
          </a:p>
          <a:p>
            <a:pPr>
              <a:buFontTx/>
              <a:buNone/>
            </a:pPr>
            <a:endParaRPr lang="en-US" dirty="0"/>
          </a:p>
          <a:p>
            <a:pPr>
              <a:buFontTx/>
              <a:buNone/>
            </a:pPr>
            <a:endParaRPr lang="en-US" dirty="0"/>
          </a:p>
          <a:p>
            <a:pPr>
              <a:buFontTx/>
              <a:buNone/>
            </a:pPr>
            <a:endParaRPr lang="en-US" dirty="0"/>
          </a:p>
          <a:p>
            <a:pPr>
              <a:buFontTx/>
              <a:buNone/>
            </a:pPr>
            <a:endParaRPr lang="en-US" dirty="0"/>
          </a:p>
          <a:p>
            <a:pPr>
              <a:buFontTx/>
              <a:buNone/>
            </a:pPr>
            <a:endParaRPr lang="en-US" dirty="0"/>
          </a:p>
          <a:p>
            <a:pPr>
              <a:buFontTx/>
              <a:buNone/>
            </a:pPr>
            <a:r>
              <a:rPr lang="en-US" dirty="0"/>
              <a:t>[OH</a:t>
            </a:r>
            <a:r>
              <a:rPr lang="en-US" baseline="30000" dirty="0">
                <a:sym typeface="Symbol" pitchFamily="18" charset="2"/>
              </a:rPr>
              <a:t></a:t>
            </a:r>
            <a:r>
              <a:rPr lang="en-US" dirty="0"/>
              <a:t>] = 9.2</a:t>
            </a:r>
            <a:r>
              <a:rPr lang="en-US" dirty="0">
                <a:cs typeface="Times New Roman" pitchFamily="18" charset="0"/>
              </a:rPr>
              <a:t>×</a:t>
            </a:r>
            <a:r>
              <a:rPr lang="en-US" dirty="0"/>
              <a:t>10</a:t>
            </a:r>
            <a:r>
              <a:rPr lang="en-US" baseline="30000" dirty="0">
                <a:sym typeface="Symbol" pitchFamily="18" charset="2"/>
              </a:rPr>
              <a:t></a:t>
            </a:r>
            <a:r>
              <a:rPr lang="en-US" baseline="30000" dirty="0"/>
              <a:t>6</a:t>
            </a:r>
            <a:r>
              <a:rPr lang="en-US" dirty="0"/>
              <a:t> </a:t>
            </a:r>
          </a:p>
          <a:p>
            <a:pPr>
              <a:buFontTx/>
              <a:buNone/>
            </a:pPr>
            <a:r>
              <a:rPr lang="en-US" dirty="0"/>
              <a:t>pOH = - log 9.2</a:t>
            </a:r>
            <a:r>
              <a:rPr lang="en-US" dirty="0">
                <a:cs typeface="Times New Roman" pitchFamily="18" charset="0"/>
              </a:rPr>
              <a:t>×</a:t>
            </a:r>
            <a:r>
              <a:rPr lang="en-US" dirty="0"/>
              <a:t>10</a:t>
            </a:r>
            <a:r>
              <a:rPr lang="en-US" baseline="30000" dirty="0">
                <a:sym typeface="Symbol" pitchFamily="18" charset="2"/>
              </a:rPr>
              <a:t></a:t>
            </a:r>
            <a:r>
              <a:rPr lang="en-US" baseline="30000" dirty="0"/>
              <a:t>6</a:t>
            </a:r>
            <a:r>
              <a:rPr lang="en-US" dirty="0"/>
              <a:t> = 5.04                 </a:t>
            </a:r>
          </a:p>
          <a:p>
            <a:pPr>
              <a:buFontTx/>
              <a:buNone/>
            </a:pPr>
            <a:r>
              <a:rPr lang="en-US" dirty="0"/>
              <a:t>pH = 14.00</a:t>
            </a:r>
            <a:r>
              <a:rPr lang="en-US" dirty="0">
                <a:sym typeface="Symbol" pitchFamily="18" charset="2"/>
              </a:rPr>
              <a:t></a:t>
            </a:r>
            <a:r>
              <a:rPr lang="en-US" dirty="0"/>
              <a:t>5.04 = </a:t>
            </a:r>
            <a:r>
              <a:rPr lang="en-US" b="1" dirty="0">
                <a:solidFill>
                  <a:schemeClr val="accent2"/>
                </a:solidFill>
              </a:rPr>
              <a:t>8.96</a:t>
            </a:r>
          </a:p>
          <a:p>
            <a:pPr>
              <a:buFontTx/>
              <a:buNone/>
            </a:pPr>
            <a:r>
              <a:rPr lang="en-US" sz="2800" dirty="0">
                <a:latin typeface="Tw Cen MT Condensed Extra Bold" pitchFamily="34" charset="0"/>
              </a:rPr>
              <a:t>The pH is slightly basic, which is reasonable for a basic salt</a:t>
            </a:r>
            <a:endParaRPr lang="en-US" sz="2000" dirty="0"/>
          </a:p>
        </p:txBody>
      </p:sp>
      <p:sp>
        <p:nvSpPr>
          <p:cNvPr id="5126" name="Line 14"/>
          <p:cNvSpPr>
            <a:spLocks noChangeShapeType="1"/>
          </p:cNvSpPr>
          <p:nvPr/>
        </p:nvSpPr>
        <p:spPr bwMode="auto">
          <a:xfrm>
            <a:off x="5943600" y="19202400"/>
            <a:ext cx="609600" cy="0"/>
          </a:xfrm>
          <a:prstGeom prst="line">
            <a:avLst/>
          </a:prstGeom>
          <a:noFill/>
          <a:ln w="9525">
            <a:solidFill>
              <a:schemeClr val="tx1"/>
            </a:solidFill>
            <a:round/>
            <a:headEnd/>
            <a:tailEnd/>
          </a:ln>
        </p:spPr>
        <p:txBody>
          <a:bodyPr wrap="none" anchor="ctr"/>
          <a:lstStyle/>
          <a:p>
            <a:endParaRPr lang="en-US"/>
          </a:p>
        </p:txBody>
      </p:sp>
      <p:graphicFrame>
        <p:nvGraphicFramePr>
          <p:cNvPr id="5122" name="Object 3"/>
          <p:cNvGraphicFramePr>
            <a:graphicFrameLocks noChangeAspect="1"/>
          </p:cNvGraphicFramePr>
          <p:nvPr/>
        </p:nvGraphicFramePr>
        <p:xfrm>
          <a:off x="6038850" y="3321050"/>
          <a:ext cx="114300" cy="215900"/>
        </p:xfrm>
        <a:graphic>
          <a:graphicData uri="http://schemas.openxmlformats.org/presentationml/2006/ole">
            <mc:AlternateContent xmlns:mc="http://schemas.openxmlformats.org/markup-compatibility/2006">
              <mc:Choice xmlns:v="urn:schemas-microsoft-com:vml" Requires="v">
                <p:oleObj spid="_x0000_s5248" name="Equation" r:id="rId4" imgW="114120" imgH="215640" progId="Equation.3">
                  <p:embed/>
                </p:oleObj>
              </mc:Choice>
              <mc:Fallback>
                <p:oleObj name="Equation" r:id="rId4" imgW="114120" imgH="215640" progId="Equation.3">
                  <p:embed/>
                  <p:pic>
                    <p:nvPicPr>
                      <p:cNvPr id="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321050"/>
                        <a:ext cx="1143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3" name="Object 4"/>
          <p:cNvGraphicFramePr>
            <a:graphicFrameLocks noChangeAspect="1"/>
          </p:cNvGraphicFramePr>
          <p:nvPr>
            <p:extLst>
              <p:ext uri="{D42A27DB-BD31-4B8C-83A1-F6EECF244321}">
                <p14:modId xmlns:p14="http://schemas.microsoft.com/office/powerpoint/2010/main" val="1889855022"/>
              </p:ext>
            </p:extLst>
          </p:nvPr>
        </p:nvGraphicFramePr>
        <p:xfrm>
          <a:off x="2819400" y="609600"/>
          <a:ext cx="5181600" cy="3402013"/>
        </p:xfrm>
        <a:graphic>
          <a:graphicData uri="http://schemas.openxmlformats.org/presentationml/2006/ole">
            <mc:AlternateContent xmlns:mc="http://schemas.openxmlformats.org/markup-compatibility/2006">
              <mc:Choice xmlns:v="urn:schemas-microsoft-com:vml" Requires="v">
                <p:oleObj spid="_x0000_s5249" name="Equation" r:id="rId6" imgW="2070000" imgH="1358640" progId="Equation.3">
                  <p:embed/>
                </p:oleObj>
              </mc:Choice>
              <mc:Fallback>
                <p:oleObj name="Equation" r:id="rId6" imgW="2070000" imgH="1358640" progId="Equation.3">
                  <p:embed/>
                  <p:pic>
                    <p:nvPicPr>
                      <p:cNvPr id="0"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19400" y="609600"/>
                        <a:ext cx="5181600" cy="3402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3737">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3737">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3737">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373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737" grpId="0" build="p" autoUpdateAnimBg="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ext Box 8"/>
          <p:cNvSpPr txBox="1">
            <a:spLocks noChangeArrowheads="1"/>
          </p:cNvSpPr>
          <p:nvPr/>
        </p:nvSpPr>
        <p:spPr bwMode="auto">
          <a:xfrm>
            <a:off x="533400" y="228600"/>
            <a:ext cx="11201400" cy="140334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800" dirty="0">
                <a:latin typeface="Times New Roman" pitchFamily="18" charset="0"/>
                <a:ea typeface="ＭＳ Ｐゴシック" pitchFamily="34" charset="-128"/>
              </a:rPr>
              <a:t>Find the pH of a 0.100 M CH</a:t>
            </a:r>
            <a:r>
              <a:rPr lang="en-US" altLang="en-US" sz="2800" baseline="-25000" dirty="0">
                <a:latin typeface="Times New Roman" pitchFamily="18" charset="0"/>
                <a:ea typeface="ＭＳ Ｐゴシック" pitchFamily="34" charset="-128"/>
              </a:rPr>
              <a:t>3</a:t>
            </a:r>
            <a:r>
              <a:rPr lang="en-US" altLang="en-US" sz="2800" dirty="0">
                <a:latin typeface="Times New Roman" pitchFamily="18" charset="0"/>
                <a:ea typeface="ＭＳ Ｐゴシック" pitchFamily="34" charset="-128"/>
              </a:rPr>
              <a:t>NH</a:t>
            </a:r>
            <a:r>
              <a:rPr lang="en-US" altLang="en-US" sz="2800" baseline="-25000" dirty="0">
                <a:latin typeface="Times New Roman" pitchFamily="18" charset="0"/>
                <a:ea typeface="ＭＳ Ｐゴシック" pitchFamily="34" charset="-128"/>
              </a:rPr>
              <a:t>3</a:t>
            </a:r>
            <a:r>
              <a:rPr lang="en-US" altLang="en-US" sz="2800" dirty="0">
                <a:latin typeface="Times New Roman" pitchFamily="18" charset="0"/>
                <a:ea typeface="ＭＳ Ｐゴシック" pitchFamily="34" charset="-128"/>
              </a:rPr>
              <a:t>Cl solution. The </a:t>
            </a:r>
            <a:r>
              <a:rPr lang="en-US" altLang="en-US" sz="2800" dirty="0" err="1">
                <a:latin typeface="Times New Roman" pitchFamily="18" charset="0"/>
                <a:ea typeface="ＭＳ Ｐゴシック" pitchFamily="34" charset="-128"/>
              </a:rPr>
              <a:t>pKb</a:t>
            </a:r>
            <a:r>
              <a:rPr lang="en-US" altLang="en-US" sz="2800" dirty="0">
                <a:latin typeface="Times New Roman" pitchFamily="18" charset="0"/>
                <a:ea typeface="ＭＳ Ｐゴシック" pitchFamily="34" charset="-128"/>
              </a:rPr>
              <a:t> for CH</a:t>
            </a:r>
            <a:r>
              <a:rPr lang="en-US" altLang="en-US" sz="2800" baseline="-25000" dirty="0">
                <a:latin typeface="Times New Roman" pitchFamily="18" charset="0"/>
                <a:ea typeface="ＭＳ Ｐゴシック" pitchFamily="34" charset="-128"/>
              </a:rPr>
              <a:t>3</a:t>
            </a:r>
            <a:r>
              <a:rPr lang="en-US" altLang="en-US" sz="2800" dirty="0">
                <a:latin typeface="Times New Roman" pitchFamily="18" charset="0"/>
                <a:ea typeface="ＭＳ Ｐゴシック" pitchFamily="34" charset="-128"/>
              </a:rPr>
              <a:t>NH</a:t>
            </a:r>
            <a:r>
              <a:rPr lang="en-US" altLang="en-US" sz="2800" baseline="-25000" dirty="0">
                <a:latin typeface="Times New Roman" pitchFamily="18" charset="0"/>
                <a:ea typeface="ＭＳ Ｐゴシック" pitchFamily="34" charset="-128"/>
              </a:rPr>
              <a:t>2</a:t>
            </a:r>
            <a:r>
              <a:rPr lang="en-US" altLang="en-US" sz="2800" dirty="0">
                <a:latin typeface="Times New Roman" pitchFamily="18" charset="0"/>
                <a:ea typeface="ＭＳ Ｐゴシック" pitchFamily="34" charset="-128"/>
              </a:rPr>
              <a:t>is 3.35.</a:t>
            </a:r>
          </a:p>
        </p:txBody>
      </p:sp>
      <p:sp>
        <p:nvSpPr>
          <p:cNvPr id="3077" name="Rectangle 3"/>
          <p:cNvSpPr>
            <a:spLocks noChangeArrowheads="1"/>
          </p:cNvSpPr>
          <p:nvPr/>
        </p:nvSpPr>
        <p:spPr bwMode="auto">
          <a:xfrm>
            <a:off x="1843089" y="358776"/>
            <a:ext cx="8728075" cy="669925"/>
          </a:xfrm>
          <a:prstGeom prst="rect">
            <a:avLst/>
          </a:prstGeom>
          <a:noFill/>
          <a:ln>
            <a:noFill/>
          </a:ln>
          <a:effectLst/>
          <a:extLst>
            <a:ext uri="{909E8E84-426E-40DD-AFC4-6F175D3DCCD1}">
              <a14:hiddenFill xmlns:a14="http://schemas.microsoft.com/office/drawing/2010/main">
                <a:solidFill>
                  <a:srgbClr val="008000"/>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nchor="ctr"/>
          <a:lstStyle/>
          <a:p>
            <a:pPr marL="1825625" indent="-1825625">
              <a:spcBef>
                <a:spcPct val="50000"/>
              </a:spcBef>
              <a:defRPr/>
            </a:pPr>
            <a:endParaRPr lang="en-US" sz="2000" b="1" dirty="0">
              <a:ea typeface="ＭＳ Ｐゴシック" charset="0"/>
              <a:cs typeface="ＭＳ Ｐゴシック" charset="0"/>
            </a:endParaRPr>
          </a:p>
        </p:txBody>
      </p:sp>
    </p:spTree>
    <p:extLst>
      <p:ext uri="{BB962C8B-B14F-4D97-AF65-F5344CB8AC3E}">
        <p14:creationId xmlns:p14="http://schemas.microsoft.com/office/powerpoint/2010/main" val="10369594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Box 1"/>
          <p:cNvSpPr txBox="1">
            <a:spLocks noChangeArrowheads="1"/>
          </p:cNvSpPr>
          <p:nvPr/>
        </p:nvSpPr>
        <p:spPr bwMode="auto">
          <a:xfrm>
            <a:off x="457200" y="685801"/>
            <a:ext cx="10820400" cy="4995863"/>
          </a:xfrm>
          <a:prstGeom prst="rect">
            <a:avLst/>
          </a:prstGeom>
          <a:noFill/>
          <a:ln w="9525">
            <a:noFill/>
            <a:miter lim="800000"/>
            <a:headEnd/>
            <a:tailEnd/>
          </a:ln>
        </p:spPr>
        <p:txBody>
          <a:bodyPr wrap="square">
            <a:spAutoFit/>
          </a:bodyPr>
          <a:lstStyle/>
          <a:p>
            <a:pPr eaLnBrk="0" hangingPunct="0"/>
            <a:r>
              <a:rPr lang="en-US" dirty="0"/>
              <a:t>                    		 </a:t>
            </a:r>
            <a:r>
              <a:rPr lang="en-US" sz="2800" dirty="0"/>
              <a:t>HC</a:t>
            </a:r>
            <a:r>
              <a:rPr lang="en-US" sz="2800" baseline="-25000" dirty="0"/>
              <a:t>2</a:t>
            </a:r>
            <a:r>
              <a:rPr lang="en-US" sz="2800" dirty="0"/>
              <a:t>H</a:t>
            </a:r>
            <a:r>
              <a:rPr lang="en-US" sz="2800" baseline="-25000" dirty="0"/>
              <a:t>3</a:t>
            </a:r>
            <a:r>
              <a:rPr lang="en-US" sz="2800" dirty="0"/>
              <a:t>O</a:t>
            </a:r>
            <a:r>
              <a:rPr lang="en-US" sz="2800" baseline="-25000" dirty="0"/>
              <a:t>2</a:t>
            </a:r>
            <a:r>
              <a:rPr lang="en-US" sz="2800" dirty="0"/>
              <a:t>    1.8</a:t>
            </a:r>
            <a:r>
              <a:rPr lang="en-US" sz="2800" dirty="0">
                <a:cs typeface="Times New Roman" pitchFamily="18" charset="0"/>
              </a:rPr>
              <a:t>×10</a:t>
            </a:r>
            <a:r>
              <a:rPr lang="en-US" sz="2800" baseline="30000" dirty="0">
                <a:cs typeface="Times New Roman" pitchFamily="18" charset="0"/>
                <a:sym typeface="Symbol" pitchFamily="18" charset="2"/>
              </a:rPr>
              <a:t>5</a:t>
            </a:r>
          </a:p>
          <a:p>
            <a:pPr eaLnBrk="0" hangingPunct="0"/>
            <a:r>
              <a:rPr lang="en-US" sz="2800" dirty="0">
                <a:cs typeface="Times New Roman" pitchFamily="18" charset="0"/>
                <a:sym typeface="Symbol" pitchFamily="18" charset="2"/>
              </a:rPr>
              <a:t>                  		 HCN          6.2×10</a:t>
            </a:r>
            <a:r>
              <a:rPr lang="en-US" sz="2800" baseline="30000" dirty="0">
                <a:cs typeface="Times New Roman" pitchFamily="18" charset="0"/>
                <a:sym typeface="Symbol" pitchFamily="18" charset="2"/>
              </a:rPr>
              <a:t>10</a:t>
            </a:r>
          </a:p>
          <a:p>
            <a:pPr eaLnBrk="0" hangingPunct="0"/>
            <a:r>
              <a:rPr lang="en-US" sz="2800" dirty="0">
                <a:cs typeface="Times New Roman" pitchFamily="18" charset="0"/>
                <a:sym typeface="Symbol" pitchFamily="18" charset="2"/>
              </a:rPr>
              <a:t>                		 HNO</a:t>
            </a:r>
            <a:r>
              <a:rPr lang="en-US" sz="2800" baseline="-25000" dirty="0">
                <a:cs typeface="Times New Roman" pitchFamily="18" charset="0"/>
                <a:sym typeface="Symbol" pitchFamily="18" charset="2"/>
              </a:rPr>
              <a:t>2</a:t>
            </a:r>
            <a:r>
              <a:rPr lang="en-US" sz="2800" dirty="0">
                <a:cs typeface="Times New Roman" pitchFamily="18" charset="0"/>
                <a:sym typeface="Symbol" pitchFamily="18" charset="2"/>
              </a:rPr>
              <a:t>        4.0×10</a:t>
            </a:r>
            <a:r>
              <a:rPr lang="en-US" sz="2800" baseline="30000" dirty="0">
                <a:cs typeface="Times New Roman" pitchFamily="18" charset="0"/>
                <a:sym typeface="Symbol" pitchFamily="18" charset="2"/>
              </a:rPr>
              <a:t>4</a:t>
            </a:r>
            <a:r>
              <a:rPr lang="en-US" sz="2800" dirty="0">
                <a:cs typeface="Times New Roman" pitchFamily="18" charset="0"/>
                <a:sym typeface="Symbol" pitchFamily="18" charset="2"/>
              </a:rPr>
              <a:t>  </a:t>
            </a:r>
          </a:p>
          <a:p>
            <a:pPr eaLnBrk="0" hangingPunct="0"/>
            <a:r>
              <a:rPr lang="en-US" sz="2800" dirty="0"/>
              <a:t>Given the </a:t>
            </a:r>
            <a:r>
              <a:rPr lang="en-US" sz="2800" i="1" dirty="0"/>
              <a:t>K</a:t>
            </a:r>
            <a:r>
              <a:rPr lang="en-US" sz="2800" i="1" baseline="-25000" dirty="0"/>
              <a:t>a</a:t>
            </a:r>
            <a:r>
              <a:rPr lang="en-US" sz="2800" dirty="0"/>
              <a:t> values for the acids above, rank these conjugate bases from weakest to strongest.</a:t>
            </a:r>
          </a:p>
          <a:p>
            <a:pPr algn="ctr" eaLnBrk="0" hangingPunct="0"/>
            <a:r>
              <a:rPr lang="en-US" sz="2800" dirty="0"/>
              <a:t>Cl</a:t>
            </a:r>
            <a:r>
              <a:rPr lang="en-US" sz="2800" baseline="30000" dirty="0">
                <a:sym typeface="Symbol" pitchFamily="18" charset="2"/>
              </a:rPr>
              <a:t></a:t>
            </a:r>
            <a:r>
              <a:rPr lang="en-US" sz="2800" dirty="0"/>
              <a:t>, C</a:t>
            </a:r>
            <a:r>
              <a:rPr lang="en-US" sz="2800" baseline="-25000" dirty="0"/>
              <a:t>2</a:t>
            </a:r>
            <a:r>
              <a:rPr lang="en-US" sz="2800" dirty="0"/>
              <a:t>H</a:t>
            </a:r>
            <a:r>
              <a:rPr lang="en-US" sz="2800" baseline="-25000" dirty="0"/>
              <a:t>3</a:t>
            </a:r>
            <a:r>
              <a:rPr lang="en-US" sz="2800" dirty="0"/>
              <a:t>O</a:t>
            </a:r>
            <a:r>
              <a:rPr lang="en-US" sz="2800" baseline="-25000" dirty="0"/>
              <a:t>2</a:t>
            </a:r>
            <a:r>
              <a:rPr lang="en-US" sz="2800" baseline="30000" dirty="0">
                <a:sym typeface="Symbol" pitchFamily="18" charset="2"/>
              </a:rPr>
              <a:t></a:t>
            </a:r>
            <a:r>
              <a:rPr lang="en-US" sz="2800" dirty="0"/>
              <a:t>, CN</a:t>
            </a:r>
            <a:r>
              <a:rPr lang="en-US" sz="2800" baseline="30000" dirty="0">
                <a:sym typeface="Symbol" pitchFamily="18" charset="2"/>
              </a:rPr>
              <a:t></a:t>
            </a:r>
            <a:r>
              <a:rPr lang="en-US" sz="2800" dirty="0"/>
              <a:t>, NO</a:t>
            </a:r>
            <a:r>
              <a:rPr lang="en-US" sz="2800" baseline="-25000" dirty="0"/>
              <a:t>2</a:t>
            </a:r>
            <a:r>
              <a:rPr lang="en-US" sz="2800" baseline="30000" dirty="0">
                <a:sym typeface="Symbol" pitchFamily="18" charset="2"/>
              </a:rPr>
              <a:t></a:t>
            </a:r>
          </a:p>
          <a:p>
            <a:pPr eaLnBrk="0" hangingPunct="0"/>
            <a:endParaRPr lang="en-US" sz="2800" baseline="30000" dirty="0">
              <a:sym typeface="Symbol" pitchFamily="18" charset="2"/>
            </a:endParaRPr>
          </a:p>
          <a:p>
            <a:pPr eaLnBrk="0" hangingPunct="0"/>
            <a:endParaRPr lang="en-US" sz="2800" dirty="0"/>
          </a:p>
          <a:p>
            <a:pPr eaLnBrk="0" hangingPunct="0"/>
            <a:endParaRPr lang="en-US" dirty="0"/>
          </a:p>
          <a:p>
            <a:pPr eaLnBrk="0" hangingPunct="0"/>
            <a:endParaRPr lang="en-US" dirty="0">
              <a:cs typeface="Times New Roman" pitchFamily="18" charset="0"/>
              <a:sym typeface="Symbol" pitchFamily="18" charset="2"/>
            </a:endParaRPr>
          </a:p>
          <a:p>
            <a:pPr eaLnBrk="0" hangingPunct="0"/>
            <a:r>
              <a:rPr lang="en-US" baseline="30000" dirty="0">
                <a:cs typeface="Times New Roman" pitchFamily="18" charset="0"/>
                <a:sym typeface="Symbol" pitchFamily="18" charset="2"/>
              </a:rPr>
              <a:t>       </a:t>
            </a:r>
          </a:p>
          <a:p>
            <a:pPr eaLnBrk="0" hangingPunct="0"/>
            <a:endParaRPr lang="en-US" dirty="0">
              <a:cs typeface="Times New Roman" pitchFamily="18" charset="0"/>
              <a:sym typeface="Symbol" pitchFamily="18" charset="2"/>
            </a:endParaRPr>
          </a:p>
          <a:p>
            <a:pPr eaLnBrk="0" hangingPunct="0"/>
            <a:endParaRPr lang="en-US" baseline="30000" dirty="0"/>
          </a:p>
        </p:txBody>
      </p:sp>
      <p:sp>
        <p:nvSpPr>
          <p:cNvPr id="3" name="Rectangle 2"/>
          <p:cNvSpPr>
            <a:spLocks noChangeArrowheads="1"/>
          </p:cNvSpPr>
          <p:nvPr/>
        </p:nvSpPr>
        <p:spPr bwMode="auto">
          <a:xfrm>
            <a:off x="2590800" y="3886201"/>
            <a:ext cx="7467600" cy="646113"/>
          </a:xfrm>
          <a:prstGeom prst="rect">
            <a:avLst/>
          </a:prstGeom>
          <a:noFill/>
          <a:ln w="9525">
            <a:noFill/>
            <a:miter lim="800000"/>
            <a:headEnd/>
            <a:tailEnd/>
          </a:ln>
        </p:spPr>
        <p:txBody>
          <a:bodyPr>
            <a:spAutoFit/>
          </a:bodyPr>
          <a:lstStyle/>
          <a:p>
            <a:r>
              <a:rPr lang="en-US" sz="3600">
                <a:solidFill>
                  <a:schemeClr val="accent2"/>
                </a:solidFill>
              </a:rPr>
              <a:t>Cl</a:t>
            </a:r>
            <a:r>
              <a:rPr lang="en-US" sz="3600" baseline="30000">
                <a:solidFill>
                  <a:schemeClr val="accent2"/>
                </a:solidFill>
                <a:sym typeface="Symbol" pitchFamily="18" charset="2"/>
              </a:rPr>
              <a:t> </a:t>
            </a:r>
            <a:r>
              <a:rPr lang="en-US" sz="3600">
                <a:solidFill>
                  <a:schemeClr val="accent2"/>
                </a:solidFill>
              </a:rPr>
              <a:t> &lt; NO</a:t>
            </a:r>
            <a:r>
              <a:rPr lang="en-US" sz="3600" baseline="-25000">
                <a:solidFill>
                  <a:schemeClr val="accent2"/>
                </a:solidFill>
              </a:rPr>
              <a:t>2</a:t>
            </a:r>
            <a:r>
              <a:rPr lang="en-US" sz="3600" baseline="30000">
                <a:solidFill>
                  <a:schemeClr val="accent2"/>
                </a:solidFill>
                <a:sym typeface="Symbol" pitchFamily="18" charset="2"/>
              </a:rPr>
              <a:t></a:t>
            </a:r>
            <a:r>
              <a:rPr lang="en-US" sz="3600">
                <a:solidFill>
                  <a:schemeClr val="accent2"/>
                </a:solidFill>
                <a:sym typeface="Symbol" pitchFamily="18" charset="2"/>
              </a:rPr>
              <a:t>  &lt; </a:t>
            </a:r>
            <a:r>
              <a:rPr lang="en-US" sz="3600">
                <a:solidFill>
                  <a:schemeClr val="accent2"/>
                </a:solidFill>
              </a:rPr>
              <a:t>C</a:t>
            </a:r>
            <a:r>
              <a:rPr lang="en-US" sz="3600" baseline="-25000">
                <a:solidFill>
                  <a:schemeClr val="accent2"/>
                </a:solidFill>
              </a:rPr>
              <a:t>2</a:t>
            </a:r>
            <a:r>
              <a:rPr lang="en-US" sz="3600">
                <a:solidFill>
                  <a:schemeClr val="accent2"/>
                </a:solidFill>
              </a:rPr>
              <a:t>H</a:t>
            </a:r>
            <a:r>
              <a:rPr lang="en-US" sz="3600" baseline="-25000">
                <a:solidFill>
                  <a:schemeClr val="accent2"/>
                </a:solidFill>
              </a:rPr>
              <a:t>3</a:t>
            </a:r>
            <a:r>
              <a:rPr lang="en-US" sz="3600">
                <a:solidFill>
                  <a:schemeClr val="accent2"/>
                </a:solidFill>
              </a:rPr>
              <a:t>O</a:t>
            </a:r>
            <a:r>
              <a:rPr lang="en-US" sz="3600" baseline="-25000">
                <a:solidFill>
                  <a:schemeClr val="accent2"/>
                </a:solidFill>
              </a:rPr>
              <a:t>2</a:t>
            </a:r>
            <a:r>
              <a:rPr lang="en-US" sz="3600" baseline="30000">
                <a:solidFill>
                  <a:schemeClr val="accent2"/>
                </a:solidFill>
                <a:sym typeface="Symbol" pitchFamily="18" charset="2"/>
              </a:rPr>
              <a:t> </a:t>
            </a:r>
            <a:r>
              <a:rPr lang="en-US" sz="3600">
                <a:solidFill>
                  <a:schemeClr val="accent2"/>
                </a:solidFill>
              </a:rPr>
              <a:t>&lt; CN</a:t>
            </a:r>
            <a:r>
              <a:rPr lang="en-US" sz="3600" baseline="30000">
                <a:solidFill>
                  <a:schemeClr val="accent2"/>
                </a:solidFill>
                <a:sym typeface="Symbol" pitchFamily="18" charset="2"/>
              </a:rPr>
              <a:t></a:t>
            </a:r>
            <a:endParaRPr lang="en-US" sz="3600">
              <a:solidFill>
                <a:schemeClr val="accent2"/>
              </a:solidFill>
            </a:endParaRPr>
          </a:p>
        </p:txBody>
      </p:sp>
    </p:spTree>
    <p:extLst>
      <p:ext uri="{BB962C8B-B14F-4D97-AF65-F5344CB8AC3E}">
        <p14:creationId xmlns:p14="http://schemas.microsoft.com/office/powerpoint/2010/main" val="1046795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0"/>
            <a:ext cx="4572000" cy="1555652"/>
          </a:xfrm>
        </p:spPr>
        <p:txBody>
          <a:bodyPr>
            <a:noAutofit/>
          </a:bodyPr>
          <a:lstStyle/>
          <a:p>
            <a:pPr algn="r"/>
            <a:r>
              <a:rPr lang="en-US" sz="3600" dirty="0">
                <a:solidFill>
                  <a:schemeClr val="bg1"/>
                </a:solidFill>
              </a:rPr>
              <a:t>8.6 Molecular Structure of Acids and Bases</a:t>
            </a:r>
          </a:p>
        </p:txBody>
      </p:sp>
      <p:sp>
        <p:nvSpPr>
          <p:cNvPr id="6" name="Title 1">
            <a:extLst>
              <a:ext uri="{FF2B5EF4-FFF2-40B4-BE49-F238E27FC236}">
                <a16:creationId xmlns:a16="http://schemas.microsoft.com/office/drawing/2014/main" id="{C239888C-E3E9-4ADA-9609-E8970D1D98A5}"/>
              </a:ext>
            </a:extLst>
          </p:cNvPr>
          <p:cNvSpPr txBox="1">
            <a:spLocks/>
          </p:cNvSpPr>
          <p:nvPr/>
        </p:nvSpPr>
        <p:spPr bwMode="auto">
          <a:xfrm>
            <a:off x="11048999" y="-609599"/>
            <a:ext cx="1140655" cy="7467599"/>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18243158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914400" y="0"/>
            <a:ext cx="10363200" cy="685800"/>
          </a:xfrm>
        </p:spPr>
        <p:txBody>
          <a:bodyPr/>
          <a:lstStyle/>
          <a:p>
            <a:r>
              <a:rPr lang="en-US" sz="3600" dirty="0" err="1"/>
              <a:t>Hydrohalic</a:t>
            </a:r>
            <a:r>
              <a:rPr lang="en-US" sz="3600" dirty="0"/>
              <a:t> acids- </a:t>
            </a:r>
            <a:r>
              <a:rPr lang="en-US" sz="3600" dirty="0">
                <a:solidFill>
                  <a:schemeClr val="tx1"/>
                </a:solidFill>
              </a:rPr>
              <a:t>Relative Acid Strength</a:t>
            </a:r>
          </a:p>
        </p:txBody>
      </p:sp>
      <p:sp>
        <p:nvSpPr>
          <p:cNvPr id="2" name="Content Placeholder 1"/>
          <p:cNvSpPr>
            <a:spLocks noGrp="1"/>
          </p:cNvSpPr>
          <p:nvPr>
            <p:ph idx="1"/>
          </p:nvPr>
        </p:nvSpPr>
        <p:spPr>
          <a:xfrm>
            <a:off x="914400" y="1066800"/>
            <a:ext cx="10363200" cy="5029200"/>
          </a:xfrm>
        </p:spPr>
        <p:txBody>
          <a:bodyPr/>
          <a:lstStyle/>
          <a:p>
            <a:r>
              <a:rPr lang="en-US" sz="2800" b="1" u="sng" dirty="0" err="1"/>
              <a:t>Hydrohalic</a:t>
            </a:r>
            <a:r>
              <a:rPr lang="en-US" sz="2800" b="1" u="sng" dirty="0"/>
              <a:t> acids</a:t>
            </a:r>
            <a:r>
              <a:rPr lang="en-US" sz="2800" b="1" dirty="0"/>
              <a:t>-</a:t>
            </a:r>
            <a:r>
              <a:rPr lang="en-US" sz="2800" dirty="0"/>
              <a:t> H is attached to a </a:t>
            </a:r>
            <a:r>
              <a:rPr lang="en-US" sz="2800" dirty="0">
                <a:solidFill>
                  <a:srgbClr val="FF0000"/>
                </a:solidFill>
              </a:rPr>
              <a:t>halogen</a:t>
            </a:r>
            <a:r>
              <a:rPr lang="en-US" sz="2800" dirty="0"/>
              <a:t> (</a:t>
            </a:r>
            <a:r>
              <a:rPr lang="en-US" sz="2800" dirty="0" err="1"/>
              <a:t>HCl</a:t>
            </a:r>
            <a:r>
              <a:rPr lang="en-US" sz="2800" dirty="0"/>
              <a:t>, HI, </a:t>
            </a:r>
            <a:r>
              <a:rPr lang="en-US" sz="2800" dirty="0" err="1"/>
              <a:t>HBr</a:t>
            </a:r>
            <a:r>
              <a:rPr lang="en-US" sz="2800" dirty="0"/>
              <a:t>, HF)</a:t>
            </a:r>
          </a:p>
          <a:p>
            <a:pPr marL="0" indent="0">
              <a:buNone/>
            </a:pPr>
            <a:endParaRPr lang="en-US" sz="2800" dirty="0"/>
          </a:p>
          <a:p>
            <a:r>
              <a:rPr lang="en-US" sz="2800" dirty="0"/>
              <a:t>HF is the only weak </a:t>
            </a:r>
            <a:r>
              <a:rPr lang="en-US" sz="2800" dirty="0" err="1"/>
              <a:t>hydrohalic</a:t>
            </a:r>
            <a:r>
              <a:rPr lang="en-US" sz="2800" dirty="0"/>
              <a:t> acid.  Although the H-F bond is very polar, the bond is so strong (due to the small F atom) that the acid does not completely dissociate.</a:t>
            </a:r>
          </a:p>
          <a:p>
            <a:r>
              <a:rPr lang="en-US" sz="2800" dirty="0"/>
              <a:t>The others (</a:t>
            </a:r>
            <a:r>
              <a:rPr lang="en-US" sz="2800" dirty="0" err="1"/>
              <a:t>HCl</a:t>
            </a:r>
            <a:r>
              <a:rPr lang="en-US" sz="2800" dirty="0"/>
              <a:t>, </a:t>
            </a:r>
            <a:r>
              <a:rPr lang="en-US" sz="2800" dirty="0" err="1"/>
              <a:t>HBr</a:t>
            </a:r>
            <a:r>
              <a:rPr lang="en-US" sz="2800" dirty="0"/>
              <a:t>, HI) have larger anions, and the larger the distance, the weaker the attraction between H</a:t>
            </a:r>
            <a:r>
              <a:rPr lang="en-US" sz="2800" baseline="30000" dirty="0"/>
              <a:t>+</a:t>
            </a:r>
            <a:r>
              <a:rPr lang="en-US" sz="2800" dirty="0"/>
              <a:t> and X</a:t>
            </a:r>
            <a:r>
              <a:rPr lang="en-US" sz="2800" baseline="30000" dirty="0"/>
              <a:t>-</a:t>
            </a:r>
            <a:r>
              <a:rPr lang="en-US" sz="2800" dirty="0"/>
              <a:t> weaker (Coulomb’s Law)</a:t>
            </a:r>
          </a:p>
          <a:p>
            <a:r>
              <a:rPr lang="en-US" sz="2800" dirty="0"/>
              <a:t>Of the </a:t>
            </a:r>
            <a:r>
              <a:rPr lang="en-US" sz="2800" dirty="0" err="1"/>
              <a:t>hydrohalic</a:t>
            </a:r>
            <a:r>
              <a:rPr lang="en-US" sz="2800" dirty="0"/>
              <a:t> acids, which is the </a:t>
            </a:r>
            <a:r>
              <a:rPr lang="en-US" sz="2800" b="1" dirty="0"/>
              <a:t>strongest</a:t>
            </a:r>
            <a:r>
              <a:rPr lang="en-US" sz="2800" dirty="0"/>
              <a:t>?</a:t>
            </a:r>
          </a:p>
        </p:txBody>
      </p:sp>
    </p:spTree>
    <p:extLst>
      <p:ext uri="{BB962C8B-B14F-4D97-AF65-F5344CB8AC3E}">
        <p14:creationId xmlns:p14="http://schemas.microsoft.com/office/powerpoint/2010/main" val="345649590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1026"/>
          <p:cNvSpPr>
            <a:spLocks noGrp="1" noChangeArrowheads="1"/>
          </p:cNvSpPr>
          <p:nvPr>
            <p:ph type="title"/>
          </p:nvPr>
        </p:nvSpPr>
        <p:spPr>
          <a:xfrm>
            <a:off x="914400" y="116378"/>
            <a:ext cx="10363200" cy="609600"/>
          </a:xfrm>
        </p:spPr>
        <p:txBody>
          <a:bodyPr/>
          <a:lstStyle/>
          <a:p>
            <a:r>
              <a:rPr lang="en-US" sz="3600" dirty="0">
                <a:solidFill>
                  <a:schemeClr val="tx1"/>
                </a:solidFill>
              </a:rPr>
              <a:t>Relative Acid Strength</a:t>
            </a:r>
          </a:p>
        </p:txBody>
      </p:sp>
      <p:sp>
        <p:nvSpPr>
          <p:cNvPr id="2" name="Content Placeholder 1"/>
          <p:cNvSpPr>
            <a:spLocks noGrp="1"/>
          </p:cNvSpPr>
          <p:nvPr>
            <p:ph idx="1"/>
          </p:nvPr>
        </p:nvSpPr>
        <p:spPr>
          <a:xfrm>
            <a:off x="914400" y="1143000"/>
            <a:ext cx="10363200" cy="4953000"/>
          </a:xfrm>
        </p:spPr>
        <p:txBody>
          <a:bodyPr/>
          <a:lstStyle/>
          <a:p>
            <a:r>
              <a:rPr lang="en-US" b="1" dirty="0" err="1"/>
              <a:t>Oxyacids</a:t>
            </a:r>
            <a:r>
              <a:rPr lang="en-US" b="1" dirty="0"/>
              <a:t>-</a:t>
            </a:r>
            <a:r>
              <a:rPr lang="en-US" dirty="0"/>
              <a:t>  most acids are </a:t>
            </a:r>
            <a:r>
              <a:rPr lang="en-US" dirty="0" err="1"/>
              <a:t>oxyacids</a:t>
            </a:r>
            <a:br>
              <a:rPr lang="en-US" dirty="0"/>
            </a:br>
            <a:r>
              <a:rPr lang="en-US" dirty="0"/>
              <a:t>        -  acidic proton is attached to O</a:t>
            </a:r>
            <a:br>
              <a:rPr lang="en-US" dirty="0"/>
            </a:br>
            <a:br>
              <a:rPr lang="en-US" dirty="0"/>
            </a:br>
            <a:r>
              <a:rPr lang="en-US" dirty="0"/>
              <a:t>Examples of weak </a:t>
            </a:r>
            <a:r>
              <a:rPr lang="en-US" dirty="0" err="1"/>
              <a:t>oxyacids</a:t>
            </a:r>
            <a:r>
              <a:rPr lang="en-US" dirty="0"/>
              <a:t>:  </a:t>
            </a:r>
            <a:br>
              <a:rPr lang="en-US" dirty="0"/>
            </a:br>
            <a:r>
              <a:rPr lang="en-US" dirty="0"/>
              <a:t>      H</a:t>
            </a:r>
            <a:r>
              <a:rPr lang="en-US" baseline="-25000" dirty="0"/>
              <a:t>3</a:t>
            </a:r>
            <a:r>
              <a:rPr lang="en-US" dirty="0"/>
              <a:t>PO</a:t>
            </a:r>
            <a:r>
              <a:rPr lang="en-US" baseline="-25000" dirty="0"/>
              <a:t>4</a:t>
            </a:r>
            <a:r>
              <a:rPr lang="en-US" dirty="0"/>
              <a:t> (phosphoric)</a:t>
            </a:r>
            <a:br>
              <a:rPr lang="en-US" dirty="0"/>
            </a:br>
            <a:r>
              <a:rPr lang="en-US" dirty="0"/>
              <a:t>      HNO</a:t>
            </a:r>
            <a:r>
              <a:rPr lang="en-US" baseline="-25000" dirty="0"/>
              <a:t>2</a:t>
            </a:r>
            <a:r>
              <a:rPr lang="en-US" dirty="0"/>
              <a:t>  (nitrous)</a:t>
            </a:r>
            <a:br>
              <a:rPr lang="en-US" dirty="0"/>
            </a:br>
            <a:r>
              <a:rPr lang="en-US" dirty="0"/>
              <a:t>     </a:t>
            </a:r>
            <a:r>
              <a:rPr lang="en-US" dirty="0" err="1"/>
              <a:t>HOCl</a:t>
            </a:r>
            <a:r>
              <a:rPr lang="en-US" dirty="0"/>
              <a:t>  (</a:t>
            </a:r>
            <a:r>
              <a:rPr lang="en-US" dirty="0" err="1"/>
              <a:t>hypochlorous</a:t>
            </a:r>
            <a:r>
              <a:rPr lang="en-US" dirty="0"/>
              <a:t>)</a:t>
            </a:r>
            <a:br>
              <a:rPr lang="en-US" dirty="0"/>
            </a:br>
            <a:endParaRPr lang="en-US" dirty="0"/>
          </a:p>
        </p:txBody>
      </p:sp>
      <p:cxnSp>
        <p:nvCxnSpPr>
          <p:cNvPr id="23555" name="Straight Arrow Connector 5"/>
          <p:cNvCxnSpPr>
            <a:cxnSpLocks noChangeShapeType="1"/>
          </p:cNvCxnSpPr>
          <p:nvPr/>
        </p:nvCxnSpPr>
        <p:spPr bwMode="auto">
          <a:xfrm>
            <a:off x="7010400" y="3621578"/>
            <a:ext cx="609600" cy="914400"/>
          </a:xfrm>
          <a:prstGeom prst="straightConnector1">
            <a:avLst/>
          </a:prstGeom>
          <a:noFill/>
          <a:ln w="9525" algn="ctr">
            <a:solidFill>
              <a:schemeClr val="tx1"/>
            </a:solidFill>
            <a:round/>
            <a:headEnd/>
            <a:tailEnd type="arrow" w="med" len="med"/>
          </a:ln>
        </p:spPr>
      </p:cxnSp>
      <p:pic>
        <p:nvPicPr>
          <p:cNvPr id="17415" name="Picture 7"/>
          <p:cNvPicPr>
            <a:picLocks noChangeAspect="1" noChangeArrowheads="1"/>
          </p:cNvPicPr>
          <p:nvPr/>
        </p:nvPicPr>
        <p:blipFill>
          <a:blip r:embed="rId3" cstate="print"/>
          <a:srcRect/>
          <a:stretch>
            <a:fillRect/>
          </a:stretch>
        </p:blipFill>
        <p:spPr bwMode="auto">
          <a:xfrm>
            <a:off x="7772400" y="3810000"/>
            <a:ext cx="2630488" cy="1104900"/>
          </a:xfrm>
          <a:prstGeom prst="rect">
            <a:avLst/>
          </a:prstGeom>
          <a:noFill/>
          <a:ln w="9525">
            <a:noFill/>
            <a:miter lim="800000"/>
            <a:headEnd/>
            <a:tailEnd/>
          </a:ln>
          <a:effectLst>
            <a:outerShdw blurRad="50800" dist="50800" dir="5400000" algn="ctr" rotWithShape="0">
              <a:srgbClr val="000000">
                <a:alpha val="0"/>
              </a:srgbClr>
            </a:outerShdw>
          </a:effectLst>
        </p:spPr>
      </p:pic>
    </p:spTree>
    <p:extLst>
      <p:ext uri="{BB962C8B-B14F-4D97-AF65-F5344CB8AC3E}">
        <p14:creationId xmlns:p14="http://schemas.microsoft.com/office/powerpoint/2010/main" val="3940394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914400" y="0"/>
            <a:ext cx="10363200" cy="685800"/>
          </a:xfrm>
        </p:spPr>
        <p:txBody>
          <a:bodyPr/>
          <a:lstStyle/>
          <a:p>
            <a:r>
              <a:rPr lang="en-US" sz="3600" dirty="0">
                <a:solidFill>
                  <a:schemeClr val="tx1"/>
                </a:solidFill>
              </a:rPr>
              <a:t>Oxyacid Relative Acid Strength- multiple O’s</a:t>
            </a:r>
            <a:endParaRPr lang="en-US" sz="4000" dirty="0">
              <a:solidFill>
                <a:schemeClr val="tx1"/>
              </a:solidFill>
            </a:endParaRPr>
          </a:p>
        </p:txBody>
      </p:sp>
      <p:sp>
        <p:nvSpPr>
          <p:cNvPr id="2" name="Content Placeholder 1"/>
          <p:cNvSpPr>
            <a:spLocks noGrp="1"/>
          </p:cNvSpPr>
          <p:nvPr>
            <p:ph idx="1"/>
          </p:nvPr>
        </p:nvSpPr>
        <p:spPr>
          <a:xfrm>
            <a:off x="30480" y="935182"/>
            <a:ext cx="9144000" cy="5029200"/>
          </a:xfrm>
        </p:spPr>
        <p:txBody>
          <a:bodyPr/>
          <a:lstStyle/>
          <a:p>
            <a:r>
              <a:rPr lang="en-US" sz="2800" dirty="0"/>
              <a:t>In general, the more electron dense an anion is, the </a:t>
            </a:r>
            <a:r>
              <a:rPr lang="en-US" sz="2800" dirty="0">
                <a:solidFill>
                  <a:srgbClr val="FF0000"/>
                </a:solidFill>
              </a:rPr>
              <a:t>looser</a:t>
            </a:r>
            <a:r>
              <a:rPr lang="en-US" sz="2800" dirty="0"/>
              <a:t> the H-A bond is, and the </a:t>
            </a:r>
            <a:r>
              <a:rPr lang="en-US" sz="2800" dirty="0">
                <a:solidFill>
                  <a:srgbClr val="FF0000"/>
                </a:solidFill>
              </a:rPr>
              <a:t>stronger</a:t>
            </a:r>
            <a:r>
              <a:rPr lang="en-US" sz="2800" dirty="0"/>
              <a:t> the acid is.</a:t>
            </a:r>
          </a:p>
          <a:p>
            <a:r>
              <a:rPr lang="en-US" sz="2800" dirty="0"/>
              <a:t>Within a series, acid strength </a:t>
            </a:r>
            <a:r>
              <a:rPr lang="en-US" sz="2800" dirty="0">
                <a:solidFill>
                  <a:srgbClr val="FF0000"/>
                </a:solidFill>
              </a:rPr>
              <a:t>increases</a:t>
            </a:r>
            <a:r>
              <a:rPr lang="en-US" sz="2800" dirty="0"/>
              <a:t> with </a:t>
            </a:r>
            <a:r>
              <a:rPr lang="en-US" sz="2800" dirty="0">
                <a:solidFill>
                  <a:srgbClr val="FF0000"/>
                </a:solidFill>
              </a:rPr>
              <a:t>increasing</a:t>
            </a:r>
            <a:r>
              <a:rPr lang="en-US" sz="2800" dirty="0"/>
              <a:t> numbers of oxygen atoms.  For example:</a:t>
            </a:r>
            <a:br>
              <a:rPr lang="en-US" sz="2800" dirty="0"/>
            </a:br>
            <a:r>
              <a:rPr lang="en-US" sz="2800" dirty="0"/>
              <a:t> HClO</a:t>
            </a:r>
            <a:r>
              <a:rPr lang="en-US" sz="2800" baseline="-25000" dirty="0"/>
              <a:t>4</a:t>
            </a:r>
            <a:r>
              <a:rPr lang="en-US" sz="2800" dirty="0"/>
              <a:t> &gt; HClO</a:t>
            </a:r>
            <a:r>
              <a:rPr lang="en-US" sz="2800" baseline="-25000" dirty="0"/>
              <a:t>3</a:t>
            </a:r>
            <a:r>
              <a:rPr lang="en-US" sz="2800" dirty="0"/>
              <a:t> &gt; HClO</a:t>
            </a:r>
            <a:r>
              <a:rPr lang="en-US" sz="2800" baseline="-25000" dirty="0"/>
              <a:t>2</a:t>
            </a:r>
            <a:r>
              <a:rPr lang="en-US" sz="2800" dirty="0"/>
              <a:t> &gt; </a:t>
            </a:r>
            <a:r>
              <a:rPr lang="en-US" sz="2800" dirty="0" err="1"/>
              <a:t>HClO</a:t>
            </a:r>
            <a:r>
              <a:rPr lang="en-US" sz="2800" dirty="0"/>
              <a:t>  </a:t>
            </a:r>
          </a:p>
          <a:p>
            <a:pPr marL="0" indent="0">
              <a:buNone/>
            </a:pPr>
            <a:r>
              <a:rPr lang="en-US" sz="2800" dirty="0"/>
              <a:t>	and H</a:t>
            </a:r>
            <a:r>
              <a:rPr lang="en-US" sz="2800" baseline="-25000" dirty="0"/>
              <a:t>2</a:t>
            </a:r>
            <a:r>
              <a:rPr lang="en-US" sz="2800" dirty="0"/>
              <a:t>SO</a:t>
            </a:r>
            <a:r>
              <a:rPr lang="en-US" sz="2800" baseline="-25000" dirty="0"/>
              <a:t>4</a:t>
            </a:r>
            <a:r>
              <a:rPr lang="en-US" sz="2800" dirty="0"/>
              <a:t> &gt; H</a:t>
            </a:r>
            <a:r>
              <a:rPr lang="en-US" sz="2800" baseline="-25000" dirty="0"/>
              <a:t>2</a:t>
            </a:r>
            <a:r>
              <a:rPr lang="en-US" sz="2800" dirty="0"/>
              <a:t>SO</a:t>
            </a:r>
            <a:r>
              <a:rPr lang="en-US" sz="2800" baseline="-25000" dirty="0"/>
              <a:t>3</a:t>
            </a:r>
            <a:r>
              <a:rPr lang="en-US" sz="2800" dirty="0"/>
              <a:t>  </a:t>
            </a:r>
            <a:br>
              <a:rPr lang="en-US" sz="2800" dirty="0"/>
            </a:br>
            <a:r>
              <a:rPr lang="en-US" sz="2800" dirty="0"/>
              <a:t>(Electronegative O draws electrons away from O-H bond)</a:t>
            </a:r>
          </a:p>
          <a:p>
            <a:endParaRPr lang="en-US" sz="2800" dirty="0"/>
          </a:p>
          <a:p>
            <a:r>
              <a:rPr lang="en-US" sz="2800" dirty="0"/>
              <a:t>Match the acid with the </a:t>
            </a:r>
            <a:r>
              <a:rPr lang="en-US" sz="2800" dirty="0" err="1"/>
              <a:t>Ka</a:t>
            </a:r>
            <a:endParaRPr lang="en-US" sz="2800" dirty="0"/>
          </a:p>
          <a:p>
            <a:pPr lvl="1"/>
            <a:r>
              <a:rPr lang="en-US" sz="2400" dirty="0"/>
              <a:t>HIO</a:t>
            </a:r>
            <a:r>
              <a:rPr lang="en-US" sz="2400" baseline="-25000" dirty="0"/>
              <a:t>3</a:t>
            </a:r>
            <a:r>
              <a:rPr lang="en-US" sz="2400" dirty="0"/>
              <a:t>					2 x 10</a:t>
            </a:r>
            <a:r>
              <a:rPr lang="en-US" sz="2400" baseline="30000" dirty="0"/>
              <a:t>-11</a:t>
            </a:r>
          </a:p>
          <a:p>
            <a:pPr lvl="1"/>
            <a:r>
              <a:rPr lang="en-US" sz="2400" dirty="0"/>
              <a:t>HIO					1.6 x 10</a:t>
            </a:r>
            <a:r>
              <a:rPr lang="en-US" sz="2400" baseline="30000" dirty="0"/>
              <a:t>-1</a:t>
            </a:r>
            <a:endParaRPr lang="en-US" sz="2400" dirty="0"/>
          </a:p>
          <a:p>
            <a:pPr lvl="1"/>
            <a:r>
              <a:rPr lang="en-US" sz="2400" dirty="0"/>
              <a:t>HIO</a:t>
            </a:r>
            <a:r>
              <a:rPr lang="en-US" sz="2400" baseline="-25000" dirty="0"/>
              <a:t>2</a:t>
            </a:r>
            <a:r>
              <a:rPr lang="en-US" sz="2400" dirty="0"/>
              <a:t>					3.2 x 10</a:t>
            </a:r>
            <a:r>
              <a:rPr lang="en-US" sz="2400" baseline="30000" dirty="0"/>
              <a:t>-5</a:t>
            </a:r>
            <a:endParaRPr lang="en-US" sz="2400" dirty="0"/>
          </a:p>
          <a:p>
            <a:pPr lvl="1"/>
            <a:endParaRPr lang="en-US" sz="2400" dirty="0"/>
          </a:p>
          <a:p>
            <a:endParaRPr lang="en-US" sz="2800" dirty="0"/>
          </a:p>
        </p:txBody>
      </p:sp>
      <p:pic>
        <p:nvPicPr>
          <p:cNvPr id="3" name="Picture 2"/>
          <p:cNvPicPr>
            <a:picLocks noChangeAspect="1"/>
          </p:cNvPicPr>
          <p:nvPr/>
        </p:nvPicPr>
        <p:blipFill>
          <a:blip r:embed="rId3"/>
          <a:stretch>
            <a:fillRect/>
          </a:stretch>
        </p:blipFill>
        <p:spPr>
          <a:xfrm>
            <a:off x="10136359" y="914400"/>
            <a:ext cx="2084735" cy="5943600"/>
          </a:xfrm>
          <a:prstGeom prst="rect">
            <a:avLst/>
          </a:prstGeom>
        </p:spPr>
      </p:pic>
    </p:spTree>
    <p:extLst>
      <p:ext uri="{BB962C8B-B14F-4D97-AF65-F5344CB8AC3E}">
        <p14:creationId xmlns:p14="http://schemas.microsoft.com/office/powerpoint/2010/main" val="34274497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914400" y="0"/>
            <a:ext cx="10363200" cy="533400"/>
          </a:xfrm>
        </p:spPr>
        <p:txBody>
          <a:bodyPr/>
          <a:lstStyle/>
          <a:p>
            <a:r>
              <a:rPr lang="en-US" sz="3600" dirty="0">
                <a:solidFill>
                  <a:schemeClr val="tx1"/>
                </a:solidFill>
              </a:rPr>
              <a:t>Oxyacid </a:t>
            </a:r>
            <a:r>
              <a:rPr lang="en-US" sz="3600" dirty="0"/>
              <a:t>Relative Acid Strength- varying central atom</a:t>
            </a:r>
            <a:endParaRPr lang="en-US" sz="3600" dirty="0">
              <a:solidFill>
                <a:schemeClr val="tx1"/>
              </a:solidFill>
            </a:endParaRPr>
          </a:p>
        </p:txBody>
      </p:sp>
      <p:sp>
        <p:nvSpPr>
          <p:cNvPr id="2" name="Content Placeholder 1"/>
          <p:cNvSpPr>
            <a:spLocks noGrp="1"/>
          </p:cNvSpPr>
          <p:nvPr>
            <p:ph idx="1"/>
          </p:nvPr>
        </p:nvSpPr>
        <p:spPr>
          <a:xfrm>
            <a:off x="914400" y="914400"/>
            <a:ext cx="10363200" cy="5181600"/>
          </a:xfrm>
        </p:spPr>
        <p:txBody>
          <a:bodyPr/>
          <a:lstStyle/>
          <a:p>
            <a:r>
              <a:rPr lang="en-US" dirty="0"/>
              <a:t>Acid strength increases with increasing electronegativity of </a:t>
            </a:r>
            <a:r>
              <a:rPr lang="en-US" dirty="0" err="1"/>
              <a:t>oxyacids</a:t>
            </a:r>
            <a:r>
              <a:rPr lang="en-US" dirty="0"/>
              <a:t>.  </a:t>
            </a:r>
            <a:br>
              <a:rPr lang="en-US" dirty="0"/>
            </a:br>
            <a:r>
              <a:rPr lang="en-US" dirty="0"/>
              <a:t>Rank the acids with decreasing strength:</a:t>
            </a:r>
          </a:p>
          <a:p>
            <a:pPr marL="0" indent="0">
              <a:buNone/>
            </a:pPr>
            <a:r>
              <a:rPr lang="en-US" dirty="0"/>
              <a:t>			</a:t>
            </a:r>
            <a:r>
              <a:rPr lang="en-US" dirty="0" err="1"/>
              <a:t>HOBr</a:t>
            </a:r>
            <a:r>
              <a:rPr lang="en-US" dirty="0"/>
              <a:t>, HOCH</a:t>
            </a:r>
            <a:r>
              <a:rPr lang="en-US" baseline="-25000" dirty="0"/>
              <a:t>3</a:t>
            </a:r>
            <a:r>
              <a:rPr lang="en-US" dirty="0"/>
              <a:t>, </a:t>
            </a:r>
            <a:r>
              <a:rPr lang="en-US" dirty="0" err="1"/>
              <a:t>HOCl</a:t>
            </a:r>
            <a:r>
              <a:rPr lang="en-US" dirty="0"/>
              <a:t>,  HOI </a:t>
            </a:r>
          </a:p>
          <a:p>
            <a:endParaRPr lang="en-US" dirty="0"/>
          </a:p>
          <a:p>
            <a:endParaRPr lang="en-US" dirty="0"/>
          </a:p>
          <a:p>
            <a:endParaRPr lang="en-US" dirty="0"/>
          </a:p>
          <a:p>
            <a:pPr marL="0" indent="0">
              <a:buNone/>
            </a:pPr>
            <a:br>
              <a:rPr lang="en-US" dirty="0"/>
            </a:br>
            <a:r>
              <a:rPr lang="en-US" dirty="0" err="1">
                <a:solidFill>
                  <a:srgbClr val="FF0000"/>
                </a:solidFill>
              </a:rPr>
              <a:t>HOCl</a:t>
            </a:r>
            <a:r>
              <a:rPr lang="en-US" dirty="0">
                <a:solidFill>
                  <a:srgbClr val="FF0000"/>
                </a:solidFill>
              </a:rPr>
              <a:t> &gt; </a:t>
            </a:r>
            <a:r>
              <a:rPr lang="en-US" dirty="0" err="1">
                <a:solidFill>
                  <a:srgbClr val="FF0000"/>
                </a:solidFill>
              </a:rPr>
              <a:t>HOBr</a:t>
            </a:r>
            <a:r>
              <a:rPr lang="en-US" dirty="0">
                <a:solidFill>
                  <a:srgbClr val="FF0000"/>
                </a:solidFill>
              </a:rPr>
              <a:t> &gt; HOI &gt; HOCH</a:t>
            </a:r>
            <a:r>
              <a:rPr lang="en-US" baseline="-25000" dirty="0">
                <a:solidFill>
                  <a:srgbClr val="FF0000"/>
                </a:solidFill>
              </a:rPr>
              <a:t>3</a:t>
            </a:r>
            <a:endParaRPr lang="en-US" dirty="0">
              <a:solidFill>
                <a:srgbClr val="FF0000"/>
              </a:solidFill>
            </a:endParaRPr>
          </a:p>
        </p:txBody>
      </p:sp>
    </p:spTree>
    <p:extLst>
      <p:ext uri="{BB962C8B-B14F-4D97-AF65-F5344CB8AC3E}">
        <p14:creationId xmlns:p14="http://schemas.microsoft.com/office/powerpoint/2010/main" val="17999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anim calcmode="lin" valueType="num">
                                      <p:cBhvr additive="base">
                                        <p:cTn id="7"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0"/>
            <a:ext cx="4419600" cy="1555652"/>
          </a:xfrm>
        </p:spPr>
        <p:txBody>
          <a:bodyPr>
            <a:noAutofit/>
          </a:bodyPr>
          <a:lstStyle/>
          <a:p>
            <a:pPr algn="r">
              <a:spcBef>
                <a:spcPts val="0"/>
              </a:spcBef>
            </a:pPr>
            <a:r>
              <a:rPr lang="en-US" dirty="0">
                <a:solidFill>
                  <a:schemeClr val="bg1"/>
                </a:solidFill>
              </a:rPr>
              <a:t>8.8 Properties of Buffers</a:t>
            </a:r>
          </a:p>
          <a:p>
            <a:pPr algn="r">
              <a:spcBef>
                <a:spcPts val="0"/>
              </a:spcBef>
            </a:pPr>
            <a:r>
              <a:rPr lang="en-US" dirty="0">
                <a:solidFill>
                  <a:schemeClr val="bg1"/>
                </a:solidFill>
              </a:rPr>
              <a:t>8.9 Henderson</a:t>
            </a:r>
          </a:p>
          <a:p>
            <a:pPr algn="r">
              <a:spcBef>
                <a:spcPts val="0"/>
              </a:spcBef>
            </a:pPr>
            <a:r>
              <a:rPr lang="en-US" dirty="0" err="1">
                <a:solidFill>
                  <a:schemeClr val="bg1"/>
                </a:solidFill>
              </a:rPr>
              <a:t>Hasselbalch</a:t>
            </a:r>
            <a:r>
              <a:rPr lang="en-US" dirty="0">
                <a:solidFill>
                  <a:schemeClr val="bg1"/>
                </a:solidFill>
              </a:rPr>
              <a:t> </a:t>
            </a:r>
            <a:r>
              <a:rPr lang="en-US" dirty="0" err="1">
                <a:solidFill>
                  <a:schemeClr val="bg1"/>
                </a:solidFill>
              </a:rPr>
              <a:t>Eqn</a:t>
            </a:r>
            <a:endParaRPr lang="en-US" dirty="0">
              <a:solidFill>
                <a:schemeClr val="bg1"/>
              </a:solidFill>
            </a:endParaRPr>
          </a:p>
          <a:p>
            <a:pPr algn="r">
              <a:spcBef>
                <a:spcPts val="0"/>
              </a:spcBef>
            </a:pPr>
            <a:r>
              <a:rPr lang="en-US" dirty="0">
                <a:solidFill>
                  <a:schemeClr val="bg1"/>
                </a:solidFill>
              </a:rPr>
              <a:t>8.10 Buffer Capacity</a:t>
            </a:r>
          </a:p>
        </p:txBody>
      </p:sp>
      <p:sp>
        <p:nvSpPr>
          <p:cNvPr id="6" name="Title 1">
            <a:extLst>
              <a:ext uri="{FF2B5EF4-FFF2-40B4-BE49-F238E27FC236}">
                <a16:creationId xmlns:a16="http://schemas.microsoft.com/office/drawing/2014/main" id="{33D337C0-EEF9-425A-97B6-555AA933BB3F}"/>
              </a:ext>
            </a:extLst>
          </p:cNvPr>
          <p:cNvSpPr txBox="1">
            <a:spLocks/>
          </p:cNvSpPr>
          <p:nvPr/>
        </p:nvSpPr>
        <p:spPr bwMode="auto">
          <a:xfrm>
            <a:off x="11048999" y="0"/>
            <a:ext cx="1140655" cy="6858000"/>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32431964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914400" y="0"/>
            <a:ext cx="10363200" cy="685800"/>
          </a:xfrm>
        </p:spPr>
        <p:txBody>
          <a:bodyPr/>
          <a:lstStyle/>
          <a:p>
            <a:r>
              <a:rPr lang="en-US" sz="3600" b="1" dirty="0">
                <a:solidFill>
                  <a:schemeClr val="tx1"/>
                </a:solidFill>
              </a:rPr>
              <a:t>Buffer Solutions</a:t>
            </a:r>
            <a:r>
              <a:rPr lang="en-US" sz="3600" dirty="0">
                <a:solidFill>
                  <a:schemeClr val="tx1"/>
                </a:solidFill>
              </a:rPr>
              <a:t> </a:t>
            </a:r>
            <a:r>
              <a:rPr lang="en-US" sz="3600" b="1" dirty="0">
                <a:solidFill>
                  <a:schemeClr val="tx1"/>
                </a:solidFill>
              </a:rPr>
              <a:t>and Common ion effect </a:t>
            </a:r>
            <a:endParaRPr lang="en-US" sz="3600" dirty="0">
              <a:solidFill>
                <a:schemeClr val="tx1"/>
              </a:solidFill>
            </a:endParaRPr>
          </a:p>
        </p:txBody>
      </p:sp>
      <p:sp>
        <p:nvSpPr>
          <p:cNvPr id="2" name="Content Placeholder 1"/>
          <p:cNvSpPr>
            <a:spLocks noGrp="1"/>
          </p:cNvSpPr>
          <p:nvPr>
            <p:ph idx="1"/>
          </p:nvPr>
        </p:nvSpPr>
        <p:spPr>
          <a:xfrm>
            <a:off x="914400" y="1143000"/>
            <a:ext cx="10363200" cy="4953000"/>
          </a:xfrm>
        </p:spPr>
        <p:txBody>
          <a:bodyPr/>
          <a:lstStyle/>
          <a:p>
            <a:r>
              <a:rPr lang="en-US" sz="2800" dirty="0"/>
              <a:t>The addition of a common ion to a solution of a weak acid makes the solution less acidic. </a:t>
            </a:r>
          </a:p>
          <a:p>
            <a:r>
              <a:rPr lang="en-US" sz="2800" dirty="0"/>
              <a:t>Example: Write the dissociation reaction for acetic acid:</a:t>
            </a:r>
            <a:br>
              <a:rPr lang="en-US" sz="2800" dirty="0"/>
            </a:br>
            <a:r>
              <a:rPr lang="en-US" sz="2800" dirty="0"/>
              <a:t>        	</a:t>
            </a:r>
          </a:p>
          <a:p>
            <a:pPr marL="0" indent="0">
              <a:buNone/>
            </a:pPr>
            <a:r>
              <a:rPr lang="en-US" sz="2800" dirty="0"/>
              <a:t>		</a:t>
            </a:r>
          </a:p>
          <a:p>
            <a:r>
              <a:rPr lang="en-US" sz="2800" dirty="0"/>
              <a:t>Using the </a:t>
            </a:r>
            <a:r>
              <a:rPr lang="en-US" sz="2800" dirty="0" err="1"/>
              <a:t>LeChatlier</a:t>
            </a:r>
            <a:r>
              <a:rPr lang="en-US" sz="2800" dirty="0"/>
              <a:t> Principle, determine how the addition of NaC</a:t>
            </a:r>
            <a:r>
              <a:rPr lang="en-US" sz="2800" baseline="-25000" dirty="0"/>
              <a:t>2</a:t>
            </a:r>
            <a:r>
              <a:rPr lang="en-US" sz="2800" dirty="0"/>
              <a:t>H</a:t>
            </a:r>
            <a:r>
              <a:rPr lang="en-US" sz="2800" baseline="-25000" dirty="0"/>
              <a:t>3</a:t>
            </a:r>
            <a:r>
              <a:rPr lang="en-US" sz="2800" dirty="0"/>
              <a:t>O</a:t>
            </a:r>
            <a:r>
              <a:rPr lang="en-US" sz="2800" baseline="-25000" dirty="0"/>
              <a:t>2</a:t>
            </a:r>
            <a:r>
              <a:rPr lang="en-US" sz="2800" dirty="0"/>
              <a:t> causes the equilibrium to shift. Will the pH increase or decrease? </a:t>
            </a:r>
          </a:p>
        </p:txBody>
      </p:sp>
    </p:spTree>
    <p:extLst>
      <p:ext uri="{BB962C8B-B14F-4D97-AF65-F5344CB8AC3E}">
        <p14:creationId xmlns:p14="http://schemas.microsoft.com/office/powerpoint/2010/main" val="4274849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914400" y="0"/>
            <a:ext cx="10363200" cy="685800"/>
          </a:xfrm>
        </p:spPr>
        <p:txBody>
          <a:bodyPr/>
          <a:lstStyle/>
          <a:p>
            <a:r>
              <a:rPr lang="en-US" sz="3600" b="1" dirty="0">
                <a:solidFill>
                  <a:schemeClr val="tx1"/>
                </a:solidFill>
              </a:rPr>
              <a:t>Buffer</a:t>
            </a:r>
            <a:r>
              <a:rPr lang="en-US" b="1" dirty="0">
                <a:solidFill>
                  <a:schemeClr val="tx1"/>
                </a:solidFill>
              </a:rPr>
              <a:t> </a:t>
            </a:r>
            <a:r>
              <a:rPr lang="en-US" sz="3600" b="1" dirty="0">
                <a:solidFill>
                  <a:schemeClr val="tx1"/>
                </a:solidFill>
              </a:rPr>
              <a:t>Solution</a:t>
            </a:r>
            <a:endParaRPr lang="en-US" dirty="0">
              <a:solidFill>
                <a:schemeClr val="tx1"/>
              </a:solidFill>
            </a:endParaRPr>
          </a:p>
        </p:txBody>
      </p:sp>
      <p:sp>
        <p:nvSpPr>
          <p:cNvPr id="2" name="Content Placeholder 1"/>
          <p:cNvSpPr>
            <a:spLocks noGrp="1"/>
          </p:cNvSpPr>
          <p:nvPr>
            <p:ph idx="1"/>
          </p:nvPr>
        </p:nvSpPr>
        <p:spPr>
          <a:xfrm>
            <a:off x="914400" y="1143000"/>
            <a:ext cx="10363200" cy="4953000"/>
          </a:xfrm>
        </p:spPr>
        <p:txBody>
          <a:bodyPr/>
          <a:lstStyle/>
          <a:p>
            <a:r>
              <a:rPr lang="en-US" dirty="0"/>
              <a:t>A buffer solution is made by combining a </a:t>
            </a:r>
            <a:r>
              <a:rPr lang="en-US" dirty="0">
                <a:solidFill>
                  <a:srgbClr val="FF0000"/>
                </a:solidFill>
              </a:rPr>
              <a:t>weak</a:t>
            </a:r>
            <a:r>
              <a:rPr lang="en-US" dirty="0"/>
              <a:t> acid or base with a </a:t>
            </a:r>
            <a:r>
              <a:rPr lang="en-US" dirty="0">
                <a:solidFill>
                  <a:srgbClr val="FF0000"/>
                </a:solidFill>
              </a:rPr>
              <a:t>salt</a:t>
            </a:r>
            <a:r>
              <a:rPr lang="en-US" dirty="0"/>
              <a:t> containing its </a:t>
            </a:r>
            <a:r>
              <a:rPr lang="en-US" dirty="0">
                <a:solidFill>
                  <a:srgbClr val="FF0000"/>
                </a:solidFill>
              </a:rPr>
              <a:t>conjugate</a:t>
            </a:r>
            <a:r>
              <a:rPr lang="en-US" dirty="0"/>
              <a:t>. </a:t>
            </a:r>
          </a:p>
          <a:p>
            <a:r>
              <a:rPr lang="en-US" dirty="0"/>
              <a:t>When preparing a buffer, choose an acid whose </a:t>
            </a:r>
            <a:r>
              <a:rPr lang="en-US" dirty="0" err="1">
                <a:solidFill>
                  <a:srgbClr val="FF0000"/>
                </a:solidFill>
              </a:rPr>
              <a:t>pKa</a:t>
            </a:r>
            <a:r>
              <a:rPr lang="en-US" dirty="0"/>
              <a:t> is close to the desired pH of the buffer solution. </a:t>
            </a:r>
          </a:p>
          <a:p>
            <a:r>
              <a:rPr lang="en-US" dirty="0"/>
              <a:t>Alternatively, the </a:t>
            </a:r>
            <a:r>
              <a:rPr lang="en-US" dirty="0" err="1">
                <a:solidFill>
                  <a:srgbClr val="FF0000"/>
                </a:solidFill>
              </a:rPr>
              <a:t>pKb</a:t>
            </a:r>
            <a:r>
              <a:rPr lang="en-US" dirty="0"/>
              <a:t> of the base should be close to the </a:t>
            </a:r>
            <a:r>
              <a:rPr lang="en-US" dirty="0">
                <a:solidFill>
                  <a:srgbClr val="FF0000"/>
                </a:solidFill>
              </a:rPr>
              <a:t>pOH</a:t>
            </a:r>
            <a:r>
              <a:rPr lang="en-US" dirty="0"/>
              <a:t> of the buffer solution. </a:t>
            </a:r>
          </a:p>
          <a:p>
            <a:r>
              <a:rPr lang="en-US" dirty="0"/>
              <a:t>These solutions are called buffers because they </a:t>
            </a:r>
            <a:r>
              <a:rPr lang="en-US" dirty="0">
                <a:solidFill>
                  <a:srgbClr val="FF0000"/>
                </a:solidFill>
              </a:rPr>
              <a:t>resist</a:t>
            </a:r>
            <a:r>
              <a:rPr lang="en-US" dirty="0"/>
              <a:t> a change in pH when acid or base is added. </a:t>
            </a:r>
            <a:endParaRPr lang="en-US" b="1" u="sng" dirty="0"/>
          </a:p>
        </p:txBody>
      </p:sp>
    </p:spTree>
    <p:extLst>
      <p:ext uri="{BB962C8B-B14F-4D97-AF65-F5344CB8AC3E}">
        <p14:creationId xmlns:p14="http://schemas.microsoft.com/office/powerpoint/2010/main" val="11308602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1500" y="0"/>
            <a:ext cx="11049000" cy="685800"/>
          </a:xfrm>
        </p:spPr>
        <p:txBody>
          <a:bodyPr/>
          <a:lstStyle/>
          <a:p>
            <a:r>
              <a:rPr lang="en-US" sz="3200" dirty="0"/>
              <a:t>Which combinations of compounds can make a buffer solution?</a:t>
            </a:r>
            <a:endParaRPr lang="en-US" dirty="0"/>
          </a:p>
        </p:txBody>
      </p:sp>
      <p:sp>
        <p:nvSpPr>
          <p:cNvPr id="3" name="Content Placeholder 2"/>
          <p:cNvSpPr>
            <a:spLocks noGrp="1"/>
          </p:cNvSpPr>
          <p:nvPr>
            <p:ph idx="1"/>
          </p:nvPr>
        </p:nvSpPr>
        <p:spPr>
          <a:xfrm>
            <a:off x="914400" y="990600"/>
            <a:ext cx="10363200" cy="5105400"/>
          </a:xfrm>
        </p:spPr>
        <p:txBody>
          <a:bodyPr/>
          <a:lstStyle/>
          <a:p>
            <a:r>
              <a:rPr lang="en-US" dirty="0"/>
              <a:t>HCHO</a:t>
            </a:r>
            <a:r>
              <a:rPr lang="en-US" baseline="-25000" dirty="0"/>
              <a:t>2</a:t>
            </a:r>
            <a:r>
              <a:rPr lang="en-US" dirty="0"/>
              <a:t> and NaCHO</a:t>
            </a:r>
            <a:r>
              <a:rPr lang="en-US" baseline="-25000" dirty="0"/>
              <a:t>2</a:t>
            </a:r>
            <a:endParaRPr lang="en-US" dirty="0"/>
          </a:p>
          <a:p>
            <a:r>
              <a:rPr lang="en-US" dirty="0"/>
              <a:t>HCl and NaCl</a:t>
            </a:r>
          </a:p>
          <a:p>
            <a:r>
              <a:rPr lang="en-US" dirty="0"/>
              <a:t>CH</a:t>
            </a:r>
            <a:r>
              <a:rPr lang="en-US" baseline="-25000" dirty="0"/>
              <a:t>3</a:t>
            </a:r>
            <a:r>
              <a:rPr lang="en-US" dirty="0"/>
              <a:t>NH</a:t>
            </a:r>
            <a:r>
              <a:rPr lang="en-US" baseline="-25000" dirty="0"/>
              <a:t>2</a:t>
            </a:r>
            <a:r>
              <a:rPr lang="en-US" dirty="0"/>
              <a:t> and CH</a:t>
            </a:r>
            <a:r>
              <a:rPr lang="en-US" baseline="-25000" dirty="0"/>
              <a:t>3</a:t>
            </a:r>
            <a:r>
              <a:rPr lang="en-US" dirty="0"/>
              <a:t>NH</a:t>
            </a:r>
            <a:r>
              <a:rPr lang="en-US" baseline="-25000" dirty="0"/>
              <a:t>3</a:t>
            </a:r>
            <a:r>
              <a:rPr lang="en-US" dirty="0"/>
              <a:t>Cl</a:t>
            </a:r>
          </a:p>
          <a:p>
            <a:r>
              <a:rPr lang="en-US" dirty="0"/>
              <a:t>NH</a:t>
            </a:r>
            <a:r>
              <a:rPr lang="en-US" baseline="-25000" dirty="0"/>
              <a:t>3</a:t>
            </a:r>
            <a:r>
              <a:rPr lang="en-US" dirty="0"/>
              <a:t> and NaOH</a:t>
            </a:r>
          </a:p>
          <a:p>
            <a:r>
              <a:rPr lang="en-US" dirty="0"/>
              <a:t>100 mL 1.0 M HF and 50 ml 1.0 M NaOH</a:t>
            </a:r>
          </a:p>
          <a:p>
            <a:endParaRPr lang="en-US" dirty="0"/>
          </a:p>
          <a:p>
            <a:r>
              <a:rPr lang="en-US" dirty="0"/>
              <a:t>100 mL 1.0 M CH</a:t>
            </a:r>
            <a:r>
              <a:rPr lang="en-US" baseline="-25000" dirty="0"/>
              <a:t>3</a:t>
            </a:r>
            <a:r>
              <a:rPr lang="en-US" dirty="0"/>
              <a:t>NH</a:t>
            </a:r>
            <a:r>
              <a:rPr lang="en-US" baseline="-25000" dirty="0"/>
              <a:t>2</a:t>
            </a:r>
            <a:r>
              <a:rPr lang="en-US" dirty="0"/>
              <a:t> and 50 ml 1.0 M HNO</a:t>
            </a:r>
            <a:r>
              <a:rPr lang="en-US" baseline="-25000" dirty="0"/>
              <a:t>3</a:t>
            </a:r>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40884980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4579385" y="-4354"/>
            <a:ext cx="7612615" cy="2590800"/>
          </a:xfrm>
          <a:prstGeom prst="rect">
            <a:avLst/>
          </a:prstGeom>
        </p:spPr>
      </p:pic>
      <p:sp>
        <p:nvSpPr>
          <p:cNvPr id="3" name="Content Placeholder 2"/>
          <p:cNvSpPr>
            <a:spLocks noGrp="1"/>
          </p:cNvSpPr>
          <p:nvPr>
            <p:ph idx="1"/>
          </p:nvPr>
        </p:nvSpPr>
        <p:spPr>
          <a:xfrm>
            <a:off x="0" y="2057400"/>
            <a:ext cx="10363200" cy="4038600"/>
          </a:xfrm>
        </p:spPr>
        <p:txBody>
          <a:bodyPr/>
          <a:lstStyle/>
          <a:p>
            <a:pPr lvl="0"/>
            <a:r>
              <a:rPr lang="en-US" sz="2800" dirty="0"/>
              <a:t>You have been asked to prepare 500.0 mL of </a:t>
            </a:r>
            <a:r>
              <a:rPr lang="en-US" sz="2800" b="1" dirty="0"/>
              <a:t>buffer solution </a:t>
            </a:r>
            <a:r>
              <a:rPr lang="en-US" sz="2800" dirty="0"/>
              <a:t>at pH 4.00. A student has suggested using ammonia, NH</a:t>
            </a:r>
            <a:r>
              <a:rPr lang="en-US" sz="2800" baseline="-25000" dirty="0"/>
              <a:t>3</a:t>
            </a:r>
            <a:r>
              <a:rPr lang="en-US" sz="2800" dirty="0"/>
              <a:t>, and ammonium chloride, NH</a:t>
            </a:r>
            <a:r>
              <a:rPr lang="en-US" sz="2800" baseline="-25000" dirty="0"/>
              <a:t>4</a:t>
            </a:r>
            <a:r>
              <a:rPr lang="en-US" sz="2800" dirty="0"/>
              <a:t>Cl, to prepare the buffer. Explain why this is NOT an appropriate choice to prepare the buffer.</a:t>
            </a:r>
          </a:p>
          <a:p>
            <a:pPr lvl="0"/>
            <a:endParaRPr lang="en-US" sz="2800" dirty="0"/>
          </a:p>
          <a:p>
            <a:pPr lvl="0"/>
            <a:endParaRPr lang="en-US" sz="2800" dirty="0"/>
          </a:p>
          <a:p>
            <a:r>
              <a:rPr lang="en-US" sz="2800" dirty="0"/>
              <a:t>From the table above, what would be the </a:t>
            </a:r>
            <a:r>
              <a:rPr lang="en-US" sz="2800" i="1" dirty="0"/>
              <a:t>best </a:t>
            </a:r>
            <a:r>
              <a:rPr lang="en-US" sz="2800" dirty="0"/>
              <a:t>combination to prepare the buffer?</a:t>
            </a:r>
          </a:p>
          <a:p>
            <a:pPr lvl="0"/>
            <a:endParaRPr lang="en-US" sz="2800" dirty="0"/>
          </a:p>
          <a:p>
            <a:pPr lvl="0"/>
            <a:endParaRPr lang="en-US" dirty="0"/>
          </a:p>
        </p:txBody>
      </p:sp>
    </p:spTree>
    <p:extLst>
      <p:ext uri="{BB962C8B-B14F-4D97-AF65-F5344CB8AC3E}">
        <p14:creationId xmlns:p14="http://schemas.microsoft.com/office/powerpoint/2010/main" val="27498363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304800" y="78580"/>
            <a:ext cx="11658600" cy="614365"/>
          </a:xfrm>
        </p:spPr>
        <p:txBody>
          <a:bodyPr/>
          <a:lstStyle/>
          <a:p>
            <a:r>
              <a:rPr lang="en-US" sz="3200" dirty="0">
                <a:solidFill>
                  <a:schemeClr val="tx1"/>
                </a:solidFill>
              </a:rPr>
              <a:t>Buffer solutions resist pH change by reaction with strong acid or base</a:t>
            </a:r>
          </a:p>
        </p:txBody>
      </p:sp>
      <p:sp>
        <p:nvSpPr>
          <p:cNvPr id="2" name="Content Placeholder 1"/>
          <p:cNvSpPr>
            <a:spLocks noGrp="1"/>
          </p:cNvSpPr>
          <p:nvPr>
            <p:ph idx="1"/>
          </p:nvPr>
        </p:nvSpPr>
        <p:spPr>
          <a:xfrm>
            <a:off x="914400" y="764381"/>
            <a:ext cx="10363200" cy="5331619"/>
          </a:xfrm>
        </p:spPr>
        <p:txBody>
          <a:bodyPr/>
          <a:lstStyle/>
          <a:p>
            <a:pPr marL="0" indent="0">
              <a:buNone/>
            </a:pPr>
            <a:r>
              <a:rPr lang="en-US" sz="2800" dirty="0"/>
              <a:t>Example: Consider a mixture of </a:t>
            </a:r>
            <a:r>
              <a:rPr lang="en-US" sz="2800" b="1" dirty="0"/>
              <a:t>HC</a:t>
            </a:r>
            <a:r>
              <a:rPr lang="en-US" sz="2800" b="1" baseline="-25000" dirty="0"/>
              <a:t>2</a:t>
            </a:r>
            <a:r>
              <a:rPr lang="en-US" sz="2800" b="1" dirty="0"/>
              <a:t>H</a:t>
            </a:r>
            <a:r>
              <a:rPr lang="en-US" sz="2800" b="1" baseline="-25000" dirty="0"/>
              <a:t>3</a:t>
            </a:r>
            <a:r>
              <a:rPr lang="en-US" sz="2800" b="1" dirty="0"/>
              <a:t>O</a:t>
            </a:r>
            <a:r>
              <a:rPr lang="en-US" sz="2800" b="1" baseline="-25000" dirty="0"/>
              <a:t>2</a:t>
            </a:r>
            <a:r>
              <a:rPr lang="en-US" sz="2800" b="1" dirty="0"/>
              <a:t> and NaC</a:t>
            </a:r>
            <a:r>
              <a:rPr lang="en-US" sz="2800" b="1" baseline="-25000" dirty="0"/>
              <a:t>2</a:t>
            </a:r>
            <a:r>
              <a:rPr lang="en-US" sz="2800" b="1" dirty="0"/>
              <a:t>H</a:t>
            </a:r>
            <a:r>
              <a:rPr lang="en-US" sz="2800" b="1" baseline="-25000" dirty="0"/>
              <a:t>3</a:t>
            </a:r>
            <a:r>
              <a:rPr lang="en-US" sz="2800" b="1" dirty="0"/>
              <a:t>O</a:t>
            </a:r>
            <a:r>
              <a:rPr lang="en-US" sz="2800" b="1" baseline="-25000" dirty="0"/>
              <a:t>2</a:t>
            </a:r>
            <a:br>
              <a:rPr lang="en-US" sz="2800" dirty="0"/>
            </a:br>
            <a:br>
              <a:rPr lang="en-US" sz="2800" dirty="0"/>
            </a:br>
            <a:r>
              <a:rPr lang="en-US" sz="2800" dirty="0"/>
              <a:t>Write an equation for the addition of strong acid… hint, which component will it react with? </a:t>
            </a:r>
            <a:r>
              <a:rPr lang="en-US" sz="2800" i="1" dirty="0"/>
              <a:t>(Easiest way to show a strong acid is to use H+): </a:t>
            </a:r>
          </a:p>
          <a:p>
            <a:pPr marL="0" indent="0">
              <a:buNone/>
            </a:pPr>
            <a:br>
              <a:rPr lang="en-US" sz="2800" dirty="0"/>
            </a:br>
            <a:r>
              <a:rPr lang="en-US" sz="2800" dirty="0">
                <a:solidFill>
                  <a:srgbClr val="FF0000"/>
                </a:solidFill>
              </a:rPr>
              <a:t>H</a:t>
            </a:r>
            <a:r>
              <a:rPr lang="en-US" sz="2800" baseline="30000" dirty="0">
                <a:solidFill>
                  <a:srgbClr val="FF0000"/>
                </a:solidFill>
              </a:rPr>
              <a:t>+</a:t>
            </a:r>
            <a:r>
              <a:rPr lang="en-US" sz="2800" dirty="0">
                <a:solidFill>
                  <a:srgbClr val="FF0000"/>
                </a:solidFill>
              </a:rPr>
              <a:t> + C</a:t>
            </a:r>
            <a:r>
              <a:rPr lang="en-US" sz="2800" baseline="-25000" dirty="0">
                <a:solidFill>
                  <a:srgbClr val="FF0000"/>
                </a:solidFill>
              </a:rPr>
              <a:t>2</a:t>
            </a:r>
            <a:r>
              <a:rPr lang="en-US" sz="2800" dirty="0">
                <a:solidFill>
                  <a:srgbClr val="FF0000"/>
                </a:solidFill>
              </a:rPr>
              <a:t>H</a:t>
            </a:r>
            <a:r>
              <a:rPr lang="en-US" sz="2800" baseline="-25000" dirty="0">
                <a:solidFill>
                  <a:srgbClr val="FF0000"/>
                </a:solidFill>
              </a:rPr>
              <a:t>3</a:t>
            </a:r>
            <a:r>
              <a:rPr lang="en-US" sz="2800" dirty="0">
                <a:solidFill>
                  <a:srgbClr val="FF0000"/>
                </a:solidFill>
              </a:rPr>
              <a:t>O</a:t>
            </a:r>
            <a:r>
              <a:rPr lang="en-US" sz="2800" baseline="-25000" dirty="0">
                <a:solidFill>
                  <a:srgbClr val="FF0000"/>
                </a:solidFill>
              </a:rPr>
              <a:t>2</a:t>
            </a:r>
            <a:r>
              <a:rPr lang="en-US" sz="2800" baseline="30000" dirty="0">
                <a:solidFill>
                  <a:srgbClr val="FF0000"/>
                </a:solidFill>
                <a:sym typeface="Symbol" pitchFamily="18" charset="2"/>
              </a:rPr>
              <a:t></a:t>
            </a:r>
            <a:r>
              <a:rPr lang="en-US" sz="2800" dirty="0">
                <a:solidFill>
                  <a:srgbClr val="FF0000"/>
                </a:solidFill>
              </a:rPr>
              <a:t> </a:t>
            </a:r>
            <a:r>
              <a:rPr lang="en-US" sz="2800" dirty="0">
                <a:solidFill>
                  <a:srgbClr val="FF0000"/>
                </a:solidFill>
                <a:sym typeface="Symbol" pitchFamily="18" charset="2"/>
              </a:rPr>
              <a:t></a:t>
            </a:r>
            <a:r>
              <a:rPr lang="en-US" sz="2800" dirty="0">
                <a:solidFill>
                  <a:srgbClr val="FF0000"/>
                </a:solidFill>
              </a:rPr>
              <a:t> HC</a:t>
            </a:r>
            <a:r>
              <a:rPr lang="en-US" sz="2800" baseline="-25000" dirty="0">
                <a:solidFill>
                  <a:srgbClr val="FF0000"/>
                </a:solidFill>
              </a:rPr>
              <a:t>2</a:t>
            </a:r>
            <a:r>
              <a:rPr lang="en-US" sz="2800" dirty="0">
                <a:solidFill>
                  <a:srgbClr val="FF0000"/>
                </a:solidFill>
              </a:rPr>
              <a:t>H</a:t>
            </a:r>
            <a:r>
              <a:rPr lang="en-US" sz="2800" baseline="-25000" dirty="0">
                <a:solidFill>
                  <a:srgbClr val="FF0000"/>
                </a:solidFill>
              </a:rPr>
              <a:t>3</a:t>
            </a:r>
            <a:r>
              <a:rPr lang="en-US" sz="2800" dirty="0">
                <a:solidFill>
                  <a:srgbClr val="FF0000"/>
                </a:solidFill>
              </a:rPr>
              <a:t>O</a:t>
            </a:r>
            <a:r>
              <a:rPr lang="en-US" sz="2800" baseline="-25000" dirty="0">
                <a:solidFill>
                  <a:srgbClr val="FF0000"/>
                </a:solidFill>
              </a:rPr>
              <a:t>2</a:t>
            </a:r>
            <a:br>
              <a:rPr lang="en-US" sz="2800" dirty="0"/>
            </a:br>
            <a:br>
              <a:rPr lang="en-US" sz="2800" dirty="0"/>
            </a:br>
            <a:r>
              <a:rPr lang="en-US" sz="2800" dirty="0"/>
              <a:t>Write an equation for the addition of strong base … hint, which component will it react with? </a:t>
            </a:r>
            <a:r>
              <a:rPr lang="en-US" sz="2800" i="1" dirty="0"/>
              <a:t>(Easiest way to show a strong acid is to use OH</a:t>
            </a:r>
            <a:r>
              <a:rPr lang="en-US" sz="2800" i="1" baseline="30000" dirty="0"/>
              <a:t>-</a:t>
            </a:r>
            <a:r>
              <a:rPr lang="en-US" sz="2800" i="1" dirty="0"/>
              <a:t>): </a:t>
            </a:r>
          </a:p>
          <a:p>
            <a:pPr marL="0" indent="0">
              <a:buNone/>
            </a:pPr>
            <a:br>
              <a:rPr lang="en-US" sz="2800" dirty="0"/>
            </a:br>
            <a:r>
              <a:rPr lang="en-US" sz="2800" dirty="0">
                <a:solidFill>
                  <a:srgbClr val="FF0000"/>
                </a:solidFill>
              </a:rPr>
              <a:t>OH</a:t>
            </a:r>
            <a:r>
              <a:rPr lang="en-US" sz="2800" baseline="30000" dirty="0">
                <a:solidFill>
                  <a:srgbClr val="FF0000"/>
                </a:solidFill>
                <a:sym typeface="Symbol" pitchFamily="18" charset="2"/>
              </a:rPr>
              <a:t> </a:t>
            </a:r>
            <a:r>
              <a:rPr lang="en-US" sz="2800" dirty="0">
                <a:solidFill>
                  <a:srgbClr val="FF0000"/>
                </a:solidFill>
              </a:rPr>
              <a:t> + HC</a:t>
            </a:r>
            <a:r>
              <a:rPr lang="en-US" sz="2800" baseline="-25000" dirty="0">
                <a:solidFill>
                  <a:srgbClr val="FF0000"/>
                </a:solidFill>
              </a:rPr>
              <a:t>2</a:t>
            </a:r>
            <a:r>
              <a:rPr lang="en-US" sz="2800" dirty="0">
                <a:solidFill>
                  <a:srgbClr val="FF0000"/>
                </a:solidFill>
              </a:rPr>
              <a:t>H</a:t>
            </a:r>
            <a:r>
              <a:rPr lang="en-US" sz="2800" baseline="-25000" dirty="0">
                <a:solidFill>
                  <a:srgbClr val="FF0000"/>
                </a:solidFill>
              </a:rPr>
              <a:t>3</a:t>
            </a:r>
            <a:r>
              <a:rPr lang="en-US" sz="2800" dirty="0">
                <a:solidFill>
                  <a:srgbClr val="FF0000"/>
                </a:solidFill>
              </a:rPr>
              <a:t>O</a:t>
            </a:r>
            <a:r>
              <a:rPr lang="en-US" sz="2800" baseline="-25000" dirty="0">
                <a:solidFill>
                  <a:srgbClr val="FF0000"/>
                </a:solidFill>
              </a:rPr>
              <a:t>2</a:t>
            </a:r>
            <a:r>
              <a:rPr lang="en-US" sz="2800" dirty="0">
                <a:solidFill>
                  <a:srgbClr val="FF0000"/>
                </a:solidFill>
              </a:rPr>
              <a:t> </a:t>
            </a:r>
            <a:r>
              <a:rPr lang="en-US" sz="2800" dirty="0">
                <a:solidFill>
                  <a:srgbClr val="FF0000"/>
                </a:solidFill>
                <a:sym typeface="Symbol" pitchFamily="18" charset="2"/>
              </a:rPr>
              <a:t></a:t>
            </a:r>
            <a:r>
              <a:rPr lang="en-US" sz="2800" dirty="0">
                <a:solidFill>
                  <a:srgbClr val="FF0000"/>
                </a:solidFill>
              </a:rPr>
              <a:t>H</a:t>
            </a:r>
            <a:r>
              <a:rPr lang="en-US" sz="2800" baseline="-25000" dirty="0">
                <a:solidFill>
                  <a:srgbClr val="FF0000"/>
                </a:solidFill>
              </a:rPr>
              <a:t>2</a:t>
            </a:r>
            <a:r>
              <a:rPr lang="en-US" sz="2800" dirty="0">
                <a:solidFill>
                  <a:srgbClr val="FF0000"/>
                </a:solidFill>
              </a:rPr>
              <a:t>O + C</a:t>
            </a:r>
            <a:r>
              <a:rPr lang="en-US" sz="2800" baseline="-25000" dirty="0">
                <a:solidFill>
                  <a:srgbClr val="FF0000"/>
                </a:solidFill>
              </a:rPr>
              <a:t>2</a:t>
            </a:r>
            <a:r>
              <a:rPr lang="en-US" sz="2800" dirty="0">
                <a:solidFill>
                  <a:srgbClr val="FF0000"/>
                </a:solidFill>
              </a:rPr>
              <a:t>H</a:t>
            </a:r>
            <a:r>
              <a:rPr lang="en-US" sz="2800" baseline="-25000" dirty="0">
                <a:solidFill>
                  <a:srgbClr val="FF0000"/>
                </a:solidFill>
              </a:rPr>
              <a:t>3</a:t>
            </a:r>
            <a:r>
              <a:rPr lang="en-US" sz="2800" dirty="0">
                <a:solidFill>
                  <a:srgbClr val="FF0000"/>
                </a:solidFill>
              </a:rPr>
              <a:t>O</a:t>
            </a:r>
            <a:r>
              <a:rPr lang="en-US" sz="2800" baseline="-25000" dirty="0">
                <a:solidFill>
                  <a:srgbClr val="FF0000"/>
                </a:solidFill>
              </a:rPr>
              <a:t>2</a:t>
            </a:r>
            <a:r>
              <a:rPr lang="en-US" sz="2800" baseline="30000" dirty="0">
                <a:solidFill>
                  <a:srgbClr val="FF0000"/>
                </a:solidFill>
                <a:sym typeface="Symbol" pitchFamily="18" charset="2"/>
              </a:rPr>
              <a:t>  </a:t>
            </a:r>
            <a:br>
              <a:rPr lang="en-US" sz="2800" dirty="0"/>
            </a:br>
            <a:br>
              <a:rPr lang="en-US" dirty="0"/>
            </a:br>
            <a:r>
              <a:rPr lang="en-US" dirty="0"/>
              <a:t> </a:t>
            </a:r>
          </a:p>
          <a:p>
            <a:endParaRPr lang="en-US" dirty="0"/>
          </a:p>
        </p:txBody>
      </p:sp>
      <p:sp>
        <p:nvSpPr>
          <p:cNvPr id="7173" name="Rectangle 4"/>
          <p:cNvSpPr>
            <a:spLocks noChangeArrowheads="1"/>
          </p:cNvSpPr>
          <p:nvPr/>
        </p:nvSpPr>
        <p:spPr bwMode="auto">
          <a:xfrm>
            <a:off x="8001000" y="2895600"/>
            <a:ext cx="4249188" cy="830997"/>
          </a:xfrm>
          <a:prstGeom prst="rect">
            <a:avLst/>
          </a:prstGeom>
          <a:noFill/>
          <a:ln w="9525">
            <a:noFill/>
            <a:miter lim="800000"/>
            <a:headEnd/>
            <a:tailEnd/>
          </a:ln>
        </p:spPr>
        <p:txBody>
          <a:bodyPr wrap="square" anchor="ctr">
            <a:spAutoFit/>
          </a:bodyPr>
          <a:lstStyle/>
          <a:p>
            <a:r>
              <a:rPr lang="en-US" sz="1600" dirty="0">
                <a:latin typeface="Segoe UI Semibold" pitchFamily="34" charset="0"/>
                <a:cs typeface="Times New Roman" pitchFamily="18" charset="0"/>
              </a:rPr>
              <a:t>Notice the one-way arrows.  When a strong acid or base is </a:t>
            </a:r>
            <a:r>
              <a:rPr lang="en-US" sz="1600" dirty="0" err="1">
                <a:latin typeface="Segoe UI Semibold" pitchFamily="34" charset="0"/>
                <a:cs typeface="Times New Roman" pitchFamily="18" charset="0"/>
              </a:rPr>
              <a:t>added,the</a:t>
            </a:r>
            <a:r>
              <a:rPr lang="en-US" sz="1600" dirty="0">
                <a:latin typeface="Segoe UI Semibold" pitchFamily="34" charset="0"/>
                <a:cs typeface="Times New Roman" pitchFamily="18" charset="0"/>
              </a:rPr>
              <a:t> reaction is driven to completion</a:t>
            </a:r>
            <a:r>
              <a:rPr lang="en-US" sz="1100" dirty="0">
                <a:cs typeface="Times New Roman" pitchFamily="18" charset="0"/>
              </a:rPr>
              <a:t>.</a:t>
            </a:r>
            <a:endParaRPr lang="en-US" sz="1100" baseline="30000" dirty="0">
              <a:ea typeface="Times New Roman" pitchFamily="18" charset="0"/>
              <a:cs typeface="Courier New" pitchFamily="49" charset="0"/>
              <a:sym typeface="Symbol" pitchFamily="18" charset="2"/>
            </a:endParaRPr>
          </a:p>
        </p:txBody>
      </p:sp>
    </p:spTree>
    <p:extLst>
      <p:ext uri="{BB962C8B-B14F-4D97-AF65-F5344CB8AC3E}">
        <p14:creationId xmlns:p14="http://schemas.microsoft.com/office/powerpoint/2010/main" val="2045297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920931" y="0"/>
            <a:ext cx="10363200" cy="1143000"/>
          </a:xfrm>
        </p:spPr>
        <p:txBody>
          <a:bodyPr/>
          <a:lstStyle/>
          <a:p>
            <a:r>
              <a:rPr lang="en-US" sz="3600" dirty="0">
                <a:solidFill>
                  <a:schemeClr val="tx1"/>
                </a:solidFill>
              </a:rPr>
              <a:t>Consider an </a:t>
            </a:r>
            <a:r>
              <a:rPr lang="en-US" sz="3600" b="1" dirty="0">
                <a:solidFill>
                  <a:schemeClr val="tx1"/>
                </a:solidFill>
              </a:rPr>
              <a:t>NH</a:t>
            </a:r>
            <a:r>
              <a:rPr lang="en-US" sz="3600" b="1" baseline="-25000" dirty="0">
                <a:solidFill>
                  <a:schemeClr val="tx1"/>
                </a:solidFill>
              </a:rPr>
              <a:t>3</a:t>
            </a:r>
            <a:r>
              <a:rPr lang="en-US" sz="3600" b="1" dirty="0">
                <a:solidFill>
                  <a:schemeClr val="tx1"/>
                </a:solidFill>
              </a:rPr>
              <a:t>/NH</a:t>
            </a:r>
            <a:r>
              <a:rPr lang="en-US" sz="3600" b="1" baseline="-25000" dirty="0">
                <a:solidFill>
                  <a:schemeClr val="tx1"/>
                </a:solidFill>
              </a:rPr>
              <a:t>4</a:t>
            </a:r>
            <a:r>
              <a:rPr lang="en-US" sz="3600" b="1" baseline="30000" dirty="0">
                <a:solidFill>
                  <a:schemeClr val="tx1"/>
                </a:solidFill>
              </a:rPr>
              <a:t>+</a:t>
            </a:r>
            <a:r>
              <a:rPr lang="en-US" sz="3600" b="1" dirty="0">
                <a:solidFill>
                  <a:schemeClr val="tx1"/>
                </a:solidFill>
              </a:rPr>
              <a:t> </a:t>
            </a:r>
            <a:r>
              <a:rPr lang="en-US" sz="3600" dirty="0">
                <a:solidFill>
                  <a:schemeClr val="tx1"/>
                </a:solidFill>
              </a:rPr>
              <a:t>buffer system </a:t>
            </a:r>
          </a:p>
        </p:txBody>
      </p:sp>
      <p:sp>
        <p:nvSpPr>
          <p:cNvPr id="2" name="Content Placeholder 1"/>
          <p:cNvSpPr>
            <a:spLocks noGrp="1"/>
          </p:cNvSpPr>
          <p:nvPr>
            <p:ph idx="1"/>
          </p:nvPr>
        </p:nvSpPr>
        <p:spPr>
          <a:xfrm>
            <a:off x="457200" y="1600200"/>
            <a:ext cx="10820400" cy="4495800"/>
          </a:xfrm>
        </p:spPr>
        <p:txBody>
          <a:bodyPr/>
          <a:lstStyle/>
          <a:p>
            <a:r>
              <a:rPr lang="en-US" dirty="0"/>
              <a:t>Write an equation for the addition of strong acid to the system</a:t>
            </a:r>
          </a:p>
          <a:p>
            <a:pPr marL="0" indent="0">
              <a:buNone/>
            </a:pPr>
            <a:r>
              <a:rPr lang="en-US" b="1" dirty="0"/>
              <a:t>		</a:t>
            </a:r>
            <a:r>
              <a:rPr lang="en-US" b="1" dirty="0">
                <a:solidFill>
                  <a:srgbClr val="FF0000"/>
                </a:solidFill>
              </a:rPr>
              <a:t>NH</a:t>
            </a:r>
            <a:r>
              <a:rPr lang="en-US" b="1" baseline="-25000" dirty="0">
                <a:solidFill>
                  <a:srgbClr val="FF0000"/>
                </a:solidFill>
              </a:rPr>
              <a:t>3 </a:t>
            </a:r>
            <a:r>
              <a:rPr lang="en-US" b="1" dirty="0">
                <a:solidFill>
                  <a:srgbClr val="FF0000"/>
                </a:solidFill>
              </a:rPr>
              <a:t>+ H</a:t>
            </a:r>
            <a:r>
              <a:rPr lang="en-US" b="1" baseline="30000" dirty="0">
                <a:solidFill>
                  <a:srgbClr val="FF0000"/>
                </a:solidFill>
              </a:rPr>
              <a:t>+</a:t>
            </a:r>
            <a:r>
              <a:rPr lang="en-US" b="1" dirty="0">
                <a:solidFill>
                  <a:srgbClr val="FF0000"/>
                </a:solidFill>
              </a:rPr>
              <a:t> </a:t>
            </a:r>
            <a:r>
              <a:rPr lang="en-US" b="1" dirty="0">
                <a:solidFill>
                  <a:srgbClr val="FF0000"/>
                </a:solidFill>
                <a:sym typeface="Wingdings" panose="05000000000000000000" pitchFamily="2" charset="2"/>
              </a:rPr>
              <a:t> </a:t>
            </a:r>
            <a:r>
              <a:rPr lang="en-US" b="1" dirty="0">
                <a:solidFill>
                  <a:srgbClr val="FF0000"/>
                </a:solidFill>
              </a:rPr>
              <a:t>NH</a:t>
            </a:r>
            <a:r>
              <a:rPr lang="en-US" b="1" baseline="-25000" dirty="0">
                <a:solidFill>
                  <a:srgbClr val="FF0000"/>
                </a:solidFill>
              </a:rPr>
              <a:t>4</a:t>
            </a:r>
            <a:r>
              <a:rPr lang="en-US" b="1" baseline="30000" dirty="0">
                <a:solidFill>
                  <a:srgbClr val="FF0000"/>
                </a:solidFill>
              </a:rPr>
              <a:t>+</a:t>
            </a:r>
            <a:endParaRPr lang="en-US" dirty="0">
              <a:solidFill>
                <a:srgbClr val="FF0000"/>
              </a:solidFill>
            </a:endParaRPr>
          </a:p>
          <a:p>
            <a:endParaRPr lang="en-US" dirty="0"/>
          </a:p>
          <a:p>
            <a:r>
              <a:rPr lang="en-US" dirty="0"/>
              <a:t>Write an equation for the addition of strong base to the system</a:t>
            </a:r>
          </a:p>
          <a:p>
            <a:pPr marL="0" indent="0">
              <a:buNone/>
            </a:pPr>
            <a:r>
              <a:rPr lang="en-US" b="1" dirty="0"/>
              <a:t>		</a:t>
            </a:r>
            <a:r>
              <a:rPr lang="en-US" b="1" dirty="0">
                <a:solidFill>
                  <a:srgbClr val="FF0000"/>
                </a:solidFill>
              </a:rPr>
              <a:t>NH</a:t>
            </a:r>
            <a:r>
              <a:rPr lang="en-US" b="1" baseline="-25000" dirty="0">
                <a:solidFill>
                  <a:srgbClr val="FF0000"/>
                </a:solidFill>
              </a:rPr>
              <a:t>4</a:t>
            </a:r>
            <a:r>
              <a:rPr lang="en-US" b="1" baseline="30000" dirty="0">
                <a:solidFill>
                  <a:srgbClr val="FF0000"/>
                </a:solidFill>
              </a:rPr>
              <a:t>+</a:t>
            </a:r>
            <a:r>
              <a:rPr lang="en-US" b="1" dirty="0">
                <a:solidFill>
                  <a:srgbClr val="FF0000"/>
                </a:solidFill>
              </a:rPr>
              <a:t>  + OH</a:t>
            </a:r>
            <a:r>
              <a:rPr lang="en-US" b="1" baseline="30000" dirty="0">
                <a:solidFill>
                  <a:srgbClr val="FF0000"/>
                </a:solidFill>
              </a:rPr>
              <a:t>-</a:t>
            </a:r>
            <a:r>
              <a:rPr lang="en-US" b="1" dirty="0">
                <a:solidFill>
                  <a:srgbClr val="FF0000"/>
                </a:solidFill>
              </a:rPr>
              <a:t> </a:t>
            </a:r>
            <a:r>
              <a:rPr lang="en-US" b="1" dirty="0">
                <a:solidFill>
                  <a:srgbClr val="FF0000"/>
                </a:solidFill>
                <a:sym typeface="Wingdings" panose="05000000000000000000" pitchFamily="2" charset="2"/>
              </a:rPr>
              <a:t></a:t>
            </a:r>
            <a:r>
              <a:rPr lang="en-US" dirty="0">
                <a:solidFill>
                  <a:srgbClr val="FF0000"/>
                </a:solidFill>
                <a:sym typeface="Wingdings" panose="05000000000000000000" pitchFamily="2" charset="2"/>
              </a:rPr>
              <a:t> </a:t>
            </a:r>
            <a:r>
              <a:rPr lang="en-US" b="1" dirty="0">
                <a:solidFill>
                  <a:srgbClr val="FF0000"/>
                </a:solidFill>
              </a:rPr>
              <a:t>NH</a:t>
            </a:r>
            <a:r>
              <a:rPr lang="en-US" b="1" baseline="-25000" dirty="0">
                <a:solidFill>
                  <a:srgbClr val="FF0000"/>
                </a:solidFill>
              </a:rPr>
              <a:t>3  </a:t>
            </a:r>
            <a:r>
              <a:rPr lang="en-US" b="1" dirty="0">
                <a:solidFill>
                  <a:srgbClr val="FF0000"/>
                </a:solidFill>
              </a:rPr>
              <a:t>+</a:t>
            </a:r>
            <a:r>
              <a:rPr lang="en-US" b="1" baseline="-25000" dirty="0">
                <a:solidFill>
                  <a:srgbClr val="FF0000"/>
                </a:solidFill>
              </a:rPr>
              <a:t> </a:t>
            </a:r>
            <a:r>
              <a:rPr lang="en-US" b="1" dirty="0">
                <a:solidFill>
                  <a:srgbClr val="FF0000"/>
                </a:solidFill>
              </a:rPr>
              <a:t>H</a:t>
            </a:r>
            <a:r>
              <a:rPr lang="en-US" b="1" baseline="-25000" dirty="0">
                <a:solidFill>
                  <a:srgbClr val="FF0000"/>
                </a:solidFill>
              </a:rPr>
              <a:t>2</a:t>
            </a:r>
            <a:r>
              <a:rPr lang="en-US" b="1" dirty="0">
                <a:solidFill>
                  <a:srgbClr val="FF0000"/>
                </a:solidFill>
              </a:rPr>
              <a:t>O </a:t>
            </a:r>
            <a:endParaRPr lang="en-US" dirty="0">
              <a:solidFill>
                <a:srgbClr val="FF0000"/>
              </a:solidFill>
            </a:endParaRPr>
          </a:p>
        </p:txBody>
      </p:sp>
    </p:spTree>
    <p:extLst>
      <p:ext uri="{BB962C8B-B14F-4D97-AF65-F5344CB8AC3E}">
        <p14:creationId xmlns:p14="http://schemas.microsoft.com/office/powerpoint/2010/main" val="232754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914400" y="0"/>
            <a:ext cx="10363200" cy="1143000"/>
          </a:xfrm>
        </p:spPr>
        <p:txBody>
          <a:bodyPr/>
          <a:lstStyle/>
          <a:p>
            <a:r>
              <a:rPr lang="en-US" sz="3600" b="1" dirty="0">
                <a:solidFill>
                  <a:schemeClr val="tx1"/>
                </a:solidFill>
              </a:rPr>
              <a:t>Buffer capacity</a:t>
            </a:r>
            <a:endParaRPr lang="en-US" dirty="0">
              <a:solidFill>
                <a:schemeClr val="tx1"/>
              </a:solidFill>
            </a:endParaRPr>
          </a:p>
        </p:txBody>
      </p:sp>
      <p:sp>
        <p:nvSpPr>
          <p:cNvPr id="2" name="Content Placeholder 1"/>
          <p:cNvSpPr>
            <a:spLocks noGrp="1"/>
          </p:cNvSpPr>
          <p:nvPr>
            <p:ph idx="1"/>
          </p:nvPr>
        </p:nvSpPr>
        <p:spPr>
          <a:xfrm>
            <a:off x="914400" y="1143000"/>
            <a:ext cx="10363200" cy="4953000"/>
          </a:xfrm>
        </p:spPr>
        <p:txBody>
          <a:bodyPr/>
          <a:lstStyle/>
          <a:p>
            <a:r>
              <a:rPr lang="en-US" dirty="0"/>
              <a:t>The amount of acid or base that can be absorbed by a buffer system without a significant change in </a:t>
            </a:r>
            <a:r>
              <a:rPr lang="en-US" dirty="0" err="1"/>
              <a:t>pH.</a:t>
            </a:r>
            <a:r>
              <a:rPr lang="en-US" dirty="0"/>
              <a:t>  In order to have a </a:t>
            </a:r>
            <a:r>
              <a:rPr lang="en-US" dirty="0">
                <a:solidFill>
                  <a:srgbClr val="FF0000"/>
                </a:solidFill>
              </a:rPr>
              <a:t>large</a:t>
            </a:r>
            <a:r>
              <a:rPr lang="en-US" dirty="0"/>
              <a:t> buffer capacity, a solution should have </a:t>
            </a:r>
            <a:r>
              <a:rPr lang="en-US" dirty="0">
                <a:solidFill>
                  <a:srgbClr val="FF0000"/>
                </a:solidFill>
              </a:rPr>
              <a:t>large</a:t>
            </a:r>
            <a:r>
              <a:rPr lang="en-US" dirty="0"/>
              <a:t> concentrations of both buffer components.</a:t>
            </a:r>
            <a:br>
              <a:rPr lang="en-US" dirty="0"/>
            </a:br>
            <a:endParaRPr lang="en-US" dirty="0"/>
          </a:p>
          <a:p>
            <a:r>
              <a:rPr lang="en-US" dirty="0"/>
              <a:t>Which has a larger capacity:</a:t>
            </a:r>
          </a:p>
          <a:p>
            <a:r>
              <a:rPr lang="en-US" dirty="0"/>
              <a:t>0.10 M HF/0.10 M </a:t>
            </a:r>
            <a:r>
              <a:rPr lang="en-US" dirty="0" err="1"/>
              <a:t>NaF</a:t>
            </a:r>
            <a:r>
              <a:rPr lang="en-US" dirty="0"/>
              <a:t>, </a:t>
            </a:r>
            <a:r>
              <a:rPr lang="en-US" dirty="0" err="1"/>
              <a:t>pKa</a:t>
            </a:r>
            <a:r>
              <a:rPr lang="en-US" dirty="0"/>
              <a:t> 3.14</a:t>
            </a:r>
          </a:p>
          <a:p>
            <a:r>
              <a:rPr lang="en-US" dirty="0"/>
              <a:t>0.01 M HClO</a:t>
            </a:r>
            <a:r>
              <a:rPr lang="en-US" baseline="-25000" dirty="0"/>
              <a:t>2</a:t>
            </a:r>
            <a:r>
              <a:rPr lang="en-US" dirty="0"/>
              <a:t>/ 0.01 M KClO</a:t>
            </a:r>
            <a:r>
              <a:rPr lang="en-US" baseline="-25000" dirty="0"/>
              <a:t>2</a:t>
            </a:r>
            <a:r>
              <a:rPr lang="en-US" dirty="0"/>
              <a:t>  </a:t>
            </a:r>
            <a:r>
              <a:rPr lang="en-US" dirty="0" err="1"/>
              <a:t>pka</a:t>
            </a:r>
            <a:r>
              <a:rPr lang="en-US" dirty="0"/>
              <a:t> 1.95</a:t>
            </a:r>
            <a:br>
              <a:rPr lang="en-US" dirty="0"/>
            </a:br>
            <a:endParaRPr lang="en-US" dirty="0"/>
          </a:p>
        </p:txBody>
      </p:sp>
    </p:spTree>
    <p:extLst>
      <p:ext uri="{BB962C8B-B14F-4D97-AF65-F5344CB8AC3E}">
        <p14:creationId xmlns:p14="http://schemas.microsoft.com/office/powerpoint/2010/main" val="423956814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914400" y="0"/>
            <a:ext cx="10363200" cy="1143000"/>
          </a:xfrm>
        </p:spPr>
        <p:txBody>
          <a:bodyPr/>
          <a:lstStyle/>
          <a:p>
            <a:r>
              <a:rPr lang="en-US" sz="4000" dirty="0">
                <a:solidFill>
                  <a:schemeClr val="tx1"/>
                </a:solidFill>
              </a:rPr>
              <a:t>Calculating the pH of a Buffer System</a:t>
            </a:r>
          </a:p>
        </p:txBody>
      </p:sp>
      <p:sp>
        <p:nvSpPr>
          <p:cNvPr id="2" name="Content Placeholder 1"/>
          <p:cNvSpPr>
            <a:spLocks noGrp="1"/>
          </p:cNvSpPr>
          <p:nvPr>
            <p:ph idx="1"/>
          </p:nvPr>
        </p:nvSpPr>
        <p:spPr>
          <a:xfrm>
            <a:off x="914400" y="914400"/>
            <a:ext cx="10363200" cy="5181600"/>
          </a:xfrm>
        </p:spPr>
        <p:txBody>
          <a:bodyPr/>
          <a:lstStyle/>
          <a:p>
            <a:r>
              <a:rPr lang="en-US" sz="2800" dirty="0"/>
              <a:t>One way to calculate the pH of a buffer system is with the </a:t>
            </a:r>
            <a:r>
              <a:rPr lang="en-US" sz="2800" b="1" dirty="0"/>
              <a:t>Henderson-</a:t>
            </a:r>
            <a:r>
              <a:rPr lang="en-US" sz="2800" b="1" dirty="0" err="1"/>
              <a:t>Hasselbach</a:t>
            </a:r>
            <a:r>
              <a:rPr lang="en-US" sz="2800" dirty="0"/>
              <a:t> equation.</a:t>
            </a:r>
            <a:br>
              <a:rPr lang="en-US" dirty="0"/>
            </a:br>
            <a:r>
              <a:rPr lang="en-US" b="1" dirty="0"/>
              <a:t> pH = </a:t>
            </a:r>
            <a:r>
              <a:rPr lang="en-US" b="1" dirty="0" err="1"/>
              <a:t>p</a:t>
            </a:r>
            <a:r>
              <a:rPr lang="en-US" b="1" i="1" dirty="0" err="1"/>
              <a:t>K</a:t>
            </a:r>
            <a:r>
              <a:rPr lang="en-US" b="1" i="1" baseline="-25000" dirty="0" err="1"/>
              <a:t>a</a:t>
            </a:r>
            <a:r>
              <a:rPr lang="en-US" b="1" dirty="0"/>
              <a:t> + log [base]</a:t>
            </a:r>
            <a:br>
              <a:rPr lang="en-US" b="1" dirty="0"/>
            </a:br>
            <a:r>
              <a:rPr lang="en-US" b="1" dirty="0"/>
              <a:t>                            [acid]</a:t>
            </a:r>
            <a:br>
              <a:rPr lang="en-US" b="1" dirty="0"/>
            </a:br>
            <a:r>
              <a:rPr lang="en-US" b="1" dirty="0"/>
              <a:t>pH = </a:t>
            </a:r>
            <a:r>
              <a:rPr lang="en-US" b="1" dirty="0" err="1"/>
              <a:t>p</a:t>
            </a:r>
            <a:r>
              <a:rPr lang="en-US" b="1" i="1" dirty="0" err="1"/>
              <a:t>K</a:t>
            </a:r>
            <a:r>
              <a:rPr lang="en-US" b="1" i="1" baseline="-25000" dirty="0" err="1"/>
              <a:t>a</a:t>
            </a:r>
            <a:r>
              <a:rPr lang="en-US" b="1" dirty="0"/>
              <a:t> + log [A</a:t>
            </a:r>
            <a:r>
              <a:rPr lang="en-US" b="1" baseline="30000" dirty="0"/>
              <a:t>-</a:t>
            </a:r>
            <a:r>
              <a:rPr lang="en-US" b="1" dirty="0"/>
              <a:t>]</a:t>
            </a:r>
            <a:br>
              <a:rPr lang="en-US" b="1" dirty="0"/>
            </a:br>
            <a:r>
              <a:rPr lang="en-US" b="1" dirty="0"/>
              <a:t>                          [HA]</a:t>
            </a:r>
            <a:br>
              <a:rPr lang="en-US" b="1" dirty="0"/>
            </a:br>
            <a:r>
              <a:rPr lang="en-US" b="1" dirty="0"/>
              <a:t> </a:t>
            </a:r>
            <a:br>
              <a:rPr lang="en-US" dirty="0"/>
            </a:br>
            <a:endParaRPr lang="en-US" dirty="0"/>
          </a:p>
        </p:txBody>
      </p:sp>
      <p:sp>
        <p:nvSpPr>
          <p:cNvPr id="10243" name="Line 3"/>
          <p:cNvSpPr>
            <a:spLocks noChangeShapeType="1"/>
          </p:cNvSpPr>
          <p:nvPr/>
        </p:nvSpPr>
        <p:spPr bwMode="auto">
          <a:xfrm>
            <a:off x="4019006" y="2362200"/>
            <a:ext cx="1295400" cy="0"/>
          </a:xfrm>
          <a:prstGeom prst="line">
            <a:avLst/>
          </a:prstGeom>
          <a:noFill/>
          <a:ln w="9525">
            <a:solidFill>
              <a:schemeClr val="tx1"/>
            </a:solidFill>
            <a:round/>
            <a:headEnd/>
            <a:tailEnd/>
          </a:ln>
        </p:spPr>
        <p:txBody>
          <a:bodyPr wrap="none" anchor="ctr"/>
          <a:lstStyle/>
          <a:p>
            <a:endParaRPr lang="en-US"/>
          </a:p>
        </p:txBody>
      </p:sp>
      <p:sp>
        <p:nvSpPr>
          <p:cNvPr id="10244" name="Line 4"/>
          <p:cNvSpPr>
            <a:spLocks noChangeShapeType="1"/>
          </p:cNvSpPr>
          <p:nvPr/>
        </p:nvSpPr>
        <p:spPr bwMode="auto">
          <a:xfrm>
            <a:off x="3810000" y="3276600"/>
            <a:ext cx="1219200" cy="0"/>
          </a:xfrm>
          <a:prstGeom prst="line">
            <a:avLst/>
          </a:prstGeom>
          <a:noFill/>
          <a:ln w="9525">
            <a:solidFill>
              <a:schemeClr val="tx1"/>
            </a:solidFill>
            <a:round/>
            <a:headEnd/>
            <a:tailEnd/>
          </a:ln>
        </p:spPr>
        <p:txBody>
          <a:bodyPr wrap="none" anchor="ctr"/>
          <a:lstStyle/>
          <a:p>
            <a:endParaRPr lang="en-US"/>
          </a:p>
        </p:txBody>
      </p:sp>
    </p:spTree>
    <p:extLst>
      <p:ext uri="{BB962C8B-B14F-4D97-AF65-F5344CB8AC3E}">
        <p14:creationId xmlns:p14="http://schemas.microsoft.com/office/powerpoint/2010/main" val="40108151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10363200" cy="609600"/>
          </a:xfrm>
        </p:spPr>
        <p:txBody>
          <a:bodyPr/>
          <a:lstStyle/>
          <a:p>
            <a:r>
              <a:rPr lang="en-US" dirty="0"/>
              <a:t>Creating Buffers</a:t>
            </a:r>
          </a:p>
        </p:txBody>
      </p:sp>
      <p:sp>
        <p:nvSpPr>
          <p:cNvPr id="3" name="Content Placeholder 2"/>
          <p:cNvSpPr>
            <a:spLocks noGrp="1"/>
          </p:cNvSpPr>
          <p:nvPr>
            <p:ph idx="1"/>
          </p:nvPr>
        </p:nvSpPr>
        <p:spPr>
          <a:xfrm>
            <a:off x="685800" y="685800"/>
            <a:ext cx="10972800" cy="5410200"/>
          </a:xfrm>
        </p:spPr>
        <p:txBody>
          <a:bodyPr/>
          <a:lstStyle/>
          <a:p>
            <a:r>
              <a:rPr lang="en-US" sz="2800" dirty="0"/>
              <a:t>For a particular buffering system </a:t>
            </a:r>
            <a:r>
              <a:rPr lang="en-US" sz="2800" dirty="0">
                <a:solidFill>
                  <a:srgbClr val="FF0000"/>
                </a:solidFill>
              </a:rPr>
              <a:t>all</a:t>
            </a:r>
            <a:r>
              <a:rPr lang="en-US" sz="2800" dirty="0"/>
              <a:t> solutions that have the same ratio of [A</a:t>
            </a:r>
            <a:r>
              <a:rPr lang="en-US" sz="2800" baseline="30000" dirty="0"/>
              <a:t>-</a:t>
            </a:r>
            <a:r>
              <a:rPr lang="en-US" sz="2800" dirty="0"/>
              <a:t>]/[HA] have the same </a:t>
            </a:r>
            <a:r>
              <a:rPr lang="en-US" sz="2800" dirty="0" err="1">
                <a:solidFill>
                  <a:srgbClr val="FF0000"/>
                </a:solidFill>
              </a:rPr>
              <a:t>pH</a:t>
            </a:r>
            <a:r>
              <a:rPr lang="en-US" sz="2800" dirty="0" err="1"/>
              <a:t>.</a:t>
            </a:r>
            <a:r>
              <a:rPr lang="en-US" sz="2800" dirty="0"/>
              <a:t>  </a:t>
            </a:r>
          </a:p>
          <a:p>
            <a:r>
              <a:rPr lang="en-US" sz="2800" dirty="0"/>
              <a:t>Optimum buffering occurs when </a:t>
            </a:r>
            <a:r>
              <a:rPr lang="en-US" sz="2800" dirty="0">
                <a:solidFill>
                  <a:srgbClr val="FF0000"/>
                </a:solidFill>
              </a:rPr>
              <a:t>[HA] = [A</a:t>
            </a:r>
            <a:r>
              <a:rPr lang="en-US" sz="2800" baseline="30000" dirty="0">
                <a:solidFill>
                  <a:srgbClr val="FF0000"/>
                </a:solidFill>
              </a:rPr>
              <a:t>-</a:t>
            </a:r>
            <a:r>
              <a:rPr lang="en-US" sz="2800" dirty="0">
                <a:solidFill>
                  <a:srgbClr val="FF0000"/>
                </a:solidFill>
              </a:rPr>
              <a:t>] </a:t>
            </a:r>
            <a:r>
              <a:rPr lang="en-US" sz="2800" dirty="0"/>
              <a:t>and the </a:t>
            </a:r>
            <a:r>
              <a:rPr lang="en-US" sz="2800" dirty="0" err="1">
                <a:solidFill>
                  <a:srgbClr val="FF0000"/>
                </a:solidFill>
              </a:rPr>
              <a:t>p</a:t>
            </a:r>
            <a:r>
              <a:rPr lang="en-US" sz="2800" i="1" dirty="0" err="1">
                <a:solidFill>
                  <a:srgbClr val="FF0000"/>
                </a:solidFill>
              </a:rPr>
              <a:t>K</a:t>
            </a:r>
            <a:r>
              <a:rPr lang="en-US" sz="2800" i="1" baseline="-25000" dirty="0" err="1">
                <a:solidFill>
                  <a:srgbClr val="FF0000"/>
                </a:solidFill>
              </a:rPr>
              <a:t>a</a:t>
            </a:r>
            <a:r>
              <a:rPr lang="en-US" sz="2800" dirty="0"/>
              <a:t> of the weak acid used should be as close as possible to the desired pH of the buffer system.</a:t>
            </a:r>
          </a:p>
          <a:p>
            <a:pPr marL="0" indent="0">
              <a:buNone/>
            </a:pPr>
            <a:r>
              <a:rPr lang="en-US" altLang="en-US" sz="2800" dirty="0"/>
              <a:t>Formic acid (HCHO</a:t>
            </a:r>
            <a:r>
              <a:rPr lang="en-US" altLang="en-US" sz="2800" baseline="-25000" dirty="0"/>
              <a:t>2</a:t>
            </a:r>
            <a:r>
              <a:rPr lang="en-US" altLang="en-US" sz="2800" dirty="0"/>
              <a:t>) has a </a:t>
            </a:r>
            <a:r>
              <a:rPr lang="en-US" altLang="en-US" sz="2800" dirty="0" err="1"/>
              <a:t>p</a:t>
            </a:r>
            <a:r>
              <a:rPr lang="en-US" altLang="en-US" sz="2800" i="1" dirty="0" err="1"/>
              <a:t>K</a:t>
            </a:r>
            <a:r>
              <a:rPr lang="en-US" altLang="en-US" sz="2800" baseline="-25000" dirty="0" err="1"/>
              <a:t>a</a:t>
            </a:r>
            <a:r>
              <a:rPr lang="en-US" altLang="en-US" sz="2800" dirty="0"/>
              <a:t> = 3.74. Calculate the pH of a buffer that is 0.25 M HCHO</a:t>
            </a:r>
            <a:r>
              <a:rPr lang="en-US" altLang="en-US" sz="2800" baseline="-25000" dirty="0"/>
              <a:t>2  </a:t>
            </a:r>
            <a:r>
              <a:rPr lang="en-US" altLang="en-US" sz="2800" dirty="0"/>
              <a:t>and 0.25 M NaCHO</a:t>
            </a:r>
            <a:r>
              <a:rPr lang="en-US" altLang="en-US" sz="2800" baseline="-25000" dirty="0"/>
              <a:t>2</a:t>
            </a:r>
            <a:r>
              <a:rPr lang="en-US" altLang="en-US" sz="2800" dirty="0"/>
              <a:t>.</a:t>
            </a:r>
          </a:p>
          <a:p>
            <a:endParaRPr lang="en-US" altLang="en-US" sz="2800" dirty="0"/>
          </a:p>
          <a:p>
            <a:endParaRPr lang="en-US" altLang="en-US" sz="2800" dirty="0"/>
          </a:p>
          <a:p>
            <a:endParaRPr lang="en-US" altLang="en-US" sz="2800" dirty="0"/>
          </a:p>
          <a:p>
            <a:endParaRPr lang="en-US" altLang="en-US" sz="2800" dirty="0"/>
          </a:p>
          <a:p>
            <a:r>
              <a:rPr lang="en-US" altLang="en-US" sz="2800" dirty="0"/>
              <a:t>Notice that whenever </a:t>
            </a:r>
            <a:r>
              <a:rPr lang="en-US" sz="2800" dirty="0">
                <a:solidFill>
                  <a:srgbClr val="FF0000"/>
                </a:solidFill>
              </a:rPr>
              <a:t>[HA] = [A</a:t>
            </a:r>
            <a:r>
              <a:rPr lang="en-US" sz="2800" baseline="30000" dirty="0">
                <a:solidFill>
                  <a:srgbClr val="FF0000"/>
                </a:solidFill>
              </a:rPr>
              <a:t>-</a:t>
            </a:r>
            <a:r>
              <a:rPr lang="en-US" sz="2800" dirty="0">
                <a:solidFill>
                  <a:srgbClr val="FF0000"/>
                </a:solidFill>
              </a:rPr>
              <a:t>] </a:t>
            </a:r>
            <a:r>
              <a:rPr lang="en-US" altLang="en-US" sz="2800" dirty="0"/>
              <a:t>, pH = </a:t>
            </a:r>
            <a:r>
              <a:rPr lang="en-US" altLang="en-US" sz="2800" dirty="0" err="1">
                <a:solidFill>
                  <a:srgbClr val="FF0000"/>
                </a:solidFill>
              </a:rPr>
              <a:t>pKa</a:t>
            </a:r>
            <a:r>
              <a:rPr lang="en-US" altLang="en-US" sz="2800" dirty="0"/>
              <a:t>!</a:t>
            </a:r>
          </a:p>
          <a:p>
            <a:pPr marL="0" indent="0">
              <a:buNone/>
            </a:pPr>
            <a:br>
              <a:rPr lang="en-US" dirty="0"/>
            </a:br>
            <a:endParaRPr lang="en-US" dirty="0"/>
          </a:p>
        </p:txBody>
      </p:sp>
    </p:spTree>
    <p:extLst>
      <p:ext uri="{BB962C8B-B14F-4D97-AF65-F5344CB8AC3E}">
        <p14:creationId xmlns:p14="http://schemas.microsoft.com/office/powerpoint/2010/main" val="146888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 calcmode="lin" valueType="num">
                                      <p:cBhvr additive="base">
                                        <p:cTn id="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3352800"/>
            <a:ext cx="9829800" cy="1143000"/>
          </a:xfrm>
        </p:spPr>
        <p:txBody>
          <a:bodyPr/>
          <a:lstStyle/>
          <a:p>
            <a:pPr algn="l"/>
            <a:r>
              <a:rPr lang="en-US" sz="3600" b="1" dirty="0">
                <a:solidFill>
                  <a:schemeClr val="tx1"/>
                </a:solidFill>
              </a:rPr>
              <a:t>Hints for Solving Buffer Problems:</a:t>
            </a:r>
            <a:br>
              <a:rPr lang="en-US" sz="3600" b="1" dirty="0">
                <a:solidFill>
                  <a:schemeClr val="tx1"/>
                </a:solidFill>
              </a:rPr>
            </a:br>
            <a:br>
              <a:rPr lang="en-US" sz="3600" dirty="0">
                <a:solidFill>
                  <a:schemeClr val="tx1"/>
                </a:solidFill>
              </a:rPr>
            </a:br>
            <a:r>
              <a:rPr lang="en-US" sz="3600" dirty="0">
                <a:solidFill>
                  <a:schemeClr val="tx1"/>
                </a:solidFill>
              </a:rPr>
              <a:t>1.  Determine major species involved initially.</a:t>
            </a:r>
            <a:br>
              <a:rPr lang="en-US" sz="3600" dirty="0">
                <a:solidFill>
                  <a:schemeClr val="tx1"/>
                </a:solidFill>
              </a:rPr>
            </a:br>
            <a:r>
              <a:rPr lang="en-US" sz="3600" dirty="0">
                <a:solidFill>
                  <a:schemeClr val="tx1"/>
                </a:solidFill>
              </a:rPr>
              <a:t>2.  If chemical reaction occurs(Is there a strong acid or strong base?), write equation and solve stoichiometry in moles, then change to molarity.</a:t>
            </a:r>
            <a:br>
              <a:rPr lang="en-US" sz="3600" dirty="0">
                <a:solidFill>
                  <a:schemeClr val="tx1"/>
                </a:solidFill>
              </a:rPr>
            </a:br>
            <a:r>
              <a:rPr lang="en-US" sz="3600" dirty="0">
                <a:solidFill>
                  <a:schemeClr val="tx1"/>
                </a:solidFill>
              </a:rPr>
              <a:t>3.  Write equilibrium equation.</a:t>
            </a:r>
            <a:br>
              <a:rPr lang="en-US" sz="3600" dirty="0">
                <a:solidFill>
                  <a:schemeClr val="tx1"/>
                </a:solidFill>
              </a:rPr>
            </a:br>
            <a:r>
              <a:rPr lang="en-US" sz="3600" dirty="0">
                <a:solidFill>
                  <a:schemeClr val="tx1"/>
                </a:solidFill>
              </a:rPr>
              <a:t>4.  Set up equilibrium expression (</a:t>
            </a:r>
            <a:r>
              <a:rPr lang="en-US" sz="3600" i="1" dirty="0" err="1">
                <a:solidFill>
                  <a:schemeClr val="tx1"/>
                </a:solidFill>
              </a:rPr>
              <a:t>K</a:t>
            </a:r>
            <a:r>
              <a:rPr lang="en-US" sz="3600" i="1" baseline="-25000" dirty="0" err="1">
                <a:solidFill>
                  <a:schemeClr val="tx1"/>
                </a:solidFill>
              </a:rPr>
              <a:t>a</a:t>
            </a:r>
            <a:r>
              <a:rPr lang="en-US" sz="3600" baseline="-25000" dirty="0">
                <a:solidFill>
                  <a:schemeClr val="tx1"/>
                </a:solidFill>
              </a:rPr>
              <a:t> </a:t>
            </a:r>
            <a:r>
              <a:rPr lang="en-US" sz="3600" dirty="0">
                <a:solidFill>
                  <a:schemeClr val="tx1"/>
                </a:solidFill>
              </a:rPr>
              <a:t>or </a:t>
            </a:r>
            <a:r>
              <a:rPr lang="en-US" sz="3600" i="1" dirty="0">
                <a:solidFill>
                  <a:schemeClr val="tx1"/>
                </a:solidFill>
              </a:rPr>
              <a:t>K</a:t>
            </a:r>
            <a:r>
              <a:rPr lang="en-US" sz="3600" i="1" baseline="-25000" dirty="0">
                <a:solidFill>
                  <a:schemeClr val="tx1"/>
                </a:solidFill>
              </a:rPr>
              <a:t>b</a:t>
            </a:r>
            <a:r>
              <a:rPr lang="en-US" sz="3600" dirty="0">
                <a:solidFill>
                  <a:schemeClr val="tx1"/>
                </a:solidFill>
              </a:rPr>
              <a:t>).</a:t>
            </a:r>
            <a:br>
              <a:rPr lang="en-US" sz="3600" dirty="0">
                <a:solidFill>
                  <a:schemeClr val="tx1"/>
                </a:solidFill>
              </a:rPr>
            </a:br>
            <a:r>
              <a:rPr lang="en-US" sz="3600" dirty="0">
                <a:solidFill>
                  <a:schemeClr val="tx1"/>
                </a:solidFill>
              </a:rPr>
              <a:t>5.  Solve.</a:t>
            </a:r>
            <a:br>
              <a:rPr lang="en-US" sz="3600" dirty="0">
                <a:solidFill>
                  <a:schemeClr val="tx1"/>
                </a:solidFill>
              </a:rPr>
            </a:br>
            <a:r>
              <a:rPr lang="en-US" sz="3600" dirty="0">
                <a:solidFill>
                  <a:schemeClr val="tx1"/>
                </a:solidFill>
              </a:rPr>
              <a:t>6.  Check logic of answer.</a:t>
            </a:r>
            <a:br>
              <a:rPr lang="en-US" sz="3600" dirty="0">
                <a:solidFill>
                  <a:schemeClr val="tx1"/>
                </a:solidFill>
              </a:rPr>
            </a:br>
            <a:br>
              <a:rPr lang="en-US" sz="3600" dirty="0">
                <a:solidFill>
                  <a:schemeClr val="tx1"/>
                </a:solidFill>
              </a:rPr>
            </a:br>
            <a:endParaRPr lang="en-US" dirty="0">
              <a:solidFill>
                <a:schemeClr val="tx1"/>
              </a:solidFill>
            </a:endParaRPr>
          </a:p>
        </p:txBody>
      </p:sp>
    </p:spTree>
    <p:extLst>
      <p:ext uri="{BB962C8B-B14F-4D97-AF65-F5344CB8AC3E}">
        <p14:creationId xmlns:p14="http://schemas.microsoft.com/office/powerpoint/2010/main" val="419740609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38200" y="80963"/>
            <a:ext cx="10363200" cy="1143000"/>
          </a:xfrm>
        </p:spPr>
        <p:txBody>
          <a:bodyPr/>
          <a:lstStyle/>
          <a:p>
            <a:pPr algn="l"/>
            <a:r>
              <a:rPr lang="en-US" sz="2800" b="1" dirty="0">
                <a:solidFill>
                  <a:schemeClr val="tx1"/>
                </a:solidFill>
              </a:rPr>
              <a:t>Ex.  A solution is 0.120 </a:t>
            </a:r>
            <a:r>
              <a:rPr lang="en-US" sz="2800" b="1" i="1" dirty="0">
                <a:solidFill>
                  <a:schemeClr val="tx1"/>
                </a:solidFill>
              </a:rPr>
              <a:t>M</a:t>
            </a:r>
            <a:r>
              <a:rPr lang="en-US" sz="2800" b="1" dirty="0">
                <a:solidFill>
                  <a:schemeClr val="tx1"/>
                </a:solidFill>
              </a:rPr>
              <a:t> in acetic acid and 0.0900 </a:t>
            </a:r>
            <a:r>
              <a:rPr lang="en-US" sz="2800" b="1" i="1" dirty="0">
                <a:solidFill>
                  <a:schemeClr val="tx1"/>
                </a:solidFill>
              </a:rPr>
              <a:t>M</a:t>
            </a:r>
            <a:r>
              <a:rPr lang="en-US" sz="2800" b="1" dirty="0">
                <a:solidFill>
                  <a:schemeClr val="tx1"/>
                </a:solidFill>
              </a:rPr>
              <a:t> in sodium acetate.  Calculate the [H</a:t>
            </a:r>
            <a:r>
              <a:rPr lang="en-US" sz="2800" b="1" baseline="30000" dirty="0">
                <a:solidFill>
                  <a:schemeClr val="tx1"/>
                </a:solidFill>
              </a:rPr>
              <a:t>+</a:t>
            </a:r>
            <a:r>
              <a:rPr lang="en-US" sz="2800" b="1" dirty="0">
                <a:solidFill>
                  <a:schemeClr val="tx1"/>
                </a:solidFill>
              </a:rPr>
              <a:t>] at equilibrium.  The </a:t>
            </a:r>
            <a:r>
              <a:rPr lang="en-US" sz="2800" b="1" i="1" dirty="0" err="1">
                <a:solidFill>
                  <a:schemeClr val="tx1"/>
                </a:solidFill>
              </a:rPr>
              <a:t>K</a:t>
            </a:r>
            <a:r>
              <a:rPr lang="en-US" sz="2800" b="1" i="1" baseline="-25000" dirty="0" err="1">
                <a:solidFill>
                  <a:schemeClr val="tx1"/>
                </a:solidFill>
              </a:rPr>
              <a:t>a</a:t>
            </a:r>
            <a:r>
              <a:rPr lang="en-US" sz="2800" b="1" i="1" baseline="-25000" dirty="0">
                <a:solidFill>
                  <a:schemeClr val="tx1"/>
                </a:solidFill>
              </a:rPr>
              <a:t> </a:t>
            </a:r>
            <a:r>
              <a:rPr lang="en-US" sz="2800" b="1" dirty="0">
                <a:solidFill>
                  <a:schemeClr val="tx1"/>
                </a:solidFill>
              </a:rPr>
              <a:t>of acetic acid is 1.8</a:t>
            </a:r>
            <a:r>
              <a:rPr lang="en-US" sz="2800" b="1" dirty="0">
                <a:solidFill>
                  <a:schemeClr val="tx1"/>
                </a:solidFill>
                <a:cs typeface="Times New Roman" pitchFamily="18" charset="0"/>
              </a:rPr>
              <a:t>×</a:t>
            </a:r>
            <a:r>
              <a:rPr lang="en-US" sz="2800" b="1" dirty="0">
                <a:solidFill>
                  <a:schemeClr val="tx1"/>
                </a:solidFill>
              </a:rPr>
              <a:t>10</a:t>
            </a:r>
            <a:r>
              <a:rPr lang="en-US" sz="2800" b="1" baseline="30000" dirty="0">
                <a:solidFill>
                  <a:schemeClr val="tx1"/>
                </a:solidFill>
              </a:rPr>
              <a:t>-5</a:t>
            </a:r>
            <a:r>
              <a:rPr lang="en-US" sz="2800" b="1" dirty="0">
                <a:solidFill>
                  <a:schemeClr val="tx1"/>
                </a:solidFill>
              </a:rPr>
              <a:t>.</a:t>
            </a:r>
            <a:endParaRPr lang="en-US" sz="2800" dirty="0">
              <a:solidFill>
                <a:schemeClr val="tx1"/>
              </a:solidFill>
            </a:endParaRPr>
          </a:p>
        </p:txBody>
      </p:sp>
      <p:sp>
        <p:nvSpPr>
          <p:cNvPr id="14339" name="Rectangle 3"/>
          <p:cNvSpPr>
            <a:spLocks noGrp="1" noChangeArrowheads="1"/>
          </p:cNvSpPr>
          <p:nvPr>
            <p:ph type="body" idx="1"/>
          </p:nvPr>
        </p:nvSpPr>
        <p:spPr>
          <a:xfrm>
            <a:off x="2133600" y="2057400"/>
            <a:ext cx="8077200" cy="3581400"/>
          </a:xfrm>
        </p:spPr>
        <p:txBody>
          <a:bodyPr/>
          <a:lstStyle/>
          <a:p>
            <a:pPr>
              <a:lnSpc>
                <a:spcPct val="80000"/>
              </a:lnSpc>
              <a:buFontTx/>
              <a:buNone/>
            </a:pPr>
            <a:r>
              <a:rPr lang="en-US">
                <a:solidFill>
                  <a:srgbClr val="CC0000"/>
                </a:solidFill>
              </a:rPr>
              <a:t>Rxn      HC</a:t>
            </a:r>
            <a:r>
              <a:rPr lang="en-US" baseline="-25000">
                <a:solidFill>
                  <a:srgbClr val="CC0000"/>
                </a:solidFill>
              </a:rPr>
              <a:t>2</a:t>
            </a:r>
            <a:r>
              <a:rPr lang="en-US">
                <a:solidFill>
                  <a:srgbClr val="CC0000"/>
                </a:solidFill>
              </a:rPr>
              <a:t>H</a:t>
            </a:r>
            <a:r>
              <a:rPr lang="en-US" baseline="-25000">
                <a:solidFill>
                  <a:srgbClr val="CC0000"/>
                </a:solidFill>
              </a:rPr>
              <a:t>3</a:t>
            </a:r>
            <a:r>
              <a:rPr lang="en-US">
                <a:solidFill>
                  <a:srgbClr val="CC0000"/>
                </a:solidFill>
              </a:rPr>
              <a:t>O</a:t>
            </a:r>
            <a:r>
              <a:rPr lang="en-US" baseline="-25000">
                <a:solidFill>
                  <a:srgbClr val="CC0000"/>
                </a:solidFill>
              </a:rPr>
              <a:t>2</a:t>
            </a:r>
            <a:r>
              <a:rPr lang="en-US">
                <a:solidFill>
                  <a:srgbClr val="CC0000"/>
                </a:solidFill>
              </a:rPr>
              <a:t>  </a:t>
            </a:r>
            <a:r>
              <a:rPr lang="en-US">
                <a:solidFill>
                  <a:srgbClr val="CC0000"/>
                </a:solidFill>
                <a:sym typeface="Wingdings 3" pitchFamily="18" charset="2"/>
              </a:rPr>
              <a:t></a:t>
            </a:r>
            <a:r>
              <a:rPr lang="en-US">
                <a:solidFill>
                  <a:srgbClr val="CC0000"/>
                </a:solidFill>
              </a:rPr>
              <a:t>  H</a:t>
            </a:r>
            <a:r>
              <a:rPr lang="en-US" baseline="30000">
                <a:solidFill>
                  <a:srgbClr val="CC0000"/>
                </a:solidFill>
              </a:rPr>
              <a:t>+</a:t>
            </a:r>
            <a:r>
              <a:rPr lang="en-US">
                <a:solidFill>
                  <a:srgbClr val="CC0000"/>
                </a:solidFill>
              </a:rPr>
              <a:t>   +    C</a:t>
            </a:r>
            <a:r>
              <a:rPr lang="en-US" baseline="-25000">
                <a:solidFill>
                  <a:srgbClr val="CC0000"/>
                </a:solidFill>
              </a:rPr>
              <a:t>2</a:t>
            </a:r>
            <a:r>
              <a:rPr lang="en-US">
                <a:solidFill>
                  <a:srgbClr val="CC0000"/>
                </a:solidFill>
              </a:rPr>
              <a:t>H</a:t>
            </a:r>
            <a:r>
              <a:rPr lang="en-US" baseline="-25000">
                <a:solidFill>
                  <a:srgbClr val="CC0000"/>
                </a:solidFill>
              </a:rPr>
              <a:t>3</a:t>
            </a:r>
            <a:r>
              <a:rPr lang="en-US">
                <a:solidFill>
                  <a:srgbClr val="CC0000"/>
                </a:solidFill>
              </a:rPr>
              <a:t>O</a:t>
            </a:r>
            <a:r>
              <a:rPr lang="en-US" baseline="-25000">
                <a:solidFill>
                  <a:srgbClr val="CC0000"/>
                </a:solidFill>
              </a:rPr>
              <a:t>2</a:t>
            </a:r>
            <a:r>
              <a:rPr lang="en-US" baseline="30000">
                <a:solidFill>
                  <a:srgbClr val="CC0000"/>
                </a:solidFill>
                <a:sym typeface="Symbol" pitchFamily="18" charset="2"/>
              </a:rPr>
              <a:t></a:t>
            </a:r>
            <a:endParaRPr lang="en-US">
              <a:solidFill>
                <a:srgbClr val="CC0000"/>
              </a:solidFill>
            </a:endParaRPr>
          </a:p>
          <a:p>
            <a:pPr>
              <a:lnSpc>
                <a:spcPct val="80000"/>
              </a:lnSpc>
              <a:buFontTx/>
              <a:buNone/>
            </a:pPr>
            <a:r>
              <a:rPr lang="en-US">
                <a:solidFill>
                  <a:srgbClr val="CC0000"/>
                </a:solidFill>
              </a:rPr>
              <a:t>Initial</a:t>
            </a:r>
            <a:r>
              <a:rPr lang="en-US"/>
              <a:t>     0.120             0         0.0900</a:t>
            </a:r>
          </a:p>
          <a:p>
            <a:pPr>
              <a:lnSpc>
                <a:spcPct val="80000"/>
              </a:lnSpc>
              <a:buFontTx/>
              <a:buNone/>
            </a:pPr>
            <a:r>
              <a:rPr lang="en-US">
                <a:solidFill>
                  <a:srgbClr val="CC0000"/>
                </a:solidFill>
              </a:rPr>
              <a:t>Change  </a:t>
            </a:r>
            <a:r>
              <a:rPr lang="en-US"/>
              <a:t>    </a:t>
            </a:r>
            <a:r>
              <a:rPr lang="en-US">
                <a:sym typeface="Symbol" pitchFamily="18" charset="2"/>
              </a:rPr>
              <a:t></a:t>
            </a:r>
            <a:r>
              <a:rPr lang="en-US" i="1"/>
              <a:t>x</a:t>
            </a:r>
            <a:r>
              <a:rPr lang="en-US"/>
              <a:t>             +</a:t>
            </a:r>
            <a:r>
              <a:rPr lang="en-US" i="1"/>
              <a:t>x </a:t>
            </a:r>
            <a:r>
              <a:rPr lang="en-US"/>
              <a:t>            +</a:t>
            </a:r>
            <a:r>
              <a:rPr lang="en-US" i="1"/>
              <a:t>x</a:t>
            </a:r>
            <a:endParaRPr lang="en-US"/>
          </a:p>
          <a:p>
            <a:pPr>
              <a:lnSpc>
                <a:spcPct val="80000"/>
              </a:lnSpc>
              <a:buFontTx/>
              <a:buNone/>
            </a:pPr>
            <a:r>
              <a:rPr lang="en-US">
                <a:solidFill>
                  <a:srgbClr val="CC0000"/>
                </a:solidFill>
              </a:rPr>
              <a:t>Equil.</a:t>
            </a:r>
            <a:r>
              <a:rPr lang="en-US"/>
              <a:t>    0.120</a:t>
            </a:r>
            <a:r>
              <a:rPr lang="en-US">
                <a:sym typeface="Symbol" pitchFamily="18" charset="2"/>
              </a:rPr>
              <a:t></a:t>
            </a:r>
            <a:r>
              <a:rPr lang="en-US" i="1"/>
              <a:t>x </a:t>
            </a:r>
            <a:r>
              <a:rPr lang="en-US"/>
              <a:t>         </a:t>
            </a:r>
            <a:r>
              <a:rPr lang="en-US" i="1"/>
              <a:t>x</a:t>
            </a:r>
            <a:r>
              <a:rPr lang="en-US"/>
              <a:t>         0.0900 + </a:t>
            </a:r>
            <a:r>
              <a:rPr lang="en-US" i="1"/>
              <a:t>x</a:t>
            </a:r>
            <a:br>
              <a:rPr lang="en-US" i="1"/>
            </a:br>
            <a:endParaRPr lang="en-US" i="1"/>
          </a:p>
          <a:p>
            <a:pPr>
              <a:lnSpc>
                <a:spcPct val="80000"/>
              </a:lnSpc>
              <a:buFontTx/>
              <a:buNone/>
            </a:pPr>
            <a:r>
              <a:rPr lang="en-US" i="1"/>
              <a:t>K</a:t>
            </a:r>
            <a:r>
              <a:rPr lang="en-US" i="1" baseline="-25000"/>
              <a:t>a</a:t>
            </a:r>
            <a:r>
              <a:rPr lang="en-US"/>
              <a:t> = </a:t>
            </a:r>
            <a:r>
              <a:rPr lang="en-US" i="1"/>
              <a:t>x </a:t>
            </a:r>
            <a:r>
              <a:rPr lang="en-US"/>
              <a:t>(0.0900 +</a:t>
            </a:r>
            <a:r>
              <a:rPr lang="en-US" i="1"/>
              <a:t> x</a:t>
            </a:r>
            <a:r>
              <a:rPr lang="en-US"/>
              <a:t>)   </a:t>
            </a:r>
            <a:r>
              <a:rPr lang="en-US">
                <a:sym typeface="Symbol" pitchFamily="18" charset="2"/>
              </a:rPr>
              <a:t></a:t>
            </a:r>
            <a:r>
              <a:rPr lang="en-US"/>
              <a:t>   </a:t>
            </a:r>
            <a:r>
              <a:rPr lang="en-US" i="1"/>
              <a:t>x</a:t>
            </a:r>
            <a:r>
              <a:rPr lang="en-US"/>
              <a:t> (0.0900) =  1.8 </a:t>
            </a:r>
            <a:r>
              <a:rPr lang="en-US">
                <a:cs typeface="Times New Roman" pitchFamily="18" charset="0"/>
              </a:rPr>
              <a:t>× </a:t>
            </a:r>
            <a:r>
              <a:rPr lang="en-US"/>
              <a:t>10</a:t>
            </a:r>
            <a:r>
              <a:rPr lang="en-US" baseline="30000">
                <a:sym typeface="Symbol" pitchFamily="18" charset="2"/>
              </a:rPr>
              <a:t></a:t>
            </a:r>
            <a:r>
              <a:rPr lang="en-US" baseline="30000"/>
              <a:t>5</a:t>
            </a:r>
            <a:r>
              <a:rPr lang="en-US"/>
              <a:t>  </a:t>
            </a:r>
            <a:r>
              <a:rPr lang="en-US" i="1"/>
              <a:t> </a:t>
            </a:r>
            <a:br>
              <a:rPr lang="en-US" i="1"/>
            </a:br>
            <a:r>
              <a:rPr lang="en-US"/>
              <a:t>        0.120</a:t>
            </a:r>
            <a:r>
              <a:rPr lang="en-US" baseline="30000">
                <a:sym typeface="Symbol" pitchFamily="18" charset="2"/>
              </a:rPr>
              <a:t> </a:t>
            </a:r>
            <a:r>
              <a:rPr lang="en-US">
                <a:sym typeface="Symbol" pitchFamily="18" charset="2"/>
              </a:rPr>
              <a:t></a:t>
            </a:r>
            <a:r>
              <a:rPr lang="en-US" i="1"/>
              <a:t>x</a:t>
            </a:r>
            <a:r>
              <a:rPr lang="en-US"/>
              <a:t>                  0.120</a:t>
            </a:r>
          </a:p>
          <a:p>
            <a:pPr>
              <a:lnSpc>
                <a:spcPct val="80000"/>
              </a:lnSpc>
              <a:buFontTx/>
              <a:buNone/>
            </a:pPr>
            <a:r>
              <a:rPr lang="en-US"/>
              <a:t> </a:t>
            </a:r>
          </a:p>
          <a:p>
            <a:pPr>
              <a:lnSpc>
                <a:spcPct val="80000"/>
              </a:lnSpc>
              <a:buFontTx/>
              <a:buNone/>
            </a:pPr>
            <a:r>
              <a:rPr lang="en-US" i="1"/>
              <a:t>x</a:t>
            </a:r>
            <a:r>
              <a:rPr lang="en-US"/>
              <a:t> = 2.4</a:t>
            </a:r>
            <a:r>
              <a:rPr lang="en-US">
                <a:cs typeface="Times New Roman" pitchFamily="18" charset="0"/>
              </a:rPr>
              <a:t>×</a:t>
            </a:r>
            <a:r>
              <a:rPr lang="en-US"/>
              <a:t>10</a:t>
            </a:r>
            <a:r>
              <a:rPr lang="en-US" baseline="30000">
                <a:sym typeface="Symbol" pitchFamily="18" charset="2"/>
              </a:rPr>
              <a:t></a:t>
            </a:r>
            <a:r>
              <a:rPr lang="en-US" baseline="30000"/>
              <a:t>5</a:t>
            </a:r>
            <a:r>
              <a:rPr lang="en-US"/>
              <a:t> </a:t>
            </a:r>
            <a:r>
              <a:rPr lang="en-US" i="1"/>
              <a:t>M</a:t>
            </a:r>
            <a:r>
              <a:rPr lang="en-US"/>
              <a:t> </a:t>
            </a:r>
          </a:p>
          <a:p>
            <a:pPr>
              <a:lnSpc>
                <a:spcPct val="80000"/>
              </a:lnSpc>
              <a:buFontTx/>
              <a:buNone/>
            </a:pPr>
            <a:r>
              <a:rPr lang="en-US" b="1">
                <a:solidFill>
                  <a:schemeClr val="accent2"/>
                </a:solidFill>
              </a:rPr>
              <a:t>[H</a:t>
            </a:r>
            <a:r>
              <a:rPr lang="en-US" b="1" baseline="30000">
                <a:solidFill>
                  <a:schemeClr val="accent2"/>
                </a:solidFill>
              </a:rPr>
              <a:t>+</a:t>
            </a:r>
            <a:r>
              <a:rPr lang="en-US" b="1">
                <a:solidFill>
                  <a:schemeClr val="accent2"/>
                </a:solidFill>
              </a:rPr>
              <a:t>] = 2.4</a:t>
            </a:r>
            <a:r>
              <a:rPr lang="en-US" b="1">
                <a:solidFill>
                  <a:schemeClr val="accent2"/>
                </a:solidFill>
                <a:cs typeface="Times New Roman" pitchFamily="18" charset="0"/>
              </a:rPr>
              <a:t>×</a:t>
            </a:r>
            <a:r>
              <a:rPr lang="en-US" b="1">
                <a:solidFill>
                  <a:schemeClr val="accent2"/>
                </a:solidFill>
              </a:rPr>
              <a:t>10</a:t>
            </a:r>
            <a:r>
              <a:rPr lang="en-US" b="1" baseline="30000">
                <a:solidFill>
                  <a:schemeClr val="accent2"/>
                </a:solidFill>
                <a:sym typeface="Symbol" pitchFamily="18" charset="2"/>
              </a:rPr>
              <a:t></a:t>
            </a:r>
            <a:r>
              <a:rPr lang="en-US" b="1" baseline="30000">
                <a:solidFill>
                  <a:schemeClr val="accent2"/>
                </a:solidFill>
              </a:rPr>
              <a:t>5 </a:t>
            </a:r>
            <a:br>
              <a:rPr lang="en-US">
                <a:solidFill>
                  <a:schemeClr val="accent2"/>
                </a:solidFill>
              </a:rPr>
            </a:br>
            <a:endParaRPr lang="en-US">
              <a:solidFill>
                <a:schemeClr val="accent2"/>
              </a:solidFill>
            </a:endParaRPr>
          </a:p>
        </p:txBody>
      </p:sp>
      <p:sp>
        <p:nvSpPr>
          <p:cNvPr id="14340" name="Rectangle 4"/>
          <p:cNvSpPr>
            <a:spLocks noChangeArrowheads="1"/>
          </p:cNvSpPr>
          <p:nvPr/>
        </p:nvSpPr>
        <p:spPr bwMode="auto">
          <a:xfrm>
            <a:off x="2209800" y="2057400"/>
            <a:ext cx="6553200" cy="2057400"/>
          </a:xfrm>
          <a:prstGeom prst="rect">
            <a:avLst/>
          </a:prstGeom>
          <a:noFill/>
          <a:ln w="9525">
            <a:solidFill>
              <a:schemeClr val="tx1"/>
            </a:solidFill>
            <a:miter lim="800000"/>
            <a:headEnd/>
            <a:tailEnd/>
          </a:ln>
        </p:spPr>
        <p:txBody>
          <a:bodyPr wrap="none" anchor="ctr"/>
          <a:lstStyle/>
          <a:p>
            <a:endParaRPr lang="en-US"/>
          </a:p>
        </p:txBody>
      </p:sp>
      <p:sp>
        <p:nvSpPr>
          <p:cNvPr id="14341" name="Line 6"/>
          <p:cNvSpPr>
            <a:spLocks noChangeShapeType="1"/>
          </p:cNvSpPr>
          <p:nvPr/>
        </p:nvSpPr>
        <p:spPr bwMode="auto">
          <a:xfrm>
            <a:off x="3048000" y="4800600"/>
            <a:ext cx="2438400" cy="0"/>
          </a:xfrm>
          <a:prstGeom prst="line">
            <a:avLst/>
          </a:prstGeom>
          <a:noFill/>
          <a:ln w="9525">
            <a:solidFill>
              <a:schemeClr val="tx1"/>
            </a:solidFill>
            <a:round/>
            <a:headEnd/>
            <a:tailEnd/>
          </a:ln>
        </p:spPr>
        <p:txBody>
          <a:bodyPr/>
          <a:lstStyle/>
          <a:p>
            <a:endParaRPr lang="en-US"/>
          </a:p>
        </p:txBody>
      </p:sp>
      <p:sp>
        <p:nvSpPr>
          <p:cNvPr id="14342" name="Line 7"/>
          <p:cNvSpPr>
            <a:spLocks noChangeShapeType="1"/>
          </p:cNvSpPr>
          <p:nvPr/>
        </p:nvSpPr>
        <p:spPr bwMode="auto">
          <a:xfrm>
            <a:off x="6096000" y="4800600"/>
            <a:ext cx="1905000" cy="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127068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433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34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1433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1433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1433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14339">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34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34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4339">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499"/>
                                          </p:stCondLst>
                                        </p:cTn>
                                        <p:tgtEl>
                                          <p:spTgt spid="1433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autoUpdateAnimBg="0"/>
      <p:bldP spid="14340" grpId="0" animBg="1"/>
      <p:bldP spid="14341" grpId="0" animBg="1"/>
      <p:bldP spid="14342"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1143000"/>
          </a:xfrm>
        </p:spPr>
        <p:txBody>
          <a:bodyPr/>
          <a:lstStyle/>
          <a:p>
            <a:pPr algn="l"/>
            <a:r>
              <a:rPr lang="en-US" sz="3200" b="1" dirty="0">
                <a:solidFill>
                  <a:schemeClr val="tx1"/>
                </a:solidFill>
              </a:rPr>
              <a:t>Now solve using H-H </a:t>
            </a:r>
            <a:r>
              <a:rPr lang="en-US" sz="3200" b="1" dirty="0" err="1">
                <a:solidFill>
                  <a:schemeClr val="tx1"/>
                </a:solidFill>
              </a:rPr>
              <a:t>equation:Ex</a:t>
            </a:r>
            <a:r>
              <a:rPr lang="en-US" sz="3200" b="1" dirty="0">
                <a:solidFill>
                  <a:schemeClr val="tx1"/>
                </a:solidFill>
              </a:rPr>
              <a:t>.  A solution is 0.120 </a:t>
            </a:r>
            <a:r>
              <a:rPr lang="en-US" sz="3200" b="1" i="1" dirty="0">
                <a:solidFill>
                  <a:schemeClr val="tx1"/>
                </a:solidFill>
              </a:rPr>
              <a:t>M</a:t>
            </a:r>
            <a:r>
              <a:rPr lang="en-US" sz="3200" b="1" dirty="0">
                <a:solidFill>
                  <a:schemeClr val="tx1"/>
                </a:solidFill>
              </a:rPr>
              <a:t> in acetic acid and 0.0900 </a:t>
            </a:r>
            <a:r>
              <a:rPr lang="en-US" sz="3200" b="1" i="1" dirty="0">
                <a:solidFill>
                  <a:schemeClr val="tx1"/>
                </a:solidFill>
              </a:rPr>
              <a:t>M</a:t>
            </a:r>
            <a:r>
              <a:rPr lang="en-US" sz="3200" b="1" dirty="0">
                <a:solidFill>
                  <a:schemeClr val="tx1"/>
                </a:solidFill>
              </a:rPr>
              <a:t> in sodium acetate.  Calculate the [H</a:t>
            </a:r>
            <a:r>
              <a:rPr lang="en-US" sz="3200" b="1" baseline="30000" dirty="0">
                <a:solidFill>
                  <a:schemeClr val="tx1"/>
                </a:solidFill>
              </a:rPr>
              <a:t>+</a:t>
            </a:r>
            <a:r>
              <a:rPr lang="en-US" sz="3200" b="1" dirty="0">
                <a:solidFill>
                  <a:schemeClr val="tx1"/>
                </a:solidFill>
              </a:rPr>
              <a:t>] at equilibrium.  The </a:t>
            </a:r>
            <a:r>
              <a:rPr lang="en-US" sz="3200" b="1" i="1" dirty="0" err="1">
                <a:solidFill>
                  <a:schemeClr val="tx1"/>
                </a:solidFill>
              </a:rPr>
              <a:t>K</a:t>
            </a:r>
            <a:r>
              <a:rPr lang="en-US" sz="3200" b="1" i="1" baseline="-25000" dirty="0" err="1">
                <a:solidFill>
                  <a:schemeClr val="tx1"/>
                </a:solidFill>
              </a:rPr>
              <a:t>a</a:t>
            </a:r>
            <a:r>
              <a:rPr lang="en-US" sz="3200" b="1" i="1" baseline="-25000" dirty="0">
                <a:solidFill>
                  <a:schemeClr val="tx1"/>
                </a:solidFill>
              </a:rPr>
              <a:t> </a:t>
            </a:r>
            <a:r>
              <a:rPr lang="en-US" sz="3200" b="1" dirty="0">
                <a:solidFill>
                  <a:schemeClr val="tx1"/>
                </a:solidFill>
              </a:rPr>
              <a:t>of acetic acid is 1.8</a:t>
            </a:r>
            <a:r>
              <a:rPr lang="en-US" sz="3200" b="1" dirty="0">
                <a:solidFill>
                  <a:schemeClr val="tx1"/>
                </a:solidFill>
                <a:cs typeface="Times New Roman" pitchFamily="18" charset="0"/>
              </a:rPr>
              <a:t>×</a:t>
            </a:r>
            <a:r>
              <a:rPr lang="en-US" sz="3200" b="1" dirty="0">
                <a:solidFill>
                  <a:schemeClr val="tx1"/>
                </a:solidFill>
              </a:rPr>
              <a:t>10</a:t>
            </a:r>
            <a:r>
              <a:rPr lang="en-US" sz="3200" b="1" baseline="30000" dirty="0">
                <a:solidFill>
                  <a:schemeClr val="tx1"/>
                </a:solidFill>
              </a:rPr>
              <a:t>-5</a:t>
            </a:r>
            <a:r>
              <a:rPr lang="en-US" sz="3200" b="1" dirty="0">
                <a:solidFill>
                  <a:schemeClr val="tx1"/>
                </a:solidFill>
              </a:rPr>
              <a:t>.</a:t>
            </a:r>
            <a:endParaRPr lang="en-US" sz="3200" dirty="0"/>
          </a:p>
        </p:txBody>
      </p:sp>
      <p:sp>
        <p:nvSpPr>
          <p:cNvPr id="3" name="Content Placeholder 2"/>
          <p:cNvSpPr>
            <a:spLocks noGrp="1"/>
          </p:cNvSpPr>
          <p:nvPr>
            <p:ph idx="1"/>
          </p:nvPr>
        </p:nvSpPr>
        <p:spPr/>
        <p:txBody>
          <a:bodyPr/>
          <a:lstStyle/>
          <a:p>
            <a:r>
              <a:rPr lang="en-US" dirty="0"/>
              <a:t>Using the Henderson-</a:t>
            </a:r>
            <a:r>
              <a:rPr lang="en-US" dirty="0" err="1"/>
              <a:t>Hasselbach</a:t>
            </a:r>
            <a:r>
              <a:rPr lang="en-US" dirty="0"/>
              <a:t> equation:</a:t>
            </a:r>
            <a:br>
              <a:rPr lang="en-US" dirty="0"/>
            </a:br>
            <a:br>
              <a:rPr lang="en-US" dirty="0"/>
            </a:br>
            <a:r>
              <a:rPr lang="en-US" dirty="0" err="1"/>
              <a:t>p</a:t>
            </a:r>
            <a:r>
              <a:rPr lang="en-US" i="1" dirty="0" err="1"/>
              <a:t>K</a:t>
            </a:r>
            <a:r>
              <a:rPr lang="en-US" i="1" baseline="-25000" dirty="0" err="1"/>
              <a:t>a</a:t>
            </a:r>
            <a:r>
              <a:rPr lang="en-US" dirty="0"/>
              <a:t> = </a:t>
            </a:r>
            <a:r>
              <a:rPr lang="en-US" dirty="0">
                <a:sym typeface="Symbol" pitchFamily="18" charset="2"/>
              </a:rPr>
              <a:t></a:t>
            </a:r>
            <a:r>
              <a:rPr lang="en-US" dirty="0"/>
              <a:t>log 1.8</a:t>
            </a:r>
            <a:r>
              <a:rPr lang="en-US" dirty="0">
                <a:cs typeface="Times New Roman" pitchFamily="18" charset="0"/>
              </a:rPr>
              <a:t>×</a:t>
            </a:r>
            <a:r>
              <a:rPr lang="en-US" dirty="0"/>
              <a:t>10</a:t>
            </a:r>
            <a:r>
              <a:rPr lang="en-US" baseline="30000" dirty="0">
                <a:sym typeface="Symbol" pitchFamily="18" charset="2"/>
              </a:rPr>
              <a:t></a:t>
            </a:r>
            <a:r>
              <a:rPr lang="en-US" baseline="30000" dirty="0"/>
              <a:t>5</a:t>
            </a:r>
            <a:r>
              <a:rPr lang="en-US" dirty="0"/>
              <a:t> = 4.74</a:t>
            </a:r>
            <a:br>
              <a:rPr lang="en-US" dirty="0"/>
            </a:br>
            <a:br>
              <a:rPr lang="en-US" dirty="0"/>
            </a:br>
            <a:r>
              <a:rPr lang="en-US" dirty="0"/>
              <a:t>pH = 4.74 + log (0.0900/0.120) = 4.62</a:t>
            </a:r>
            <a:br>
              <a:rPr lang="en-US" dirty="0"/>
            </a:br>
            <a:br>
              <a:rPr lang="en-US" dirty="0"/>
            </a:br>
            <a:r>
              <a:rPr lang="en-US" b="1" dirty="0"/>
              <a:t>[H</a:t>
            </a:r>
            <a:r>
              <a:rPr lang="en-US" b="1" baseline="30000" dirty="0"/>
              <a:t>+</a:t>
            </a:r>
            <a:r>
              <a:rPr lang="en-US" b="1" dirty="0"/>
              <a:t>] = 10</a:t>
            </a:r>
            <a:r>
              <a:rPr lang="en-US" b="1" baseline="30000" dirty="0"/>
              <a:t>(</a:t>
            </a:r>
            <a:r>
              <a:rPr lang="en-US" b="1" baseline="30000" dirty="0">
                <a:sym typeface="Symbol" pitchFamily="18" charset="2"/>
              </a:rPr>
              <a:t></a:t>
            </a:r>
            <a:r>
              <a:rPr lang="en-US" b="1" baseline="30000" dirty="0"/>
              <a:t>4.62) </a:t>
            </a:r>
            <a:r>
              <a:rPr lang="en-US" b="1" dirty="0"/>
              <a:t>= </a:t>
            </a:r>
            <a:r>
              <a:rPr lang="en-US" b="1" dirty="0">
                <a:solidFill>
                  <a:schemeClr val="accent2"/>
                </a:solidFill>
              </a:rPr>
              <a:t>2.4</a:t>
            </a:r>
            <a:r>
              <a:rPr lang="en-US" b="1" dirty="0">
                <a:solidFill>
                  <a:schemeClr val="accent2"/>
                </a:solidFill>
                <a:cs typeface="Times New Roman" pitchFamily="18" charset="0"/>
              </a:rPr>
              <a:t>×</a:t>
            </a:r>
            <a:r>
              <a:rPr lang="en-US" b="1" dirty="0">
                <a:solidFill>
                  <a:schemeClr val="accent2"/>
                </a:solidFill>
              </a:rPr>
              <a:t>10</a:t>
            </a:r>
            <a:r>
              <a:rPr lang="en-US" b="1" baseline="30000" dirty="0">
                <a:solidFill>
                  <a:schemeClr val="accent2"/>
                </a:solidFill>
                <a:sym typeface="Symbol" pitchFamily="18" charset="2"/>
              </a:rPr>
              <a:t></a:t>
            </a:r>
            <a:r>
              <a:rPr lang="en-US" b="1" baseline="30000" dirty="0">
                <a:solidFill>
                  <a:schemeClr val="accent2"/>
                </a:solidFill>
              </a:rPr>
              <a:t>5</a:t>
            </a:r>
            <a:br>
              <a:rPr lang="en-US" dirty="0"/>
            </a:br>
            <a:br>
              <a:rPr lang="en-US" dirty="0"/>
            </a:br>
            <a:br>
              <a:rPr lang="en-US" dirty="0"/>
            </a:br>
            <a:endParaRPr lang="en-US" dirty="0"/>
          </a:p>
        </p:txBody>
      </p:sp>
    </p:spTree>
    <p:extLst>
      <p:ext uri="{BB962C8B-B14F-4D97-AF65-F5344CB8AC3E}">
        <p14:creationId xmlns:p14="http://schemas.microsoft.com/office/powerpoint/2010/main" val="220398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457200" y="152400"/>
            <a:ext cx="11125200" cy="5943600"/>
          </a:xfrm>
        </p:spPr>
        <p:txBody>
          <a:bodyPr/>
          <a:lstStyle/>
          <a:p>
            <a:r>
              <a:rPr lang="en-US" altLang="en-US" sz="2800" dirty="0"/>
              <a:t>Calculate the pH of a solution that is 0.250 M in HCN and 0.170 M in KCN. For HCN, </a:t>
            </a:r>
            <a:r>
              <a:rPr lang="en-US" altLang="en-US" sz="2800" i="1" dirty="0" err="1"/>
              <a:t>K</a:t>
            </a:r>
            <a:r>
              <a:rPr lang="en-US" altLang="en-US" sz="2800" baseline="-25000" dirty="0" err="1"/>
              <a:t>a</a:t>
            </a:r>
            <a:r>
              <a:rPr lang="en-US" altLang="en-US" sz="2800" dirty="0"/>
              <a:t> = 4.9 × 10</a:t>
            </a:r>
            <a:r>
              <a:rPr lang="en-US" altLang="en-US" sz="2800" baseline="30000" dirty="0"/>
              <a:t>–10</a:t>
            </a:r>
            <a:r>
              <a:rPr lang="en-US" altLang="en-US" sz="2800" dirty="0"/>
              <a:t>. </a:t>
            </a:r>
          </a:p>
          <a:p>
            <a:r>
              <a:rPr lang="en-US" altLang="en-US" sz="2800" dirty="0"/>
              <a:t>Use either the equilibrium approach and the Henderson–</a:t>
            </a:r>
            <a:r>
              <a:rPr lang="en-US" altLang="en-US" sz="2800" dirty="0" err="1"/>
              <a:t>Hasselbach</a:t>
            </a:r>
            <a:r>
              <a:rPr lang="en-US" altLang="en-US" sz="2800" dirty="0"/>
              <a:t> approach.</a:t>
            </a:r>
            <a:endParaRPr lang="en-US" altLang="en-US" sz="2800" dirty="0">
              <a:solidFill>
                <a:srgbClr val="000000"/>
              </a:solidFill>
            </a:endParaRPr>
          </a:p>
          <a:p>
            <a:endParaRPr lang="en-US" dirty="0"/>
          </a:p>
        </p:txBody>
      </p:sp>
    </p:spTree>
    <p:extLst>
      <p:ext uri="{BB962C8B-B14F-4D97-AF65-F5344CB8AC3E}">
        <p14:creationId xmlns:p14="http://schemas.microsoft.com/office/powerpoint/2010/main" val="6432649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457200" y="152400"/>
            <a:ext cx="11125200" cy="5943600"/>
          </a:xfrm>
        </p:spPr>
        <p:txBody>
          <a:bodyPr/>
          <a:lstStyle/>
          <a:p>
            <a:r>
              <a:rPr lang="en-US" altLang="en-US" sz="2800" dirty="0"/>
              <a:t>Calculate the pH of a solution that is 0.250 M in HCN and 0.170 M in KCN. For HCN, </a:t>
            </a:r>
            <a:r>
              <a:rPr lang="en-US" altLang="en-US" sz="2800" i="1" dirty="0" err="1"/>
              <a:t>K</a:t>
            </a:r>
            <a:r>
              <a:rPr lang="en-US" altLang="en-US" sz="2800" baseline="-25000" dirty="0" err="1"/>
              <a:t>a</a:t>
            </a:r>
            <a:r>
              <a:rPr lang="en-US" altLang="en-US" sz="2800" dirty="0"/>
              <a:t> = 4.9 × 10</a:t>
            </a:r>
            <a:r>
              <a:rPr lang="en-US" altLang="en-US" sz="2800" baseline="30000" dirty="0"/>
              <a:t>–10</a:t>
            </a:r>
            <a:r>
              <a:rPr lang="en-US" altLang="en-US" sz="2800" dirty="0"/>
              <a:t>. </a:t>
            </a:r>
          </a:p>
          <a:p>
            <a:r>
              <a:rPr lang="en-US" altLang="en-US" sz="2800" dirty="0"/>
              <a:t>Use either the equilibrium approach and the Henderson–</a:t>
            </a:r>
            <a:r>
              <a:rPr lang="en-US" altLang="en-US" sz="2800" dirty="0" err="1"/>
              <a:t>Hasselbach</a:t>
            </a:r>
            <a:r>
              <a:rPr lang="en-US" altLang="en-US" sz="2800" dirty="0"/>
              <a:t> approach.</a:t>
            </a:r>
          </a:p>
          <a:p>
            <a:r>
              <a:rPr lang="en-US" altLang="en-US" sz="2800" dirty="0">
                <a:solidFill>
                  <a:srgbClr val="000000"/>
                </a:solidFill>
              </a:rPr>
              <a:t>Follow up: A strong base is added to the buffer solution.</a:t>
            </a:r>
          </a:p>
          <a:p>
            <a:pPr lvl="1"/>
            <a:r>
              <a:rPr lang="en-US" altLang="en-US" sz="2400" dirty="0">
                <a:solidFill>
                  <a:srgbClr val="000000"/>
                </a:solidFill>
              </a:rPr>
              <a:t>Write an equation showing the addition of the base to the buffer. Predict whether the pH will increase, decrease or stay the same.</a:t>
            </a:r>
          </a:p>
          <a:p>
            <a:endParaRPr lang="en-US" dirty="0"/>
          </a:p>
        </p:txBody>
      </p:sp>
    </p:spTree>
    <p:extLst>
      <p:ext uri="{BB962C8B-B14F-4D97-AF65-F5344CB8AC3E}">
        <p14:creationId xmlns:p14="http://schemas.microsoft.com/office/powerpoint/2010/main" val="29437431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0"/>
            <a:ext cx="4343400" cy="1555652"/>
          </a:xfrm>
        </p:spPr>
        <p:txBody>
          <a:bodyPr>
            <a:noAutofit/>
          </a:bodyPr>
          <a:lstStyle/>
          <a:p>
            <a:pPr algn="r">
              <a:spcBef>
                <a:spcPts val="0"/>
              </a:spcBef>
            </a:pPr>
            <a:r>
              <a:rPr lang="en-US" dirty="0">
                <a:solidFill>
                  <a:schemeClr val="bg1"/>
                </a:solidFill>
              </a:rPr>
              <a:t>8.5 Acid Base Titrations</a:t>
            </a:r>
          </a:p>
          <a:p>
            <a:pPr algn="r">
              <a:spcBef>
                <a:spcPts val="0"/>
              </a:spcBef>
            </a:pPr>
            <a:r>
              <a:rPr lang="en-US" dirty="0">
                <a:solidFill>
                  <a:schemeClr val="bg1"/>
                </a:solidFill>
              </a:rPr>
              <a:t>8.7 pH and </a:t>
            </a:r>
            <a:r>
              <a:rPr lang="en-US">
                <a:solidFill>
                  <a:schemeClr val="bg1"/>
                </a:solidFill>
              </a:rPr>
              <a:t>pKa</a:t>
            </a:r>
            <a:endParaRPr lang="en-US" dirty="0">
              <a:solidFill>
                <a:schemeClr val="bg1"/>
              </a:solidFill>
            </a:endParaRPr>
          </a:p>
        </p:txBody>
      </p:sp>
      <p:sp>
        <p:nvSpPr>
          <p:cNvPr id="6" name="Title 1">
            <a:extLst>
              <a:ext uri="{FF2B5EF4-FFF2-40B4-BE49-F238E27FC236}">
                <a16:creationId xmlns:a16="http://schemas.microsoft.com/office/drawing/2014/main" id="{5C1F9576-3220-49C4-97CB-36DEF7A3EA98}"/>
              </a:ext>
            </a:extLst>
          </p:cNvPr>
          <p:cNvSpPr txBox="1">
            <a:spLocks/>
          </p:cNvSpPr>
          <p:nvPr/>
        </p:nvSpPr>
        <p:spPr bwMode="auto">
          <a:xfrm>
            <a:off x="11048999" y="0"/>
            <a:ext cx="1140655" cy="6858000"/>
          </a:xfrm>
          <a:prstGeom prst="rect">
            <a:avLst/>
          </a:prstGeom>
          <a:noFill/>
          <a:ln w="9525">
            <a:noFill/>
            <a:miter lim="800000"/>
            <a:headEnd/>
            <a:tailEnd/>
          </a:ln>
        </p:spPr>
        <p:txBody>
          <a:bodyPr vert="vert"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algn="r"/>
            <a:r>
              <a:rPr lang="en-US" sz="5000" b="1" kern="0" dirty="0">
                <a:solidFill>
                  <a:schemeClr val="bg1"/>
                </a:solidFill>
                <a:effectLst>
                  <a:outerShdw blurRad="38100" dist="38100" dir="2700000" algn="tl">
                    <a:srgbClr val="000000">
                      <a:alpha val="43137"/>
                    </a:srgbClr>
                  </a:outerShdw>
                </a:effectLst>
              </a:rPr>
              <a:t>Unit 7: Acids and Bases</a:t>
            </a:r>
          </a:p>
        </p:txBody>
      </p:sp>
    </p:spTree>
    <p:extLst>
      <p:ext uri="{BB962C8B-B14F-4D97-AF65-F5344CB8AC3E}">
        <p14:creationId xmlns:p14="http://schemas.microsoft.com/office/powerpoint/2010/main" val="6819826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343400" y="2819400"/>
            <a:ext cx="7772400" cy="1143000"/>
          </a:xfrm>
        </p:spPr>
        <p:txBody>
          <a:bodyPr/>
          <a:lstStyle/>
          <a:p>
            <a:r>
              <a:rPr lang="en-US" sz="7200" b="1">
                <a:solidFill>
                  <a:schemeClr val="tx1"/>
                </a:solidFill>
              </a:rPr>
              <a:t>Acid-Base Titrations</a:t>
            </a:r>
            <a:br>
              <a:rPr lang="en-US">
                <a:solidFill>
                  <a:schemeClr val="tx1"/>
                </a:solidFill>
              </a:rPr>
            </a:br>
            <a:endParaRPr lang="en-US">
              <a:solidFill>
                <a:schemeClr val="tx1"/>
              </a:solidFill>
            </a:endParaRPr>
          </a:p>
        </p:txBody>
      </p:sp>
      <p:pic>
        <p:nvPicPr>
          <p:cNvPr id="18435" name="Picture 4" descr="http://water.me.vccs.edu/courses/ENV295Labs/changes/titration.gif"/>
          <p:cNvPicPr>
            <a:picLocks noChangeAspect="1" noChangeArrowheads="1"/>
          </p:cNvPicPr>
          <p:nvPr/>
        </p:nvPicPr>
        <p:blipFill>
          <a:blip r:embed="rId3" cstate="print"/>
          <a:srcRect/>
          <a:stretch>
            <a:fillRect/>
          </a:stretch>
        </p:blipFill>
        <p:spPr bwMode="auto">
          <a:xfrm>
            <a:off x="1524001" y="152400"/>
            <a:ext cx="4175125" cy="6770688"/>
          </a:xfrm>
          <a:prstGeom prst="rect">
            <a:avLst/>
          </a:prstGeom>
          <a:noFill/>
          <a:ln w="9525">
            <a:noFill/>
            <a:miter lim="800000"/>
            <a:headEnd/>
            <a:tailEnd/>
          </a:ln>
        </p:spPr>
      </p:pic>
    </p:spTree>
    <p:extLst>
      <p:ext uri="{BB962C8B-B14F-4D97-AF65-F5344CB8AC3E}">
        <p14:creationId xmlns:p14="http://schemas.microsoft.com/office/powerpoint/2010/main" val="356462646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914400" y="34834"/>
            <a:ext cx="10363200" cy="1143000"/>
          </a:xfrm>
        </p:spPr>
        <p:txBody>
          <a:bodyPr/>
          <a:lstStyle/>
          <a:p>
            <a:r>
              <a:rPr lang="en-US" dirty="0"/>
              <a:t>Neutralization </a:t>
            </a:r>
            <a:r>
              <a:rPr lang="en-US" dirty="0" err="1"/>
              <a:t>Rxns</a:t>
            </a:r>
            <a:endParaRPr lang="en-US" dirty="0"/>
          </a:p>
        </p:txBody>
      </p:sp>
      <p:sp>
        <p:nvSpPr>
          <p:cNvPr id="4" name="Content Placeholder 3"/>
          <p:cNvSpPr>
            <a:spLocks noGrp="1"/>
          </p:cNvSpPr>
          <p:nvPr>
            <p:ph idx="1"/>
          </p:nvPr>
        </p:nvSpPr>
        <p:spPr>
          <a:xfrm>
            <a:off x="914400" y="1295400"/>
            <a:ext cx="10363200" cy="4800600"/>
          </a:xfrm>
        </p:spPr>
        <p:txBody>
          <a:bodyPr/>
          <a:lstStyle/>
          <a:p>
            <a:pPr marL="0" indent="0">
              <a:buNone/>
            </a:pPr>
            <a:r>
              <a:rPr lang="en-US" dirty="0"/>
              <a:t>Predict the products, determine if pH &lt;7, &gt;7, =7 at completion (</a:t>
            </a:r>
            <a:r>
              <a:rPr lang="en-US" sz="2400" dirty="0"/>
              <a:t>careful! Notice the arrow! Acid + Base has a LARGE K value!):</a:t>
            </a:r>
            <a:endParaRPr lang="en-US" dirty="0"/>
          </a:p>
          <a:p>
            <a:r>
              <a:rPr lang="en-US" dirty="0" err="1"/>
              <a:t>NaOH</a:t>
            </a:r>
            <a:r>
              <a:rPr lang="en-US" dirty="0"/>
              <a:t> + </a:t>
            </a:r>
            <a:r>
              <a:rPr lang="en-US" dirty="0" err="1"/>
              <a:t>HCl</a:t>
            </a:r>
            <a:r>
              <a:rPr lang="en-US" dirty="0"/>
              <a:t> </a:t>
            </a:r>
            <a:r>
              <a:rPr lang="en-US" dirty="0">
                <a:sym typeface="Wingdings" panose="05000000000000000000" pitchFamily="2" charset="2"/>
              </a:rPr>
              <a:t></a:t>
            </a:r>
          </a:p>
          <a:p>
            <a:r>
              <a:rPr lang="en-US" dirty="0" err="1">
                <a:sym typeface="Wingdings" panose="05000000000000000000" pitchFamily="2" charset="2"/>
              </a:rPr>
              <a:t>NaOH</a:t>
            </a:r>
            <a:r>
              <a:rPr lang="en-US" dirty="0">
                <a:sym typeface="Wingdings" panose="05000000000000000000" pitchFamily="2" charset="2"/>
              </a:rPr>
              <a:t> + H</a:t>
            </a:r>
            <a:r>
              <a:rPr lang="en-US" baseline="-25000" dirty="0">
                <a:sym typeface="Wingdings" panose="05000000000000000000" pitchFamily="2" charset="2"/>
              </a:rPr>
              <a:t>2</a:t>
            </a:r>
            <a:r>
              <a:rPr lang="en-US" dirty="0">
                <a:sym typeface="Wingdings" panose="05000000000000000000" pitchFamily="2" charset="2"/>
              </a:rPr>
              <a:t>SO</a:t>
            </a:r>
            <a:r>
              <a:rPr lang="en-US" baseline="-25000" dirty="0">
                <a:sym typeface="Wingdings" panose="05000000000000000000" pitchFamily="2" charset="2"/>
              </a:rPr>
              <a:t>4</a:t>
            </a:r>
            <a:r>
              <a:rPr lang="en-US" dirty="0">
                <a:sym typeface="Wingdings" panose="05000000000000000000" pitchFamily="2" charset="2"/>
              </a:rPr>
              <a:t> </a:t>
            </a:r>
          </a:p>
          <a:p>
            <a:r>
              <a:rPr lang="en-US" dirty="0">
                <a:sym typeface="Wingdings" panose="05000000000000000000" pitchFamily="2" charset="2"/>
              </a:rPr>
              <a:t>NH</a:t>
            </a:r>
            <a:r>
              <a:rPr lang="en-US" baseline="-25000" dirty="0">
                <a:sym typeface="Wingdings" panose="05000000000000000000" pitchFamily="2" charset="2"/>
              </a:rPr>
              <a:t>3</a:t>
            </a:r>
            <a:r>
              <a:rPr lang="en-US" dirty="0">
                <a:sym typeface="Wingdings" panose="05000000000000000000" pitchFamily="2" charset="2"/>
              </a:rPr>
              <a:t> + HI </a:t>
            </a:r>
          </a:p>
          <a:p>
            <a:r>
              <a:rPr lang="en-US" dirty="0">
                <a:sym typeface="Wingdings" panose="05000000000000000000" pitchFamily="2" charset="2"/>
              </a:rPr>
              <a:t>KOH + HC</a:t>
            </a:r>
            <a:r>
              <a:rPr lang="en-US" baseline="-25000" dirty="0">
                <a:sym typeface="Wingdings" panose="05000000000000000000" pitchFamily="2" charset="2"/>
              </a:rPr>
              <a:t>2</a:t>
            </a:r>
            <a:r>
              <a:rPr lang="en-US" dirty="0">
                <a:sym typeface="Wingdings" panose="05000000000000000000" pitchFamily="2" charset="2"/>
              </a:rPr>
              <a:t>H</a:t>
            </a:r>
            <a:r>
              <a:rPr lang="en-US" baseline="-25000" dirty="0">
                <a:sym typeface="Wingdings" panose="05000000000000000000" pitchFamily="2" charset="2"/>
              </a:rPr>
              <a:t>3</a:t>
            </a:r>
            <a:r>
              <a:rPr lang="en-US" dirty="0">
                <a:sym typeface="Wingdings" panose="05000000000000000000" pitchFamily="2" charset="2"/>
              </a:rPr>
              <a:t>O</a:t>
            </a:r>
            <a:r>
              <a:rPr lang="en-US" baseline="-25000" dirty="0">
                <a:sym typeface="Wingdings" panose="05000000000000000000" pitchFamily="2" charset="2"/>
              </a:rPr>
              <a:t>2</a:t>
            </a:r>
            <a:r>
              <a:rPr lang="en-US" dirty="0">
                <a:sym typeface="Wingdings" panose="05000000000000000000" pitchFamily="2" charset="2"/>
              </a:rPr>
              <a:t>  </a:t>
            </a:r>
          </a:p>
          <a:p>
            <a:r>
              <a:rPr lang="en-US" dirty="0" err="1">
                <a:sym typeface="Wingdings" panose="05000000000000000000" pitchFamily="2" charset="2"/>
              </a:rPr>
              <a:t>NaOH</a:t>
            </a:r>
            <a:r>
              <a:rPr lang="en-US" dirty="0">
                <a:sym typeface="Wingdings" panose="05000000000000000000" pitchFamily="2" charset="2"/>
              </a:rPr>
              <a:t> + H</a:t>
            </a:r>
            <a:r>
              <a:rPr lang="en-US" baseline="-25000" dirty="0">
                <a:sym typeface="Wingdings" panose="05000000000000000000" pitchFamily="2" charset="2"/>
              </a:rPr>
              <a:t>3</a:t>
            </a:r>
            <a:r>
              <a:rPr lang="en-US" dirty="0">
                <a:sym typeface="Wingdings" panose="05000000000000000000" pitchFamily="2" charset="2"/>
              </a:rPr>
              <a:t>PO</a:t>
            </a:r>
            <a:r>
              <a:rPr lang="en-US" baseline="-25000" dirty="0">
                <a:sym typeface="Wingdings" panose="05000000000000000000" pitchFamily="2" charset="2"/>
              </a:rPr>
              <a:t>4</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12034744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914400" y="76200"/>
            <a:ext cx="10363200" cy="457200"/>
          </a:xfrm>
        </p:spPr>
        <p:txBody>
          <a:bodyPr/>
          <a:lstStyle/>
          <a:p>
            <a:r>
              <a:rPr lang="en-US" sz="3200" dirty="0">
                <a:solidFill>
                  <a:schemeClr val="tx1"/>
                </a:solidFill>
              </a:rPr>
              <a:t>Titrant and </a:t>
            </a:r>
            <a:r>
              <a:rPr lang="en-US" sz="3200" dirty="0" err="1">
                <a:solidFill>
                  <a:schemeClr val="tx1"/>
                </a:solidFill>
              </a:rPr>
              <a:t>Analyte</a:t>
            </a:r>
            <a:endParaRPr lang="en-US" sz="3200" dirty="0">
              <a:solidFill>
                <a:schemeClr val="tx1"/>
              </a:solidFill>
            </a:endParaRPr>
          </a:p>
        </p:txBody>
      </p:sp>
      <p:sp>
        <p:nvSpPr>
          <p:cNvPr id="2" name="Content Placeholder 1"/>
          <p:cNvSpPr>
            <a:spLocks noGrp="1"/>
          </p:cNvSpPr>
          <p:nvPr>
            <p:ph idx="1"/>
          </p:nvPr>
        </p:nvSpPr>
        <p:spPr>
          <a:xfrm>
            <a:off x="381000" y="609600"/>
            <a:ext cx="11430000" cy="5486400"/>
          </a:xfrm>
        </p:spPr>
        <p:txBody>
          <a:bodyPr/>
          <a:lstStyle/>
          <a:p>
            <a:r>
              <a:rPr lang="en-US" sz="2800" b="1" u="sng" dirty="0"/>
              <a:t>titrant</a:t>
            </a:r>
            <a:r>
              <a:rPr lang="en-US" sz="2800" dirty="0"/>
              <a:t>-solution of known concentration (in </a:t>
            </a:r>
            <a:r>
              <a:rPr lang="en-US" sz="2800" dirty="0" err="1"/>
              <a:t>buret</a:t>
            </a:r>
            <a:r>
              <a:rPr lang="en-US" sz="2800" dirty="0"/>
              <a:t>)</a:t>
            </a:r>
          </a:p>
          <a:p>
            <a:r>
              <a:rPr lang="en-US" sz="2800" dirty="0"/>
              <a:t>The titrant is added to a solution of unknown concentration (</a:t>
            </a:r>
            <a:r>
              <a:rPr lang="en-US" sz="2800" b="1" dirty="0" err="1"/>
              <a:t>analyte</a:t>
            </a:r>
            <a:r>
              <a:rPr lang="en-US" sz="2800" dirty="0"/>
              <a:t>) until the substance being analyzed is just consumed (stoichiometric point or </a:t>
            </a:r>
            <a:r>
              <a:rPr lang="en-US" sz="2800" b="1" dirty="0"/>
              <a:t>equivalence point</a:t>
            </a:r>
            <a:r>
              <a:rPr lang="en-US" sz="2800" dirty="0"/>
              <a:t>).</a:t>
            </a:r>
          </a:p>
          <a:p>
            <a:r>
              <a:rPr lang="en-US" sz="2800" dirty="0"/>
              <a:t>The equivalence point is where the moles of titrant is just enough to completely neutralize the moles of </a:t>
            </a:r>
            <a:r>
              <a:rPr lang="en-US" sz="2800" dirty="0" err="1"/>
              <a:t>analyte</a:t>
            </a:r>
            <a:r>
              <a:rPr lang="en-US" sz="2800" dirty="0"/>
              <a:t> </a:t>
            </a:r>
          </a:p>
          <a:p>
            <a:r>
              <a:rPr lang="en-US" sz="2800" dirty="0"/>
              <a:t>In a titration, the data collected can include initial and final volume of the titrant, molarity of the titrant, and the volume of the </a:t>
            </a:r>
            <a:r>
              <a:rPr lang="en-US" sz="2800" dirty="0" err="1"/>
              <a:t>analyte</a:t>
            </a:r>
            <a:r>
              <a:rPr lang="en-US" sz="2800" dirty="0"/>
              <a:t>.</a:t>
            </a:r>
          </a:p>
          <a:p>
            <a:pPr marL="0" indent="0">
              <a:buNone/>
            </a:pPr>
            <a:endParaRPr lang="en-US" sz="2800" dirty="0"/>
          </a:p>
        </p:txBody>
      </p:sp>
    </p:spTree>
    <p:extLst>
      <p:ext uri="{BB962C8B-B14F-4D97-AF65-F5344CB8AC3E}">
        <p14:creationId xmlns:p14="http://schemas.microsoft.com/office/powerpoint/2010/main" val="1299429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76200"/>
            <a:ext cx="11277600" cy="6019800"/>
          </a:xfrm>
        </p:spPr>
        <p:txBody>
          <a:bodyPr/>
          <a:lstStyle/>
          <a:p>
            <a:pPr marL="0" indent="0">
              <a:buNone/>
            </a:pPr>
            <a:r>
              <a:rPr lang="en-US" sz="2800" dirty="0"/>
              <a:t>Practice: The titration of  25.00 mL of acid HA was performed with a 0.550 M solution of </a:t>
            </a:r>
            <a:r>
              <a:rPr lang="en-US" sz="2800" dirty="0" err="1"/>
              <a:t>NaOH</a:t>
            </a:r>
            <a:r>
              <a:rPr lang="en-US" sz="2800" dirty="0"/>
              <a:t>. The </a:t>
            </a:r>
            <a:r>
              <a:rPr lang="en-US" sz="2800" dirty="0" err="1"/>
              <a:t>buret</a:t>
            </a:r>
            <a:r>
              <a:rPr lang="en-US" sz="2800" dirty="0"/>
              <a:t> initially read 1.25 mL and showed a final volume of 24.76 </a:t>
            </a:r>
            <a:r>
              <a:rPr lang="en-US" sz="2800" dirty="0" err="1"/>
              <a:t>mL.</a:t>
            </a:r>
            <a:r>
              <a:rPr lang="en-US" sz="2800" dirty="0"/>
              <a:t> </a:t>
            </a:r>
          </a:p>
          <a:p>
            <a:r>
              <a:rPr lang="en-US" sz="2400" dirty="0"/>
              <a:t>What is the titrant and what is the </a:t>
            </a:r>
            <a:r>
              <a:rPr lang="en-US" sz="2400" dirty="0" err="1"/>
              <a:t>analyte</a:t>
            </a:r>
            <a:r>
              <a:rPr lang="en-US" sz="2400" dirty="0"/>
              <a:t>?</a:t>
            </a:r>
          </a:p>
          <a:p>
            <a:r>
              <a:rPr lang="en-US" sz="2400" dirty="0"/>
              <a:t>Calculate the concentration of the acid.</a:t>
            </a:r>
          </a:p>
          <a:p>
            <a:endParaRPr lang="en-US" dirty="0"/>
          </a:p>
        </p:txBody>
      </p:sp>
    </p:spTree>
    <p:extLst>
      <p:ext uri="{BB962C8B-B14F-4D97-AF65-F5344CB8AC3E}">
        <p14:creationId xmlns:p14="http://schemas.microsoft.com/office/powerpoint/2010/main" val="323938329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026"/>
          <p:cNvSpPr>
            <a:spLocks noGrp="1" noChangeArrowheads="1"/>
          </p:cNvSpPr>
          <p:nvPr>
            <p:ph type="title"/>
          </p:nvPr>
        </p:nvSpPr>
        <p:spPr>
          <a:xfrm>
            <a:off x="924098" y="27709"/>
            <a:ext cx="10363200" cy="1143000"/>
          </a:xfrm>
        </p:spPr>
        <p:txBody>
          <a:bodyPr/>
          <a:lstStyle/>
          <a:p>
            <a:r>
              <a:rPr lang="en-US" sz="3600" dirty="0">
                <a:solidFill>
                  <a:schemeClr val="tx1"/>
                </a:solidFill>
              </a:rPr>
              <a:t>The progress of a Neutralization Reaction is commonly charted on a pH or Titration Curve</a:t>
            </a:r>
          </a:p>
        </p:txBody>
      </p:sp>
      <p:sp>
        <p:nvSpPr>
          <p:cNvPr id="2" name="Content Placeholder 1"/>
          <p:cNvSpPr>
            <a:spLocks noGrp="1"/>
          </p:cNvSpPr>
          <p:nvPr>
            <p:ph idx="1"/>
          </p:nvPr>
        </p:nvSpPr>
        <p:spPr>
          <a:xfrm>
            <a:off x="304800" y="1295400"/>
            <a:ext cx="8753302" cy="4800600"/>
          </a:xfrm>
        </p:spPr>
        <p:txBody>
          <a:bodyPr/>
          <a:lstStyle/>
          <a:p>
            <a:r>
              <a:rPr lang="en-US" b="1" u="sng" dirty="0"/>
              <a:t>pH or titration curve</a:t>
            </a:r>
            <a:r>
              <a:rPr lang="en-US" dirty="0"/>
              <a:t> -plot of pH as a function of the amount of titrant added.</a:t>
            </a:r>
          </a:p>
          <a:p>
            <a:r>
              <a:rPr lang="en-US" sz="3600" dirty="0"/>
              <a:t>The </a:t>
            </a:r>
            <a:r>
              <a:rPr lang="en-US" sz="3600" i="1" dirty="0"/>
              <a:t>x</a:t>
            </a:r>
            <a:r>
              <a:rPr lang="en-US" sz="3600" dirty="0"/>
              <a:t> axis represents </a:t>
            </a:r>
            <a:r>
              <a:rPr lang="en-US" sz="3600" dirty="0">
                <a:solidFill>
                  <a:srgbClr val="FF0000"/>
                </a:solidFill>
              </a:rPr>
              <a:t>mL of titrant added</a:t>
            </a:r>
          </a:p>
          <a:p>
            <a:r>
              <a:rPr lang="en-US" sz="3600" dirty="0"/>
              <a:t>The </a:t>
            </a:r>
            <a:r>
              <a:rPr lang="en-US" sz="3600" i="1" dirty="0"/>
              <a:t>y</a:t>
            </a:r>
            <a:r>
              <a:rPr lang="en-US" sz="3600" dirty="0"/>
              <a:t> axis represents </a:t>
            </a:r>
            <a:r>
              <a:rPr lang="en-US" sz="3600" dirty="0">
                <a:solidFill>
                  <a:srgbClr val="FF0000"/>
                </a:solidFill>
              </a:rPr>
              <a:t>pH of the solution </a:t>
            </a:r>
          </a:p>
          <a:p>
            <a:r>
              <a:rPr lang="en-US" sz="3600" dirty="0"/>
              <a:t>The equivalence point is the </a:t>
            </a:r>
            <a:r>
              <a:rPr lang="en-US" sz="3600" dirty="0">
                <a:solidFill>
                  <a:srgbClr val="FF0000"/>
                </a:solidFill>
              </a:rPr>
              <a:t>center</a:t>
            </a:r>
            <a:r>
              <a:rPr lang="en-US" sz="3600" dirty="0"/>
              <a:t> of the </a:t>
            </a:r>
            <a:r>
              <a:rPr lang="en-US" sz="3600" dirty="0">
                <a:solidFill>
                  <a:srgbClr val="FF0000"/>
                </a:solidFill>
              </a:rPr>
              <a:t>steepest</a:t>
            </a:r>
            <a:r>
              <a:rPr lang="en-US" sz="3600" dirty="0"/>
              <a:t> section of the curve</a:t>
            </a:r>
          </a:p>
          <a:p>
            <a:endParaRPr lang="en-US" dirty="0"/>
          </a:p>
        </p:txBody>
      </p:sp>
      <p:pic>
        <p:nvPicPr>
          <p:cNvPr id="20483" name="Picture 1027" descr="fig15_01"/>
          <p:cNvPicPr>
            <a:picLocks noChangeAspect="1" noChangeArrowheads="1"/>
          </p:cNvPicPr>
          <p:nvPr/>
        </p:nvPicPr>
        <p:blipFill>
          <a:blip r:embed="rId3" cstate="print"/>
          <a:srcRect/>
          <a:stretch>
            <a:fillRect/>
          </a:stretch>
        </p:blipFill>
        <p:spPr bwMode="auto">
          <a:xfrm>
            <a:off x="8610600" y="3321649"/>
            <a:ext cx="3581400" cy="3536351"/>
          </a:xfrm>
          <a:prstGeom prst="rect">
            <a:avLst/>
          </a:prstGeom>
          <a:noFill/>
          <a:ln w="9525">
            <a:noFill/>
            <a:miter lim="800000"/>
            <a:headEnd/>
            <a:tailEnd/>
          </a:ln>
        </p:spPr>
      </p:pic>
    </p:spTree>
    <p:extLst>
      <p:ext uri="{BB962C8B-B14F-4D97-AF65-F5344CB8AC3E}">
        <p14:creationId xmlns:p14="http://schemas.microsoft.com/office/powerpoint/2010/main" val="25767810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914400" y="0"/>
            <a:ext cx="10363200" cy="685800"/>
          </a:xfrm>
        </p:spPr>
        <p:txBody>
          <a:bodyPr/>
          <a:lstStyle/>
          <a:p>
            <a:r>
              <a:rPr lang="en-US" b="1" dirty="0">
                <a:solidFill>
                  <a:schemeClr val="tx1"/>
                </a:solidFill>
              </a:rPr>
              <a:t>Simplest Curve: Strong acid-strong base</a:t>
            </a:r>
            <a:endParaRPr lang="en-US" dirty="0">
              <a:solidFill>
                <a:schemeClr val="tx1"/>
              </a:solidFill>
            </a:endParaRPr>
          </a:p>
        </p:txBody>
      </p:sp>
      <p:sp>
        <p:nvSpPr>
          <p:cNvPr id="2" name="Content Placeholder 1"/>
          <p:cNvSpPr>
            <a:spLocks noGrp="1"/>
          </p:cNvSpPr>
          <p:nvPr>
            <p:ph idx="1"/>
          </p:nvPr>
        </p:nvSpPr>
        <p:spPr>
          <a:xfrm>
            <a:off x="914400" y="1219200"/>
            <a:ext cx="6781800" cy="4876800"/>
          </a:xfrm>
        </p:spPr>
        <p:txBody>
          <a:bodyPr/>
          <a:lstStyle/>
          <a:p>
            <a:r>
              <a:rPr lang="en-US" dirty="0"/>
              <a:t>Simple reaction   H</a:t>
            </a:r>
            <a:r>
              <a:rPr lang="en-US" baseline="30000" dirty="0"/>
              <a:t>+</a:t>
            </a:r>
            <a:r>
              <a:rPr lang="en-US" dirty="0"/>
              <a:t> + OH</a:t>
            </a:r>
            <a:r>
              <a:rPr lang="en-US" baseline="30000" dirty="0">
                <a:sym typeface="Symbol" pitchFamily="18" charset="2"/>
              </a:rPr>
              <a:t></a:t>
            </a:r>
            <a:r>
              <a:rPr lang="en-US" dirty="0"/>
              <a:t> </a:t>
            </a:r>
            <a:r>
              <a:rPr lang="en-US" noProof="1">
                <a:sym typeface="Wingdings" pitchFamily="2" charset="2"/>
              </a:rPr>
              <a:t></a:t>
            </a:r>
            <a:r>
              <a:rPr lang="en-US" dirty="0"/>
              <a:t> H</a:t>
            </a:r>
            <a:r>
              <a:rPr lang="en-US" baseline="-25000" dirty="0"/>
              <a:t>2</a:t>
            </a:r>
            <a:r>
              <a:rPr lang="en-US" dirty="0"/>
              <a:t>O</a:t>
            </a:r>
          </a:p>
          <a:p>
            <a:endParaRPr lang="en-US" dirty="0"/>
          </a:p>
          <a:p>
            <a:r>
              <a:rPr lang="en-US" dirty="0"/>
              <a:t>The pH is easy to calculate because all reactions go to completion.  </a:t>
            </a:r>
            <a:br>
              <a:rPr lang="en-US" dirty="0"/>
            </a:br>
            <a:endParaRPr lang="en-US" dirty="0"/>
          </a:p>
          <a:p>
            <a:r>
              <a:rPr lang="en-US" dirty="0"/>
              <a:t>At the equivalence point, the solution is </a:t>
            </a:r>
            <a:r>
              <a:rPr lang="en-US" dirty="0">
                <a:solidFill>
                  <a:srgbClr val="FF0000"/>
                </a:solidFill>
              </a:rPr>
              <a:t>neutral</a:t>
            </a:r>
            <a:r>
              <a:rPr lang="en-US" dirty="0"/>
              <a:t>, pH is </a:t>
            </a:r>
            <a:r>
              <a:rPr lang="en-US" dirty="0">
                <a:solidFill>
                  <a:srgbClr val="FF0000"/>
                </a:solidFill>
              </a:rPr>
              <a:t>7</a:t>
            </a:r>
            <a:r>
              <a:rPr lang="en-US" dirty="0"/>
              <a:t>.</a:t>
            </a:r>
            <a:br>
              <a:rPr lang="en-US" dirty="0"/>
            </a:br>
            <a:br>
              <a:rPr lang="en-US" dirty="0"/>
            </a:br>
            <a:endParaRPr lang="en-US" dirty="0"/>
          </a:p>
        </p:txBody>
      </p:sp>
      <p:pic>
        <p:nvPicPr>
          <p:cNvPr id="3" name="Picture 2"/>
          <p:cNvPicPr>
            <a:picLocks noChangeAspect="1"/>
          </p:cNvPicPr>
          <p:nvPr/>
        </p:nvPicPr>
        <p:blipFill>
          <a:blip r:embed="rId3"/>
          <a:stretch>
            <a:fillRect/>
          </a:stretch>
        </p:blipFill>
        <p:spPr>
          <a:xfrm>
            <a:off x="7905552" y="2438400"/>
            <a:ext cx="4286448" cy="4419600"/>
          </a:xfrm>
          <a:prstGeom prst="rect">
            <a:avLst/>
          </a:prstGeom>
        </p:spPr>
      </p:pic>
    </p:spTree>
    <p:extLst>
      <p:ext uri="{BB962C8B-B14F-4D97-AF65-F5344CB8AC3E}">
        <p14:creationId xmlns:p14="http://schemas.microsoft.com/office/powerpoint/2010/main" val="65667887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1027"/>
          <p:cNvSpPr>
            <a:spLocks noChangeArrowheads="1"/>
          </p:cNvSpPr>
          <p:nvPr/>
        </p:nvSpPr>
        <p:spPr bwMode="auto">
          <a:xfrm>
            <a:off x="228600" y="337517"/>
            <a:ext cx="6858000" cy="4401205"/>
          </a:xfrm>
          <a:prstGeom prst="rect">
            <a:avLst/>
          </a:prstGeom>
          <a:noFill/>
          <a:ln w="9525">
            <a:noFill/>
            <a:miter lim="800000"/>
            <a:headEnd/>
            <a:tailEnd/>
          </a:ln>
        </p:spPr>
        <p:txBody>
          <a:bodyPr wrap="square">
            <a:spAutoFit/>
          </a:bodyPr>
          <a:lstStyle/>
          <a:p>
            <a:r>
              <a:rPr lang="en-US" sz="2800" dirty="0"/>
              <a:t>The pH Curve for the Titration of 50.0 mL of HNO</a:t>
            </a:r>
            <a:r>
              <a:rPr lang="en-US" sz="2800" baseline="-25000" dirty="0"/>
              <a:t>3</a:t>
            </a:r>
            <a:r>
              <a:rPr lang="en-US" sz="2800" dirty="0"/>
              <a:t> with 0.100 </a:t>
            </a:r>
            <a:r>
              <a:rPr lang="en-US" sz="2800" i="1" dirty="0"/>
              <a:t>M</a:t>
            </a:r>
            <a:r>
              <a:rPr lang="en-US" sz="2800" dirty="0"/>
              <a:t> </a:t>
            </a:r>
            <a:r>
              <a:rPr lang="en-US" sz="2800" dirty="0" err="1"/>
              <a:t>NaOH</a:t>
            </a:r>
            <a:endParaRPr lang="en-US" sz="2800" dirty="0"/>
          </a:p>
          <a:p>
            <a:pPr marL="457200" indent="-457200">
              <a:buFont typeface="Arial" panose="020B0604020202020204" pitchFamily="34" charset="0"/>
              <a:buChar char="•"/>
            </a:pPr>
            <a:r>
              <a:rPr lang="en-US" sz="2800" dirty="0"/>
              <a:t>Write a reaction for the titration:</a:t>
            </a:r>
          </a:p>
          <a:p>
            <a:endParaRPr lang="en-US" sz="2800" dirty="0"/>
          </a:p>
          <a:p>
            <a:endParaRPr lang="en-US" sz="2800" dirty="0"/>
          </a:p>
          <a:p>
            <a:pPr marL="457200" indent="-457200">
              <a:buFont typeface="Arial" panose="020B0604020202020204" pitchFamily="34" charset="0"/>
              <a:buChar char="•"/>
            </a:pPr>
            <a:r>
              <a:rPr lang="en-US" sz="2800" dirty="0"/>
              <a:t>What is the pH at the equivalence point? Why? (no significant conjugates left)</a:t>
            </a:r>
          </a:p>
          <a:p>
            <a:pPr marL="457200" indent="-457200">
              <a:buFont typeface="Arial" panose="020B0604020202020204" pitchFamily="34" charset="0"/>
              <a:buChar char="•"/>
            </a:pPr>
            <a:endParaRPr lang="en-US" sz="2800" dirty="0"/>
          </a:p>
          <a:p>
            <a:pPr marL="457200" indent="-457200">
              <a:buFont typeface="Arial" panose="020B0604020202020204" pitchFamily="34" charset="0"/>
              <a:buChar char="•"/>
            </a:pPr>
            <a:r>
              <a:rPr lang="en-US" sz="2800" dirty="0"/>
              <a:t>Using the equivalence point data, calculate the molarity of the acid.</a:t>
            </a:r>
          </a:p>
        </p:txBody>
      </p:sp>
      <p:grpSp>
        <p:nvGrpSpPr>
          <p:cNvPr id="2" name="Group 1"/>
          <p:cNvGrpSpPr/>
          <p:nvPr/>
        </p:nvGrpSpPr>
        <p:grpSpPr>
          <a:xfrm>
            <a:off x="7086600" y="0"/>
            <a:ext cx="5105400" cy="5257800"/>
            <a:chOff x="4343400" y="381001"/>
            <a:chExt cx="5867400" cy="5794375"/>
          </a:xfrm>
        </p:grpSpPr>
        <p:pic>
          <p:nvPicPr>
            <p:cNvPr id="23554" name="Picture 1026" descr="fig15_01"/>
            <p:cNvPicPr>
              <a:picLocks noChangeAspect="1" noChangeArrowheads="1"/>
            </p:cNvPicPr>
            <p:nvPr/>
          </p:nvPicPr>
          <p:blipFill>
            <a:blip r:embed="rId3" cstate="print"/>
            <a:srcRect/>
            <a:stretch>
              <a:fillRect/>
            </a:stretch>
          </p:blipFill>
          <p:spPr bwMode="auto">
            <a:xfrm>
              <a:off x="4343400" y="381001"/>
              <a:ext cx="5867400" cy="5794375"/>
            </a:xfrm>
            <a:prstGeom prst="rect">
              <a:avLst/>
            </a:prstGeom>
            <a:noFill/>
            <a:ln w="9525">
              <a:noFill/>
              <a:miter lim="800000"/>
              <a:headEnd/>
              <a:tailEnd/>
            </a:ln>
          </p:spPr>
        </p:pic>
        <p:sp>
          <p:nvSpPr>
            <p:cNvPr id="34820" name="Text Box 1028"/>
            <p:cNvSpPr txBox="1">
              <a:spLocks noChangeArrowheads="1"/>
            </p:cNvSpPr>
            <p:nvPr/>
          </p:nvSpPr>
          <p:spPr bwMode="auto">
            <a:xfrm>
              <a:off x="5562600" y="3404380"/>
              <a:ext cx="1676400" cy="780128"/>
            </a:xfrm>
            <a:prstGeom prst="rect">
              <a:avLst/>
            </a:prstGeom>
            <a:noFill/>
            <a:ln w="9525">
              <a:noFill/>
              <a:miter lim="800000"/>
              <a:headEnd/>
              <a:tailEnd/>
            </a:ln>
          </p:spPr>
          <p:txBody>
            <a:bodyPr>
              <a:spAutoFit/>
            </a:bodyPr>
            <a:lstStyle/>
            <a:p>
              <a:pPr>
                <a:spcBef>
                  <a:spcPct val="50000"/>
                </a:spcBef>
              </a:pPr>
              <a:r>
                <a:rPr lang="en-US" sz="2000" dirty="0">
                  <a:solidFill>
                    <a:schemeClr val="accent2"/>
                  </a:solidFill>
                </a:rPr>
                <a:t>Only strong acid present</a:t>
              </a:r>
            </a:p>
          </p:txBody>
        </p:sp>
        <p:sp>
          <p:nvSpPr>
            <p:cNvPr id="34821" name="Text Box 1029"/>
            <p:cNvSpPr txBox="1">
              <a:spLocks noChangeArrowheads="1"/>
            </p:cNvSpPr>
            <p:nvPr/>
          </p:nvSpPr>
          <p:spPr bwMode="auto">
            <a:xfrm>
              <a:off x="5744570" y="2197419"/>
              <a:ext cx="2408830" cy="440942"/>
            </a:xfrm>
            <a:prstGeom prst="rect">
              <a:avLst/>
            </a:prstGeom>
            <a:noFill/>
            <a:ln w="9525">
              <a:noFill/>
              <a:miter lim="800000"/>
              <a:headEnd/>
              <a:tailEnd/>
            </a:ln>
          </p:spPr>
          <p:txBody>
            <a:bodyPr wrap="square">
              <a:spAutoFit/>
            </a:bodyPr>
            <a:lstStyle/>
            <a:p>
              <a:pPr>
                <a:spcBef>
                  <a:spcPct val="50000"/>
                </a:spcBef>
              </a:pPr>
              <a:r>
                <a:rPr lang="en-US" sz="2000" dirty="0">
                  <a:solidFill>
                    <a:schemeClr val="accent2"/>
                  </a:solidFill>
                </a:rPr>
                <a:t>Only neutral salt</a:t>
              </a:r>
            </a:p>
          </p:txBody>
        </p:sp>
        <p:sp>
          <p:nvSpPr>
            <p:cNvPr id="34822" name="Text Box 1030"/>
            <p:cNvSpPr txBox="1">
              <a:spLocks noChangeArrowheads="1"/>
            </p:cNvSpPr>
            <p:nvPr/>
          </p:nvSpPr>
          <p:spPr bwMode="auto">
            <a:xfrm>
              <a:off x="5867400" y="1193410"/>
              <a:ext cx="2819400" cy="780128"/>
            </a:xfrm>
            <a:prstGeom prst="rect">
              <a:avLst/>
            </a:prstGeom>
            <a:noFill/>
            <a:ln w="9525">
              <a:noFill/>
              <a:miter lim="800000"/>
              <a:headEnd/>
              <a:tailEnd/>
            </a:ln>
          </p:spPr>
          <p:txBody>
            <a:bodyPr>
              <a:spAutoFit/>
            </a:bodyPr>
            <a:lstStyle/>
            <a:p>
              <a:pPr>
                <a:spcBef>
                  <a:spcPct val="50000"/>
                </a:spcBef>
              </a:pPr>
              <a:r>
                <a:rPr lang="en-US" sz="2000" dirty="0">
                  <a:solidFill>
                    <a:schemeClr val="accent2"/>
                  </a:solidFill>
                </a:rPr>
                <a:t>Only Strong base Present</a:t>
              </a:r>
            </a:p>
          </p:txBody>
        </p:sp>
        <p:sp>
          <p:nvSpPr>
            <p:cNvPr id="23559" name="Line 1031"/>
            <p:cNvSpPr>
              <a:spLocks noChangeShapeType="1"/>
            </p:cNvSpPr>
            <p:nvPr/>
          </p:nvSpPr>
          <p:spPr bwMode="auto">
            <a:xfrm>
              <a:off x="8153400" y="1600200"/>
              <a:ext cx="304800" cy="228600"/>
            </a:xfrm>
            <a:prstGeom prst="line">
              <a:avLst/>
            </a:prstGeom>
            <a:noFill/>
            <a:ln w="9525">
              <a:solidFill>
                <a:schemeClr val="tx1"/>
              </a:solidFill>
              <a:round/>
              <a:headEnd/>
              <a:tailEnd type="triangle" w="med" len="med"/>
            </a:ln>
          </p:spPr>
          <p:txBody>
            <a:bodyPr/>
            <a:lstStyle/>
            <a:p>
              <a:endParaRPr lang="en-US"/>
            </a:p>
          </p:txBody>
        </p:sp>
        <p:sp>
          <p:nvSpPr>
            <p:cNvPr id="23560" name="Line 1032"/>
            <p:cNvSpPr>
              <a:spLocks noChangeShapeType="1"/>
            </p:cNvSpPr>
            <p:nvPr/>
          </p:nvSpPr>
          <p:spPr bwMode="auto">
            <a:xfrm>
              <a:off x="7772400" y="2590800"/>
              <a:ext cx="304800" cy="381000"/>
            </a:xfrm>
            <a:prstGeom prst="line">
              <a:avLst/>
            </a:prstGeom>
            <a:noFill/>
            <a:ln w="9525">
              <a:solidFill>
                <a:schemeClr val="tx1"/>
              </a:solidFill>
              <a:round/>
              <a:headEnd/>
              <a:tailEnd type="triangle" w="med" len="med"/>
            </a:ln>
          </p:spPr>
          <p:txBody>
            <a:bodyPr/>
            <a:lstStyle/>
            <a:p>
              <a:endParaRPr lang="en-US"/>
            </a:p>
          </p:txBody>
        </p:sp>
        <p:sp>
          <p:nvSpPr>
            <p:cNvPr id="23561" name="Line 1033"/>
            <p:cNvSpPr>
              <a:spLocks noChangeShapeType="1"/>
            </p:cNvSpPr>
            <p:nvPr/>
          </p:nvSpPr>
          <p:spPr bwMode="auto">
            <a:xfrm>
              <a:off x="6858000" y="4114800"/>
              <a:ext cx="762000" cy="381000"/>
            </a:xfrm>
            <a:prstGeom prst="line">
              <a:avLst/>
            </a:pr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4798675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938349" y="-2177"/>
            <a:ext cx="7062651" cy="611777"/>
          </a:xfrm>
        </p:spPr>
        <p:txBody>
          <a:bodyPr/>
          <a:lstStyle/>
          <a:p>
            <a:r>
              <a:rPr lang="en-US" sz="3600" b="1" dirty="0">
                <a:solidFill>
                  <a:schemeClr val="tx1"/>
                </a:solidFill>
              </a:rPr>
              <a:t>Weak acid - strong base</a:t>
            </a:r>
            <a:endParaRPr lang="en-US" sz="2800" dirty="0">
              <a:solidFill>
                <a:schemeClr val="tx1"/>
              </a:solidFill>
            </a:endParaRPr>
          </a:p>
        </p:txBody>
      </p:sp>
      <p:sp>
        <p:nvSpPr>
          <p:cNvPr id="2" name="Content Placeholder 1"/>
          <p:cNvSpPr>
            <a:spLocks noGrp="1"/>
          </p:cNvSpPr>
          <p:nvPr>
            <p:ph idx="1"/>
          </p:nvPr>
        </p:nvSpPr>
        <p:spPr>
          <a:xfrm>
            <a:off x="533400" y="609600"/>
            <a:ext cx="7467600" cy="6019799"/>
          </a:xfrm>
        </p:spPr>
        <p:txBody>
          <a:bodyPr/>
          <a:lstStyle/>
          <a:p>
            <a:pPr marL="0" indent="0" algn="ctr">
              <a:buNone/>
            </a:pPr>
            <a:r>
              <a:rPr lang="en-US" sz="2800" b="1" dirty="0"/>
              <a:t>HA + OH</a:t>
            </a:r>
            <a:r>
              <a:rPr lang="en-US" sz="2800" b="1" baseline="30000" dirty="0"/>
              <a:t>- </a:t>
            </a:r>
            <a:r>
              <a:rPr lang="en-US" sz="2800" b="1" dirty="0">
                <a:sym typeface="Wingdings" panose="05000000000000000000" pitchFamily="2" charset="2"/>
              </a:rPr>
              <a:t> H</a:t>
            </a:r>
            <a:r>
              <a:rPr lang="en-US" sz="2800" b="1" baseline="-25000" dirty="0">
                <a:sym typeface="Wingdings" panose="05000000000000000000" pitchFamily="2" charset="2"/>
              </a:rPr>
              <a:t>2</a:t>
            </a:r>
            <a:r>
              <a:rPr lang="en-US" sz="2800" b="1" dirty="0">
                <a:sym typeface="Wingdings" panose="05000000000000000000" pitchFamily="2" charset="2"/>
              </a:rPr>
              <a:t>O + A</a:t>
            </a:r>
            <a:r>
              <a:rPr lang="en-US" sz="2800" b="1" baseline="30000" dirty="0">
                <a:sym typeface="Wingdings" panose="05000000000000000000" pitchFamily="2" charset="2"/>
              </a:rPr>
              <a:t>-</a:t>
            </a:r>
            <a:endParaRPr lang="en-US" sz="2800" b="1" dirty="0"/>
          </a:p>
          <a:p>
            <a:pPr marL="0" indent="0">
              <a:buNone/>
            </a:pPr>
            <a:r>
              <a:rPr lang="en-US" sz="2800" dirty="0"/>
              <a:t>When titrating a weak acid with a strong base, there are several important points:</a:t>
            </a:r>
          </a:p>
          <a:p>
            <a:pPr marL="0" indent="0">
              <a:buNone/>
            </a:pPr>
            <a:r>
              <a:rPr lang="en-US" sz="2800" b="1" dirty="0"/>
              <a:t>Initial pH- What species are present at this point? How would we find the pH?</a:t>
            </a:r>
          </a:p>
          <a:p>
            <a:pPr marL="0" indent="0">
              <a:buNone/>
            </a:pPr>
            <a:r>
              <a:rPr lang="en-US" sz="2800" dirty="0"/>
              <a:t>Because the solution has only weak acid (dominant species), pH can be determined using the </a:t>
            </a:r>
            <a:r>
              <a:rPr lang="en-US" sz="2800" dirty="0" err="1"/>
              <a:t>Ka</a:t>
            </a:r>
            <a:r>
              <a:rPr lang="en-US" sz="2800" dirty="0"/>
              <a:t>, </a:t>
            </a:r>
            <a:r>
              <a:rPr lang="en-US" sz="2800" i="1" dirty="0">
                <a:solidFill>
                  <a:srgbClr val="FF0000"/>
                </a:solidFill>
              </a:rPr>
              <a:t>like any weak acid</a:t>
            </a:r>
            <a:r>
              <a:rPr lang="en-US" sz="2800" i="1" dirty="0"/>
              <a:t>.</a:t>
            </a:r>
          </a:p>
          <a:p>
            <a:pPr marL="0" indent="0">
              <a:buNone/>
            </a:pPr>
            <a:r>
              <a:rPr lang="en-US" sz="2800" b="1" dirty="0"/>
              <a:t>Equivalence Point</a:t>
            </a:r>
            <a:r>
              <a:rPr lang="en-US" sz="2800" dirty="0"/>
              <a:t>- </a:t>
            </a:r>
            <a:r>
              <a:rPr lang="en-US" sz="2800" b="1" dirty="0"/>
              <a:t>What species are present at this point?</a:t>
            </a:r>
            <a:br>
              <a:rPr lang="en-US" sz="2800" dirty="0"/>
            </a:br>
            <a:r>
              <a:rPr lang="en-US" sz="2800" dirty="0"/>
              <a:t>At the equivalence, the conjugate base of the weak acid is dominant species. That’s why the pH is </a:t>
            </a:r>
            <a:r>
              <a:rPr lang="en-US" sz="2800" dirty="0">
                <a:solidFill>
                  <a:srgbClr val="FF0000"/>
                </a:solidFill>
              </a:rPr>
              <a:t>&gt;7</a:t>
            </a:r>
            <a:r>
              <a:rPr lang="en-US" sz="2800" dirty="0"/>
              <a:t>. The exact pH can be calculated like </a:t>
            </a:r>
            <a:r>
              <a:rPr lang="en-US" sz="2800" dirty="0">
                <a:solidFill>
                  <a:srgbClr val="FF0000"/>
                </a:solidFill>
              </a:rPr>
              <a:t>a basic salt</a:t>
            </a:r>
            <a:r>
              <a:rPr lang="en-US" sz="2800" dirty="0"/>
              <a:t>.</a:t>
            </a:r>
          </a:p>
        </p:txBody>
      </p:sp>
      <p:pic>
        <p:nvPicPr>
          <p:cNvPr id="4" name="Picture 1026" descr="fig15_03"/>
          <p:cNvPicPr>
            <a:picLocks noChangeAspect="1" noChangeArrowheads="1"/>
          </p:cNvPicPr>
          <p:nvPr/>
        </p:nvPicPr>
        <p:blipFill>
          <a:blip r:embed="rId3" cstate="print"/>
          <a:srcRect/>
          <a:stretch>
            <a:fillRect/>
          </a:stretch>
        </p:blipFill>
        <p:spPr bwMode="auto">
          <a:xfrm>
            <a:off x="8123513" y="-25021"/>
            <a:ext cx="4068487" cy="3971925"/>
          </a:xfrm>
          <a:prstGeom prst="rect">
            <a:avLst/>
          </a:prstGeom>
          <a:noFill/>
          <a:ln w="9525">
            <a:noFill/>
            <a:miter lim="800000"/>
            <a:headEnd/>
            <a:tailEnd/>
          </a:ln>
        </p:spPr>
      </p:pic>
      <p:sp>
        <p:nvSpPr>
          <p:cNvPr id="5" name="TextBox 4"/>
          <p:cNvSpPr txBox="1"/>
          <p:nvPr/>
        </p:nvSpPr>
        <p:spPr>
          <a:xfrm flipH="1">
            <a:off x="8143107" y="4191000"/>
            <a:ext cx="3810000" cy="2246769"/>
          </a:xfrm>
          <a:prstGeom prst="rect">
            <a:avLst/>
          </a:prstGeom>
          <a:noFill/>
        </p:spPr>
        <p:txBody>
          <a:bodyPr wrap="square" rtlCol="0">
            <a:spAutoFit/>
          </a:bodyPr>
          <a:lstStyle/>
          <a:p>
            <a:r>
              <a:rPr lang="en-US" sz="2800" dirty="0"/>
              <a:t>Easiest way to tell this is a weak acid titration?</a:t>
            </a:r>
          </a:p>
          <a:p>
            <a:endParaRPr lang="en-US" sz="2800" dirty="0"/>
          </a:p>
          <a:p>
            <a:r>
              <a:rPr lang="en-US" sz="2800" dirty="0">
                <a:solidFill>
                  <a:srgbClr val="FF0000"/>
                </a:solidFill>
              </a:rPr>
              <a:t>~pH at Equivalence point is </a:t>
            </a:r>
            <a:r>
              <a:rPr lang="en-US" sz="2800" i="1" dirty="0">
                <a:solidFill>
                  <a:srgbClr val="FF0000"/>
                </a:solidFill>
              </a:rPr>
              <a:t>BASIC!!!</a:t>
            </a:r>
            <a:endParaRPr lang="en-US" sz="2800" dirty="0">
              <a:solidFill>
                <a:srgbClr val="FF0000"/>
              </a:solidFill>
            </a:endParaRPr>
          </a:p>
        </p:txBody>
      </p:sp>
    </p:spTree>
    <p:extLst>
      <p:ext uri="{BB962C8B-B14F-4D97-AF65-F5344CB8AC3E}">
        <p14:creationId xmlns:p14="http://schemas.microsoft.com/office/powerpoint/2010/main" val="4116989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938349" y="-2177"/>
            <a:ext cx="7062651" cy="611777"/>
          </a:xfrm>
        </p:spPr>
        <p:txBody>
          <a:bodyPr/>
          <a:lstStyle/>
          <a:p>
            <a:r>
              <a:rPr lang="en-US" sz="3600" b="1" dirty="0">
                <a:solidFill>
                  <a:schemeClr val="tx1"/>
                </a:solidFill>
              </a:rPr>
              <a:t>Weak acid - strong base</a:t>
            </a:r>
            <a:endParaRPr lang="en-US" sz="2800" dirty="0">
              <a:solidFill>
                <a:schemeClr val="tx1"/>
              </a:solidFill>
            </a:endParaRPr>
          </a:p>
        </p:txBody>
      </p:sp>
      <p:sp>
        <p:nvSpPr>
          <p:cNvPr id="2" name="Content Placeholder 1"/>
          <p:cNvSpPr>
            <a:spLocks noGrp="1"/>
          </p:cNvSpPr>
          <p:nvPr>
            <p:ph idx="1"/>
          </p:nvPr>
        </p:nvSpPr>
        <p:spPr>
          <a:xfrm>
            <a:off x="533400" y="600891"/>
            <a:ext cx="7467600" cy="5334000"/>
          </a:xfrm>
        </p:spPr>
        <p:txBody>
          <a:bodyPr/>
          <a:lstStyle/>
          <a:p>
            <a:pPr marL="0" indent="0" algn="ctr">
              <a:buNone/>
            </a:pPr>
            <a:r>
              <a:rPr lang="en-US" sz="2800" b="1" dirty="0"/>
              <a:t>HA + OH</a:t>
            </a:r>
            <a:r>
              <a:rPr lang="en-US" sz="2800" b="1" baseline="30000" dirty="0"/>
              <a:t>- </a:t>
            </a:r>
            <a:r>
              <a:rPr lang="en-US" sz="2800" b="1" dirty="0">
                <a:sym typeface="Wingdings" panose="05000000000000000000" pitchFamily="2" charset="2"/>
              </a:rPr>
              <a:t> H</a:t>
            </a:r>
            <a:r>
              <a:rPr lang="en-US" sz="2800" b="1" baseline="-25000" dirty="0">
                <a:sym typeface="Wingdings" panose="05000000000000000000" pitchFamily="2" charset="2"/>
              </a:rPr>
              <a:t>2</a:t>
            </a:r>
            <a:r>
              <a:rPr lang="en-US" sz="2800" b="1" dirty="0">
                <a:sym typeface="Wingdings" panose="05000000000000000000" pitchFamily="2" charset="2"/>
              </a:rPr>
              <a:t>O + A</a:t>
            </a:r>
            <a:r>
              <a:rPr lang="en-US" sz="2800" b="1" baseline="30000" dirty="0">
                <a:sym typeface="Wingdings" panose="05000000000000000000" pitchFamily="2" charset="2"/>
              </a:rPr>
              <a:t>-</a:t>
            </a:r>
            <a:endParaRPr lang="en-US" sz="2800" b="1" dirty="0"/>
          </a:p>
          <a:p>
            <a:pPr marL="0" indent="0">
              <a:buNone/>
            </a:pPr>
            <a:r>
              <a:rPr lang="en-US" sz="2800" dirty="0"/>
              <a:t>When titrating a weak acid with a strong base, there are several important points:</a:t>
            </a:r>
            <a:br>
              <a:rPr lang="en-US" sz="2800" dirty="0"/>
            </a:br>
            <a:r>
              <a:rPr lang="en-US" sz="2800" b="1" dirty="0"/>
              <a:t>Half Equivalence Point: </a:t>
            </a:r>
          </a:p>
          <a:p>
            <a:pPr marL="0" indent="0">
              <a:buNone/>
            </a:pPr>
            <a:r>
              <a:rPr lang="en-US" sz="2800" b="1" dirty="0"/>
              <a:t>What is meant by ‘half’?</a:t>
            </a:r>
          </a:p>
          <a:p>
            <a:pPr marL="0" indent="0">
              <a:buNone/>
            </a:pPr>
            <a:r>
              <a:rPr lang="en-US" sz="2800" b="1" dirty="0"/>
              <a:t>HALF of the titrant has been added. For this curve, it occurs at ½ (50 mL) = 25.00 mL</a:t>
            </a:r>
          </a:p>
          <a:p>
            <a:pPr marL="0" indent="0">
              <a:buNone/>
            </a:pPr>
            <a:r>
              <a:rPr lang="en-US" sz="2800" dirty="0"/>
              <a:t>At </a:t>
            </a:r>
            <a:r>
              <a:rPr lang="en-US" sz="2800" i="1" u="sng" dirty="0"/>
              <a:t>halfway</a:t>
            </a:r>
            <a:r>
              <a:rPr lang="en-US" sz="2800" dirty="0"/>
              <a:t> to the equivalence point: </a:t>
            </a:r>
          </a:p>
          <a:p>
            <a:r>
              <a:rPr lang="en-US" sz="2800" dirty="0"/>
              <a:t>50% of the acid remains and 50% of the conjugate base is present </a:t>
            </a:r>
          </a:p>
          <a:p>
            <a:r>
              <a:rPr lang="en-US" sz="2800" dirty="0"/>
              <a:t>Therefore, </a:t>
            </a:r>
            <a:r>
              <a:rPr lang="en-US" sz="2800" dirty="0">
                <a:solidFill>
                  <a:srgbClr val="FF0000"/>
                </a:solidFill>
              </a:rPr>
              <a:t>pH = </a:t>
            </a:r>
            <a:r>
              <a:rPr lang="en-US" sz="2800" dirty="0" err="1">
                <a:solidFill>
                  <a:srgbClr val="FF0000"/>
                </a:solidFill>
              </a:rPr>
              <a:t>p</a:t>
            </a:r>
            <a:r>
              <a:rPr lang="en-US" sz="2800" i="1" dirty="0" err="1">
                <a:solidFill>
                  <a:srgbClr val="FF0000"/>
                </a:solidFill>
              </a:rPr>
              <a:t>K</a:t>
            </a:r>
            <a:r>
              <a:rPr lang="en-US" sz="2800" i="1" baseline="-25000" dirty="0" err="1">
                <a:solidFill>
                  <a:srgbClr val="FF0000"/>
                </a:solidFill>
              </a:rPr>
              <a:t>a</a:t>
            </a:r>
            <a:r>
              <a:rPr lang="en-US" sz="2800" dirty="0">
                <a:solidFill>
                  <a:srgbClr val="FF0000"/>
                </a:solidFill>
              </a:rPr>
              <a:t> </a:t>
            </a:r>
            <a:r>
              <a:rPr lang="en-US" sz="2800" dirty="0"/>
              <a:t>at half equivalence point!</a:t>
            </a:r>
          </a:p>
          <a:p>
            <a:r>
              <a:rPr lang="en-US" sz="2800" dirty="0" err="1"/>
              <a:t>pKa</a:t>
            </a:r>
            <a:r>
              <a:rPr lang="en-US" sz="2800" dirty="0"/>
              <a:t> can be determined from a titration curve in this way, and vice versa</a:t>
            </a:r>
          </a:p>
        </p:txBody>
      </p:sp>
      <p:pic>
        <p:nvPicPr>
          <p:cNvPr id="4" name="Picture 1026" descr="fig15_03"/>
          <p:cNvPicPr>
            <a:picLocks noChangeAspect="1" noChangeArrowheads="1"/>
          </p:cNvPicPr>
          <p:nvPr/>
        </p:nvPicPr>
        <p:blipFill>
          <a:blip r:embed="rId3" cstate="print"/>
          <a:srcRect/>
          <a:stretch>
            <a:fillRect/>
          </a:stretch>
        </p:blipFill>
        <p:spPr bwMode="auto">
          <a:xfrm>
            <a:off x="8143107" y="28303"/>
            <a:ext cx="4068487" cy="3971925"/>
          </a:xfrm>
          <a:prstGeom prst="rect">
            <a:avLst/>
          </a:prstGeom>
          <a:noFill/>
          <a:ln w="9525">
            <a:noFill/>
            <a:miter lim="800000"/>
            <a:headEnd/>
            <a:tailEnd/>
          </a:ln>
        </p:spPr>
      </p:pic>
      <p:sp>
        <p:nvSpPr>
          <p:cNvPr id="3" name="TextBox 2"/>
          <p:cNvSpPr txBox="1"/>
          <p:nvPr/>
        </p:nvSpPr>
        <p:spPr>
          <a:xfrm flipH="1">
            <a:off x="8143107" y="4191000"/>
            <a:ext cx="3810000" cy="1815882"/>
          </a:xfrm>
          <a:prstGeom prst="rect">
            <a:avLst/>
          </a:prstGeom>
          <a:noFill/>
        </p:spPr>
        <p:txBody>
          <a:bodyPr wrap="square" rtlCol="0">
            <a:spAutoFit/>
          </a:bodyPr>
          <a:lstStyle/>
          <a:p>
            <a:r>
              <a:rPr lang="en-US" sz="2800" dirty="0"/>
              <a:t>What is the </a:t>
            </a:r>
            <a:r>
              <a:rPr lang="en-US" sz="2800" dirty="0" err="1"/>
              <a:t>pKa</a:t>
            </a:r>
            <a:r>
              <a:rPr lang="en-US" sz="2800" dirty="0"/>
              <a:t> of this weak acid? </a:t>
            </a:r>
          </a:p>
          <a:p>
            <a:endParaRPr lang="en-US" sz="2800" dirty="0"/>
          </a:p>
          <a:p>
            <a:r>
              <a:rPr lang="en-US" sz="2800" dirty="0">
                <a:solidFill>
                  <a:srgbClr val="FF0000"/>
                </a:solidFill>
              </a:rPr>
              <a:t>~4.2</a:t>
            </a:r>
          </a:p>
        </p:txBody>
      </p:sp>
      <p:sp>
        <p:nvSpPr>
          <p:cNvPr id="6" name="Text Box 1031"/>
          <p:cNvSpPr txBox="1">
            <a:spLocks noChangeArrowheads="1"/>
          </p:cNvSpPr>
          <p:nvPr/>
        </p:nvSpPr>
        <p:spPr bwMode="auto">
          <a:xfrm>
            <a:off x="9148650" y="1371600"/>
            <a:ext cx="1443150" cy="830997"/>
          </a:xfrm>
          <a:prstGeom prst="rect">
            <a:avLst/>
          </a:prstGeom>
          <a:noFill/>
          <a:ln w="9525">
            <a:solidFill>
              <a:schemeClr val="tx1"/>
            </a:solidFill>
            <a:miter lim="800000"/>
            <a:headEnd/>
            <a:tailEnd/>
          </a:ln>
        </p:spPr>
        <p:txBody>
          <a:bodyPr wrap="square">
            <a:spAutoFit/>
          </a:bodyPr>
          <a:lstStyle/>
          <a:p>
            <a:pPr>
              <a:spcBef>
                <a:spcPct val="50000"/>
              </a:spcBef>
            </a:pPr>
            <a:r>
              <a:rPr lang="en-US" sz="1200" dirty="0">
                <a:solidFill>
                  <a:schemeClr val="accent2"/>
                </a:solidFill>
              </a:rPr>
              <a:t>½ WA=SB</a:t>
            </a:r>
          </a:p>
          <a:p>
            <a:pPr>
              <a:spcBef>
                <a:spcPct val="50000"/>
              </a:spcBef>
            </a:pPr>
            <a:r>
              <a:rPr lang="en-US" sz="1200" dirty="0">
                <a:solidFill>
                  <a:schemeClr val="accent2"/>
                </a:solidFill>
              </a:rPr>
              <a:t>[HA]=[A</a:t>
            </a:r>
            <a:r>
              <a:rPr lang="en-US" sz="1200" baseline="30000" dirty="0">
                <a:solidFill>
                  <a:schemeClr val="accent2"/>
                </a:solidFill>
              </a:rPr>
              <a:t>-</a:t>
            </a:r>
            <a:r>
              <a:rPr lang="en-US" sz="1200" dirty="0">
                <a:solidFill>
                  <a:schemeClr val="accent2"/>
                </a:solidFill>
              </a:rPr>
              <a:t>]  ½ </a:t>
            </a:r>
            <a:r>
              <a:rPr lang="en-US" sz="1200" dirty="0" err="1">
                <a:solidFill>
                  <a:schemeClr val="accent2"/>
                </a:solidFill>
              </a:rPr>
              <a:t>eq</a:t>
            </a:r>
            <a:r>
              <a:rPr lang="en-US" sz="1200" dirty="0">
                <a:solidFill>
                  <a:schemeClr val="accent2"/>
                </a:solidFill>
              </a:rPr>
              <a:t> </a:t>
            </a:r>
            <a:r>
              <a:rPr lang="en-US" sz="1200" dirty="0" err="1">
                <a:solidFill>
                  <a:schemeClr val="accent2"/>
                </a:solidFill>
              </a:rPr>
              <a:t>pt</a:t>
            </a:r>
            <a:endParaRPr lang="en-US" sz="1200" dirty="0">
              <a:solidFill>
                <a:schemeClr val="accent2"/>
              </a:solidFill>
            </a:endParaRPr>
          </a:p>
          <a:p>
            <a:pPr>
              <a:spcBef>
                <a:spcPct val="50000"/>
              </a:spcBef>
            </a:pPr>
            <a:r>
              <a:rPr lang="en-US" sz="1200" dirty="0">
                <a:solidFill>
                  <a:schemeClr val="accent2"/>
                </a:solidFill>
              </a:rPr>
              <a:t>pH = </a:t>
            </a:r>
            <a:r>
              <a:rPr lang="en-US" sz="1200" dirty="0" err="1">
                <a:solidFill>
                  <a:schemeClr val="accent2"/>
                </a:solidFill>
              </a:rPr>
              <a:t>p</a:t>
            </a:r>
            <a:r>
              <a:rPr lang="en-US" sz="1200" i="1" dirty="0" err="1">
                <a:solidFill>
                  <a:schemeClr val="accent2"/>
                </a:solidFill>
              </a:rPr>
              <a:t>K</a:t>
            </a:r>
            <a:r>
              <a:rPr lang="en-US" sz="1200" i="1" baseline="-25000" dirty="0" err="1">
                <a:solidFill>
                  <a:schemeClr val="accent2"/>
                </a:solidFill>
              </a:rPr>
              <a:t>a</a:t>
            </a:r>
            <a:endParaRPr lang="en-US" sz="1200" i="1" baseline="-25000" dirty="0">
              <a:solidFill>
                <a:schemeClr val="accent2"/>
              </a:solidFill>
            </a:endParaRPr>
          </a:p>
        </p:txBody>
      </p:sp>
      <p:cxnSp>
        <p:nvCxnSpPr>
          <p:cNvPr id="7" name="Straight Arrow Connector 6"/>
          <p:cNvCxnSpPr/>
          <p:nvPr/>
        </p:nvCxnSpPr>
        <p:spPr bwMode="auto">
          <a:xfrm flipH="1">
            <a:off x="9855073" y="2171428"/>
            <a:ext cx="76200" cy="159603"/>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9" name="Straight Connector 8"/>
          <p:cNvCxnSpPr/>
          <p:nvPr/>
        </p:nvCxnSpPr>
        <p:spPr bwMode="auto">
          <a:xfrm>
            <a:off x="9829800" y="2362200"/>
            <a:ext cx="19594" cy="4136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1" name="Straight Connector 10"/>
          <p:cNvCxnSpPr/>
          <p:nvPr/>
        </p:nvCxnSpPr>
        <p:spPr bwMode="auto">
          <a:xfrm flipV="1">
            <a:off x="9888772" y="2403566"/>
            <a:ext cx="0" cy="949234"/>
          </a:xfrm>
          <a:prstGeom prst="line">
            <a:avLst/>
          </a:prstGeom>
          <a:solidFill>
            <a:schemeClr val="accent1"/>
          </a:solidFill>
          <a:ln w="9525" cap="flat" cmpd="sng" algn="ctr">
            <a:solidFill>
              <a:schemeClr val="tx1"/>
            </a:solidFill>
            <a:prstDash val="dash"/>
            <a:round/>
            <a:headEnd type="none" w="med" len="med"/>
            <a:tailEnd type="none" w="med" len="med"/>
          </a:ln>
          <a:effectLst/>
        </p:spPr>
      </p:cxnSp>
      <p:cxnSp>
        <p:nvCxnSpPr>
          <p:cNvPr id="13" name="Straight Connector 12"/>
          <p:cNvCxnSpPr/>
          <p:nvPr/>
        </p:nvCxnSpPr>
        <p:spPr bwMode="auto">
          <a:xfrm flipH="1">
            <a:off x="8915400" y="2403566"/>
            <a:ext cx="977773" cy="0"/>
          </a:xfrm>
          <a:prstGeom prst="line">
            <a:avLst/>
          </a:prstGeom>
          <a:solidFill>
            <a:schemeClr val="accent1"/>
          </a:solidFill>
          <a:ln w="9525" cap="flat" cmpd="sng" algn="ctr">
            <a:solidFill>
              <a:schemeClr val="tx1"/>
            </a:solidFill>
            <a:prstDash val="dash"/>
            <a:round/>
            <a:headEnd type="none" w="med" len="med"/>
            <a:tailEnd type="none" w="med" len="med"/>
          </a:ln>
          <a:effectLst/>
        </p:spPr>
      </p:cxnSp>
    </p:spTree>
    <p:extLst>
      <p:ext uri="{BB962C8B-B14F-4D97-AF65-F5344CB8AC3E}">
        <p14:creationId xmlns:p14="http://schemas.microsoft.com/office/powerpoint/2010/main" val="145581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1027"/>
          <p:cNvSpPr>
            <a:spLocks noChangeArrowheads="1"/>
          </p:cNvSpPr>
          <p:nvPr/>
        </p:nvSpPr>
        <p:spPr bwMode="auto">
          <a:xfrm>
            <a:off x="228600" y="228600"/>
            <a:ext cx="5195816" cy="5262979"/>
          </a:xfrm>
          <a:prstGeom prst="rect">
            <a:avLst/>
          </a:prstGeom>
          <a:noFill/>
          <a:ln w="9525">
            <a:noFill/>
            <a:miter lim="800000"/>
            <a:headEnd/>
            <a:tailEnd/>
          </a:ln>
        </p:spPr>
        <p:txBody>
          <a:bodyPr wrap="square">
            <a:spAutoFit/>
          </a:bodyPr>
          <a:lstStyle/>
          <a:p>
            <a:r>
              <a:rPr lang="en-US" sz="2800" dirty="0"/>
              <a:t>Other points of interest:</a:t>
            </a:r>
          </a:p>
          <a:p>
            <a:r>
              <a:rPr lang="en-US" sz="2800" b="1" dirty="0"/>
              <a:t>Buffer Zone: </a:t>
            </a:r>
            <a:r>
              <a:rPr lang="en-US" sz="2800" dirty="0"/>
              <a:t>between about 12 mL to 37 mL on this graph- surrounds the ½ equivalence point- both HA and A</a:t>
            </a:r>
            <a:r>
              <a:rPr lang="en-US" sz="2800" baseline="30000" dirty="0"/>
              <a:t>-</a:t>
            </a:r>
            <a:r>
              <a:rPr lang="en-US" sz="2800" dirty="0"/>
              <a:t> are present in large enough quantities that buffering occurs- pH changes very little</a:t>
            </a:r>
          </a:p>
          <a:p>
            <a:r>
              <a:rPr lang="en-US" sz="2800" b="1" dirty="0"/>
              <a:t>Beyond the Equivalence Point</a:t>
            </a:r>
            <a:r>
              <a:rPr lang="en-US" sz="2800" dirty="0"/>
              <a:t>: all acid is neutralized, only strong base remains, pH is found by excess moles of base present</a:t>
            </a:r>
          </a:p>
        </p:txBody>
      </p:sp>
      <p:grpSp>
        <p:nvGrpSpPr>
          <p:cNvPr id="2" name="Group 1"/>
          <p:cNvGrpSpPr/>
          <p:nvPr/>
        </p:nvGrpSpPr>
        <p:grpSpPr>
          <a:xfrm>
            <a:off x="5486400" y="0"/>
            <a:ext cx="6705600" cy="5876925"/>
            <a:chOff x="3657600" y="304800"/>
            <a:chExt cx="6705600" cy="5876925"/>
          </a:xfrm>
        </p:grpSpPr>
        <p:pic>
          <p:nvPicPr>
            <p:cNvPr id="28674" name="Picture 1026" descr="fig15_03"/>
            <p:cNvPicPr>
              <a:picLocks noChangeAspect="1" noChangeArrowheads="1"/>
            </p:cNvPicPr>
            <p:nvPr/>
          </p:nvPicPr>
          <p:blipFill>
            <a:blip r:embed="rId3" cstate="print"/>
            <a:srcRect/>
            <a:stretch>
              <a:fillRect/>
            </a:stretch>
          </p:blipFill>
          <p:spPr bwMode="auto">
            <a:xfrm>
              <a:off x="4100584" y="304800"/>
              <a:ext cx="6019800" cy="5876925"/>
            </a:xfrm>
            <a:prstGeom prst="rect">
              <a:avLst/>
            </a:prstGeom>
            <a:noFill/>
            <a:ln w="9525">
              <a:noFill/>
              <a:miter lim="800000"/>
              <a:headEnd/>
              <a:tailEnd/>
            </a:ln>
          </p:spPr>
        </p:pic>
        <p:sp>
          <p:nvSpPr>
            <p:cNvPr id="74756" name="Text Box 1028"/>
            <p:cNvSpPr txBox="1">
              <a:spLocks noChangeArrowheads="1"/>
            </p:cNvSpPr>
            <p:nvPr/>
          </p:nvSpPr>
          <p:spPr bwMode="auto">
            <a:xfrm>
              <a:off x="3657600" y="3962400"/>
              <a:ext cx="1295400" cy="788988"/>
            </a:xfrm>
            <a:prstGeom prst="rect">
              <a:avLst/>
            </a:prstGeom>
            <a:noFill/>
            <a:ln w="9525">
              <a:solidFill>
                <a:schemeClr val="tx1"/>
              </a:solidFill>
              <a:miter lim="800000"/>
              <a:headEnd/>
              <a:tailEnd/>
            </a:ln>
          </p:spPr>
          <p:txBody>
            <a:bodyPr>
              <a:spAutoFit/>
            </a:bodyPr>
            <a:lstStyle/>
            <a:p>
              <a:pPr>
                <a:spcBef>
                  <a:spcPct val="50000"/>
                </a:spcBef>
              </a:pPr>
              <a:r>
                <a:rPr lang="en-US" sz="1800">
                  <a:solidFill>
                    <a:schemeClr val="accent2"/>
                  </a:solidFill>
                </a:rPr>
                <a:t>WA only</a:t>
              </a:r>
            </a:p>
            <a:p>
              <a:pPr>
                <a:spcBef>
                  <a:spcPct val="50000"/>
                </a:spcBef>
              </a:pPr>
              <a:r>
                <a:rPr lang="en-US" sz="1800" i="1">
                  <a:solidFill>
                    <a:schemeClr val="accent2"/>
                  </a:solidFill>
                </a:rPr>
                <a:t>K</a:t>
              </a:r>
              <a:r>
                <a:rPr lang="en-US" sz="1800" i="1" baseline="-25000">
                  <a:solidFill>
                    <a:schemeClr val="accent2"/>
                  </a:solidFill>
                </a:rPr>
                <a:t>a</a:t>
              </a:r>
            </a:p>
          </p:txBody>
        </p:sp>
        <p:sp>
          <p:nvSpPr>
            <p:cNvPr id="74757" name="Text Box 1029"/>
            <p:cNvSpPr txBox="1">
              <a:spLocks noChangeArrowheads="1"/>
            </p:cNvSpPr>
            <p:nvPr/>
          </p:nvSpPr>
          <p:spPr bwMode="auto">
            <a:xfrm>
              <a:off x="5410200" y="4241007"/>
              <a:ext cx="1676400" cy="1061829"/>
            </a:xfrm>
            <a:prstGeom prst="rect">
              <a:avLst/>
            </a:prstGeom>
            <a:noFill/>
            <a:ln w="9525">
              <a:solidFill>
                <a:schemeClr val="tx1"/>
              </a:solidFill>
              <a:miter lim="800000"/>
              <a:headEnd/>
              <a:tailEnd/>
            </a:ln>
          </p:spPr>
          <p:txBody>
            <a:bodyPr>
              <a:spAutoFit/>
            </a:bodyPr>
            <a:lstStyle/>
            <a:p>
              <a:pPr>
                <a:spcBef>
                  <a:spcPct val="50000"/>
                </a:spcBef>
              </a:pPr>
              <a:r>
                <a:rPr lang="en-US" sz="1800" dirty="0">
                  <a:solidFill>
                    <a:schemeClr val="accent2"/>
                  </a:solidFill>
                </a:rPr>
                <a:t>WA &gt; SB</a:t>
              </a:r>
            </a:p>
            <a:p>
              <a:pPr>
                <a:spcBef>
                  <a:spcPct val="50000"/>
                </a:spcBef>
              </a:pPr>
              <a:r>
                <a:rPr lang="en-US" sz="1800" dirty="0">
                  <a:solidFill>
                    <a:schemeClr val="accent2"/>
                  </a:solidFill>
                </a:rPr>
                <a:t>Buffer zone begins</a:t>
              </a:r>
              <a:endParaRPr lang="en-US" sz="1800" i="1" baseline="-25000" dirty="0">
                <a:solidFill>
                  <a:schemeClr val="accent2"/>
                </a:solidFill>
              </a:endParaRPr>
            </a:p>
          </p:txBody>
        </p:sp>
        <p:sp>
          <p:nvSpPr>
            <p:cNvPr id="74758" name="Text Box 1030"/>
            <p:cNvSpPr txBox="1">
              <a:spLocks noChangeArrowheads="1"/>
            </p:cNvSpPr>
            <p:nvPr/>
          </p:nvSpPr>
          <p:spPr bwMode="auto">
            <a:xfrm>
              <a:off x="8303525" y="4107150"/>
              <a:ext cx="1828800" cy="784830"/>
            </a:xfrm>
            <a:prstGeom prst="rect">
              <a:avLst/>
            </a:prstGeom>
            <a:noFill/>
            <a:ln w="9525">
              <a:solidFill>
                <a:schemeClr val="tx1"/>
              </a:solidFill>
              <a:miter lim="800000"/>
              <a:headEnd/>
              <a:tailEnd/>
            </a:ln>
          </p:spPr>
          <p:txBody>
            <a:bodyPr>
              <a:spAutoFit/>
            </a:bodyPr>
            <a:lstStyle/>
            <a:p>
              <a:pPr>
                <a:spcBef>
                  <a:spcPct val="50000"/>
                </a:spcBef>
              </a:pPr>
              <a:r>
                <a:rPr lang="en-US" sz="1800" dirty="0">
                  <a:solidFill>
                    <a:schemeClr val="accent2"/>
                  </a:solidFill>
                </a:rPr>
                <a:t>WA &gt;SB</a:t>
              </a:r>
            </a:p>
            <a:p>
              <a:pPr>
                <a:spcBef>
                  <a:spcPct val="50000"/>
                </a:spcBef>
              </a:pPr>
              <a:r>
                <a:rPr lang="en-US" sz="1800" dirty="0">
                  <a:solidFill>
                    <a:schemeClr val="accent2"/>
                  </a:solidFill>
                </a:rPr>
                <a:t>Buffer Zone Ends</a:t>
              </a:r>
              <a:endParaRPr lang="en-US" sz="1800" i="1" baseline="-25000" dirty="0">
                <a:solidFill>
                  <a:schemeClr val="accent2"/>
                </a:solidFill>
              </a:endParaRPr>
            </a:p>
          </p:txBody>
        </p:sp>
        <p:sp>
          <p:nvSpPr>
            <p:cNvPr id="74759" name="Text Box 1031"/>
            <p:cNvSpPr txBox="1">
              <a:spLocks noChangeArrowheads="1"/>
            </p:cNvSpPr>
            <p:nvPr/>
          </p:nvSpPr>
          <p:spPr bwMode="auto">
            <a:xfrm>
              <a:off x="5638800" y="2514600"/>
              <a:ext cx="2057400" cy="1201738"/>
            </a:xfrm>
            <a:prstGeom prst="rect">
              <a:avLst/>
            </a:prstGeom>
            <a:noFill/>
            <a:ln w="9525">
              <a:solidFill>
                <a:schemeClr val="tx1"/>
              </a:solidFill>
              <a:miter lim="800000"/>
              <a:headEnd/>
              <a:tailEnd/>
            </a:ln>
          </p:spPr>
          <p:txBody>
            <a:bodyPr>
              <a:spAutoFit/>
            </a:bodyPr>
            <a:lstStyle/>
            <a:p>
              <a:pPr>
                <a:spcBef>
                  <a:spcPct val="50000"/>
                </a:spcBef>
              </a:pPr>
              <a:r>
                <a:rPr lang="en-US" sz="1800" dirty="0">
                  <a:solidFill>
                    <a:schemeClr val="accent2"/>
                  </a:solidFill>
                </a:rPr>
                <a:t>WA&gt;SB</a:t>
              </a:r>
            </a:p>
            <a:p>
              <a:pPr>
                <a:spcBef>
                  <a:spcPct val="50000"/>
                </a:spcBef>
              </a:pPr>
              <a:r>
                <a:rPr lang="en-US" sz="1800" dirty="0">
                  <a:solidFill>
                    <a:schemeClr val="accent2"/>
                  </a:solidFill>
                </a:rPr>
                <a:t>[HA]=[A</a:t>
              </a:r>
              <a:r>
                <a:rPr lang="en-US" sz="1800" baseline="30000" dirty="0">
                  <a:solidFill>
                    <a:schemeClr val="accent2"/>
                  </a:solidFill>
                </a:rPr>
                <a:t>-</a:t>
              </a:r>
              <a:r>
                <a:rPr lang="en-US" sz="1800" dirty="0">
                  <a:solidFill>
                    <a:schemeClr val="accent2"/>
                  </a:solidFill>
                </a:rPr>
                <a:t>]  ½ </a:t>
              </a:r>
              <a:r>
                <a:rPr lang="en-US" sz="1800" dirty="0" err="1">
                  <a:solidFill>
                    <a:schemeClr val="accent2"/>
                  </a:solidFill>
                </a:rPr>
                <a:t>eq</a:t>
              </a:r>
              <a:r>
                <a:rPr lang="en-US" sz="1800" dirty="0">
                  <a:solidFill>
                    <a:schemeClr val="accent2"/>
                  </a:solidFill>
                </a:rPr>
                <a:t> </a:t>
              </a:r>
              <a:r>
                <a:rPr lang="en-US" sz="1800" dirty="0" err="1">
                  <a:solidFill>
                    <a:schemeClr val="accent2"/>
                  </a:solidFill>
                </a:rPr>
                <a:t>pt</a:t>
              </a:r>
              <a:endParaRPr lang="en-US" sz="1800" dirty="0">
                <a:solidFill>
                  <a:schemeClr val="accent2"/>
                </a:solidFill>
              </a:endParaRPr>
            </a:p>
            <a:p>
              <a:pPr>
                <a:spcBef>
                  <a:spcPct val="50000"/>
                </a:spcBef>
              </a:pPr>
              <a:r>
                <a:rPr lang="en-US" sz="1800" dirty="0">
                  <a:solidFill>
                    <a:schemeClr val="accent2"/>
                  </a:solidFill>
                </a:rPr>
                <a:t>pH = </a:t>
              </a:r>
              <a:r>
                <a:rPr lang="en-US" sz="1800" dirty="0" err="1">
                  <a:solidFill>
                    <a:schemeClr val="accent2"/>
                  </a:solidFill>
                </a:rPr>
                <a:t>p</a:t>
              </a:r>
              <a:r>
                <a:rPr lang="en-US" sz="1800" i="1" dirty="0" err="1">
                  <a:solidFill>
                    <a:schemeClr val="accent2"/>
                  </a:solidFill>
                </a:rPr>
                <a:t>K</a:t>
              </a:r>
              <a:r>
                <a:rPr lang="en-US" sz="1800" i="1" baseline="-25000" dirty="0" err="1">
                  <a:solidFill>
                    <a:schemeClr val="accent2"/>
                  </a:solidFill>
                </a:rPr>
                <a:t>a</a:t>
              </a:r>
              <a:endParaRPr lang="en-US" sz="1800" i="1" baseline="-25000" dirty="0">
                <a:solidFill>
                  <a:schemeClr val="accent2"/>
                </a:solidFill>
              </a:endParaRPr>
            </a:p>
          </p:txBody>
        </p:sp>
        <p:sp>
          <p:nvSpPr>
            <p:cNvPr id="28680" name="Line 1032"/>
            <p:cNvSpPr>
              <a:spLocks noChangeShapeType="1"/>
            </p:cNvSpPr>
            <p:nvPr/>
          </p:nvSpPr>
          <p:spPr bwMode="auto">
            <a:xfrm flipV="1">
              <a:off x="4953000" y="4191000"/>
              <a:ext cx="381000" cy="152400"/>
            </a:xfrm>
            <a:prstGeom prst="line">
              <a:avLst/>
            </a:prstGeom>
            <a:noFill/>
            <a:ln w="9525">
              <a:solidFill>
                <a:schemeClr val="tx1"/>
              </a:solidFill>
              <a:round/>
              <a:headEnd/>
              <a:tailEnd type="triangle" w="med" len="med"/>
            </a:ln>
          </p:spPr>
          <p:txBody>
            <a:bodyPr/>
            <a:lstStyle/>
            <a:p>
              <a:endParaRPr lang="en-US"/>
            </a:p>
          </p:txBody>
        </p:sp>
        <p:sp>
          <p:nvSpPr>
            <p:cNvPr id="28681" name="Line 1033"/>
            <p:cNvSpPr>
              <a:spLocks noChangeShapeType="1"/>
            </p:cNvSpPr>
            <p:nvPr/>
          </p:nvSpPr>
          <p:spPr bwMode="auto">
            <a:xfrm flipH="1" flipV="1">
              <a:off x="6096000" y="3810000"/>
              <a:ext cx="152400" cy="457200"/>
            </a:xfrm>
            <a:prstGeom prst="line">
              <a:avLst/>
            </a:prstGeom>
            <a:noFill/>
            <a:ln w="9525">
              <a:solidFill>
                <a:schemeClr val="tx1"/>
              </a:solidFill>
              <a:round/>
              <a:headEnd/>
              <a:tailEnd type="triangle" w="med" len="med"/>
            </a:ln>
          </p:spPr>
          <p:txBody>
            <a:bodyPr/>
            <a:lstStyle/>
            <a:p>
              <a:endParaRPr lang="en-US"/>
            </a:p>
          </p:txBody>
        </p:sp>
        <p:sp>
          <p:nvSpPr>
            <p:cNvPr id="28682" name="Line 1034"/>
            <p:cNvSpPr>
              <a:spLocks noChangeShapeType="1"/>
            </p:cNvSpPr>
            <p:nvPr/>
          </p:nvSpPr>
          <p:spPr bwMode="auto">
            <a:xfrm>
              <a:off x="6934200" y="3429000"/>
              <a:ext cx="0" cy="228600"/>
            </a:xfrm>
            <a:prstGeom prst="line">
              <a:avLst/>
            </a:prstGeom>
            <a:noFill/>
            <a:ln w="9525">
              <a:solidFill>
                <a:schemeClr val="tx1"/>
              </a:solidFill>
              <a:round/>
              <a:headEnd/>
              <a:tailEnd type="triangle" w="med" len="med"/>
            </a:ln>
          </p:spPr>
          <p:txBody>
            <a:bodyPr/>
            <a:lstStyle/>
            <a:p>
              <a:endParaRPr lang="en-US"/>
            </a:p>
          </p:txBody>
        </p:sp>
        <p:sp>
          <p:nvSpPr>
            <p:cNvPr id="28683" name="Line 1035"/>
            <p:cNvSpPr>
              <a:spLocks noChangeShapeType="1"/>
            </p:cNvSpPr>
            <p:nvPr/>
          </p:nvSpPr>
          <p:spPr bwMode="auto">
            <a:xfrm flipH="1" flipV="1">
              <a:off x="7772400" y="3581400"/>
              <a:ext cx="381000" cy="457200"/>
            </a:xfrm>
            <a:prstGeom prst="line">
              <a:avLst/>
            </a:prstGeom>
            <a:noFill/>
            <a:ln w="9525">
              <a:solidFill>
                <a:schemeClr val="tx1"/>
              </a:solidFill>
              <a:round/>
              <a:headEnd/>
              <a:tailEnd type="triangle" w="med" len="med"/>
            </a:ln>
          </p:spPr>
          <p:txBody>
            <a:bodyPr/>
            <a:lstStyle/>
            <a:p>
              <a:endParaRPr lang="en-US"/>
            </a:p>
          </p:txBody>
        </p:sp>
        <p:sp>
          <p:nvSpPr>
            <p:cNvPr id="74764" name="Text Box 1036"/>
            <p:cNvSpPr txBox="1">
              <a:spLocks noChangeArrowheads="1"/>
            </p:cNvSpPr>
            <p:nvPr/>
          </p:nvSpPr>
          <p:spPr bwMode="auto">
            <a:xfrm>
              <a:off x="8484326" y="1813560"/>
              <a:ext cx="1878874" cy="784830"/>
            </a:xfrm>
            <a:prstGeom prst="rect">
              <a:avLst/>
            </a:prstGeom>
            <a:noFill/>
            <a:ln w="9525">
              <a:solidFill>
                <a:schemeClr val="tx1"/>
              </a:solidFill>
              <a:miter lim="800000"/>
              <a:headEnd/>
              <a:tailEnd/>
            </a:ln>
          </p:spPr>
          <p:txBody>
            <a:bodyPr wrap="square">
              <a:spAutoFit/>
            </a:bodyPr>
            <a:lstStyle/>
            <a:p>
              <a:pPr>
                <a:spcBef>
                  <a:spcPct val="50000"/>
                </a:spcBef>
              </a:pPr>
              <a:r>
                <a:rPr lang="en-US" sz="1800" dirty="0">
                  <a:solidFill>
                    <a:schemeClr val="accent2"/>
                  </a:solidFill>
                </a:rPr>
                <a:t>SB&gt;WA</a:t>
              </a:r>
            </a:p>
            <a:p>
              <a:pPr>
                <a:spcBef>
                  <a:spcPct val="50000"/>
                </a:spcBef>
              </a:pPr>
              <a:r>
                <a:rPr lang="en-US" sz="1800" dirty="0">
                  <a:solidFill>
                    <a:schemeClr val="accent2"/>
                  </a:solidFill>
                </a:rPr>
                <a:t>pOH = -log [SB]</a:t>
              </a:r>
            </a:p>
          </p:txBody>
        </p:sp>
        <p:sp>
          <p:nvSpPr>
            <p:cNvPr id="28685" name="Line 1037"/>
            <p:cNvSpPr>
              <a:spLocks noChangeShapeType="1"/>
            </p:cNvSpPr>
            <p:nvPr/>
          </p:nvSpPr>
          <p:spPr bwMode="auto">
            <a:xfrm flipH="1" flipV="1">
              <a:off x="8610600" y="1447800"/>
              <a:ext cx="76200" cy="381000"/>
            </a:xfrm>
            <a:prstGeom prst="line">
              <a:avLst/>
            </a:prstGeom>
            <a:noFill/>
            <a:ln w="9525">
              <a:solidFill>
                <a:schemeClr val="tx1"/>
              </a:solidFill>
              <a:round/>
              <a:headEnd/>
              <a:tailEnd type="triangle" w="med" len="med"/>
            </a:ln>
          </p:spPr>
          <p:txBody>
            <a:bodyPr/>
            <a:lstStyle/>
            <a:p>
              <a:endParaRPr lang="en-US"/>
            </a:p>
          </p:txBody>
        </p:sp>
        <p:sp>
          <p:nvSpPr>
            <p:cNvPr id="74766" name="Text Box 1038"/>
            <p:cNvSpPr txBox="1">
              <a:spLocks noChangeArrowheads="1"/>
            </p:cNvSpPr>
            <p:nvPr/>
          </p:nvSpPr>
          <p:spPr bwMode="auto">
            <a:xfrm>
              <a:off x="6934200" y="1295400"/>
              <a:ext cx="1219200" cy="1201738"/>
            </a:xfrm>
            <a:prstGeom prst="rect">
              <a:avLst/>
            </a:prstGeom>
            <a:noFill/>
            <a:ln w="9525">
              <a:solidFill>
                <a:schemeClr val="tx1"/>
              </a:solidFill>
              <a:miter lim="800000"/>
              <a:headEnd/>
              <a:tailEnd/>
            </a:ln>
          </p:spPr>
          <p:txBody>
            <a:bodyPr>
              <a:spAutoFit/>
            </a:bodyPr>
            <a:lstStyle/>
            <a:p>
              <a:pPr>
                <a:spcBef>
                  <a:spcPct val="50000"/>
                </a:spcBef>
              </a:pPr>
              <a:r>
                <a:rPr lang="en-US" sz="1800">
                  <a:solidFill>
                    <a:schemeClr val="accent2"/>
                  </a:solidFill>
                </a:rPr>
                <a:t>SB = WA</a:t>
              </a:r>
            </a:p>
            <a:p>
              <a:pPr>
                <a:spcBef>
                  <a:spcPct val="50000"/>
                </a:spcBef>
              </a:pPr>
              <a:r>
                <a:rPr lang="en-US" sz="1800">
                  <a:solidFill>
                    <a:schemeClr val="accent2"/>
                  </a:solidFill>
                </a:rPr>
                <a:t>Basic salt</a:t>
              </a:r>
            </a:p>
            <a:p>
              <a:pPr>
                <a:spcBef>
                  <a:spcPct val="50000"/>
                </a:spcBef>
              </a:pPr>
              <a:r>
                <a:rPr lang="en-US" sz="1800" i="1">
                  <a:solidFill>
                    <a:schemeClr val="accent2"/>
                  </a:solidFill>
                </a:rPr>
                <a:t>K</a:t>
              </a:r>
              <a:r>
                <a:rPr lang="en-US" sz="1800" i="1" baseline="-25000">
                  <a:solidFill>
                    <a:schemeClr val="accent2"/>
                  </a:solidFill>
                </a:rPr>
                <a:t>b</a:t>
              </a:r>
            </a:p>
          </p:txBody>
        </p:sp>
        <p:sp>
          <p:nvSpPr>
            <p:cNvPr id="28687" name="Line 1039"/>
            <p:cNvSpPr>
              <a:spLocks noChangeShapeType="1"/>
            </p:cNvSpPr>
            <p:nvPr/>
          </p:nvSpPr>
          <p:spPr bwMode="auto">
            <a:xfrm flipV="1">
              <a:off x="8229600" y="2057400"/>
              <a:ext cx="152400" cy="76200"/>
            </a:xfrm>
            <a:prstGeom prst="line">
              <a:avLst/>
            </a:pr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330208356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1524000" y="0"/>
            <a:ext cx="8458200" cy="579438"/>
          </a:xfrm>
        </p:spPr>
        <p:txBody>
          <a:bodyPr>
            <a:normAutofit fontScale="90000"/>
          </a:bodyPr>
          <a:lstStyle/>
          <a:p>
            <a:pPr eaLnBrk="1" hangingPunct="1"/>
            <a:r>
              <a:rPr lang="en-US" altLang="en-US" b="1" dirty="0"/>
              <a:t>Titration of a </a:t>
            </a:r>
            <a:r>
              <a:rPr lang="en-US" altLang="en-US" b="1" dirty="0" err="1"/>
              <a:t>Polyprotic</a:t>
            </a:r>
            <a:r>
              <a:rPr lang="en-US" altLang="en-US" b="1" dirty="0"/>
              <a:t> Acid</a:t>
            </a:r>
          </a:p>
        </p:txBody>
      </p:sp>
      <p:sp>
        <p:nvSpPr>
          <p:cNvPr id="44035" name="Rectangle 3"/>
          <p:cNvSpPr>
            <a:spLocks noGrp="1" noChangeArrowheads="1"/>
          </p:cNvSpPr>
          <p:nvPr>
            <p:ph idx="1"/>
          </p:nvPr>
        </p:nvSpPr>
        <p:spPr>
          <a:xfrm>
            <a:off x="381000" y="819518"/>
            <a:ext cx="5943600" cy="4514482"/>
          </a:xfrm>
        </p:spPr>
        <p:txBody>
          <a:bodyPr/>
          <a:lstStyle/>
          <a:p>
            <a:pPr eaLnBrk="1" hangingPunct="1"/>
            <a:r>
              <a:rPr lang="en-US" altLang="en-US" dirty="0"/>
              <a:t>If </a:t>
            </a:r>
            <a:r>
              <a:rPr lang="en-US" altLang="en-US" i="1" dirty="0"/>
              <a:t>K</a:t>
            </a:r>
            <a:r>
              <a:rPr lang="en-US" altLang="en-US" baseline="-25000" dirty="0"/>
              <a:t>a1 </a:t>
            </a:r>
            <a:r>
              <a:rPr lang="en-US" altLang="en-US" dirty="0"/>
              <a:t>&gt;&gt; </a:t>
            </a:r>
            <a:r>
              <a:rPr lang="en-US" altLang="en-US" i="1" dirty="0"/>
              <a:t>K</a:t>
            </a:r>
            <a:r>
              <a:rPr lang="en-US" altLang="en-US" baseline="-25000" dirty="0"/>
              <a:t>a2</a:t>
            </a:r>
            <a:r>
              <a:rPr lang="en-US" altLang="en-US" dirty="0"/>
              <a:t>, there will be two equivalence points in the titration.</a:t>
            </a:r>
          </a:p>
          <a:p>
            <a:pPr lvl="1" eaLnBrk="1" hangingPunct="1"/>
            <a:r>
              <a:rPr lang="en-US" altLang="en-US" dirty="0"/>
              <a:t>Graph has a ‘zigzag’ pattern</a:t>
            </a:r>
          </a:p>
          <a:p>
            <a:pPr lvl="1" eaLnBrk="1" hangingPunct="1"/>
            <a:r>
              <a:rPr lang="en-US" altLang="en-US" dirty="0"/>
              <a:t>The closer the </a:t>
            </a:r>
            <a:r>
              <a:rPr lang="en-US" altLang="en-US" i="1" dirty="0" err="1"/>
              <a:t>K</a:t>
            </a:r>
            <a:r>
              <a:rPr lang="en-US" altLang="en-US" baseline="-25000" dirty="0" err="1"/>
              <a:t>a</a:t>
            </a:r>
            <a:r>
              <a:rPr lang="en-US" altLang="en-US" dirty="0" err="1"/>
              <a:t>’s</a:t>
            </a:r>
            <a:r>
              <a:rPr lang="en-US" altLang="en-US" dirty="0"/>
              <a:t> are to each other, the less distinguishable the equivalence points are.</a:t>
            </a:r>
          </a:p>
          <a:p>
            <a:pPr lvl="1" eaLnBrk="1" hangingPunct="1"/>
            <a:r>
              <a:rPr lang="en-US" altLang="en-US" dirty="0"/>
              <a:t>Notice that it takes equal amounts of moles to reach each equivalence point</a:t>
            </a:r>
          </a:p>
        </p:txBody>
      </p:sp>
      <p:sp>
        <p:nvSpPr>
          <p:cNvPr id="44036" name="Text Box 5"/>
          <p:cNvSpPr txBox="1">
            <a:spLocks noChangeArrowheads="1"/>
          </p:cNvSpPr>
          <p:nvPr/>
        </p:nvSpPr>
        <p:spPr bwMode="auto">
          <a:xfrm>
            <a:off x="6934200" y="1017220"/>
            <a:ext cx="502920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Arial" pitchFamily="34" charset="0"/>
              </a:defRPr>
            </a:lvl1pPr>
            <a:lvl2pPr marL="742950" indent="-285750">
              <a:defRPr sz="2400">
                <a:solidFill>
                  <a:schemeClr val="tx1"/>
                </a:solidFill>
                <a:latin typeface="Arial" pitchFamily="34" charset="0"/>
              </a:defRPr>
            </a:lvl2pPr>
            <a:lvl3pPr marL="1143000" indent="-228600">
              <a:defRPr sz="2400">
                <a:solidFill>
                  <a:schemeClr val="tx1"/>
                </a:solidFill>
                <a:latin typeface="Arial" pitchFamily="34" charset="0"/>
              </a:defRPr>
            </a:lvl3pPr>
            <a:lvl4pPr marL="1600200" indent="-228600">
              <a:defRPr sz="2400">
                <a:solidFill>
                  <a:schemeClr val="tx1"/>
                </a:solidFill>
                <a:latin typeface="Arial" pitchFamily="34" charset="0"/>
              </a:defRPr>
            </a:lvl4pPr>
            <a:lvl5pPr marL="2057400" indent="-228600">
              <a:defRPr sz="2400">
                <a:solidFill>
                  <a:schemeClr val="tx1"/>
                </a:solidFill>
                <a:latin typeface="Arial" pitchFamily="34" charset="0"/>
              </a:defRPr>
            </a:lvl5pPr>
            <a:lvl6pPr marL="2514600" indent="-228600" eaLnBrk="0" fontAlgn="base" hangingPunct="0">
              <a:spcBef>
                <a:spcPct val="0"/>
              </a:spcBef>
              <a:spcAft>
                <a:spcPct val="0"/>
              </a:spcAft>
              <a:defRPr sz="2400">
                <a:solidFill>
                  <a:schemeClr val="tx1"/>
                </a:solidFill>
                <a:latin typeface="Arial" pitchFamily="34" charset="0"/>
              </a:defRPr>
            </a:lvl6pPr>
            <a:lvl7pPr marL="2971800" indent="-228600" eaLnBrk="0" fontAlgn="base" hangingPunct="0">
              <a:spcBef>
                <a:spcPct val="0"/>
              </a:spcBef>
              <a:spcAft>
                <a:spcPct val="0"/>
              </a:spcAft>
              <a:defRPr sz="2400">
                <a:solidFill>
                  <a:schemeClr val="tx1"/>
                </a:solidFill>
                <a:latin typeface="Arial" pitchFamily="34" charset="0"/>
              </a:defRPr>
            </a:lvl7pPr>
            <a:lvl8pPr marL="3429000" indent="-228600" eaLnBrk="0" fontAlgn="base" hangingPunct="0">
              <a:spcBef>
                <a:spcPct val="0"/>
              </a:spcBef>
              <a:spcAft>
                <a:spcPct val="0"/>
              </a:spcAft>
              <a:defRPr sz="2400">
                <a:solidFill>
                  <a:schemeClr val="tx1"/>
                </a:solidFill>
                <a:latin typeface="Arial" pitchFamily="34" charset="0"/>
              </a:defRPr>
            </a:lvl8pPr>
            <a:lvl9pPr marL="3886200" indent="-228600" eaLnBrk="0" fontAlgn="base" hangingPunct="0">
              <a:spcBef>
                <a:spcPct val="0"/>
              </a:spcBef>
              <a:spcAft>
                <a:spcPct val="0"/>
              </a:spcAft>
              <a:defRPr sz="2400">
                <a:solidFill>
                  <a:schemeClr val="tx1"/>
                </a:solidFill>
                <a:latin typeface="Arial" pitchFamily="34" charset="0"/>
              </a:defRPr>
            </a:lvl9pPr>
          </a:lstStyle>
          <a:p>
            <a:pPr algn="ctr"/>
            <a:r>
              <a:rPr lang="en-US" altLang="en-US" dirty="0"/>
              <a:t>Titration of 25.0 mL of 0.100 M H</a:t>
            </a:r>
            <a:r>
              <a:rPr lang="en-US" altLang="en-US" baseline="-25000" dirty="0"/>
              <a:t>2</a:t>
            </a:r>
            <a:r>
              <a:rPr lang="en-US" altLang="en-US" dirty="0"/>
              <a:t>SO</a:t>
            </a:r>
            <a:r>
              <a:rPr lang="en-US" altLang="en-US" baseline="-25000" dirty="0"/>
              <a:t>3</a:t>
            </a:r>
            <a:r>
              <a:rPr lang="en-US" altLang="en-US" dirty="0"/>
              <a:t> with 0.100 M </a:t>
            </a:r>
            <a:r>
              <a:rPr lang="en-US" altLang="en-US" dirty="0" err="1"/>
              <a:t>NaOH</a:t>
            </a:r>
            <a:endParaRPr lang="en-US" altLang="en-US" dirty="0"/>
          </a:p>
        </p:txBody>
      </p:sp>
      <p:pic>
        <p:nvPicPr>
          <p:cNvPr id="44037" name="Picture 8" descr="16_09_Figure"/>
          <p:cNvPicPr>
            <a:picLocks noChangeAspect="1" noChangeArrowheads="1"/>
          </p:cNvPicPr>
          <p:nvPr/>
        </p:nvPicPr>
        <p:blipFill>
          <a:blip r:embed="rId3" cstate="print">
            <a:extLst>
              <a:ext uri="{28A0092B-C50C-407E-A947-70E740481C1C}">
                <a14:useLocalDpi xmlns:a14="http://schemas.microsoft.com/office/drawing/2010/main" val="0"/>
              </a:ext>
            </a:extLst>
          </a:blip>
          <a:srcRect b="3712"/>
          <a:stretch>
            <a:fillRect/>
          </a:stretch>
        </p:blipFill>
        <p:spPr bwMode="auto">
          <a:xfrm>
            <a:off x="7239000" y="1861828"/>
            <a:ext cx="4724400" cy="4912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21763823"/>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6172200" y="685800"/>
            <a:ext cx="6019800" cy="4363068"/>
          </a:xfrm>
          <a:prstGeom prst="rect">
            <a:avLst/>
          </a:prstGeom>
        </p:spPr>
      </p:pic>
      <p:sp>
        <p:nvSpPr>
          <p:cNvPr id="38914" name="Rectangle 2"/>
          <p:cNvSpPr>
            <a:spLocks noGrp="1" noChangeArrowheads="1"/>
          </p:cNvSpPr>
          <p:nvPr>
            <p:ph type="title"/>
          </p:nvPr>
        </p:nvSpPr>
        <p:spPr>
          <a:xfrm>
            <a:off x="914400" y="22746"/>
            <a:ext cx="10363200" cy="533400"/>
          </a:xfrm>
        </p:spPr>
        <p:txBody>
          <a:bodyPr/>
          <a:lstStyle/>
          <a:p>
            <a:r>
              <a:rPr lang="en-US" sz="4000" b="1" dirty="0">
                <a:solidFill>
                  <a:schemeClr val="tx1"/>
                </a:solidFill>
              </a:rPr>
              <a:t>Weak base - Strong acid Titration</a:t>
            </a:r>
            <a:endParaRPr lang="en-US" dirty="0">
              <a:solidFill>
                <a:schemeClr val="tx1"/>
              </a:solidFill>
            </a:endParaRPr>
          </a:p>
        </p:txBody>
      </p:sp>
      <p:sp>
        <p:nvSpPr>
          <p:cNvPr id="2" name="Content Placeholder 1"/>
          <p:cNvSpPr>
            <a:spLocks noGrp="1"/>
          </p:cNvSpPr>
          <p:nvPr>
            <p:ph idx="1"/>
          </p:nvPr>
        </p:nvSpPr>
        <p:spPr>
          <a:xfrm>
            <a:off x="152400" y="1219200"/>
            <a:ext cx="6553200" cy="4876800"/>
          </a:xfrm>
        </p:spPr>
        <p:txBody>
          <a:bodyPr/>
          <a:lstStyle/>
          <a:p>
            <a:pPr marL="0" indent="0" algn="ctr">
              <a:buNone/>
            </a:pPr>
            <a:r>
              <a:rPr lang="en-US" b="1" dirty="0"/>
              <a:t>B  +	H</a:t>
            </a:r>
            <a:r>
              <a:rPr lang="en-US" b="1" baseline="-25000" dirty="0"/>
              <a:t>3</a:t>
            </a:r>
            <a:r>
              <a:rPr lang="en-US" b="1" dirty="0"/>
              <a:t>O</a:t>
            </a:r>
            <a:r>
              <a:rPr lang="en-US" b="1" baseline="30000" dirty="0"/>
              <a:t>+</a:t>
            </a:r>
            <a:r>
              <a:rPr lang="en-US" b="1" dirty="0"/>
              <a:t>  </a:t>
            </a:r>
            <a:r>
              <a:rPr lang="en-US" b="1" dirty="0">
                <a:sym typeface="Wingdings" panose="05000000000000000000" pitchFamily="2" charset="2"/>
              </a:rPr>
              <a:t>	BH</a:t>
            </a:r>
            <a:r>
              <a:rPr lang="en-US" b="1" baseline="30000" dirty="0"/>
              <a:t>+ 	</a:t>
            </a:r>
            <a:r>
              <a:rPr lang="en-US" b="1" dirty="0"/>
              <a:t>+  H</a:t>
            </a:r>
            <a:r>
              <a:rPr lang="en-US" b="1" baseline="-25000" dirty="0"/>
              <a:t>2</a:t>
            </a:r>
            <a:r>
              <a:rPr lang="en-US" b="1" dirty="0"/>
              <a:t>O</a:t>
            </a:r>
          </a:p>
          <a:p>
            <a:r>
              <a:rPr lang="en-US" dirty="0"/>
              <a:t>Before the equivalence point, a weak base equilibria exists.</a:t>
            </a:r>
          </a:p>
          <a:p>
            <a:r>
              <a:rPr lang="en-US" dirty="0"/>
              <a:t>At ½ equivalence point </a:t>
            </a:r>
            <a:r>
              <a:rPr lang="en-US" dirty="0">
                <a:solidFill>
                  <a:srgbClr val="FF0000"/>
                </a:solidFill>
              </a:rPr>
              <a:t>pOH = </a:t>
            </a:r>
            <a:r>
              <a:rPr lang="en-US" dirty="0" err="1">
                <a:solidFill>
                  <a:srgbClr val="FF0000"/>
                </a:solidFill>
              </a:rPr>
              <a:t>pKb</a:t>
            </a:r>
            <a:endParaRPr lang="en-US" dirty="0">
              <a:solidFill>
                <a:srgbClr val="FF0000"/>
              </a:solidFill>
            </a:endParaRPr>
          </a:p>
          <a:p>
            <a:r>
              <a:rPr lang="en-US" dirty="0"/>
              <a:t>At equivalence point, the conjugate acid causes the solution to have a  pH &lt; 7</a:t>
            </a:r>
          </a:p>
          <a:p>
            <a:r>
              <a:rPr lang="en-US" dirty="0"/>
              <a:t>Circle the buffer zone</a:t>
            </a:r>
            <a:br>
              <a:rPr lang="en-US" dirty="0"/>
            </a:br>
            <a:br>
              <a:rPr lang="en-US" dirty="0"/>
            </a:br>
            <a:endParaRPr lang="en-US" dirty="0"/>
          </a:p>
        </p:txBody>
      </p:sp>
      <p:sp>
        <p:nvSpPr>
          <p:cNvPr id="5" name="TextBox 4"/>
          <p:cNvSpPr txBox="1"/>
          <p:nvPr/>
        </p:nvSpPr>
        <p:spPr>
          <a:xfrm flipH="1">
            <a:off x="6202906" y="5007999"/>
            <a:ext cx="5989093" cy="1815882"/>
          </a:xfrm>
          <a:prstGeom prst="rect">
            <a:avLst/>
          </a:prstGeom>
          <a:noFill/>
        </p:spPr>
        <p:txBody>
          <a:bodyPr wrap="square" rtlCol="0">
            <a:spAutoFit/>
          </a:bodyPr>
          <a:lstStyle/>
          <a:p>
            <a:r>
              <a:rPr lang="en-US" sz="2800" dirty="0"/>
              <a:t>Easiest way to tell this is a weak base titration?</a:t>
            </a:r>
          </a:p>
          <a:p>
            <a:r>
              <a:rPr lang="en-US" sz="2800" dirty="0">
                <a:solidFill>
                  <a:srgbClr val="FF0000"/>
                </a:solidFill>
              </a:rPr>
              <a:t>~Initial pH is &gt;7!</a:t>
            </a:r>
          </a:p>
          <a:p>
            <a:r>
              <a:rPr lang="en-US" sz="2800" dirty="0">
                <a:solidFill>
                  <a:srgbClr val="FF0000"/>
                </a:solidFill>
              </a:rPr>
              <a:t>~pH at Equivalence point is </a:t>
            </a:r>
            <a:r>
              <a:rPr lang="en-US" sz="2800" i="1" dirty="0">
                <a:solidFill>
                  <a:srgbClr val="FF0000"/>
                </a:solidFill>
              </a:rPr>
              <a:t>ACIDIC!!!</a:t>
            </a:r>
            <a:endParaRPr lang="en-US" sz="2800" dirty="0">
              <a:solidFill>
                <a:srgbClr val="FF0000"/>
              </a:solidFill>
            </a:endParaRPr>
          </a:p>
        </p:txBody>
      </p:sp>
    </p:spTree>
    <p:extLst>
      <p:ext uri="{BB962C8B-B14F-4D97-AF65-F5344CB8AC3E}">
        <p14:creationId xmlns:p14="http://schemas.microsoft.com/office/powerpoint/2010/main" val="79864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912125" y="0"/>
            <a:ext cx="10363200" cy="762000"/>
          </a:xfrm>
        </p:spPr>
        <p:txBody>
          <a:bodyPr/>
          <a:lstStyle/>
          <a:p>
            <a:r>
              <a:rPr lang="en-US" dirty="0">
                <a:solidFill>
                  <a:schemeClr val="tx1"/>
                </a:solidFill>
              </a:rPr>
              <a:t>Indicators</a:t>
            </a:r>
          </a:p>
        </p:txBody>
      </p:sp>
      <p:sp>
        <p:nvSpPr>
          <p:cNvPr id="2" name="Content Placeholder 1"/>
          <p:cNvSpPr>
            <a:spLocks noGrp="1"/>
          </p:cNvSpPr>
          <p:nvPr>
            <p:ph idx="1"/>
          </p:nvPr>
        </p:nvSpPr>
        <p:spPr>
          <a:xfrm>
            <a:off x="914400" y="990600"/>
            <a:ext cx="10363200" cy="5105400"/>
          </a:xfrm>
        </p:spPr>
        <p:txBody>
          <a:bodyPr/>
          <a:lstStyle/>
          <a:p>
            <a:r>
              <a:rPr lang="en-US" dirty="0"/>
              <a:t> Indicators are usually weak acids, </a:t>
            </a:r>
            <a:r>
              <a:rPr lang="en-US" dirty="0" err="1"/>
              <a:t>H</a:t>
            </a:r>
            <a:r>
              <a:rPr lang="en-US" i="1" dirty="0" err="1"/>
              <a:t>In</a:t>
            </a:r>
            <a:r>
              <a:rPr lang="en-US" dirty="0"/>
              <a:t>.  They have one color in their acidic (</a:t>
            </a:r>
            <a:r>
              <a:rPr lang="en-US" dirty="0" err="1">
                <a:solidFill>
                  <a:srgbClr val="FF0000"/>
                </a:solidFill>
              </a:rPr>
              <a:t>H</a:t>
            </a:r>
            <a:r>
              <a:rPr lang="en-US" i="1" dirty="0" err="1">
                <a:solidFill>
                  <a:srgbClr val="FF0000"/>
                </a:solidFill>
              </a:rPr>
              <a:t>In</a:t>
            </a:r>
            <a:r>
              <a:rPr lang="en-US" dirty="0"/>
              <a:t>) form and another color in their basic (</a:t>
            </a:r>
            <a:r>
              <a:rPr lang="en-US" i="1" dirty="0">
                <a:solidFill>
                  <a:srgbClr val="FF0000"/>
                </a:solidFill>
              </a:rPr>
              <a:t>In</a:t>
            </a:r>
            <a:r>
              <a:rPr lang="en-US" baseline="30000" dirty="0">
                <a:solidFill>
                  <a:srgbClr val="FF0000"/>
                </a:solidFill>
                <a:sym typeface="Symbol" pitchFamily="18" charset="2"/>
              </a:rPr>
              <a:t></a:t>
            </a:r>
            <a:r>
              <a:rPr lang="en-US" dirty="0"/>
              <a:t>) form.  </a:t>
            </a:r>
          </a:p>
          <a:p>
            <a:r>
              <a:rPr lang="en-US" dirty="0"/>
              <a:t>H</a:t>
            </a:r>
            <a:r>
              <a:rPr lang="en-US" baseline="30000" dirty="0"/>
              <a:t>+</a:t>
            </a:r>
            <a:r>
              <a:rPr lang="en-US" dirty="0"/>
              <a:t> + </a:t>
            </a:r>
            <a:r>
              <a:rPr lang="en-US" i="1" dirty="0"/>
              <a:t>In</a:t>
            </a:r>
            <a:r>
              <a:rPr lang="en-US" i="1" baseline="30000" dirty="0"/>
              <a:t>-</a:t>
            </a:r>
            <a:r>
              <a:rPr lang="en-US" dirty="0"/>
              <a:t> ⇌ </a:t>
            </a:r>
            <a:r>
              <a:rPr lang="en-US" dirty="0" err="1"/>
              <a:t>H</a:t>
            </a:r>
            <a:r>
              <a:rPr lang="en-US" i="1" dirty="0" err="1"/>
              <a:t>In</a:t>
            </a:r>
            <a:r>
              <a:rPr lang="en-US" dirty="0"/>
              <a:t>	~OR~	</a:t>
            </a:r>
            <a:r>
              <a:rPr lang="en-US" dirty="0" err="1"/>
              <a:t>H</a:t>
            </a:r>
            <a:r>
              <a:rPr lang="en-US" i="1" dirty="0" err="1"/>
              <a:t>In</a:t>
            </a:r>
            <a:r>
              <a:rPr lang="en-US" dirty="0"/>
              <a:t> + OH</a:t>
            </a:r>
            <a:r>
              <a:rPr lang="en-US" baseline="30000" dirty="0"/>
              <a:t>-</a:t>
            </a:r>
            <a:r>
              <a:rPr lang="en-US" dirty="0"/>
              <a:t> ⇌  H</a:t>
            </a:r>
            <a:r>
              <a:rPr lang="en-US" baseline="-25000" dirty="0"/>
              <a:t>2</a:t>
            </a:r>
            <a:r>
              <a:rPr lang="en-US" dirty="0"/>
              <a:t>O  + </a:t>
            </a:r>
            <a:r>
              <a:rPr lang="en-US" i="1" dirty="0"/>
              <a:t>In</a:t>
            </a:r>
            <a:r>
              <a:rPr lang="en-US" i="1" baseline="30000" dirty="0"/>
              <a:t>-</a:t>
            </a:r>
            <a:endParaRPr lang="en-US" dirty="0"/>
          </a:p>
          <a:p>
            <a:r>
              <a:rPr lang="en-US" dirty="0"/>
              <a:t>A very common indicator, phenolphthalein, is colorless in its </a:t>
            </a:r>
            <a:r>
              <a:rPr lang="en-US" dirty="0" err="1"/>
              <a:t>H</a:t>
            </a:r>
            <a:r>
              <a:rPr lang="en-US" i="1" dirty="0" err="1"/>
              <a:t>In</a:t>
            </a:r>
            <a:r>
              <a:rPr lang="en-US" dirty="0"/>
              <a:t> form and pink in its </a:t>
            </a:r>
            <a:r>
              <a:rPr lang="en-US" i="1" dirty="0"/>
              <a:t>In</a:t>
            </a:r>
            <a:r>
              <a:rPr lang="en-US" baseline="30000" dirty="0">
                <a:sym typeface="Symbol" pitchFamily="18" charset="2"/>
              </a:rPr>
              <a:t></a:t>
            </a:r>
            <a:r>
              <a:rPr lang="en-US" dirty="0"/>
              <a:t> form.  It changes color in the range of pH 8-10. </a:t>
            </a:r>
          </a:p>
        </p:txBody>
      </p:sp>
      <p:pic>
        <p:nvPicPr>
          <p:cNvPr id="48131" name="Picture 4" descr="http://withfriendship.com/images/h/39333/Phenolphthalein-image.jpg"/>
          <p:cNvPicPr>
            <a:picLocks noChangeAspect="1" noChangeArrowheads="1"/>
          </p:cNvPicPr>
          <p:nvPr/>
        </p:nvPicPr>
        <p:blipFill>
          <a:blip r:embed="rId3" cstate="print"/>
          <a:srcRect/>
          <a:stretch>
            <a:fillRect/>
          </a:stretch>
        </p:blipFill>
        <p:spPr bwMode="auto">
          <a:xfrm>
            <a:off x="8610600" y="4456303"/>
            <a:ext cx="3581400" cy="2389187"/>
          </a:xfrm>
          <a:prstGeom prst="rect">
            <a:avLst/>
          </a:prstGeom>
          <a:noFill/>
          <a:ln w="9525">
            <a:noFill/>
            <a:miter lim="800000"/>
            <a:headEnd/>
            <a:tailEnd/>
          </a:ln>
        </p:spPr>
      </p:pic>
    </p:spTree>
    <p:extLst>
      <p:ext uri="{BB962C8B-B14F-4D97-AF65-F5344CB8AC3E}">
        <p14:creationId xmlns:p14="http://schemas.microsoft.com/office/powerpoint/2010/main" val="18925501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914400" y="0"/>
            <a:ext cx="10363200" cy="762000"/>
          </a:xfrm>
        </p:spPr>
        <p:txBody>
          <a:bodyPr/>
          <a:lstStyle/>
          <a:p>
            <a:r>
              <a:rPr lang="en-US" dirty="0">
                <a:solidFill>
                  <a:schemeClr val="tx1"/>
                </a:solidFill>
              </a:rPr>
              <a:t>Choosing an indicator</a:t>
            </a:r>
          </a:p>
        </p:txBody>
      </p:sp>
      <p:sp>
        <p:nvSpPr>
          <p:cNvPr id="2" name="Content Placeholder 1"/>
          <p:cNvSpPr>
            <a:spLocks noGrp="1"/>
          </p:cNvSpPr>
          <p:nvPr>
            <p:ph idx="1"/>
          </p:nvPr>
        </p:nvSpPr>
        <p:spPr>
          <a:xfrm>
            <a:off x="228600" y="914400"/>
            <a:ext cx="6019800" cy="4953000"/>
          </a:xfrm>
        </p:spPr>
        <p:txBody>
          <a:bodyPr/>
          <a:lstStyle/>
          <a:p>
            <a:r>
              <a:rPr lang="en-US" dirty="0"/>
              <a:t>The useful range of an indicator is usually the indicator </a:t>
            </a:r>
            <a:r>
              <a:rPr lang="en-US" dirty="0" err="1"/>
              <a:t>p</a:t>
            </a:r>
            <a:r>
              <a:rPr lang="en-US" i="1" dirty="0" err="1"/>
              <a:t>K</a:t>
            </a:r>
            <a:r>
              <a:rPr lang="en-US" i="1" baseline="-25000" dirty="0" err="1"/>
              <a:t>a</a:t>
            </a:r>
            <a:r>
              <a:rPr lang="en-US" dirty="0"/>
              <a:t> ±1 (the buffering region).  </a:t>
            </a:r>
          </a:p>
          <a:p>
            <a:r>
              <a:rPr lang="en-US" dirty="0"/>
              <a:t>When choosing an indicator, determine the pH at the equivalence point of the titration and then choose an indicator with a </a:t>
            </a:r>
            <a:r>
              <a:rPr lang="en-US" dirty="0" err="1"/>
              <a:t>p</a:t>
            </a:r>
            <a:r>
              <a:rPr lang="en-US" i="1" dirty="0" err="1"/>
              <a:t>K</a:t>
            </a:r>
            <a:r>
              <a:rPr lang="en-US" i="1" baseline="-25000" dirty="0" err="1"/>
              <a:t>a</a:t>
            </a:r>
            <a:r>
              <a:rPr lang="en-US" dirty="0"/>
              <a:t> close to that. </a:t>
            </a:r>
          </a:p>
        </p:txBody>
      </p:sp>
      <p:pic>
        <p:nvPicPr>
          <p:cNvPr id="3" name="Picture 2"/>
          <p:cNvPicPr>
            <a:picLocks noChangeAspect="1"/>
          </p:cNvPicPr>
          <p:nvPr/>
        </p:nvPicPr>
        <p:blipFill>
          <a:blip r:embed="rId3"/>
          <a:stretch>
            <a:fillRect/>
          </a:stretch>
        </p:blipFill>
        <p:spPr>
          <a:xfrm>
            <a:off x="6553200" y="704850"/>
            <a:ext cx="5295900" cy="3257550"/>
          </a:xfrm>
          <a:prstGeom prst="rect">
            <a:avLst/>
          </a:prstGeom>
        </p:spPr>
      </p:pic>
      <p:sp>
        <p:nvSpPr>
          <p:cNvPr id="4" name="Oval 3"/>
          <p:cNvSpPr/>
          <p:nvPr/>
        </p:nvSpPr>
        <p:spPr bwMode="auto">
          <a:xfrm>
            <a:off x="7467600" y="3200400"/>
            <a:ext cx="2895600" cy="304800"/>
          </a:xfrm>
          <a:prstGeom prst="ellipse">
            <a:avLst/>
          </a:prstGeom>
          <a:no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pitchFamily="18" charset="0"/>
            </a:endParaRPr>
          </a:p>
        </p:txBody>
      </p:sp>
    </p:spTree>
    <p:extLst>
      <p:ext uri="{BB962C8B-B14F-4D97-AF65-F5344CB8AC3E}">
        <p14:creationId xmlns:p14="http://schemas.microsoft.com/office/powerpoint/2010/main" val="264194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135468" y="0"/>
            <a:ext cx="11921064" cy="6705599"/>
          </a:xfrm>
          <a:prstGeom prst="rect">
            <a:avLst/>
          </a:prstGeom>
        </p:spPr>
      </p:pic>
    </p:spTree>
    <p:extLst>
      <p:ext uri="{BB962C8B-B14F-4D97-AF65-F5344CB8AC3E}">
        <p14:creationId xmlns:p14="http://schemas.microsoft.com/office/powerpoint/2010/main" val="209501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1000" fill="hold"/>
                                        <p:tgtEl>
                                          <p:spTgt spid="4"/>
                                        </p:tgtEl>
                                        <p:attrNameLst>
                                          <p:attrName>ppt_w</p:attrName>
                                        </p:attrNameLst>
                                      </p:cBhvr>
                                      <p:tavLst>
                                        <p:tav tm="0">
                                          <p:val>
                                            <p:fltVal val="0"/>
                                          </p:val>
                                        </p:tav>
                                        <p:tav tm="100000">
                                          <p:val>
                                            <p:strVal val="#ppt_w"/>
                                          </p:val>
                                        </p:tav>
                                      </p:tavLst>
                                    </p:anim>
                                    <p:anim calcmode="lin" valueType="num">
                                      <p:cBhvr>
                                        <p:cTn id="8" dur="1000" fill="hold"/>
                                        <p:tgtEl>
                                          <p:spTgt spid="4"/>
                                        </p:tgtEl>
                                        <p:attrNameLst>
                                          <p:attrName>ppt_h</p:attrName>
                                        </p:attrNameLst>
                                      </p:cBhvr>
                                      <p:tavLst>
                                        <p:tav tm="0">
                                          <p:val>
                                            <p:fltVal val="0"/>
                                          </p:val>
                                        </p:tav>
                                        <p:tav tm="100000">
                                          <p:val>
                                            <p:strVal val="#ppt_h"/>
                                          </p:val>
                                        </p:tav>
                                      </p:tavLst>
                                    </p:anim>
                                    <p:anim calcmode="lin" valueType="num">
                                      <p:cBhvr>
                                        <p:cTn id="9" dur="1000" fill="hold"/>
                                        <p:tgtEl>
                                          <p:spTgt spid="4"/>
                                        </p:tgtEl>
                                        <p:attrNameLst>
                                          <p:attrName>style.rotation</p:attrName>
                                        </p:attrNameLst>
                                      </p:cBhvr>
                                      <p:tavLst>
                                        <p:tav tm="0">
                                          <p:val>
                                            <p:fltVal val="90"/>
                                          </p:val>
                                        </p:tav>
                                        <p:tav tm="100000">
                                          <p:val>
                                            <p:fltVal val="0"/>
                                          </p:val>
                                        </p:tav>
                                      </p:tavLst>
                                    </p:anim>
                                    <p:animEffect transition="in" filter="fade">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Blank Presentation">
  <a:themeElements>
    <a:clrScheme name="Blank Presentation.pot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pot">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Blank Presentation.pot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pot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pot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pot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pot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pot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pot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10387</TotalTime>
  <Words>6313</Words>
  <Application>Microsoft Office PowerPoint</Application>
  <PresentationFormat>Widescreen</PresentationFormat>
  <Paragraphs>593</Paragraphs>
  <Slides>104</Slides>
  <Notes>61</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104</vt:i4>
      </vt:variant>
    </vt:vector>
  </HeadingPairs>
  <TitlesOfParts>
    <vt:vector size="118" baseType="lpstr">
      <vt:lpstr>ＭＳ Ｐゴシック</vt:lpstr>
      <vt:lpstr>Arial</vt:lpstr>
      <vt:lpstr>Calibri</vt:lpstr>
      <vt:lpstr>Cambria Math</vt:lpstr>
      <vt:lpstr>Courier New</vt:lpstr>
      <vt:lpstr>Segoe UI Semibold</vt:lpstr>
      <vt:lpstr>Stencil</vt:lpstr>
      <vt:lpstr>Symbol</vt:lpstr>
      <vt:lpstr>Times New Roman</vt:lpstr>
      <vt:lpstr>Tw Cen MT Condensed Extra Bold</vt:lpstr>
      <vt:lpstr>Wingdings</vt:lpstr>
      <vt:lpstr>Wingdings 3</vt:lpstr>
      <vt:lpstr>Blank Presentation</vt:lpstr>
      <vt:lpstr>Equation</vt:lpstr>
      <vt:lpstr>Unit 7: Acids and Bases</vt:lpstr>
      <vt:lpstr>PowerPoint Presentation</vt:lpstr>
      <vt:lpstr>Review…. Naming Acids</vt:lpstr>
      <vt:lpstr>Arrhenius Acids and Bases</vt:lpstr>
      <vt:lpstr>hydronium ion (H3O+)- formed on reaction of a proton with a water molecule.  H+ and H3O+ are used interchangeably in most situations.  </vt:lpstr>
      <vt:lpstr>Definition of Acids and Bases:  Brønsted-Lowry Acids and Bases</vt:lpstr>
      <vt:lpstr>Brønsted-Lowry Acids and Bases</vt:lpstr>
      <vt:lpstr> Brønsted-Lowry Acids and Bases</vt:lpstr>
      <vt:lpstr> Brønsted-Lowry Acids and Bases</vt:lpstr>
      <vt:lpstr>Identify the conjugate bases of these substances.</vt:lpstr>
      <vt:lpstr>Identify the conjugate acids of these substances.</vt:lpstr>
      <vt:lpstr>For the following reactions, identify the acid, base, conjugate acid and conjugate base</vt:lpstr>
      <vt:lpstr>PowerPoint Presentation</vt:lpstr>
      <vt:lpstr>Strong and Weak Acids and Bases</vt:lpstr>
      <vt:lpstr>PowerPoint Presentation</vt:lpstr>
      <vt:lpstr>PowerPoint Presentation</vt:lpstr>
      <vt:lpstr>PowerPoint Presentation</vt:lpstr>
      <vt:lpstr>PowerPoint Presentation</vt:lpstr>
      <vt:lpstr>Reminder: Common strong acids   -all completely dissociate! (Know these!)</vt:lpstr>
      <vt:lpstr>Sulfuric acid is a diprotic acid which means that it has two acidic protons.  The first (H2SO4) is strong and the second  (HSO4) is weak.  Write equations for the first and second dissociations of sulfuric acid in water.</vt:lpstr>
      <vt:lpstr>Strong Bases Completely Dissociate</vt:lpstr>
      <vt:lpstr> Autoionization of Water</vt:lpstr>
      <vt:lpstr>Ion product constant for water (Kw) </vt:lpstr>
      <vt:lpstr>More about Kw</vt:lpstr>
      <vt:lpstr>Calculating the pH of strong acids and bases</vt:lpstr>
      <vt:lpstr>Significant figures in pH and other log values:</vt:lpstr>
      <vt:lpstr>pH and pOH</vt:lpstr>
      <vt:lpstr>pH, pOH and pK are logarithmic functions</vt:lpstr>
      <vt:lpstr>Practice</vt:lpstr>
      <vt:lpstr>Calculating pH of Strong Acid Solutions</vt:lpstr>
      <vt:lpstr>Practice: </vt:lpstr>
      <vt:lpstr>PowerPoint Presentation</vt:lpstr>
      <vt:lpstr>Fill in the missing information in the table below. Pay attention to the concentration of hydroxide in the last row of the table. [OH–] is not equal to 0.0050 M in 0.0050 M Ca(OH)2.</vt:lpstr>
      <vt:lpstr>Fill in the missing information in the tables below. Remember that something extra should be done to convert from [OH–] into concentration of Sr(OH)2.</vt:lpstr>
      <vt:lpstr>PowerPoint Presentation</vt:lpstr>
      <vt:lpstr>PowerPoint Presentation</vt:lpstr>
      <vt:lpstr>Acid Dissociation Reaction</vt:lpstr>
      <vt:lpstr>Acid dissociation constant (Ka)</vt:lpstr>
      <vt:lpstr>Calculating pH of Weak Acid Solutions</vt:lpstr>
      <vt:lpstr>Practice: Calculate the pH of a 0.100 M solution of acetic acid. The Ka of acetic acid is 1.8 × 105.</vt:lpstr>
      <vt:lpstr>PowerPoint Presentation</vt:lpstr>
      <vt:lpstr>The question asked for the pH.</vt:lpstr>
      <vt:lpstr>Given the initial concentration and pH of a weak acid solution, the Ka can be calculated</vt:lpstr>
      <vt:lpstr>Determination of the Percent Dissociation  (or Ionization) of a Weak Acid</vt:lpstr>
      <vt:lpstr>Practice: Calculate the percent dissociation of the 0.100 M weak acid (HA) solution with pH of 4.25 (from the last problem.)</vt:lpstr>
      <vt:lpstr>pKa and pKb</vt:lpstr>
      <vt:lpstr>Calculating pH of polyprotic acids </vt:lpstr>
      <vt:lpstr>PowerPoint Presentation</vt:lpstr>
      <vt:lpstr>Determination of the pH of a Mixture of Weak Acids</vt:lpstr>
      <vt:lpstr>Analysis of weak bases</vt:lpstr>
      <vt:lpstr>Base dissociation constant (Kb)</vt:lpstr>
      <vt:lpstr>Analysis of pH of weak bases</vt:lpstr>
      <vt:lpstr>Ex.  Calculate the [OH] and the pH for a 15.0 M NH3 solution. The Kb for NH3 is 1.8×105.                </vt:lpstr>
      <vt:lpstr>PowerPoint Presentation</vt:lpstr>
      <vt:lpstr>PowerPoint Presentation</vt:lpstr>
      <vt:lpstr>Remember: Weak Acids and Bases have significant conjugates</vt:lpstr>
      <vt:lpstr>Each of these salts contains a conjugate acid or base. Identify the significant conjugate acid or base, the partner, and hypothesize if a solution of salt would be acidic or basic or neutral.</vt:lpstr>
      <vt:lpstr>Neutral Salts</vt:lpstr>
      <vt:lpstr>Acidic Salts</vt:lpstr>
      <vt:lpstr>Basic Salts</vt:lpstr>
      <vt:lpstr>                        General Order of pH                    Strong Bases (SB)                  Weak Bases (WB)                   Basic Salts (BS)                   Neutral Salts (NS)                   Acidic Salts (AS)                   Weak Acids (WA)                    Strong Acids (SA)  When asked to rank a mixture of compounds by pH, label each as shown above and then arrange them.   </vt:lpstr>
      <vt:lpstr>PowerPoint Presentation</vt:lpstr>
      <vt:lpstr>Determination of the pH of Salts</vt:lpstr>
      <vt:lpstr>PowerPoint Presentation</vt:lpstr>
      <vt:lpstr>Practice: Calculate the pH of a 0.15 M solution of sodium acetate. The Ka of acetic acid is 1.8 x 10-5.</vt:lpstr>
      <vt:lpstr> </vt:lpstr>
      <vt:lpstr>PowerPoint Presentation</vt:lpstr>
      <vt:lpstr>PowerPoint Presentation</vt:lpstr>
      <vt:lpstr>PowerPoint Presentation</vt:lpstr>
      <vt:lpstr>Hydrohalic acids- Relative Acid Strength</vt:lpstr>
      <vt:lpstr>Relative Acid Strength</vt:lpstr>
      <vt:lpstr>Oxyacid Relative Acid Strength- multiple O’s</vt:lpstr>
      <vt:lpstr>Oxyacid Relative Acid Strength- varying central atom</vt:lpstr>
      <vt:lpstr>PowerPoint Presentation</vt:lpstr>
      <vt:lpstr>Buffer Solutions and Common ion effect </vt:lpstr>
      <vt:lpstr>Buffer Solution</vt:lpstr>
      <vt:lpstr>Which combinations of compounds can make a buffer solution?</vt:lpstr>
      <vt:lpstr>PowerPoint Presentation</vt:lpstr>
      <vt:lpstr>Buffer solutions resist pH change by reaction with strong acid or base</vt:lpstr>
      <vt:lpstr>Consider an NH3/NH4+ buffer system </vt:lpstr>
      <vt:lpstr>Buffer capacity</vt:lpstr>
      <vt:lpstr>Calculating the pH of a Buffer System</vt:lpstr>
      <vt:lpstr>Creating Buffers</vt:lpstr>
      <vt:lpstr>Hints for Solving Buffer Problems:  1.  Determine major species involved initially. 2.  If chemical reaction occurs(Is there a strong acid or strong base?), write equation and solve stoichiometry in moles, then change to molarity. 3.  Write equilibrium equation. 4.  Set up equilibrium expression (Ka or Kb). 5.  Solve. 6.  Check logic of answer.  </vt:lpstr>
      <vt:lpstr>Ex.  A solution is 0.120 M in acetic acid and 0.0900 M in sodium acetate.  Calculate the [H+] at equilibrium.  The Ka of acetic acid is 1.8×10-5.</vt:lpstr>
      <vt:lpstr>Now solve using H-H equation:Ex.  A solution is 0.120 M in acetic acid and 0.0900 M in sodium acetate.  Calculate the [H+] at equilibrium.  The Ka of acetic acid is 1.8×10-5.</vt:lpstr>
      <vt:lpstr>PowerPoint Presentation</vt:lpstr>
      <vt:lpstr>PowerPoint Presentation</vt:lpstr>
      <vt:lpstr>PowerPoint Presentation</vt:lpstr>
      <vt:lpstr>Acid-Base Titrations </vt:lpstr>
      <vt:lpstr>Neutralization Rxns</vt:lpstr>
      <vt:lpstr>Titrant and Analyte</vt:lpstr>
      <vt:lpstr>PowerPoint Presentation</vt:lpstr>
      <vt:lpstr>The progress of a Neutralization Reaction is commonly charted on a pH or Titration Curve</vt:lpstr>
      <vt:lpstr>Simplest Curve: Strong acid-strong base</vt:lpstr>
      <vt:lpstr>PowerPoint Presentation</vt:lpstr>
      <vt:lpstr>Weak acid - strong base</vt:lpstr>
      <vt:lpstr>Weak acid - strong base</vt:lpstr>
      <vt:lpstr>PowerPoint Presentation</vt:lpstr>
      <vt:lpstr>Titration of a Polyprotic Acid</vt:lpstr>
      <vt:lpstr>Weak base - Strong acid Titration</vt:lpstr>
      <vt:lpstr>Indicators</vt:lpstr>
      <vt:lpstr>Choosing an indicator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PLACEMENT CHEMISTRY ACIDS, BASES, AND AQUEOUS EQUILIBRIA</dc:title>
  <dc:creator>Kristen Jones</dc:creator>
  <cp:lastModifiedBy>Nicole_White</cp:lastModifiedBy>
  <cp:revision>360</cp:revision>
  <dcterms:created xsi:type="dcterms:W3CDTF">2004-02-16T01:25:39Z</dcterms:created>
  <dcterms:modified xsi:type="dcterms:W3CDTF">2025-02-14T15:21:51Z</dcterms:modified>
</cp:coreProperties>
</file>