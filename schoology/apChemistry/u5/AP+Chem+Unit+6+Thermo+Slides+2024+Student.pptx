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8"/>
  </p:notesMasterIdLst>
  <p:sldIdLst>
    <p:sldId id="256" r:id="rId2"/>
    <p:sldId id="377" r:id="rId3"/>
    <p:sldId id="372" r:id="rId4"/>
    <p:sldId id="261" r:id="rId5"/>
    <p:sldId id="264" r:id="rId6"/>
    <p:sldId id="323" r:id="rId7"/>
    <p:sldId id="324" r:id="rId8"/>
    <p:sldId id="301" r:id="rId9"/>
    <p:sldId id="378" r:id="rId10"/>
    <p:sldId id="376" r:id="rId11"/>
    <p:sldId id="375" r:id="rId12"/>
    <p:sldId id="374" r:id="rId13"/>
    <p:sldId id="379" r:id="rId14"/>
    <p:sldId id="262" r:id="rId15"/>
    <p:sldId id="380" r:id="rId16"/>
    <p:sldId id="407" r:id="rId17"/>
    <p:sldId id="406" r:id="rId18"/>
    <p:sldId id="382" r:id="rId19"/>
    <p:sldId id="386" r:id="rId20"/>
    <p:sldId id="383" r:id="rId21"/>
    <p:sldId id="384" r:id="rId22"/>
    <p:sldId id="389" r:id="rId23"/>
    <p:sldId id="390" r:id="rId24"/>
    <p:sldId id="391" r:id="rId25"/>
    <p:sldId id="392" r:id="rId26"/>
    <p:sldId id="448" r:id="rId27"/>
    <p:sldId id="408" r:id="rId28"/>
    <p:sldId id="395" r:id="rId29"/>
    <p:sldId id="396" r:id="rId30"/>
    <p:sldId id="398" r:id="rId31"/>
    <p:sldId id="399" r:id="rId32"/>
    <p:sldId id="450" r:id="rId33"/>
    <p:sldId id="423" r:id="rId34"/>
    <p:sldId id="401" r:id="rId35"/>
    <p:sldId id="403" r:id="rId36"/>
    <p:sldId id="404" r:id="rId37"/>
    <p:sldId id="409" r:id="rId38"/>
    <p:sldId id="405" r:id="rId39"/>
    <p:sldId id="410" r:id="rId40"/>
    <p:sldId id="411" r:id="rId41"/>
    <p:sldId id="412" r:id="rId42"/>
    <p:sldId id="413" r:id="rId43"/>
    <p:sldId id="414" r:id="rId44"/>
    <p:sldId id="415" r:id="rId45"/>
    <p:sldId id="416" r:id="rId46"/>
    <p:sldId id="449" r:id="rId47"/>
    <p:sldId id="451" r:id="rId48"/>
    <p:sldId id="452" r:id="rId49"/>
    <p:sldId id="418" r:id="rId50"/>
    <p:sldId id="419" r:id="rId51"/>
    <p:sldId id="447" r:id="rId52"/>
    <p:sldId id="422" r:id="rId53"/>
    <p:sldId id="453" r:id="rId54"/>
    <p:sldId id="454" r:id="rId55"/>
    <p:sldId id="424" r:id="rId56"/>
    <p:sldId id="425" r:id="rId57"/>
    <p:sldId id="426" r:id="rId58"/>
    <p:sldId id="428" r:id="rId59"/>
    <p:sldId id="429" r:id="rId60"/>
    <p:sldId id="430" r:id="rId61"/>
    <p:sldId id="431" r:id="rId62"/>
    <p:sldId id="432" r:id="rId63"/>
    <p:sldId id="433" r:id="rId64"/>
    <p:sldId id="435" r:id="rId65"/>
    <p:sldId id="434" r:id="rId66"/>
    <p:sldId id="436" r:id="rId67"/>
    <p:sldId id="437" r:id="rId68"/>
    <p:sldId id="438" r:id="rId69"/>
    <p:sldId id="439" r:id="rId70"/>
    <p:sldId id="440" r:id="rId71"/>
    <p:sldId id="441" r:id="rId72"/>
    <p:sldId id="442" r:id="rId73"/>
    <p:sldId id="443" r:id="rId74"/>
    <p:sldId id="444" r:id="rId75"/>
    <p:sldId id="445" r:id="rId76"/>
    <p:sldId id="446" r:id="rId77"/>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5503"/>
    <a:srgbClr val="268604"/>
    <a:srgbClr val="100717"/>
    <a:srgbClr val="FE022C"/>
    <a:srgbClr val="FFFF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4660"/>
  </p:normalViewPr>
  <p:slideViewPr>
    <p:cSldViewPr>
      <p:cViewPr varScale="1">
        <p:scale>
          <a:sx n="64" d="100"/>
          <a:sy n="64" d="100"/>
        </p:scale>
        <p:origin x="102" y="78"/>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AA4744-F2AB-45C4-AEC8-71E9386DBFE9}" type="datetimeFigureOut">
              <a:rPr lang="en-US" smtClean="0"/>
              <a:pPr/>
              <a:t>12/6/2024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AD7A5B7-4561-4276-883A-78DA8872C675}" type="slidenum">
              <a:rPr lang="en-US" smtClean="0"/>
              <a:pPr/>
              <a:t>‹#›</a:t>
            </a:fld>
            <a:endParaRPr lang="en-US"/>
          </a:p>
        </p:txBody>
      </p:sp>
    </p:spTree>
    <p:extLst>
      <p:ext uri="{BB962C8B-B14F-4D97-AF65-F5344CB8AC3E}">
        <p14:creationId xmlns:p14="http://schemas.microsoft.com/office/powerpoint/2010/main" val="55072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D7A5B7-4561-4276-883A-78DA8872C675}" type="slidenum">
              <a:rPr lang="en-US" smtClean="0"/>
              <a:pPr/>
              <a:t>30</a:t>
            </a:fld>
            <a:endParaRPr lang="en-US"/>
          </a:p>
        </p:txBody>
      </p:sp>
    </p:spTree>
    <p:extLst>
      <p:ext uri="{BB962C8B-B14F-4D97-AF65-F5344CB8AC3E}">
        <p14:creationId xmlns:p14="http://schemas.microsoft.com/office/powerpoint/2010/main" val="3158706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fld id="{4023A62A-EA50-4325-A4D9-1CE94A1CA29F}" type="slidenum">
              <a:rPr lang="en-US" altLang="en-US" sz="1200" smtClean="0"/>
              <a:pPr/>
              <a:t>49</a:t>
            </a:fld>
            <a:endParaRPr lang="en-US" altLang="en-US" sz="1200"/>
          </a:p>
        </p:txBody>
      </p:sp>
      <p:sp>
        <p:nvSpPr>
          <p:cNvPr id="9219" name="Rectangle 2"/>
          <p:cNvSpPr>
            <a:spLocks noGrp="1" noRot="1" noChangeAspect="1" noChangeArrowheads="1" noTextEdit="1"/>
          </p:cNvSpPr>
          <p:nvPr>
            <p:ph type="sldImg"/>
          </p:nvPr>
        </p:nvSpPr>
        <p:spPr>
          <a:xfrm>
            <a:off x="381000" y="685800"/>
            <a:ext cx="6096000" cy="3429000"/>
          </a:xfrm>
          <a:ln/>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1577402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fld id="{8360FD6B-F5B2-4457-A299-6A2D0219E70C}" type="slidenum">
              <a:rPr lang="en-US" altLang="en-US" sz="1200" smtClean="0"/>
              <a:pPr/>
              <a:t>50</a:t>
            </a:fld>
            <a:endParaRPr lang="en-US" altLang="en-US" sz="1200"/>
          </a:p>
        </p:txBody>
      </p:sp>
      <p:sp>
        <p:nvSpPr>
          <p:cNvPr id="10243" name="Rectangle 2"/>
          <p:cNvSpPr>
            <a:spLocks noGrp="1" noRot="1" noChangeAspect="1" noChangeArrowheads="1" noTextEdit="1"/>
          </p:cNvSpPr>
          <p:nvPr>
            <p:ph type="sldImg"/>
          </p:nvPr>
        </p:nvSpPr>
        <p:spPr>
          <a:xfrm>
            <a:off x="381000" y="685800"/>
            <a:ext cx="6096000" cy="3429000"/>
          </a:xfrm>
          <a:ln/>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601447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44668E6-459B-4A1A-9A8F-1EFC3BEDBB2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0D31684-8BE4-4875-A07B-AF92B31F6E3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7BBDA73-96E2-42FB-B891-A67747E1BF29}"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BC365DD-3EFA-406D-886F-1400216C3B55}"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EAFAFC68-C513-43D7-810A-9A9C8FCD9C34}"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3B13BFD7-8EDB-4E8E-B761-590AE8DA6C14}"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856520E8-E9E0-4554-B14D-149291222E5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821F9BA-B439-4ECD-A4A1-4C900AFFAA1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6BC688E-DC5D-4D8E-A968-95B13174C29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5AD7365-7D21-4BA9-A6E9-637AB57BA18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2246DF5-9A90-40CF-8312-8DE4CCF54808}"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atin typeface="Times New Roman" charset="0"/>
              </a:defRPr>
            </a:lvl1pPr>
          </a:lstStyle>
          <a:p>
            <a:pPr>
              <a:defRPr/>
            </a:pPr>
            <a:endParaRPr lang="en-US"/>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atin typeface="Times New Roman" charset="0"/>
              </a:defRPr>
            </a:lvl1pPr>
          </a:lstStyle>
          <a:p>
            <a:pPr>
              <a:defRPr/>
            </a:pPr>
            <a:endParaRPr lang="en-US"/>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atin typeface="Times New Roman" charset="0"/>
              </a:defRPr>
            </a:lvl1pPr>
          </a:lstStyle>
          <a:p>
            <a:pPr>
              <a:defRPr/>
            </a:pPr>
            <a:fld id="{64203CD4-F4A8-45D0-B0B0-D28D8C5EA943}"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6.wmf"/></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gif"/><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hyperlink" Target="https://www.youtube.com/watch?v=UFatVn1hP3o" TargetMode="Externa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3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477000" y="3657600"/>
            <a:ext cx="5715000" cy="3200400"/>
          </a:xfrm>
          <a:noFill/>
        </p:spPr>
        <p:txBody>
          <a:bodyPr/>
          <a:lstStyle/>
          <a:p>
            <a:pPr algn="r"/>
            <a:r>
              <a:rPr lang="en-US" sz="3200" b="1" dirty="0">
                <a:solidFill>
                  <a:srgbClr val="00B0F0"/>
                </a:solidFill>
                <a:effectLst>
                  <a:outerShdw blurRad="38100" dist="38100" dir="2700000" algn="tl">
                    <a:srgbClr val="000000">
                      <a:alpha val="43137"/>
                    </a:srgbClr>
                  </a:outerShdw>
                </a:effectLst>
              </a:rPr>
              <a:t>6.1 Endo and </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Exothermic RXNs</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6.2 Energy Diagrams</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6.3 Heat Transfer </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and Thermal Equilibrium</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6.4 Heat Capacity and Calorimetry </a:t>
            </a:r>
            <a:endParaRPr lang="en-US" sz="6000" b="1" u="sng" dirty="0">
              <a:solidFill>
                <a:schemeClr val="bg1"/>
              </a:solidFill>
              <a:effectLst>
                <a:outerShdw blurRad="38100" dist="38100" dir="2700000" algn="tl">
                  <a:srgbClr val="000000">
                    <a:alpha val="43137"/>
                  </a:srgbClr>
                </a:outerShdw>
              </a:effectLst>
            </a:endParaRPr>
          </a:p>
        </p:txBody>
      </p:sp>
      <p:sp>
        <p:nvSpPr>
          <p:cNvPr id="3" name="Rectangle 2"/>
          <p:cNvSpPr txBox="1">
            <a:spLocks noChangeArrowheads="1"/>
          </p:cNvSpPr>
          <p:nvPr/>
        </p:nvSpPr>
        <p:spPr bwMode="auto">
          <a:xfrm>
            <a:off x="-17417" y="0"/>
            <a:ext cx="8458200" cy="1752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br>
              <a:rPr lang="en-US" b="1" kern="0" dirty="0">
                <a:solidFill>
                  <a:srgbClr val="00B0F0"/>
                </a:solidFill>
                <a:effectLst>
                  <a:outerShdw blurRad="38100" dist="38100" dir="2700000" algn="tl">
                    <a:srgbClr val="000000">
                      <a:alpha val="43137"/>
                    </a:srgbClr>
                  </a:outerShdw>
                </a:effectLst>
              </a:rPr>
            </a:br>
            <a:r>
              <a:rPr lang="en-US" sz="5400" b="1" kern="0" dirty="0">
                <a:solidFill>
                  <a:srgbClr val="00B0F0"/>
                </a:solidFill>
                <a:effectLst>
                  <a:outerShdw blurRad="38100" dist="38100" dir="2700000" algn="tl">
                    <a:srgbClr val="000000">
                      <a:alpha val="43137"/>
                    </a:srgbClr>
                  </a:outerShdw>
                </a:effectLst>
              </a:rPr>
              <a:t>AP </a:t>
            </a:r>
            <a:r>
              <a:rPr lang="en-US" sz="5400" b="1" kern="0" dirty="0" err="1">
                <a:solidFill>
                  <a:srgbClr val="00B0F0"/>
                </a:solidFill>
                <a:effectLst>
                  <a:outerShdw blurRad="38100" dist="38100" dir="2700000" algn="tl">
                    <a:srgbClr val="000000">
                      <a:alpha val="43137"/>
                    </a:srgbClr>
                  </a:outerShdw>
                </a:effectLst>
              </a:rPr>
              <a:t>Chem</a:t>
            </a:r>
            <a:r>
              <a:rPr lang="en-US" sz="5400" b="1" kern="0" dirty="0">
                <a:solidFill>
                  <a:srgbClr val="00B0F0"/>
                </a:solidFill>
                <a:effectLst>
                  <a:outerShdw blurRad="38100" dist="38100" dir="2700000" algn="tl">
                    <a:srgbClr val="000000">
                      <a:alpha val="43137"/>
                    </a:srgbClr>
                  </a:outerShdw>
                </a:effectLst>
              </a:rPr>
              <a:t> Unit 6</a:t>
            </a:r>
          </a:p>
          <a:p>
            <a:pPr algn="l"/>
            <a:r>
              <a:rPr lang="en-US" sz="5400" b="1" u="sng" kern="0" dirty="0">
                <a:solidFill>
                  <a:srgbClr val="00B0F0"/>
                </a:solidFill>
                <a:effectLst>
                  <a:outerShdw blurRad="38100" dist="38100" dir="2700000" algn="tl">
                    <a:srgbClr val="000000">
                      <a:alpha val="43137"/>
                    </a:srgbClr>
                  </a:outerShdw>
                </a:effectLst>
              </a:rPr>
              <a:t>THERMOCHEMISTRY</a:t>
            </a:r>
            <a:br>
              <a:rPr lang="en-US" sz="6000" b="1" u="sng" kern="0" dirty="0">
                <a:solidFill>
                  <a:schemeClr val="bg1"/>
                </a:solidFill>
                <a:effectLst>
                  <a:outerShdw blurRad="38100" dist="38100" dir="2700000" algn="tl">
                    <a:srgbClr val="000000">
                      <a:alpha val="43137"/>
                    </a:srgbClr>
                  </a:outerShdw>
                </a:effectLst>
              </a:rPr>
            </a:br>
            <a:endParaRPr lang="en-US" sz="6000" b="1" u="sng" kern="0" dirty="0">
              <a:solidFill>
                <a:schemeClr val="bg1"/>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3811"/>
            <a:ext cx="10363200" cy="1042989"/>
          </a:xfrm>
        </p:spPr>
        <p:txBody>
          <a:bodyPr/>
          <a:lstStyle/>
          <a:p>
            <a:r>
              <a:rPr lang="en-US" sz="6000" b="1" dirty="0"/>
              <a:t>Review Time</a:t>
            </a:r>
          </a:p>
        </p:txBody>
      </p:sp>
      <p:sp>
        <p:nvSpPr>
          <p:cNvPr id="3" name="Content Placeholder 2"/>
          <p:cNvSpPr>
            <a:spLocks noGrp="1"/>
          </p:cNvSpPr>
          <p:nvPr>
            <p:ph idx="1"/>
          </p:nvPr>
        </p:nvSpPr>
        <p:spPr>
          <a:xfrm>
            <a:off x="533400" y="1066801"/>
            <a:ext cx="11430000" cy="5059364"/>
          </a:xfrm>
        </p:spPr>
        <p:txBody>
          <a:bodyPr>
            <a:noAutofit/>
          </a:bodyPr>
          <a:lstStyle/>
          <a:p>
            <a:r>
              <a:rPr lang="en-US" sz="3600" dirty="0"/>
              <a:t>Energy is </a:t>
            </a:r>
            <a:r>
              <a:rPr lang="en-US" sz="3600" dirty="0">
                <a:solidFill>
                  <a:srgbClr val="FF0000"/>
                </a:solidFill>
              </a:rPr>
              <a:t>required</a:t>
            </a:r>
            <a:r>
              <a:rPr lang="en-US" sz="3600" dirty="0"/>
              <a:t> to </a:t>
            </a:r>
            <a:r>
              <a:rPr lang="en-US" sz="3600" i="1" dirty="0">
                <a:solidFill>
                  <a:srgbClr val="FF0000"/>
                </a:solidFill>
              </a:rPr>
              <a:t>break apart </a:t>
            </a:r>
            <a:r>
              <a:rPr lang="en-US" sz="3600" i="1" dirty="0"/>
              <a:t>or </a:t>
            </a:r>
            <a:r>
              <a:rPr lang="en-US" sz="3600" dirty="0"/>
              <a:t>separate particles that are attracted to one another (</a:t>
            </a:r>
            <a:r>
              <a:rPr lang="en-US" sz="3600" i="1" dirty="0">
                <a:solidFill>
                  <a:srgbClr val="FF0000"/>
                </a:solidFill>
              </a:rPr>
              <a:t>TTB</a:t>
            </a:r>
            <a:r>
              <a:rPr lang="en-US" sz="3600" i="1" dirty="0"/>
              <a:t>- </a:t>
            </a:r>
            <a:r>
              <a:rPr lang="en-US" sz="3600" dirty="0"/>
              <a:t>takes to break)</a:t>
            </a:r>
          </a:p>
          <a:p>
            <a:r>
              <a:rPr lang="en-US" sz="3600" dirty="0"/>
              <a:t>Energy is </a:t>
            </a:r>
            <a:r>
              <a:rPr lang="en-US" sz="3600" dirty="0">
                <a:solidFill>
                  <a:srgbClr val="FF0000"/>
                </a:solidFill>
              </a:rPr>
              <a:t>freed</a:t>
            </a:r>
            <a:r>
              <a:rPr lang="en-US" sz="3600" dirty="0"/>
              <a:t>  or released when bonds or attractive forces are </a:t>
            </a:r>
            <a:r>
              <a:rPr lang="en-US" sz="3600" i="1" dirty="0">
                <a:solidFill>
                  <a:srgbClr val="FF0000"/>
                </a:solidFill>
              </a:rPr>
              <a:t>formed</a:t>
            </a:r>
            <a:r>
              <a:rPr lang="en-US" sz="3600" i="1" dirty="0"/>
              <a:t> (</a:t>
            </a:r>
            <a:r>
              <a:rPr lang="en-US" sz="3600" i="1" dirty="0">
                <a:solidFill>
                  <a:srgbClr val="FF0000"/>
                </a:solidFill>
              </a:rPr>
              <a:t>FTF</a:t>
            </a:r>
            <a:r>
              <a:rPr lang="en-US" sz="3600" dirty="0"/>
              <a:t>- free to form)</a:t>
            </a:r>
            <a:endParaRPr lang="en-US" sz="3600" i="1" dirty="0"/>
          </a:p>
          <a:p>
            <a:r>
              <a:rPr lang="en-US" sz="3600" dirty="0"/>
              <a:t>EVERY chemical or physical process is some combination of </a:t>
            </a:r>
            <a:r>
              <a:rPr lang="en-US" sz="3600" i="1" dirty="0">
                <a:solidFill>
                  <a:srgbClr val="FF0000"/>
                </a:solidFill>
              </a:rPr>
              <a:t>breaking apart </a:t>
            </a:r>
            <a:r>
              <a:rPr lang="en-US" sz="3600" dirty="0"/>
              <a:t>attractive interactions AND the </a:t>
            </a:r>
            <a:r>
              <a:rPr lang="en-US" sz="3600" i="1" dirty="0">
                <a:solidFill>
                  <a:srgbClr val="FF0000"/>
                </a:solidFill>
              </a:rPr>
              <a:t>formation</a:t>
            </a:r>
            <a:r>
              <a:rPr lang="en-US" sz="3600" dirty="0"/>
              <a:t> of attractive forces and bonds.</a:t>
            </a:r>
          </a:p>
          <a:p>
            <a:r>
              <a:rPr lang="en-US" sz="3600" dirty="0"/>
              <a:t>Together, they determine the energy change for the reaction</a:t>
            </a:r>
          </a:p>
          <a:p>
            <a:pPr marL="0" indent="0">
              <a:buNone/>
            </a:pPr>
            <a:endParaRPr lang="en-US" sz="3600" dirty="0"/>
          </a:p>
          <a:p>
            <a:pPr marL="0" indent="0">
              <a:buNone/>
            </a:pPr>
            <a:endParaRPr lang="en-US" sz="3600" dirty="0"/>
          </a:p>
        </p:txBody>
      </p:sp>
    </p:spTree>
    <p:extLst>
      <p:ext uri="{BB962C8B-B14F-4D97-AF65-F5344CB8AC3E}">
        <p14:creationId xmlns:p14="http://schemas.microsoft.com/office/powerpoint/2010/main" val="85901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6200"/>
            <a:ext cx="10363200" cy="1143000"/>
          </a:xfrm>
        </p:spPr>
        <p:txBody>
          <a:bodyPr/>
          <a:lstStyle/>
          <a:p>
            <a:r>
              <a:rPr lang="en-US" dirty="0"/>
              <a:t>Consider the processes below. Which require energy and which free energy?</a:t>
            </a:r>
          </a:p>
        </p:txBody>
      </p:sp>
      <p:pic>
        <p:nvPicPr>
          <p:cNvPr id="3" name="Picture 2"/>
          <p:cNvPicPr>
            <a:picLocks noChangeAspect="1"/>
          </p:cNvPicPr>
          <p:nvPr/>
        </p:nvPicPr>
        <p:blipFill>
          <a:blip r:embed="rId2"/>
          <a:stretch>
            <a:fillRect/>
          </a:stretch>
        </p:blipFill>
        <p:spPr>
          <a:xfrm>
            <a:off x="152400" y="1524000"/>
            <a:ext cx="7938976" cy="3810000"/>
          </a:xfrm>
          <a:prstGeom prst="rect">
            <a:avLst/>
          </a:prstGeom>
        </p:spPr>
      </p:pic>
      <p:sp>
        <p:nvSpPr>
          <p:cNvPr id="4" name="Title 1"/>
          <p:cNvSpPr txBox="1">
            <a:spLocks/>
          </p:cNvSpPr>
          <p:nvPr/>
        </p:nvSpPr>
        <p:spPr bwMode="auto">
          <a:xfrm>
            <a:off x="304800" y="5410200"/>
            <a:ext cx="11806238"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r>
              <a:rPr lang="en-US" sz="3600" kern="0" dirty="0"/>
              <a:t>What do we call processes that require energy? </a:t>
            </a:r>
            <a:r>
              <a:rPr lang="en-US" sz="3600" kern="0" dirty="0">
                <a:solidFill>
                  <a:srgbClr val="C00000"/>
                </a:solidFill>
              </a:rPr>
              <a:t>Endothermic</a:t>
            </a:r>
            <a:r>
              <a:rPr lang="en-US" sz="3600" kern="0" dirty="0"/>
              <a:t> </a:t>
            </a:r>
          </a:p>
          <a:p>
            <a:pPr algn="l"/>
            <a:r>
              <a:rPr lang="en-US" sz="3600" kern="0" dirty="0"/>
              <a:t>What do we call processes that release energy? </a:t>
            </a:r>
            <a:r>
              <a:rPr lang="en-US" sz="3600" kern="0" dirty="0">
                <a:solidFill>
                  <a:srgbClr val="C00000"/>
                </a:solidFill>
              </a:rPr>
              <a:t>Exothermic</a:t>
            </a:r>
          </a:p>
        </p:txBody>
      </p:sp>
    </p:spTree>
    <p:extLst>
      <p:ext uri="{BB962C8B-B14F-4D97-AF65-F5344CB8AC3E}">
        <p14:creationId xmlns:p14="http://schemas.microsoft.com/office/powerpoint/2010/main" val="218829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81000" y="119717"/>
            <a:ext cx="11353800" cy="642283"/>
          </a:xfrm>
        </p:spPr>
        <p:txBody>
          <a:bodyPr/>
          <a:lstStyle/>
          <a:p>
            <a:pPr algn="l"/>
            <a:r>
              <a:rPr lang="en-US" sz="3600" b="1" u="sng" dirty="0">
                <a:solidFill>
                  <a:schemeClr val="tx1"/>
                </a:solidFill>
              </a:rPr>
              <a:t>Exothermic</a:t>
            </a:r>
            <a:r>
              <a:rPr lang="en-US" sz="3600" dirty="0">
                <a:solidFill>
                  <a:schemeClr val="tx1"/>
                </a:solidFill>
              </a:rPr>
              <a:t>- reaction which has an </a:t>
            </a:r>
            <a:r>
              <a:rPr lang="en-US" sz="3600" dirty="0">
                <a:solidFill>
                  <a:srgbClr val="FF0000"/>
                </a:solidFill>
              </a:rPr>
              <a:t>overall release of energy</a:t>
            </a:r>
          </a:p>
        </p:txBody>
      </p:sp>
      <p:sp>
        <p:nvSpPr>
          <p:cNvPr id="12291" name="Rectangle 4"/>
          <p:cNvSpPr>
            <a:spLocks noGrp="1" noChangeArrowheads="1"/>
          </p:cNvSpPr>
          <p:nvPr>
            <p:ph type="body" idx="1"/>
          </p:nvPr>
        </p:nvSpPr>
        <p:spPr>
          <a:xfrm>
            <a:off x="685800" y="762000"/>
            <a:ext cx="10591800" cy="5105400"/>
          </a:xfrm>
        </p:spPr>
        <p:txBody>
          <a:bodyPr/>
          <a:lstStyle/>
          <a:p>
            <a:r>
              <a:rPr lang="en-US" sz="2800" dirty="0"/>
              <a:t>energy flows out of the system (more </a:t>
            </a:r>
            <a:r>
              <a:rPr lang="en-US" sz="2800" dirty="0">
                <a:solidFill>
                  <a:srgbClr val="FF0000"/>
                </a:solidFill>
              </a:rPr>
              <a:t>FTF</a:t>
            </a:r>
            <a:r>
              <a:rPr lang="en-US" sz="2800" dirty="0"/>
              <a:t> than </a:t>
            </a:r>
            <a:r>
              <a:rPr lang="en-US" sz="2800" dirty="0">
                <a:solidFill>
                  <a:srgbClr val="FF0000"/>
                </a:solidFill>
              </a:rPr>
              <a:t>TTB</a:t>
            </a:r>
            <a:r>
              <a:rPr lang="en-US" sz="2800" dirty="0"/>
              <a:t>)</a:t>
            </a:r>
          </a:p>
          <a:p>
            <a:r>
              <a:rPr lang="en-US" sz="2800" dirty="0">
                <a:solidFill>
                  <a:srgbClr val="FF0000"/>
                </a:solidFill>
              </a:rPr>
              <a:t>potential</a:t>
            </a:r>
            <a:r>
              <a:rPr lang="en-US" sz="2800" dirty="0"/>
              <a:t> energy is changed to </a:t>
            </a:r>
            <a:r>
              <a:rPr lang="en-US" sz="2800" dirty="0">
                <a:solidFill>
                  <a:srgbClr val="FF0000"/>
                </a:solidFill>
              </a:rPr>
              <a:t>thermal</a:t>
            </a:r>
            <a:r>
              <a:rPr lang="en-US" sz="2800" dirty="0"/>
              <a:t> energy</a:t>
            </a:r>
          </a:p>
          <a:p>
            <a:r>
              <a:rPr lang="en-US" sz="2800" dirty="0"/>
              <a:t>products have </a:t>
            </a:r>
            <a:r>
              <a:rPr lang="en-US" sz="2800" dirty="0">
                <a:solidFill>
                  <a:srgbClr val="FF0000"/>
                </a:solidFill>
              </a:rPr>
              <a:t>lower</a:t>
            </a:r>
            <a:r>
              <a:rPr lang="en-US" sz="2800" dirty="0"/>
              <a:t> potential energy than reactants</a:t>
            </a:r>
            <a:br>
              <a:rPr lang="en-US" sz="2800" dirty="0"/>
            </a:br>
            <a:endParaRPr lang="en-US" sz="2800" dirty="0"/>
          </a:p>
          <a:p>
            <a:pPr marL="0" indent="0">
              <a:buNone/>
            </a:pPr>
            <a:r>
              <a:rPr lang="pt-BR" sz="2800" dirty="0"/>
              <a:t>2C</a:t>
            </a:r>
            <a:r>
              <a:rPr lang="pt-BR" sz="2800" baseline="-25000" dirty="0"/>
              <a:t>8</a:t>
            </a:r>
            <a:r>
              <a:rPr lang="pt-BR" sz="2800" dirty="0"/>
              <a:t>H</a:t>
            </a:r>
            <a:r>
              <a:rPr lang="pt-BR" sz="2800" baseline="-25000" dirty="0"/>
              <a:t>18</a:t>
            </a:r>
            <a:r>
              <a:rPr lang="pt-BR" sz="2800" dirty="0"/>
              <a:t> + 25O</a:t>
            </a:r>
            <a:r>
              <a:rPr lang="pt-BR" sz="2800" baseline="-25000" dirty="0"/>
              <a:t>2</a:t>
            </a:r>
            <a:r>
              <a:rPr lang="pt-BR" sz="2800" dirty="0"/>
              <a:t> </a:t>
            </a:r>
            <a:r>
              <a:rPr lang="pt-BR" sz="2800" dirty="0">
                <a:sym typeface="Symbol"/>
              </a:rPr>
              <a:t></a:t>
            </a:r>
            <a:r>
              <a:rPr lang="pt-BR" sz="2800" dirty="0"/>
              <a:t> 16CO</a:t>
            </a:r>
            <a:r>
              <a:rPr lang="pt-BR" sz="2800" baseline="-25000" dirty="0"/>
              <a:t>2</a:t>
            </a:r>
            <a:r>
              <a:rPr lang="pt-BR" sz="2800" dirty="0"/>
              <a:t> + 18H</a:t>
            </a:r>
            <a:r>
              <a:rPr lang="pt-BR" sz="2800" baseline="-25000" dirty="0"/>
              <a:t>2</a:t>
            </a:r>
            <a:r>
              <a:rPr lang="pt-BR" sz="2800" dirty="0"/>
              <a:t>O + </a:t>
            </a:r>
            <a:r>
              <a:rPr lang="pt-BR" sz="2800" b="1" dirty="0"/>
              <a:t>5076 kJ</a:t>
            </a:r>
            <a:endParaRPr lang="en-US" sz="2800" dirty="0"/>
          </a:p>
          <a:p>
            <a:pPr marL="0" indent="0">
              <a:buNone/>
            </a:pPr>
            <a:endParaRPr lang="en-US" sz="2800" dirty="0"/>
          </a:p>
          <a:p>
            <a:pPr algn="ctr">
              <a:buNone/>
            </a:pPr>
            <a:r>
              <a:rPr lang="en-US" sz="2800" dirty="0"/>
              <a:t>OR  </a:t>
            </a:r>
          </a:p>
          <a:p>
            <a:pPr>
              <a:buNone/>
            </a:pPr>
            <a:r>
              <a:rPr lang="pt-BR" sz="2800" dirty="0"/>
              <a:t>2C</a:t>
            </a:r>
            <a:r>
              <a:rPr lang="pt-BR" sz="2800" baseline="-25000" dirty="0"/>
              <a:t>8</a:t>
            </a:r>
            <a:r>
              <a:rPr lang="pt-BR" sz="2800" dirty="0"/>
              <a:t>H</a:t>
            </a:r>
            <a:r>
              <a:rPr lang="pt-BR" sz="2800" baseline="-25000" dirty="0"/>
              <a:t>18</a:t>
            </a:r>
            <a:r>
              <a:rPr lang="pt-BR" sz="2800" dirty="0"/>
              <a:t> + 25O</a:t>
            </a:r>
            <a:r>
              <a:rPr lang="pt-BR" sz="2800" baseline="-25000" dirty="0"/>
              <a:t>2</a:t>
            </a:r>
            <a:r>
              <a:rPr lang="pt-BR" sz="2800" dirty="0"/>
              <a:t> </a:t>
            </a:r>
            <a:r>
              <a:rPr lang="pt-BR" sz="2800" dirty="0">
                <a:sym typeface="Symbol"/>
              </a:rPr>
              <a:t></a:t>
            </a:r>
            <a:r>
              <a:rPr lang="pt-BR" sz="2800" dirty="0"/>
              <a:t> 16CO</a:t>
            </a:r>
            <a:r>
              <a:rPr lang="pt-BR" sz="2800" baseline="-25000" dirty="0"/>
              <a:t>2</a:t>
            </a:r>
            <a:r>
              <a:rPr lang="pt-BR" sz="2800" dirty="0"/>
              <a:t> + 18H</a:t>
            </a:r>
            <a:r>
              <a:rPr lang="pt-BR" sz="2800" baseline="-25000" dirty="0"/>
              <a:t>2</a:t>
            </a:r>
            <a:r>
              <a:rPr lang="pt-BR" sz="2800" dirty="0"/>
              <a:t>O   </a:t>
            </a:r>
            <a:r>
              <a:rPr lang="el-GR" sz="2800" dirty="0"/>
              <a:t>Δ</a:t>
            </a:r>
            <a:r>
              <a:rPr lang="en-US" sz="2800" i="1" dirty="0"/>
              <a:t>H</a:t>
            </a:r>
            <a:r>
              <a:rPr lang="en-US" sz="2800" dirty="0"/>
              <a:t>=</a:t>
            </a:r>
            <a:r>
              <a:rPr lang="pt-BR" sz="2800" dirty="0"/>
              <a:t> </a:t>
            </a:r>
            <a:r>
              <a:rPr lang="pt-BR" sz="2800" dirty="0">
                <a:sym typeface="Symbol"/>
              </a:rPr>
              <a:t></a:t>
            </a:r>
            <a:r>
              <a:rPr lang="pt-BR" sz="2800" b="1" dirty="0"/>
              <a:t>5076 kJ/mol</a:t>
            </a:r>
            <a:r>
              <a:rPr lang="pt-BR" sz="2800" b="1" baseline="-25000" dirty="0"/>
              <a:t>rxn</a:t>
            </a:r>
            <a:endParaRPr lang="en-US" sz="2800" baseline="-25000" dirty="0"/>
          </a:p>
          <a:p>
            <a:pPr>
              <a:buNone/>
            </a:pPr>
            <a:endParaRPr lang="en-US" dirty="0"/>
          </a:p>
          <a:p>
            <a:pPr>
              <a:buNone/>
            </a:pPr>
            <a:r>
              <a:rPr lang="en-US" sz="2800" dirty="0"/>
              <a:t>Draw a reaction energy diagram that shows an </a:t>
            </a:r>
          </a:p>
          <a:p>
            <a:pPr>
              <a:buNone/>
            </a:pPr>
            <a:r>
              <a:rPr lang="en-US" sz="2800" dirty="0"/>
              <a:t>exothermic reaction:</a:t>
            </a:r>
          </a:p>
        </p:txBody>
      </p:sp>
      <p:sp>
        <p:nvSpPr>
          <p:cNvPr id="5" name="Rounded Rectangular Callout 4"/>
          <p:cNvSpPr/>
          <p:nvPr/>
        </p:nvSpPr>
        <p:spPr bwMode="auto">
          <a:xfrm>
            <a:off x="7924800" y="2362200"/>
            <a:ext cx="3581400" cy="762000"/>
          </a:xfrm>
          <a:prstGeom prst="wedgeRoundRectCallout">
            <a:avLst>
              <a:gd name="adj1" fmla="val -63587"/>
              <a:gd name="adj2" fmla="val 25598"/>
              <a:gd name="adj3" fmla="val 1666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dirty="0"/>
              <a:t>Heat term is on the </a:t>
            </a:r>
            <a:r>
              <a:rPr lang="en-US" b="1" dirty="0"/>
              <a:t>right</a:t>
            </a:r>
          </a:p>
          <a:p>
            <a:r>
              <a:rPr lang="en-US" dirty="0"/>
              <a:t>side of the equation.</a:t>
            </a:r>
            <a:endParaRPr lang="en-US" dirty="0">
              <a:latin typeface="Times New Roman" charset="0"/>
            </a:endParaRPr>
          </a:p>
        </p:txBody>
      </p:sp>
      <p:sp>
        <p:nvSpPr>
          <p:cNvPr id="6" name="Rounded Rectangular Callout 5"/>
          <p:cNvSpPr/>
          <p:nvPr/>
        </p:nvSpPr>
        <p:spPr bwMode="auto">
          <a:xfrm>
            <a:off x="8915400" y="3581400"/>
            <a:ext cx="3276600" cy="762000"/>
          </a:xfrm>
          <a:prstGeom prst="wedgeRoundRectCallout">
            <a:avLst>
              <a:gd name="adj1" fmla="val -79262"/>
              <a:gd name="adj2" fmla="val 52888"/>
              <a:gd name="adj3" fmla="val 1666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dirty="0"/>
              <a:t>For an exothermic reaction, </a:t>
            </a:r>
            <a:r>
              <a:rPr lang="el-GR" dirty="0">
                <a:solidFill>
                  <a:srgbClr val="FF0000"/>
                </a:solidFill>
              </a:rPr>
              <a:t>Δ</a:t>
            </a:r>
            <a:r>
              <a:rPr lang="en-US" i="1" dirty="0">
                <a:solidFill>
                  <a:srgbClr val="FF0000"/>
                </a:solidFill>
              </a:rPr>
              <a:t>H </a:t>
            </a:r>
            <a:r>
              <a:rPr lang="en-US" dirty="0">
                <a:solidFill>
                  <a:srgbClr val="FF0000"/>
                </a:solidFill>
              </a:rPr>
              <a:t>is negative.</a:t>
            </a:r>
            <a:endParaRPr lang="en-US" dirty="0">
              <a:solidFill>
                <a:srgbClr val="FF0000"/>
              </a:solidFill>
              <a:latin typeface="Times New Roman"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138112"/>
            <a:ext cx="10896600" cy="928688"/>
          </a:xfrm>
        </p:spPr>
        <p:txBody>
          <a:bodyPr/>
          <a:lstStyle/>
          <a:p>
            <a:pPr algn="l"/>
            <a:r>
              <a:rPr lang="en-US" sz="3200" b="1" u="sng" dirty="0">
                <a:solidFill>
                  <a:schemeClr val="tx1"/>
                </a:solidFill>
              </a:rPr>
              <a:t>Endothermic</a:t>
            </a:r>
            <a:r>
              <a:rPr lang="en-US" sz="3200" dirty="0">
                <a:solidFill>
                  <a:schemeClr val="tx1"/>
                </a:solidFill>
              </a:rPr>
              <a:t>- reaction which overall </a:t>
            </a:r>
            <a:r>
              <a:rPr lang="en-US" sz="3200" dirty="0">
                <a:solidFill>
                  <a:srgbClr val="FF0000"/>
                </a:solidFill>
              </a:rPr>
              <a:t>absorbs</a:t>
            </a:r>
            <a:r>
              <a:rPr lang="en-US" sz="3200" dirty="0">
                <a:solidFill>
                  <a:schemeClr val="tx1"/>
                </a:solidFill>
              </a:rPr>
              <a:t> </a:t>
            </a:r>
            <a:r>
              <a:rPr lang="en-US" sz="3200" dirty="0">
                <a:solidFill>
                  <a:srgbClr val="FF0000"/>
                </a:solidFill>
              </a:rPr>
              <a:t>energy</a:t>
            </a:r>
            <a:endParaRPr lang="en-US" sz="3200" dirty="0">
              <a:solidFill>
                <a:schemeClr val="tx1"/>
              </a:solidFill>
            </a:endParaRPr>
          </a:p>
        </p:txBody>
      </p:sp>
      <p:sp>
        <p:nvSpPr>
          <p:cNvPr id="13315" name="Rectangle 3"/>
          <p:cNvSpPr>
            <a:spLocks noGrp="1" noChangeArrowheads="1"/>
          </p:cNvSpPr>
          <p:nvPr>
            <p:ph type="body" idx="1"/>
          </p:nvPr>
        </p:nvSpPr>
        <p:spPr>
          <a:xfrm>
            <a:off x="838200" y="990600"/>
            <a:ext cx="10668000" cy="5105400"/>
          </a:xfrm>
        </p:spPr>
        <p:txBody>
          <a:bodyPr/>
          <a:lstStyle/>
          <a:p>
            <a:r>
              <a:rPr lang="en-US" sz="2800" dirty="0"/>
              <a:t>energy flows into the system (More </a:t>
            </a:r>
            <a:r>
              <a:rPr lang="en-US" sz="2800" dirty="0">
                <a:solidFill>
                  <a:srgbClr val="FF0000"/>
                </a:solidFill>
              </a:rPr>
              <a:t>TTB</a:t>
            </a:r>
            <a:r>
              <a:rPr lang="en-US" sz="2800" dirty="0"/>
              <a:t> than </a:t>
            </a:r>
            <a:r>
              <a:rPr lang="en-US" sz="2800" dirty="0">
                <a:solidFill>
                  <a:srgbClr val="FF0000"/>
                </a:solidFill>
              </a:rPr>
              <a:t>FTF</a:t>
            </a:r>
            <a:r>
              <a:rPr lang="en-US" sz="2800" dirty="0"/>
              <a:t>)</a:t>
            </a:r>
          </a:p>
          <a:p>
            <a:r>
              <a:rPr lang="en-US" sz="2800" dirty="0">
                <a:solidFill>
                  <a:srgbClr val="FF0000"/>
                </a:solidFill>
              </a:rPr>
              <a:t>thermal</a:t>
            </a:r>
            <a:r>
              <a:rPr lang="en-US" sz="2800" dirty="0"/>
              <a:t> energy is changed into </a:t>
            </a:r>
            <a:r>
              <a:rPr lang="en-US" sz="2800" dirty="0">
                <a:solidFill>
                  <a:srgbClr val="FF0000"/>
                </a:solidFill>
              </a:rPr>
              <a:t>potential</a:t>
            </a:r>
            <a:r>
              <a:rPr lang="en-US" sz="2800" dirty="0"/>
              <a:t> energy</a:t>
            </a:r>
          </a:p>
          <a:p>
            <a:r>
              <a:rPr lang="en-US" sz="2800" dirty="0"/>
              <a:t>products have higher PE than reactants</a:t>
            </a:r>
          </a:p>
          <a:p>
            <a:pPr marL="0" indent="0" algn="ctr">
              <a:buNone/>
            </a:pPr>
            <a:r>
              <a:rPr lang="pt-BR" sz="2800" dirty="0"/>
              <a:t>2C + 2H</a:t>
            </a:r>
            <a:r>
              <a:rPr lang="pt-BR" sz="2800" baseline="-25000" dirty="0"/>
              <a:t>2</a:t>
            </a:r>
            <a:r>
              <a:rPr lang="pt-BR" sz="2800" dirty="0"/>
              <a:t> + </a:t>
            </a:r>
            <a:r>
              <a:rPr lang="pt-BR" sz="2800" b="1" dirty="0"/>
              <a:t>52.3 kJ </a:t>
            </a:r>
            <a:r>
              <a:rPr lang="pt-BR" sz="2800" dirty="0">
                <a:sym typeface="Symbol"/>
              </a:rPr>
              <a:t></a:t>
            </a:r>
            <a:r>
              <a:rPr lang="pt-BR" sz="2800" dirty="0"/>
              <a:t> C</a:t>
            </a:r>
            <a:r>
              <a:rPr lang="pt-BR" sz="2800" baseline="-25000" dirty="0"/>
              <a:t>2</a:t>
            </a:r>
            <a:r>
              <a:rPr lang="pt-BR" sz="2800" dirty="0"/>
              <a:t>H</a:t>
            </a:r>
            <a:r>
              <a:rPr lang="pt-BR" sz="2800" baseline="-25000" dirty="0"/>
              <a:t>4</a:t>
            </a:r>
            <a:endParaRPr lang="en-US" sz="2800" baseline="-25000" dirty="0"/>
          </a:p>
          <a:p>
            <a:pPr>
              <a:buNone/>
            </a:pPr>
            <a:endParaRPr lang="en-US" sz="2800" dirty="0"/>
          </a:p>
          <a:p>
            <a:pPr algn="ctr">
              <a:buNone/>
            </a:pPr>
            <a:r>
              <a:rPr lang="en-US" sz="2800" dirty="0"/>
              <a:t>OR</a:t>
            </a:r>
          </a:p>
          <a:p>
            <a:pPr algn="ctr">
              <a:buNone/>
            </a:pPr>
            <a:r>
              <a:rPr lang="pt-BR" sz="2800" dirty="0"/>
              <a:t>2C + 2H</a:t>
            </a:r>
            <a:r>
              <a:rPr lang="pt-BR" sz="2800" baseline="-25000" dirty="0"/>
              <a:t>2</a:t>
            </a:r>
            <a:r>
              <a:rPr lang="pt-BR" sz="2800" dirty="0"/>
              <a:t> </a:t>
            </a:r>
            <a:r>
              <a:rPr lang="pt-BR" sz="2800" b="1" dirty="0"/>
              <a:t> </a:t>
            </a:r>
            <a:r>
              <a:rPr lang="pt-BR" sz="2800" dirty="0">
                <a:sym typeface="Symbol"/>
              </a:rPr>
              <a:t></a:t>
            </a:r>
            <a:r>
              <a:rPr lang="pt-BR" sz="2800" dirty="0"/>
              <a:t> C</a:t>
            </a:r>
            <a:r>
              <a:rPr lang="pt-BR" sz="2800" baseline="-25000" dirty="0"/>
              <a:t>2</a:t>
            </a:r>
            <a:r>
              <a:rPr lang="pt-BR" sz="2800" dirty="0"/>
              <a:t>H</a:t>
            </a:r>
            <a:r>
              <a:rPr lang="pt-BR" sz="2800" baseline="-25000" dirty="0"/>
              <a:t>4     </a:t>
            </a:r>
            <a:r>
              <a:rPr lang="pt-BR" sz="2800" dirty="0"/>
              <a:t>   </a:t>
            </a:r>
            <a:r>
              <a:rPr lang="el-GR" sz="2800" b="1" dirty="0"/>
              <a:t>Δ</a:t>
            </a:r>
            <a:r>
              <a:rPr lang="en-US" sz="2800" b="1" dirty="0"/>
              <a:t>H = +52.3 kJ/</a:t>
            </a:r>
            <a:r>
              <a:rPr lang="en-US" sz="2800" b="1" dirty="0" err="1"/>
              <a:t>mol</a:t>
            </a:r>
            <a:r>
              <a:rPr lang="en-US" sz="2800" b="1" baseline="-25000" dirty="0" err="1"/>
              <a:t>rxn</a:t>
            </a:r>
            <a:endParaRPr lang="en-US" sz="2800" b="1" baseline="-25000" dirty="0"/>
          </a:p>
          <a:p>
            <a:pPr>
              <a:buNone/>
            </a:pPr>
            <a:r>
              <a:rPr lang="en-US" sz="2800" dirty="0"/>
              <a:t>Draw a reaction energy diagram that shows an </a:t>
            </a:r>
          </a:p>
          <a:p>
            <a:pPr>
              <a:buNone/>
            </a:pPr>
            <a:r>
              <a:rPr lang="en-US" sz="2800" dirty="0"/>
              <a:t>endothermic reaction:</a:t>
            </a:r>
          </a:p>
          <a:p>
            <a:pPr>
              <a:buNone/>
            </a:pPr>
            <a:endParaRPr lang="en-US" sz="2800" dirty="0"/>
          </a:p>
          <a:p>
            <a:pPr algn="ctr">
              <a:buNone/>
            </a:pPr>
            <a:endParaRPr lang="en-US" sz="2800" dirty="0"/>
          </a:p>
        </p:txBody>
      </p:sp>
      <p:sp>
        <p:nvSpPr>
          <p:cNvPr id="5" name="Rounded Rectangular Callout 4"/>
          <p:cNvSpPr/>
          <p:nvPr/>
        </p:nvSpPr>
        <p:spPr bwMode="auto">
          <a:xfrm>
            <a:off x="76200" y="3162300"/>
            <a:ext cx="3200400" cy="762000"/>
          </a:xfrm>
          <a:prstGeom prst="wedgeRoundRectCallout">
            <a:avLst>
              <a:gd name="adj1" fmla="val 91372"/>
              <a:gd name="adj2" fmla="val -77078"/>
              <a:gd name="adj3" fmla="val 1666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dirty="0"/>
              <a:t>Heat term is on the </a:t>
            </a:r>
            <a:r>
              <a:rPr lang="en-US" b="1" dirty="0"/>
              <a:t>left</a:t>
            </a:r>
          </a:p>
          <a:p>
            <a:r>
              <a:rPr lang="en-US" dirty="0"/>
              <a:t>side of the equation.</a:t>
            </a:r>
            <a:endParaRPr lang="en-US" dirty="0">
              <a:latin typeface="Times New Roman" charset="0"/>
            </a:endParaRPr>
          </a:p>
        </p:txBody>
      </p:sp>
      <p:sp>
        <p:nvSpPr>
          <p:cNvPr id="6" name="Rounded Rectangular Callout 5"/>
          <p:cNvSpPr/>
          <p:nvPr/>
        </p:nvSpPr>
        <p:spPr bwMode="auto">
          <a:xfrm>
            <a:off x="7967133" y="3162300"/>
            <a:ext cx="4191000" cy="838200"/>
          </a:xfrm>
          <a:prstGeom prst="wedgeRoundRectCallout">
            <a:avLst>
              <a:gd name="adj1" fmla="val -66595"/>
              <a:gd name="adj2" fmla="val 65990"/>
              <a:gd name="adj3" fmla="val 16667"/>
            </a:avLst>
          </a:prstGeom>
          <a:solidFill>
            <a:schemeClr val="accent1">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dirty="0"/>
              <a:t>For an </a:t>
            </a:r>
            <a:r>
              <a:rPr lang="en-US" b="1" dirty="0"/>
              <a:t>endothermic</a:t>
            </a:r>
          </a:p>
          <a:p>
            <a:r>
              <a:rPr lang="en-US" dirty="0"/>
              <a:t>reaction, the </a:t>
            </a:r>
            <a:r>
              <a:rPr lang="el-GR" dirty="0">
                <a:solidFill>
                  <a:srgbClr val="C00000"/>
                </a:solidFill>
              </a:rPr>
              <a:t>Δ</a:t>
            </a:r>
            <a:r>
              <a:rPr lang="en-US" dirty="0">
                <a:solidFill>
                  <a:srgbClr val="C00000"/>
                </a:solidFill>
              </a:rPr>
              <a:t>H is POSITIVE!</a:t>
            </a:r>
            <a:endParaRPr lang="en-US" dirty="0">
              <a:solidFill>
                <a:srgbClr val="C00000"/>
              </a:solidFill>
              <a:latin typeface="Times New Roman"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upload.wikimedia.org/wikipedia/commons/a/a6/Exothermic_Reaction.png"/>
          <p:cNvPicPr>
            <a:picLocks noChangeAspect="1" noChangeArrowheads="1"/>
          </p:cNvPicPr>
          <p:nvPr/>
        </p:nvPicPr>
        <p:blipFill>
          <a:blip r:embed="rId2" cstate="print"/>
          <a:srcRect/>
          <a:stretch>
            <a:fillRect/>
          </a:stretch>
        </p:blipFill>
        <p:spPr bwMode="auto">
          <a:xfrm>
            <a:off x="2438400" y="1752600"/>
            <a:ext cx="6324600" cy="4689751"/>
          </a:xfrm>
          <a:prstGeom prst="rect">
            <a:avLst/>
          </a:prstGeom>
          <a:noFill/>
        </p:spPr>
      </p:pic>
      <p:sp>
        <p:nvSpPr>
          <p:cNvPr id="3" name="Title 1"/>
          <p:cNvSpPr txBox="1">
            <a:spLocks/>
          </p:cNvSpPr>
          <p:nvPr/>
        </p:nvSpPr>
        <p:spPr>
          <a:xfrm>
            <a:off x="973175" y="152400"/>
            <a:ext cx="10363200" cy="1143000"/>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r>
              <a:rPr lang="en-US" sz="3600" kern="0" dirty="0">
                <a:solidFill>
                  <a:schemeClr val="tx1"/>
                </a:solidFill>
              </a:rPr>
              <a:t>In terms of heat, exothermic reactions </a:t>
            </a:r>
            <a:br>
              <a:rPr lang="en-US" sz="3600" kern="0" dirty="0">
                <a:solidFill>
                  <a:schemeClr val="tx1"/>
                </a:solidFill>
              </a:rPr>
            </a:br>
            <a:r>
              <a:rPr lang="en-US" sz="3600" kern="0" dirty="0">
                <a:solidFill>
                  <a:schemeClr val="tx1"/>
                </a:solidFill>
              </a:rPr>
              <a:t>are </a:t>
            </a:r>
            <a:r>
              <a:rPr lang="en-US" sz="3600" kern="0" dirty="0">
                <a:solidFill>
                  <a:srgbClr val="FF0000"/>
                </a:solidFill>
              </a:rPr>
              <a:t>energetically favorable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upload.wikimedia.org/wikipedia/commons/7/77/Endothermic_Reaction.png"/>
          <p:cNvPicPr>
            <a:picLocks noChangeAspect="1" noChangeArrowheads="1"/>
          </p:cNvPicPr>
          <p:nvPr/>
        </p:nvPicPr>
        <p:blipFill>
          <a:blip r:embed="rId2" cstate="print"/>
          <a:srcRect/>
          <a:stretch>
            <a:fillRect/>
          </a:stretch>
        </p:blipFill>
        <p:spPr bwMode="auto">
          <a:xfrm>
            <a:off x="2743200" y="1905000"/>
            <a:ext cx="6213549" cy="4476750"/>
          </a:xfrm>
          <a:prstGeom prst="rect">
            <a:avLst/>
          </a:prstGeom>
          <a:noFill/>
        </p:spPr>
      </p:pic>
      <p:sp>
        <p:nvSpPr>
          <p:cNvPr id="2" name="Title 1"/>
          <p:cNvSpPr>
            <a:spLocks noGrp="1"/>
          </p:cNvSpPr>
          <p:nvPr>
            <p:ph type="title"/>
          </p:nvPr>
        </p:nvSpPr>
        <p:spPr>
          <a:xfrm>
            <a:off x="973175" y="152400"/>
            <a:ext cx="10363200" cy="1143000"/>
          </a:xfrm>
        </p:spPr>
        <p:txBody>
          <a:bodyPr/>
          <a:lstStyle/>
          <a:p>
            <a:r>
              <a:rPr lang="en-US" sz="3600" dirty="0">
                <a:solidFill>
                  <a:schemeClr val="tx1"/>
                </a:solidFill>
              </a:rPr>
              <a:t>In terms of heat, endothermic reactions </a:t>
            </a:r>
            <a:br>
              <a:rPr lang="en-US" sz="3600" dirty="0">
                <a:solidFill>
                  <a:schemeClr val="tx1"/>
                </a:solidFill>
              </a:rPr>
            </a:br>
            <a:r>
              <a:rPr lang="en-US" sz="3600" dirty="0">
                <a:solidFill>
                  <a:schemeClr val="tx1"/>
                </a:solidFill>
              </a:rPr>
              <a:t>are</a:t>
            </a:r>
            <a:r>
              <a:rPr lang="en-US" sz="3600" dirty="0">
                <a:solidFill>
                  <a:srgbClr val="FF0000"/>
                </a:solidFill>
              </a:rPr>
              <a:t> energetically unfavorable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81000" y="76200"/>
            <a:ext cx="10896600" cy="5715000"/>
          </a:xfrm>
        </p:spPr>
        <p:txBody>
          <a:bodyPr/>
          <a:lstStyle/>
          <a:p>
            <a:pPr algn="l"/>
            <a:r>
              <a:rPr lang="en-US" sz="3600" b="1" u="sng" dirty="0">
                <a:solidFill>
                  <a:schemeClr val="tx1"/>
                </a:solidFill>
              </a:rPr>
              <a:t>Energy</a:t>
            </a:r>
            <a:r>
              <a:rPr lang="en-US" sz="3600" b="1" dirty="0">
                <a:solidFill>
                  <a:schemeClr val="tx1"/>
                </a:solidFill>
              </a:rPr>
              <a:t>-</a:t>
            </a:r>
            <a:r>
              <a:rPr lang="en-US" sz="3600" dirty="0">
                <a:solidFill>
                  <a:schemeClr val="tx1"/>
                </a:solidFill>
              </a:rPr>
              <a:t>  the capacity to do </a:t>
            </a:r>
            <a:r>
              <a:rPr lang="en-US" sz="3600" dirty="0">
                <a:solidFill>
                  <a:srgbClr val="FE022C"/>
                </a:solidFill>
              </a:rPr>
              <a:t>work</a:t>
            </a:r>
            <a:r>
              <a:rPr lang="en-US" sz="3600" dirty="0">
                <a:solidFill>
                  <a:schemeClr val="tx1"/>
                </a:solidFill>
              </a:rPr>
              <a:t> or to produce </a:t>
            </a:r>
            <a:r>
              <a:rPr lang="en-US" sz="3600" dirty="0">
                <a:solidFill>
                  <a:srgbClr val="FE022C"/>
                </a:solidFill>
              </a:rPr>
              <a:t>heat</a:t>
            </a:r>
            <a:br>
              <a:rPr lang="en-US" sz="3600" b="1" u="sng" dirty="0">
                <a:solidFill>
                  <a:schemeClr val="tx1"/>
                </a:solidFill>
              </a:rPr>
            </a:br>
            <a:br>
              <a:rPr lang="en-US" sz="3600" b="1" u="sng" dirty="0">
                <a:solidFill>
                  <a:schemeClr val="tx1"/>
                </a:solidFill>
              </a:rPr>
            </a:br>
            <a:r>
              <a:rPr lang="en-US" sz="3600" b="1" u="sng" dirty="0">
                <a:solidFill>
                  <a:schemeClr val="tx1"/>
                </a:solidFill>
              </a:rPr>
              <a:t>1</a:t>
            </a:r>
            <a:r>
              <a:rPr lang="en-US" sz="3600" b="1" u="sng" baseline="30000" dirty="0">
                <a:solidFill>
                  <a:schemeClr val="tx1"/>
                </a:solidFill>
              </a:rPr>
              <a:t>st</a:t>
            </a:r>
            <a:r>
              <a:rPr lang="en-US" sz="3600" b="1" u="sng" dirty="0">
                <a:solidFill>
                  <a:schemeClr val="tx1"/>
                </a:solidFill>
              </a:rPr>
              <a:t> Law of Thermodynamics</a:t>
            </a:r>
            <a:r>
              <a:rPr lang="en-US" sz="3600" b="1" dirty="0">
                <a:solidFill>
                  <a:schemeClr val="tx1"/>
                </a:solidFill>
              </a:rPr>
              <a:t>: </a:t>
            </a:r>
            <a:r>
              <a:rPr lang="en-US" sz="3600" dirty="0">
                <a:solidFill>
                  <a:schemeClr val="tx1"/>
                </a:solidFill>
              </a:rPr>
              <a:t>Law of </a:t>
            </a:r>
            <a:r>
              <a:rPr lang="en-US" sz="3600" dirty="0">
                <a:solidFill>
                  <a:srgbClr val="FE022C"/>
                </a:solidFill>
              </a:rPr>
              <a:t>Conservation</a:t>
            </a:r>
            <a:r>
              <a:rPr lang="en-US" sz="3600" dirty="0">
                <a:solidFill>
                  <a:schemeClr val="tx1"/>
                </a:solidFill>
              </a:rPr>
              <a:t> of </a:t>
            </a:r>
            <a:r>
              <a:rPr lang="en-US" sz="3600" dirty="0">
                <a:solidFill>
                  <a:srgbClr val="FE022C"/>
                </a:solidFill>
              </a:rPr>
              <a:t>Energy</a:t>
            </a:r>
            <a:r>
              <a:rPr lang="en-US" sz="3600" dirty="0">
                <a:solidFill>
                  <a:schemeClr val="tx1"/>
                </a:solidFill>
              </a:rPr>
              <a:t> </a:t>
            </a:r>
            <a:br>
              <a:rPr lang="en-US" sz="3600" dirty="0">
                <a:solidFill>
                  <a:schemeClr val="tx1"/>
                </a:solidFill>
              </a:rPr>
            </a:br>
            <a:br>
              <a:rPr lang="en-US" sz="3600" dirty="0">
                <a:solidFill>
                  <a:schemeClr val="tx1"/>
                </a:solidFill>
              </a:rPr>
            </a:br>
            <a:r>
              <a:rPr lang="en-US" sz="3600" dirty="0" err="1">
                <a:solidFill>
                  <a:schemeClr val="tx1"/>
                </a:solidFill>
                <a:latin typeface="Andalus" pitchFamily="18" charset="-78"/>
                <a:cs typeface="Andalus" pitchFamily="18" charset="-78"/>
              </a:rPr>
              <a:t>Energy</a:t>
            </a:r>
            <a:r>
              <a:rPr lang="en-US" sz="3600" dirty="0">
                <a:solidFill>
                  <a:schemeClr val="tx1"/>
                </a:solidFill>
                <a:latin typeface="Andalus" pitchFamily="18" charset="-78"/>
                <a:cs typeface="Andalus" pitchFamily="18" charset="-78"/>
              </a:rPr>
              <a:t> can be converted from one form to another but it can be neither created nor destroyed.  The total amount of energy in the universe is </a:t>
            </a:r>
            <a:r>
              <a:rPr lang="en-US" sz="3600" dirty="0">
                <a:solidFill>
                  <a:srgbClr val="FE022C"/>
                </a:solidFill>
                <a:latin typeface="Andalus" pitchFamily="18" charset="-78"/>
                <a:cs typeface="Andalus" pitchFamily="18" charset="-78"/>
              </a:rPr>
              <a:t>constant</a:t>
            </a:r>
            <a:r>
              <a:rPr lang="en-US" sz="3600" dirty="0">
                <a:solidFill>
                  <a:schemeClr val="tx1"/>
                </a:solidFill>
                <a:latin typeface="Andalus" pitchFamily="18" charset="-78"/>
                <a:cs typeface="Andalus" pitchFamily="18" charset="-78"/>
              </a:rPr>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3"/>
          <p:cNvSpPr txBox="1">
            <a:spLocks noChangeArrowheads="1"/>
          </p:cNvSpPr>
          <p:nvPr/>
        </p:nvSpPr>
        <p:spPr bwMode="auto">
          <a:xfrm>
            <a:off x="3332370" y="99089"/>
            <a:ext cx="5577809" cy="523220"/>
          </a:xfrm>
          <a:prstGeom prst="rect">
            <a:avLst/>
          </a:prstGeom>
          <a:noFill/>
          <a:ln w="9525">
            <a:noFill/>
            <a:miter lim="800000"/>
            <a:headEnd/>
            <a:tailEnd/>
          </a:ln>
          <a:effectLst/>
        </p:spPr>
        <p:txBody>
          <a:bodyPr wrap="none">
            <a:spAutoFit/>
          </a:bodyPr>
          <a:lstStyle/>
          <a:p>
            <a:pPr algn="ctr"/>
            <a:r>
              <a:rPr lang="en-US" altLang="en-US" sz="2800" dirty="0"/>
              <a:t>Energy Changes in Physical Processes</a:t>
            </a:r>
          </a:p>
        </p:txBody>
      </p:sp>
      <p:sp>
        <p:nvSpPr>
          <p:cNvPr id="4101" name="Text Box 5"/>
          <p:cNvSpPr txBox="1">
            <a:spLocks noChangeArrowheads="1"/>
          </p:cNvSpPr>
          <p:nvPr/>
        </p:nvSpPr>
        <p:spPr bwMode="auto">
          <a:xfrm>
            <a:off x="711852" y="646865"/>
            <a:ext cx="9942512" cy="2462213"/>
          </a:xfrm>
          <a:prstGeom prst="rect">
            <a:avLst/>
          </a:prstGeom>
          <a:noFill/>
          <a:ln w="9525">
            <a:noFill/>
            <a:miter lim="800000"/>
            <a:headEnd/>
            <a:tailEnd/>
          </a:ln>
          <a:effectLst/>
        </p:spPr>
        <p:txBody>
          <a:bodyPr wrap="square">
            <a:spAutoFit/>
          </a:bodyPr>
          <a:lstStyle/>
          <a:p>
            <a:pPr>
              <a:spcBef>
                <a:spcPct val="50000"/>
              </a:spcBef>
            </a:pPr>
            <a:r>
              <a:rPr lang="en-US" altLang="en-US" sz="2800" b="1" i="1" dirty="0"/>
              <a:t>Heat</a:t>
            </a:r>
            <a:r>
              <a:rPr lang="en-US" altLang="en-US" sz="2800" dirty="0"/>
              <a:t> is the </a:t>
            </a:r>
            <a:r>
              <a:rPr lang="en-US" altLang="en-US" sz="2800" dirty="0">
                <a:solidFill>
                  <a:srgbClr val="FE022C"/>
                </a:solidFill>
              </a:rPr>
              <a:t>transfer</a:t>
            </a:r>
            <a:r>
              <a:rPr lang="en-US" altLang="en-US" sz="2800" dirty="0"/>
              <a:t> of </a:t>
            </a:r>
            <a:r>
              <a:rPr lang="en-US" altLang="en-US" sz="2800" b="1" dirty="0">
                <a:solidFill>
                  <a:srgbClr val="FE022C"/>
                </a:solidFill>
              </a:rPr>
              <a:t>thermal</a:t>
            </a:r>
            <a:r>
              <a:rPr lang="en-US" altLang="en-US" sz="2800" b="1" dirty="0"/>
              <a:t> </a:t>
            </a:r>
            <a:r>
              <a:rPr lang="en-US" altLang="en-US" sz="2800" b="1" dirty="0">
                <a:solidFill>
                  <a:srgbClr val="FE022C"/>
                </a:solidFill>
              </a:rPr>
              <a:t>energy</a:t>
            </a:r>
            <a:r>
              <a:rPr lang="en-US" altLang="en-US" sz="2800" dirty="0"/>
              <a:t> between two bodies. Also called </a:t>
            </a:r>
            <a:r>
              <a:rPr lang="en-US" altLang="en-US" sz="2800" dirty="0">
                <a:solidFill>
                  <a:srgbClr val="FE022C"/>
                </a:solidFill>
              </a:rPr>
              <a:t>ENTHALPY</a:t>
            </a:r>
            <a:r>
              <a:rPr lang="en-US" altLang="en-US" sz="2800" dirty="0"/>
              <a:t> and has the symbol </a:t>
            </a:r>
            <a:r>
              <a:rPr lang="en-US" altLang="en-US" sz="2800" i="1" dirty="0">
                <a:solidFill>
                  <a:srgbClr val="FE022C"/>
                </a:solidFill>
                <a:latin typeface="Symbol" panose="05050102010706020507" pitchFamily="18" charset="2"/>
              </a:rPr>
              <a:t>D</a:t>
            </a:r>
            <a:r>
              <a:rPr lang="en-US" altLang="en-US" sz="2800" i="1" dirty="0">
                <a:solidFill>
                  <a:srgbClr val="FE022C"/>
                </a:solidFill>
              </a:rPr>
              <a:t>H</a:t>
            </a:r>
            <a:r>
              <a:rPr lang="en-US" altLang="en-US" sz="2800" dirty="0"/>
              <a:t>.</a:t>
            </a:r>
            <a:endParaRPr lang="en-US" altLang="en-US" sz="2800" b="1" i="1" dirty="0"/>
          </a:p>
          <a:p>
            <a:pPr>
              <a:spcBef>
                <a:spcPct val="50000"/>
              </a:spcBef>
            </a:pPr>
            <a:r>
              <a:rPr lang="en-US" altLang="en-US" sz="2800" b="1" i="1" dirty="0"/>
              <a:t>Temperature</a:t>
            </a:r>
            <a:r>
              <a:rPr lang="en-US" altLang="en-US" sz="2800" dirty="0"/>
              <a:t> is a measure of the </a:t>
            </a:r>
            <a:r>
              <a:rPr lang="en-US" altLang="en-US" sz="2800" b="1" dirty="0">
                <a:solidFill>
                  <a:srgbClr val="FE022C"/>
                </a:solidFill>
              </a:rPr>
              <a:t>thermal</a:t>
            </a:r>
            <a:r>
              <a:rPr lang="en-US" altLang="en-US" sz="2800" b="1" dirty="0"/>
              <a:t> energy on a </a:t>
            </a:r>
            <a:r>
              <a:rPr lang="en-US" altLang="en-US" sz="2800" b="1" dirty="0">
                <a:solidFill>
                  <a:srgbClr val="FE022C"/>
                </a:solidFill>
              </a:rPr>
              <a:t>molecular</a:t>
            </a:r>
            <a:r>
              <a:rPr lang="en-US" altLang="en-US" sz="2800" b="1" dirty="0"/>
              <a:t> scale</a:t>
            </a:r>
            <a:r>
              <a:rPr lang="en-US" altLang="en-US" sz="2800" dirty="0"/>
              <a:t>. Chemists think of energy as </a:t>
            </a:r>
            <a:r>
              <a:rPr lang="en-US" altLang="en-US" sz="2800" dirty="0">
                <a:solidFill>
                  <a:srgbClr val="FE022C"/>
                </a:solidFill>
              </a:rPr>
              <a:t>AVERAGE MOLECULAR KINETIC ENERGY</a:t>
            </a:r>
          </a:p>
        </p:txBody>
      </p:sp>
      <p:grpSp>
        <p:nvGrpSpPr>
          <p:cNvPr id="2" name="Group 8"/>
          <p:cNvGrpSpPr>
            <a:grpSpLocks/>
          </p:cNvGrpSpPr>
          <p:nvPr/>
        </p:nvGrpSpPr>
        <p:grpSpPr bwMode="auto">
          <a:xfrm>
            <a:off x="3429000" y="4338084"/>
            <a:ext cx="4953000" cy="501055"/>
            <a:chOff x="1283" y="2659"/>
            <a:chExt cx="3120" cy="330"/>
          </a:xfrm>
        </p:grpSpPr>
        <p:sp>
          <p:nvSpPr>
            <p:cNvPr id="4102" name="Text Box 6"/>
            <p:cNvSpPr txBox="1">
              <a:spLocks noChangeArrowheads="1"/>
            </p:cNvSpPr>
            <p:nvPr/>
          </p:nvSpPr>
          <p:spPr bwMode="auto">
            <a:xfrm>
              <a:off x="1283" y="2659"/>
              <a:ext cx="3120" cy="330"/>
            </a:xfrm>
            <a:prstGeom prst="rect">
              <a:avLst/>
            </a:prstGeom>
            <a:noFill/>
            <a:ln w="9525">
              <a:noFill/>
              <a:miter lim="800000"/>
              <a:headEnd/>
              <a:tailEnd/>
            </a:ln>
            <a:effectLst/>
          </p:spPr>
          <p:txBody>
            <a:bodyPr wrap="square">
              <a:spAutoFit/>
            </a:bodyPr>
            <a:lstStyle/>
            <a:p>
              <a:pPr>
                <a:spcBef>
                  <a:spcPct val="50000"/>
                </a:spcBef>
              </a:pPr>
              <a:r>
                <a:rPr lang="en-US" altLang="en-US" sz="2800" dirty="0"/>
                <a:t>Temperature = Thermal Energy</a:t>
              </a:r>
            </a:p>
          </p:txBody>
        </p:sp>
        <p:sp>
          <p:nvSpPr>
            <p:cNvPr id="4103" name="Line 7"/>
            <p:cNvSpPr>
              <a:spLocks noChangeShapeType="1"/>
            </p:cNvSpPr>
            <p:nvPr/>
          </p:nvSpPr>
          <p:spPr bwMode="auto">
            <a:xfrm flipH="1">
              <a:off x="2579" y="2749"/>
              <a:ext cx="48" cy="164"/>
            </a:xfrm>
            <a:prstGeom prst="line">
              <a:avLst/>
            </a:prstGeom>
            <a:noFill/>
            <a:ln w="28575">
              <a:solidFill>
                <a:schemeClr val="tx1"/>
              </a:solidFill>
              <a:round/>
              <a:headEnd/>
              <a:tailEnd/>
            </a:ln>
            <a:effectLst/>
          </p:spPr>
          <p:txBody>
            <a:bodyPr/>
            <a:lstStyle/>
            <a:p>
              <a:endParaRPr lang="en-US"/>
            </a:p>
          </p:txBody>
        </p:sp>
      </p:grpSp>
      <p:grpSp>
        <p:nvGrpSpPr>
          <p:cNvPr id="3" name="Group 13"/>
          <p:cNvGrpSpPr>
            <a:grpSpLocks/>
          </p:cNvGrpSpPr>
          <p:nvPr/>
        </p:nvGrpSpPr>
        <p:grpSpPr bwMode="auto">
          <a:xfrm>
            <a:off x="1676400" y="4585900"/>
            <a:ext cx="1295400" cy="1740932"/>
            <a:chOff x="1008" y="2304"/>
            <a:chExt cx="906" cy="1362"/>
          </a:xfrm>
        </p:grpSpPr>
        <p:pic>
          <p:nvPicPr>
            <p:cNvPr id="4105" name="Picture 9" descr="D:\mhp\Common\MSShared\Clipart\std2prem\std2dir2\BD16640_.WMF"/>
            <p:cNvPicPr>
              <a:picLocks noChangeAspect="1" noChangeArrowheads="1"/>
            </p:cNvPicPr>
            <p:nvPr/>
          </p:nvPicPr>
          <p:blipFill>
            <a:blip r:embed="rId2" cstate="print"/>
            <a:srcRect/>
            <a:stretch>
              <a:fillRect/>
            </a:stretch>
          </p:blipFill>
          <p:spPr bwMode="auto">
            <a:xfrm>
              <a:off x="1008" y="2304"/>
              <a:ext cx="906" cy="1122"/>
            </a:xfrm>
            <a:prstGeom prst="rect">
              <a:avLst/>
            </a:prstGeom>
            <a:noFill/>
          </p:spPr>
        </p:pic>
        <p:sp>
          <p:nvSpPr>
            <p:cNvPr id="4107" name="Text Box 11"/>
            <p:cNvSpPr txBox="1">
              <a:spLocks noChangeArrowheads="1"/>
            </p:cNvSpPr>
            <p:nvPr/>
          </p:nvSpPr>
          <p:spPr bwMode="auto">
            <a:xfrm>
              <a:off x="1266" y="3433"/>
              <a:ext cx="391" cy="233"/>
            </a:xfrm>
            <a:prstGeom prst="rect">
              <a:avLst/>
            </a:prstGeom>
            <a:noFill/>
            <a:ln w="9525">
              <a:noFill/>
              <a:miter lim="800000"/>
              <a:headEnd/>
              <a:tailEnd/>
            </a:ln>
            <a:effectLst/>
          </p:spPr>
          <p:txBody>
            <a:bodyPr wrap="none">
              <a:spAutoFit/>
            </a:bodyPr>
            <a:lstStyle/>
            <a:p>
              <a:pPr algn="ctr"/>
              <a:r>
                <a:rPr lang="en-US" altLang="en-US"/>
                <a:t>90</a:t>
              </a:r>
              <a:r>
                <a:rPr lang="en-US" altLang="en-US" baseline="30000"/>
                <a:t>0</a:t>
              </a:r>
              <a:r>
                <a:rPr lang="en-US" altLang="en-US"/>
                <a:t>C</a:t>
              </a:r>
            </a:p>
          </p:txBody>
        </p:sp>
      </p:grpSp>
      <p:grpSp>
        <p:nvGrpSpPr>
          <p:cNvPr id="4" name="Group 14"/>
          <p:cNvGrpSpPr>
            <a:grpSpLocks/>
          </p:cNvGrpSpPr>
          <p:nvPr/>
        </p:nvGrpSpPr>
        <p:grpSpPr bwMode="auto">
          <a:xfrm>
            <a:off x="8250799" y="4204997"/>
            <a:ext cx="2058663" cy="2088679"/>
            <a:chOff x="3168" y="2064"/>
            <a:chExt cx="1710" cy="1721"/>
          </a:xfrm>
        </p:grpSpPr>
        <p:pic>
          <p:nvPicPr>
            <p:cNvPr id="4106" name="Picture 10" descr="D:\mhp\Common\MSShared\Clipart\homebas\hmbsdir1\HH00478_.wmf"/>
            <p:cNvPicPr>
              <a:picLocks noChangeAspect="1" noChangeArrowheads="1"/>
            </p:cNvPicPr>
            <p:nvPr/>
          </p:nvPicPr>
          <p:blipFill>
            <a:blip r:embed="rId3" cstate="print"/>
            <a:srcRect/>
            <a:stretch>
              <a:fillRect/>
            </a:stretch>
          </p:blipFill>
          <p:spPr bwMode="auto">
            <a:xfrm>
              <a:off x="3168" y="2064"/>
              <a:ext cx="1710" cy="1608"/>
            </a:xfrm>
            <a:prstGeom prst="rect">
              <a:avLst/>
            </a:prstGeom>
            <a:noFill/>
          </p:spPr>
        </p:pic>
        <p:sp>
          <p:nvSpPr>
            <p:cNvPr id="4108" name="Text Box 12"/>
            <p:cNvSpPr txBox="1">
              <a:spLocks noChangeArrowheads="1"/>
            </p:cNvSpPr>
            <p:nvPr/>
          </p:nvSpPr>
          <p:spPr bwMode="auto">
            <a:xfrm>
              <a:off x="3828" y="3552"/>
              <a:ext cx="391" cy="233"/>
            </a:xfrm>
            <a:prstGeom prst="rect">
              <a:avLst/>
            </a:prstGeom>
            <a:noFill/>
            <a:ln w="9525">
              <a:noFill/>
              <a:miter lim="800000"/>
              <a:headEnd/>
              <a:tailEnd/>
            </a:ln>
            <a:effectLst/>
          </p:spPr>
          <p:txBody>
            <a:bodyPr wrap="none">
              <a:spAutoFit/>
            </a:bodyPr>
            <a:lstStyle/>
            <a:p>
              <a:pPr algn="ctr"/>
              <a:r>
                <a:rPr lang="en-US" altLang="en-US"/>
                <a:t>40</a:t>
              </a:r>
              <a:r>
                <a:rPr lang="en-US" altLang="en-US" baseline="30000"/>
                <a:t>0</a:t>
              </a:r>
              <a:r>
                <a:rPr lang="en-US" altLang="en-US"/>
                <a:t>C</a:t>
              </a:r>
            </a:p>
          </p:txBody>
        </p:sp>
      </p:grpSp>
      <p:sp>
        <p:nvSpPr>
          <p:cNvPr id="4111" name="Text Box 15"/>
          <p:cNvSpPr txBox="1">
            <a:spLocks noChangeArrowheads="1"/>
          </p:cNvSpPr>
          <p:nvPr/>
        </p:nvSpPr>
        <p:spPr bwMode="auto">
          <a:xfrm>
            <a:off x="6636663" y="6326832"/>
            <a:ext cx="2960298" cy="461665"/>
          </a:xfrm>
          <a:prstGeom prst="rect">
            <a:avLst/>
          </a:prstGeom>
          <a:noFill/>
          <a:ln w="9525">
            <a:noFill/>
            <a:miter lim="800000"/>
            <a:headEnd/>
            <a:tailEnd/>
          </a:ln>
          <a:effectLst/>
        </p:spPr>
        <p:txBody>
          <a:bodyPr wrap="none">
            <a:spAutoFit/>
          </a:bodyPr>
          <a:lstStyle/>
          <a:p>
            <a:r>
              <a:rPr lang="en-US" altLang="en-US" dirty="0">
                <a:solidFill>
                  <a:srgbClr val="FF0000"/>
                </a:solidFill>
              </a:rPr>
              <a:t>greater thermal energy</a:t>
            </a:r>
          </a:p>
        </p:txBody>
      </p:sp>
      <p:pic>
        <p:nvPicPr>
          <p:cNvPr id="4113" name="Picture 17" descr="D:\mhp\Common\MSShared\Clipart\std2prem\std2dir3\HH00446_.wmf"/>
          <p:cNvPicPr>
            <a:picLocks noChangeAspect="1" noChangeArrowheads="1"/>
          </p:cNvPicPr>
          <p:nvPr/>
        </p:nvPicPr>
        <p:blipFill>
          <a:blip r:embed="rId4" cstate="print"/>
          <a:srcRect/>
          <a:stretch>
            <a:fillRect/>
          </a:stretch>
        </p:blipFill>
        <p:spPr bwMode="auto">
          <a:xfrm>
            <a:off x="10990470" y="112282"/>
            <a:ext cx="1104900" cy="1374775"/>
          </a:xfrm>
          <a:prstGeom prst="rect">
            <a:avLst/>
          </a:prstGeom>
          <a:noFill/>
        </p:spPr>
      </p:pic>
    </p:spTree>
    <p:extLst>
      <p:ext uri="{BB962C8B-B14F-4D97-AF65-F5344CB8AC3E}">
        <p14:creationId xmlns:p14="http://schemas.microsoft.com/office/powerpoint/2010/main" val="88190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1"/>
                                        </p:tgtEl>
                                        <p:attrNameLst>
                                          <p:attrName>style.visibility</p:attrName>
                                        </p:attrNameLst>
                                      </p:cBhvr>
                                      <p:to>
                                        <p:strVal val="visible"/>
                                      </p:to>
                                    </p:set>
                                    <p:anim calcmode="lin" valueType="num">
                                      <p:cBhvr additive="base">
                                        <p:cTn id="7" dur="500" fill="hold"/>
                                        <p:tgtEl>
                                          <p:spTgt spid="4101"/>
                                        </p:tgtEl>
                                        <p:attrNameLst>
                                          <p:attrName>ppt_x</p:attrName>
                                        </p:attrNameLst>
                                      </p:cBhvr>
                                      <p:tavLst>
                                        <p:tav tm="0">
                                          <p:val>
                                            <p:strVal val="0-#ppt_w/2"/>
                                          </p:val>
                                        </p:tav>
                                        <p:tav tm="100000">
                                          <p:val>
                                            <p:strVal val="#ppt_x"/>
                                          </p:val>
                                        </p:tav>
                                      </p:tavLst>
                                    </p:anim>
                                    <p:anim calcmode="lin" valueType="num">
                                      <p:cBhvr additive="base">
                                        <p:cTn id="8" dur="500" fill="hold"/>
                                        <p:tgtEl>
                                          <p:spTgt spid="410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4111"/>
                                        </p:tgtEl>
                                        <p:attrNameLst>
                                          <p:attrName>style.visibility</p:attrName>
                                        </p:attrNameLst>
                                      </p:cBhvr>
                                      <p:to>
                                        <p:strVal val="visible"/>
                                      </p:to>
                                    </p:set>
                                    <p:anim calcmode="lin" valueType="num">
                                      <p:cBhvr>
                                        <p:cTn id="31" dur="500" fill="hold"/>
                                        <p:tgtEl>
                                          <p:spTgt spid="4111"/>
                                        </p:tgtEl>
                                        <p:attrNameLst>
                                          <p:attrName>ppt_w</p:attrName>
                                        </p:attrNameLst>
                                      </p:cBhvr>
                                      <p:tavLst>
                                        <p:tav tm="0">
                                          <p:val>
                                            <p:fltVal val="0"/>
                                          </p:val>
                                        </p:tav>
                                        <p:tav tm="100000">
                                          <p:val>
                                            <p:strVal val="#ppt_w"/>
                                          </p:val>
                                        </p:tav>
                                      </p:tavLst>
                                    </p:anim>
                                    <p:anim calcmode="lin" valueType="num">
                                      <p:cBhvr>
                                        <p:cTn id="32" dur="500" fill="hold"/>
                                        <p:tgtEl>
                                          <p:spTgt spid="4111"/>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111">
                                            <p:txEl>
                                              <p:pRg st="0" end="0"/>
                                            </p:txEl>
                                          </p:spTgt>
                                        </p:tgtEl>
                                        <p:attrNameLst>
                                          <p:attrName>style.visibility</p:attrName>
                                        </p:attrNameLst>
                                      </p:cBhvr>
                                      <p:to>
                                        <p:strVal val="visible"/>
                                      </p:to>
                                    </p:set>
                                    <p:anim calcmode="lin" valueType="num">
                                      <p:cBhvr additive="base">
                                        <p:cTn id="37" dur="500" fill="hold"/>
                                        <p:tgtEl>
                                          <p:spTgt spid="411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11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autoUpdateAnimBg="0"/>
      <p:bldP spid="4111"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743200" y="152400"/>
            <a:ext cx="5334000" cy="6465007"/>
          </a:xfrm>
        </p:spPr>
      </p:pic>
    </p:spTree>
    <p:extLst>
      <p:ext uri="{BB962C8B-B14F-4D97-AF65-F5344CB8AC3E}">
        <p14:creationId xmlns:p14="http://schemas.microsoft.com/office/powerpoint/2010/main" val="27139564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 little temperature sca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77026"/>
            <a:ext cx="6629400" cy="66985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4468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6565"/>
            <a:ext cx="11582400" cy="4114800"/>
          </a:xfrm>
        </p:spPr>
        <p:txBody>
          <a:bodyPr/>
          <a:lstStyle/>
          <a:p>
            <a:r>
              <a:rPr lang="en-US" dirty="0">
                <a:solidFill>
                  <a:srgbClr val="FE022C"/>
                </a:solidFill>
              </a:rPr>
              <a:t>Heat transfer </a:t>
            </a:r>
            <a:r>
              <a:rPr lang="en-US" dirty="0"/>
              <a:t>(</a:t>
            </a:r>
            <a:r>
              <a:rPr lang="en-US" i="1" dirty="0"/>
              <a:t>q</a:t>
            </a:r>
            <a:r>
              <a:rPr lang="en-US" dirty="0"/>
              <a:t>) occurs through molecular </a:t>
            </a:r>
            <a:r>
              <a:rPr lang="en-US" dirty="0">
                <a:solidFill>
                  <a:srgbClr val="FE022C"/>
                </a:solidFill>
              </a:rPr>
              <a:t>collisions</a:t>
            </a:r>
            <a:r>
              <a:rPr lang="en-US" dirty="0"/>
              <a:t> which transfer KE (kinetic energy) from higher T molecules to lower T molecules</a:t>
            </a:r>
          </a:p>
          <a:p>
            <a:r>
              <a:rPr lang="en-US" dirty="0"/>
              <a:t>When all particles have the same average KE (</a:t>
            </a:r>
            <a:r>
              <a:rPr lang="en-US" dirty="0">
                <a:solidFill>
                  <a:srgbClr val="FE022C"/>
                </a:solidFill>
              </a:rPr>
              <a:t>temperature</a:t>
            </a:r>
            <a:r>
              <a:rPr lang="en-US" dirty="0"/>
              <a:t>), </a:t>
            </a:r>
            <a:r>
              <a:rPr lang="en-US" i="1" dirty="0">
                <a:solidFill>
                  <a:srgbClr val="FF0000"/>
                </a:solidFill>
              </a:rPr>
              <a:t>thermal equilibrium</a:t>
            </a:r>
            <a:r>
              <a:rPr lang="en-US" dirty="0">
                <a:solidFill>
                  <a:srgbClr val="FF0000"/>
                </a:solidFill>
              </a:rPr>
              <a:t> </a:t>
            </a:r>
            <a:r>
              <a:rPr lang="en-US" dirty="0"/>
              <a:t>is reached</a:t>
            </a:r>
          </a:p>
          <a:p>
            <a:r>
              <a:rPr lang="en-US" dirty="0"/>
              <a:t>For exothermic </a:t>
            </a:r>
            <a:r>
              <a:rPr lang="en-US" dirty="0" err="1"/>
              <a:t>rxns</a:t>
            </a:r>
            <a:r>
              <a:rPr lang="en-US" dirty="0"/>
              <a:t>, energy (</a:t>
            </a:r>
            <a:r>
              <a:rPr lang="en-US" i="1" dirty="0"/>
              <a:t>q</a:t>
            </a:r>
            <a:r>
              <a:rPr lang="en-US" dirty="0"/>
              <a:t>) is transferred </a:t>
            </a:r>
            <a:r>
              <a:rPr lang="en-US" i="1" dirty="0">
                <a:solidFill>
                  <a:srgbClr val="FE022C"/>
                </a:solidFill>
              </a:rPr>
              <a:t>out</a:t>
            </a:r>
            <a:r>
              <a:rPr lang="en-US" dirty="0"/>
              <a:t>, and </a:t>
            </a:r>
            <a:r>
              <a:rPr lang="en-US" dirty="0">
                <a:solidFill>
                  <a:srgbClr val="FE022C"/>
                </a:solidFill>
              </a:rPr>
              <a:t>q &lt;0 </a:t>
            </a:r>
            <a:endParaRPr lang="en-US" dirty="0"/>
          </a:p>
          <a:p>
            <a:r>
              <a:rPr lang="en-US" dirty="0"/>
              <a:t>For endothermic </a:t>
            </a:r>
            <a:r>
              <a:rPr lang="en-US" dirty="0" err="1"/>
              <a:t>rxns</a:t>
            </a:r>
            <a:r>
              <a:rPr lang="en-US" dirty="0"/>
              <a:t>, energy (</a:t>
            </a:r>
            <a:r>
              <a:rPr lang="en-US" i="1" dirty="0"/>
              <a:t>q</a:t>
            </a:r>
            <a:r>
              <a:rPr lang="en-US" dirty="0"/>
              <a:t>) is transferred </a:t>
            </a:r>
            <a:r>
              <a:rPr lang="en-US" i="1" dirty="0">
                <a:solidFill>
                  <a:srgbClr val="FE022C"/>
                </a:solidFill>
              </a:rPr>
              <a:t>in </a:t>
            </a:r>
            <a:r>
              <a:rPr lang="en-US" dirty="0"/>
              <a:t>, and </a:t>
            </a:r>
            <a:r>
              <a:rPr lang="en-US" dirty="0">
                <a:solidFill>
                  <a:srgbClr val="FE022C"/>
                </a:solidFill>
              </a:rPr>
              <a:t>q &gt;0 </a:t>
            </a:r>
            <a:r>
              <a:rPr lang="en-US" dirty="0"/>
              <a:t>... but from or to where??</a:t>
            </a:r>
          </a:p>
        </p:txBody>
      </p:sp>
      <p:pic>
        <p:nvPicPr>
          <p:cNvPr id="4" name="Picture 3"/>
          <p:cNvPicPr>
            <a:picLocks noChangeAspect="1"/>
          </p:cNvPicPr>
          <p:nvPr/>
        </p:nvPicPr>
        <p:blipFill>
          <a:blip r:embed="rId2"/>
          <a:stretch>
            <a:fillRect/>
          </a:stretch>
        </p:blipFill>
        <p:spPr>
          <a:xfrm>
            <a:off x="7162800" y="3713819"/>
            <a:ext cx="5029200" cy="3144181"/>
          </a:xfrm>
          <a:prstGeom prst="rect">
            <a:avLst/>
          </a:prstGeom>
        </p:spPr>
      </p:pic>
    </p:spTree>
    <p:extLst>
      <p:ext uri="{BB962C8B-B14F-4D97-AF65-F5344CB8AC3E}">
        <p14:creationId xmlns:p14="http://schemas.microsoft.com/office/powerpoint/2010/main" val="3809343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700480" y="1295400"/>
            <a:ext cx="10744200" cy="990600"/>
          </a:xfrm>
        </p:spPr>
        <p:txBody>
          <a:bodyPr/>
          <a:lstStyle/>
          <a:p>
            <a:pPr lvl="0" algn="l"/>
            <a:r>
              <a:rPr lang="en-US" sz="2800" dirty="0">
                <a:solidFill>
                  <a:schemeClr val="tx1"/>
                </a:solidFill>
              </a:rPr>
              <a:t>The </a:t>
            </a:r>
            <a:r>
              <a:rPr lang="en-US" sz="2800" u="sng" dirty="0">
                <a:solidFill>
                  <a:srgbClr val="FE022C"/>
                </a:solidFill>
              </a:rPr>
              <a:t>system</a:t>
            </a:r>
            <a:r>
              <a:rPr lang="en-US" sz="2800" dirty="0">
                <a:solidFill>
                  <a:schemeClr val="tx1"/>
                </a:solidFill>
              </a:rPr>
              <a:t> is our reaction.  The </a:t>
            </a:r>
            <a:r>
              <a:rPr lang="en-US" sz="2800" u="sng" dirty="0">
                <a:solidFill>
                  <a:srgbClr val="FE022C"/>
                </a:solidFill>
              </a:rPr>
              <a:t>surroundings</a:t>
            </a:r>
            <a:r>
              <a:rPr lang="en-US" sz="2800" dirty="0">
                <a:solidFill>
                  <a:schemeClr val="tx1"/>
                </a:solidFill>
              </a:rPr>
              <a:t> are everything else. </a:t>
            </a:r>
            <a:br>
              <a:rPr lang="en-US" sz="2800" dirty="0">
                <a:solidFill>
                  <a:schemeClr val="tx1"/>
                </a:solidFill>
              </a:rPr>
            </a:br>
            <a:r>
              <a:rPr lang="en-US" sz="2800" dirty="0">
                <a:solidFill>
                  <a:schemeClr val="tx1"/>
                </a:solidFill>
              </a:rPr>
              <a:t>Together they make up the </a:t>
            </a:r>
            <a:r>
              <a:rPr lang="en-US" sz="2800" u="sng" dirty="0">
                <a:solidFill>
                  <a:srgbClr val="FE022C"/>
                </a:solidFill>
              </a:rPr>
              <a:t>universe</a:t>
            </a:r>
            <a:r>
              <a:rPr lang="en-US" sz="2800" dirty="0">
                <a:solidFill>
                  <a:schemeClr val="tx1"/>
                </a:solidFill>
              </a:rPr>
              <a:t>. </a:t>
            </a:r>
            <a:br>
              <a:rPr lang="en-US" sz="2800" dirty="0">
                <a:solidFill>
                  <a:schemeClr val="tx1"/>
                </a:solidFill>
              </a:rPr>
            </a:br>
            <a:r>
              <a:rPr lang="en-US" sz="2800" dirty="0"/>
              <a:t>Energy is </a:t>
            </a:r>
            <a:r>
              <a:rPr lang="en-US" sz="2800" dirty="0">
                <a:solidFill>
                  <a:srgbClr val="FE022C"/>
                </a:solidFill>
              </a:rPr>
              <a:t>transferred</a:t>
            </a:r>
            <a:r>
              <a:rPr lang="en-US" sz="2800" dirty="0"/>
              <a:t> from one to another- either system to surroundings (</a:t>
            </a:r>
            <a:r>
              <a:rPr lang="en-US" sz="2800" dirty="0">
                <a:solidFill>
                  <a:srgbClr val="FE022C"/>
                </a:solidFill>
              </a:rPr>
              <a:t>exothermic</a:t>
            </a:r>
            <a:r>
              <a:rPr lang="en-US" sz="2800" dirty="0"/>
              <a:t>) or surroundings to system (</a:t>
            </a:r>
            <a:r>
              <a:rPr lang="en-US" sz="2800" dirty="0">
                <a:solidFill>
                  <a:srgbClr val="FE022C"/>
                </a:solidFill>
              </a:rPr>
              <a:t>endothermic</a:t>
            </a:r>
            <a:r>
              <a:rPr lang="en-US" sz="2800" dirty="0"/>
              <a:t>) </a:t>
            </a:r>
          </a:p>
        </p:txBody>
      </p:sp>
      <p:sp>
        <p:nvSpPr>
          <p:cNvPr id="5" name="Rectangle 2"/>
          <p:cNvSpPr txBox="1">
            <a:spLocks noChangeArrowheads="1"/>
          </p:cNvSpPr>
          <p:nvPr/>
        </p:nvSpPr>
        <p:spPr bwMode="auto">
          <a:xfrm>
            <a:off x="700480" y="5715000"/>
            <a:ext cx="111252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r>
              <a:rPr lang="en-US" sz="2800" kern="0" dirty="0">
                <a:solidFill>
                  <a:schemeClr val="tx1"/>
                </a:solidFill>
              </a:rPr>
              <a:t>Thermodynamic quantities always consist of a number and a sign (+ or </a:t>
            </a:r>
            <a:r>
              <a:rPr lang="en-US" sz="2800" kern="0" dirty="0">
                <a:solidFill>
                  <a:schemeClr val="tx1"/>
                </a:solidFill>
                <a:sym typeface="Symbol"/>
              </a:rPr>
              <a:t></a:t>
            </a:r>
            <a:r>
              <a:rPr lang="en-US" sz="2800" kern="0" dirty="0">
                <a:solidFill>
                  <a:schemeClr val="tx1"/>
                </a:solidFill>
              </a:rPr>
              <a:t>).  The sign represents the </a:t>
            </a:r>
            <a:r>
              <a:rPr lang="en-US" sz="2800" i="1" kern="0" dirty="0">
                <a:solidFill>
                  <a:srgbClr val="FF0000"/>
                </a:solidFill>
              </a:rPr>
              <a:t>systems</a:t>
            </a:r>
            <a:r>
              <a:rPr lang="en-US" sz="2800" kern="0" dirty="0">
                <a:solidFill>
                  <a:schemeClr val="tx1"/>
                </a:solidFill>
              </a:rPr>
              <a:t> point of view.  </a:t>
            </a:r>
          </a:p>
        </p:txBody>
      </p:sp>
      <p:sp>
        <p:nvSpPr>
          <p:cNvPr id="2" name="Rectangle 1"/>
          <p:cNvSpPr/>
          <p:nvPr/>
        </p:nvSpPr>
        <p:spPr bwMode="auto">
          <a:xfrm>
            <a:off x="2262580" y="2667000"/>
            <a:ext cx="7620000" cy="32004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charset="0"/>
            </a:endParaRPr>
          </a:p>
        </p:txBody>
      </p:sp>
      <p:sp>
        <p:nvSpPr>
          <p:cNvPr id="3" name="TextBox 2"/>
          <p:cNvSpPr txBox="1"/>
          <p:nvPr/>
        </p:nvSpPr>
        <p:spPr>
          <a:xfrm>
            <a:off x="1689332" y="28662"/>
            <a:ext cx="9147495" cy="707886"/>
          </a:xfrm>
          <a:prstGeom prst="rect">
            <a:avLst/>
          </a:prstGeom>
          <a:noFill/>
        </p:spPr>
        <p:txBody>
          <a:bodyPr wrap="square" rtlCol="0">
            <a:spAutoFit/>
          </a:bodyPr>
          <a:lstStyle/>
          <a:p>
            <a:pPr algn="ctr"/>
            <a:r>
              <a:rPr lang="en-US" sz="4000" b="1" dirty="0"/>
              <a:t>Understanding the Universe</a:t>
            </a:r>
          </a:p>
        </p:txBody>
      </p:sp>
    </p:spTree>
    <p:extLst>
      <p:ext uri="{BB962C8B-B14F-4D97-AF65-F5344CB8AC3E}">
        <p14:creationId xmlns:p14="http://schemas.microsoft.com/office/powerpoint/2010/main" val="3823156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76200"/>
            <a:ext cx="10744200" cy="990600"/>
          </a:xfrm>
        </p:spPr>
        <p:txBody>
          <a:bodyPr/>
          <a:lstStyle/>
          <a:p>
            <a:r>
              <a:rPr lang="en-US" sz="3600" dirty="0">
                <a:solidFill>
                  <a:schemeClr val="tx1"/>
                </a:solidFill>
              </a:rPr>
              <a:t>The </a:t>
            </a:r>
            <a:r>
              <a:rPr lang="en-US" sz="3600" u="sng" dirty="0">
                <a:solidFill>
                  <a:srgbClr val="FF0000"/>
                </a:solidFill>
              </a:rPr>
              <a:t>system</a:t>
            </a:r>
            <a:r>
              <a:rPr lang="en-US" sz="3600" dirty="0">
                <a:solidFill>
                  <a:schemeClr val="tx1"/>
                </a:solidFill>
              </a:rPr>
              <a:t> is our reaction.  The </a:t>
            </a:r>
            <a:r>
              <a:rPr lang="en-US" sz="3600" u="sng" dirty="0">
                <a:solidFill>
                  <a:srgbClr val="FF0000"/>
                </a:solidFill>
              </a:rPr>
              <a:t>surroundings</a:t>
            </a:r>
            <a:r>
              <a:rPr lang="en-US" sz="3600" dirty="0">
                <a:solidFill>
                  <a:schemeClr val="tx1"/>
                </a:solidFill>
              </a:rPr>
              <a:t> are everything else.</a:t>
            </a:r>
          </a:p>
        </p:txBody>
      </p:sp>
      <p:pic>
        <p:nvPicPr>
          <p:cNvPr id="36866" name="Picture 2" descr="http://www.chemteam.info/Thermochem/System&amp;Surroundings.GIF"/>
          <p:cNvPicPr>
            <a:picLocks noChangeAspect="1" noChangeArrowheads="1"/>
          </p:cNvPicPr>
          <p:nvPr/>
        </p:nvPicPr>
        <p:blipFill>
          <a:blip r:embed="rId2" cstate="print"/>
          <a:srcRect/>
          <a:stretch>
            <a:fillRect/>
          </a:stretch>
        </p:blipFill>
        <p:spPr bwMode="auto">
          <a:xfrm>
            <a:off x="4038600" y="2362200"/>
            <a:ext cx="6629400" cy="3853130"/>
          </a:xfrm>
          <a:prstGeom prst="rect">
            <a:avLst/>
          </a:prstGeom>
          <a:noFill/>
        </p:spPr>
      </p:pic>
      <p:pic>
        <p:nvPicPr>
          <p:cNvPr id="36868" name="Picture 4" descr="http://people.chem.umass.edu/botch/Chem122S08/Chapters/Ch6/SystemSurr.jpg"/>
          <p:cNvPicPr>
            <a:picLocks noChangeAspect="1" noChangeArrowheads="1"/>
          </p:cNvPicPr>
          <p:nvPr/>
        </p:nvPicPr>
        <p:blipFill>
          <a:blip r:embed="rId3" cstate="print"/>
          <a:srcRect/>
          <a:stretch>
            <a:fillRect/>
          </a:stretch>
        </p:blipFill>
        <p:spPr bwMode="auto">
          <a:xfrm>
            <a:off x="1524001" y="2362201"/>
            <a:ext cx="2581275" cy="3743325"/>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210800" cy="1143000"/>
          </a:xfrm>
        </p:spPr>
        <p:txBody>
          <a:bodyPr>
            <a:noAutofit/>
          </a:bodyPr>
          <a:lstStyle/>
          <a:p>
            <a:r>
              <a:rPr lang="en-US" sz="3600" dirty="0"/>
              <a:t>Heat </a:t>
            </a:r>
            <a:r>
              <a:rPr lang="en-US" sz="3600" dirty="0">
                <a:solidFill>
                  <a:srgbClr val="FF0000"/>
                </a:solidFill>
              </a:rPr>
              <a:t>Transfer</a:t>
            </a:r>
            <a:r>
              <a:rPr lang="en-US" sz="3600" dirty="0"/>
              <a:t> (either Released or Absorbed)</a:t>
            </a:r>
          </a:p>
        </p:txBody>
      </p:sp>
      <p:sp>
        <p:nvSpPr>
          <p:cNvPr id="3" name="Content Placeholder 2"/>
          <p:cNvSpPr>
            <a:spLocks noGrp="1"/>
          </p:cNvSpPr>
          <p:nvPr>
            <p:ph idx="1"/>
          </p:nvPr>
        </p:nvSpPr>
        <p:spPr>
          <a:xfrm>
            <a:off x="914400" y="1066801"/>
            <a:ext cx="9982200" cy="5059363"/>
          </a:xfrm>
        </p:spPr>
        <p:txBody>
          <a:bodyPr>
            <a:normAutofit fontScale="92500" lnSpcReduction="10000"/>
          </a:bodyPr>
          <a:lstStyle/>
          <a:p>
            <a:pPr marL="0" indent="0">
              <a:buNone/>
            </a:pPr>
            <a:r>
              <a:rPr lang="en-US" dirty="0"/>
              <a:t>The heat released or absorbed by a process (</a:t>
            </a:r>
            <a:r>
              <a:rPr lang="en-US" i="1" dirty="0"/>
              <a:t>q</a:t>
            </a:r>
            <a:r>
              <a:rPr lang="en-US" dirty="0"/>
              <a:t>) can be calculated</a:t>
            </a:r>
            <a:r>
              <a:rPr lang="en-US" i="1" dirty="0"/>
              <a:t>:</a:t>
            </a:r>
          </a:p>
          <a:p>
            <a:pPr>
              <a:buNone/>
            </a:pPr>
            <a:r>
              <a:rPr lang="en-US" i="1" dirty="0"/>
              <a:t>				q=</a:t>
            </a:r>
            <a:r>
              <a:rPr lang="en-US" i="1" dirty="0" err="1"/>
              <a:t>mC</a:t>
            </a:r>
            <a:r>
              <a:rPr lang="en-US" i="1" dirty="0" err="1">
                <a:latin typeface="Symbol" pitchFamily="18" charset="2"/>
              </a:rPr>
              <a:t>D</a:t>
            </a:r>
            <a:r>
              <a:rPr lang="en-US" i="1" dirty="0" err="1"/>
              <a:t>T</a:t>
            </a:r>
            <a:endParaRPr lang="en-US" i="1" dirty="0"/>
          </a:p>
          <a:p>
            <a:pPr>
              <a:buNone/>
            </a:pPr>
            <a:r>
              <a:rPr lang="en-US" i="1" dirty="0"/>
              <a:t>q </a:t>
            </a:r>
            <a:r>
              <a:rPr lang="en-US" dirty="0"/>
              <a:t>= </a:t>
            </a:r>
            <a:r>
              <a:rPr lang="en-US" dirty="0">
                <a:solidFill>
                  <a:srgbClr val="FF0000"/>
                </a:solidFill>
              </a:rPr>
              <a:t>heat transferred</a:t>
            </a:r>
          </a:p>
          <a:p>
            <a:pPr>
              <a:buNone/>
            </a:pPr>
            <a:r>
              <a:rPr lang="en-US" i="1" dirty="0"/>
              <a:t>m </a:t>
            </a:r>
            <a:r>
              <a:rPr lang="en-US" dirty="0"/>
              <a:t>= </a:t>
            </a:r>
            <a:r>
              <a:rPr lang="en-US" dirty="0">
                <a:solidFill>
                  <a:srgbClr val="FF0000"/>
                </a:solidFill>
              </a:rPr>
              <a:t>mass of body changing temperature</a:t>
            </a:r>
            <a:endParaRPr lang="en-US" i="1" dirty="0">
              <a:solidFill>
                <a:srgbClr val="FF0000"/>
              </a:solidFill>
            </a:endParaRPr>
          </a:p>
          <a:p>
            <a:pPr>
              <a:buNone/>
            </a:pPr>
            <a:r>
              <a:rPr lang="en-US" i="1" dirty="0"/>
              <a:t>C</a:t>
            </a:r>
            <a:r>
              <a:rPr lang="en-US" dirty="0"/>
              <a:t> = </a:t>
            </a:r>
            <a:r>
              <a:rPr lang="en-US" dirty="0">
                <a:solidFill>
                  <a:srgbClr val="FF0000"/>
                </a:solidFill>
              </a:rPr>
              <a:t>specific heat in J/g K </a:t>
            </a:r>
            <a:r>
              <a:rPr lang="en-US" i="1" dirty="0">
                <a:solidFill>
                  <a:srgbClr val="FF0000"/>
                </a:solidFill>
              </a:rPr>
              <a:t>or </a:t>
            </a:r>
            <a:r>
              <a:rPr lang="en-US" dirty="0">
                <a:solidFill>
                  <a:srgbClr val="FF0000"/>
                </a:solidFill>
              </a:rPr>
              <a:t> J/</a:t>
            </a:r>
            <a:r>
              <a:rPr lang="en-US" dirty="0" err="1">
                <a:solidFill>
                  <a:srgbClr val="FF0000"/>
                </a:solidFill>
              </a:rPr>
              <a:t>g°C</a:t>
            </a:r>
            <a:endParaRPr lang="en-US" dirty="0">
              <a:solidFill>
                <a:srgbClr val="FF0000"/>
              </a:solidFill>
            </a:endParaRPr>
          </a:p>
          <a:p>
            <a:pPr>
              <a:buNone/>
            </a:pPr>
            <a:r>
              <a:rPr lang="en-US" i="1" dirty="0">
                <a:latin typeface="Symbol" pitchFamily="18" charset="2"/>
              </a:rPr>
              <a:t>D</a:t>
            </a:r>
            <a:r>
              <a:rPr lang="en-US" i="1" dirty="0"/>
              <a:t>T </a:t>
            </a:r>
            <a:r>
              <a:rPr lang="en-US" dirty="0"/>
              <a:t>= </a:t>
            </a:r>
            <a:r>
              <a:rPr lang="en-US" dirty="0">
                <a:solidFill>
                  <a:srgbClr val="FF0000"/>
                </a:solidFill>
              </a:rPr>
              <a:t>(</a:t>
            </a:r>
            <a:r>
              <a:rPr lang="en-US" i="1" dirty="0" err="1">
                <a:solidFill>
                  <a:srgbClr val="FF0000"/>
                </a:solidFill>
              </a:rPr>
              <a:t>T</a:t>
            </a:r>
            <a:r>
              <a:rPr lang="en-US" i="1" baseline="-25000" dirty="0" err="1">
                <a:solidFill>
                  <a:srgbClr val="FF0000"/>
                </a:solidFill>
              </a:rPr>
              <a:t>f</a:t>
            </a:r>
            <a:r>
              <a:rPr lang="en-US" i="1" baseline="-25000" dirty="0">
                <a:solidFill>
                  <a:srgbClr val="FF0000"/>
                </a:solidFill>
              </a:rPr>
              <a:t> </a:t>
            </a:r>
            <a:r>
              <a:rPr lang="en-US" i="1" dirty="0">
                <a:solidFill>
                  <a:srgbClr val="FF0000"/>
                </a:solidFill>
              </a:rPr>
              <a:t>– </a:t>
            </a:r>
            <a:r>
              <a:rPr lang="en-US" i="1" dirty="0" err="1">
                <a:solidFill>
                  <a:srgbClr val="FF0000"/>
                </a:solidFill>
              </a:rPr>
              <a:t>T</a:t>
            </a:r>
            <a:r>
              <a:rPr lang="en-US" i="1" baseline="-25000" dirty="0" err="1">
                <a:solidFill>
                  <a:srgbClr val="FF0000"/>
                </a:solidFill>
              </a:rPr>
              <a:t>i</a:t>
            </a:r>
            <a:r>
              <a:rPr lang="en-US" i="1" dirty="0">
                <a:solidFill>
                  <a:srgbClr val="FF0000"/>
                </a:solidFill>
              </a:rPr>
              <a:t>) </a:t>
            </a:r>
            <a:r>
              <a:rPr lang="en-US" dirty="0">
                <a:solidFill>
                  <a:srgbClr val="FF0000"/>
                </a:solidFill>
              </a:rPr>
              <a:t>= change in temperature- always </a:t>
            </a:r>
            <a:r>
              <a:rPr lang="en-US" i="1" dirty="0">
                <a:solidFill>
                  <a:srgbClr val="FF0000"/>
                </a:solidFill>
              </a:rPr>
              <a:t>final</a:t>
            </a:r>
            <a:r>
              <a:rPr lang="en-US" dirty="0">
                <a:solidFill>
                  <a:srgbClr val="FF0000"/>
                </a:solidFill>
              </a:rPr>
              <a:t> - </a:t>
            </a:r>
            <a:r>
              <a:rPr lang="en-US" i="1" dirty="0">
                <a:solidFill>
                  <a:srgbClr val="FF0000"/>
                </a:solidFill>
              </a:rPr>
              <a:t>initial</a:t>
            </a:r>
          </a:p>
          <a:p>
            <a:pPr>
              <a:buNone/>
            </a:pPr>
            <a:endParaRPr lang="en-US" sz="3600" i="1" dirty="0"/>
          </a:p>
          <a:p>
            <a:pPr>
              <a:buNone/>
            </a:pPr>
            <a:r>
              <a:rPr lang="en-US" sz="3600" dirty="0"/>
              <a:t>The heat change of the system is </a:t>
            </a:r>
            <a:r>
              <a:rPr lang="en-US" sz="3600" dirty="0">
                <a:solidFill>
                  <a:srgbClr val="FF0000"/>
                </a:solidFill>
              </a:rPr>
              <a:t>equal</a:t>
            </a:r>
            <a:r>
              <a:rPr lang="en-US" sz="3600" dirty="0"/>
              <a:t> and </a:t>
            </a:r>
            <a:r>
              <a:rPr lang="en-US" sz="3600" dirty="0">
                <a:solidFill>
                  <a:srgbClr val="FF0000"/>
                </a:solidFill>
              </a:rPr>
              <a:t>opposite</a:t>
            </a:r>
            <a:r>
              <a:rPr lang="en-US" sz="3600" dirty="0"/>
              <a:t> to the heat change of the surroundings</a:t>
            </a:r>
          </a:p>
        </p:txBody>
      </p:sp>
    </p:spTree>
    <p:extLst>
      <p:ext uri="{BB962C8B-B14F-4D97-AF65-F5344CB8AC3E}">
        <p14:creationId xmlns:p14="http://schemas.microsoft.com/office/powerpoint/2010/main" val="334757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8600" y="228600"/>
            <a:ext cx="9144000" cy="5867400"/>
          </a:xfrm>
        </p:spPr>
        <p:txBody>
          <a:bodyPr/>
          <a:lstStyle/>
          <a:p>
            <a:pPr marL="0" indent="0">
              <a:buNone/>
            </a:pPr>
            <a:r>
              <a:rPr lang="en-US" b="1" u="sng" dirty="0"/>
              <a:t>Specific Heat Capacity</a:t>
            </a:r>
          </a:p>
          <a:p>
            <a:r>
              <a:rPr lang="en-US" sz="2800" b="1" i="1" dirty="0"/>
              <a:t>C</a:t>
            </a:r>
            <a:r>
              <a:rPr lang="en-US" sz="2800" b="1" dirty="0"/>
              <a:t> =     J / (g) </a:t>
            </a:r>
            <a:r>
              <a:rPr lang="en-US" sz="2800" b="1" baseline="30000" dirty="0" err="1"/>
              <a:t>o</a:t>
            </a:r>
            <a:r>
              <a:rPr lang="en-US" sz="2800" b="1" dirty="0" err="1"/>
              <a:t>C</a:t>
            </a:r>
            <a:endParaRPr lang="en-US" sz="2800" b="1" dirty="0"/>
          </a:p>
          <a:p>
            <a:r>
              <a:rPr lang="en-US" sz="2800" dirty="0"/>
              <a:t>specific heat capacity of H</a:t>
            </a:r>
            <a:r>
              <a:rPr lang="en-US" sz="2800" baseline="-25000" dirty="0"/>
              <a:t>2</a:t>
            </a:r>
            <a:r>
              <a:rPr lang="en-US" sz="2800" dirty="0"/>
              <a:t>O is 4.184J/g</a:t>
            </a:r>
            <a:r>
              <a:rPr lang="en-US" sz="2800" baseline="30000" dirty="0"/>
              <a:t> </a:t>
            </a:r>
            <a:r>
              <a:rPr lang="en-US" sz="2800" baseline="30000" dirty="0" err="1"/>
              <a:t>o</a:t>
            </a:r>
            <a:r>
              <a:rPr lang="en-US" sz="2800" dirty="0" err="1"/>
              <a:t>C</a:t>
            </a:r>
            <a:endParaRPr lang="en-US" sz="2800" dirty="0"/>
          </a:p>
          <a:p>
            <a:r>
              <a:rPr lang="en-US" dirty="0">
                <a:solidFill>
                  <a:srgbClr val="FF0000"/>
                </a:solidFill>
              </a:rPr>
              <a:t>LARGE</a:t>
            </a:r>
            <a:r>
              <a:rPr lang="en-US" sz="2800" dirty="0"/>
              <a:t> heat capacities = substances that do not conduct heat well but do hold higher heat per gram, low DT per J (water)</a:t>
            </a:r>
          </a:p>
          <a:p>
            <a:r>
              <a:rPr lang="en-US" sz="2000" dirty="0">
                <a:solidFill>
                  <a:srgbClr val="FF0000"/>
                </a:solidFill>
              </a:rPr>
              <a:t>SMALL</a:t>
            </a:r>
            <a:r>
              <a:rPr lang="en-US" sz="2800" dirty="0"/>
              <a:t> heat capacities = substances that do conduct heat well and holds lower heat per gram, high </a:t>
            </a:r>
            <a:r>
              <a:rPr lang="en-US" sz="2800" dirty="0">
                <a:latin typeface="Symbol" panose="05050102010706020507" pitchFamily="18" charset="2"/>
              </a:rPr>
              <a:t>D</a:t>
            </a:r>
            <a:r>
              <a:rPr lang="en-US" sz="2800" dirty="0"/>
              <a:t>T per J (metals)</a:t>
            </a:r>
          </a:p>
          <a:p>
            <a:pPr marL="0" indent="0">
              <a:buNone/>
            </a:pPr>
            <a:endParaRPr lang="en-US" sz="2800" dirty="0"/>
          </a:p>
          <a:p>
            <a:pPr marL="0" indent="0">
              <a:buNone/>
            </a:pPr>
            <a:r>
              <a:rPr lang="en-US" sz="2800" dirty="0"/>
              <a:t>Calculate the amount of energy needed to raise 35 g of water from 25°C to 37°C</a:t>
            </a:r>
            <a:br>
              <a:rPr lang="en-US" sz="2800" dirty="0"/>
            </a:br>
            <a:endParaRPr lang="en-US" sz="2800" dirty="0"/>
          </a:p>
          <a:p>
            <a:endParaRPr lang="en-US" sz="2800" dirty="0"/>
          </a:p>
        </p:txBody>
      </p:sp>
      <p:pic>
        <p:nvPicPr>
          <p:cNvPr id="5" name="Picture 2"/>
          <p:cNvPicPr>
            <a:picLocks noChangeAspect="1" noChangeArrowheads="1"/>
          </p:cNvPicPr>
          <p:nvPr/>
        </p:nvPicPr>
        <p:blipFill>
          <a:blip r:embed="rId2" cstate="print"/>
          <a:srcRect/>
          <a:stretch>
            <a:fillRect/>
          </a:stretch>
        </p:blipFill>
        <p:spPr bwMode="auto">
          <a:xfrm>
            <a:off x="9525000" y="-27782"/>
            <a:ext cx="2667000" cy="3880665"/>
          </a:xfrm>
          <a:prstGeom prst="rect">
            <a:avLst/>
          </a:prstGeom>
          <a:noFill/>
          <a:ln w="9525">
            <a:noFill/>
            <a:miter lim="800000"/>
            <a:headEnd/>
            <a:tailEnd/>
          </a:ln>
        </p:spPr>
      </p:pic>
    </p:spTree>
    <p:extLst>
      <p:ext uri="{BB962C8B-B14F-4D97-AF65-F5344CB8AC3E}">
        <p14:creationId xmlns:p14="http://schemas.microsoft.com/office/powerpoint/2010/main" val="12372250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0800" y="226423"/>
            <a:ext cx="4800600" cy="1143000"/>
          </a:xfrm>
        </p:spPr>
        <p:txBody>
          <a:bodyPr>
            <a:normAutofit/>
          </a:bodyPr>
          <a:lstStyle/>
          <a:p>
            <a:r>
              <a:rPr lang="en-US" sz="4800" b="1" dirty="0"/>
              <a:t>Practice</a:t>
            </a:r>
          </a:p>
        </p:txBody>
      </p:sp>
      <p:sp>
        <p:nvSpPr>
          <p:cNvPr id="3" name="Content Placeholder 2"/>
          <p:cNvSpPr>
            <a:spLocks noGrp="1"/>
          </p:cNvSpPr>
          <p:nvPr>
            <p:ph idx="1"/>
          </p:nvPr>
        </p:nvSpPr>
        <p:spPr>
          <a:xfrm>
            <a:off x="762000" y="1447800"/>
            <a:ext cx="8077200" cy="4525963"/>
          </a:xfrm>
        </p:spPr>
        <p:txBody>
          <a:bodyPr/>
          <a:lstStyle/>
          <a:p>
            <a:r>
              <a:rPr lang="en-US" altLang="en-US" sz="3600" dirty="0"/>
              <a:t>How much heat is given off when an 869 g iron bar cools from 94.0</a:t>
            </a:r>
            <a:r>
              <a:rPr lang="en-US" altLang="en-US" sz="3600" baseline="30000" dirty="0"/>
              <a:t>0</a:t>
            </a:r>
            <a:r>
              <a:rPr lang="en-US" altLang="en-US" sz="3600" dirty="0"/>
              <a:t>C to 5.0</a:t>
            </a:r>
            <a:r>
              <a:rPr lang="en-US" altLang="en-US" sz="3600" baseline="30000" dirty="0"/>
              <a:t>0</a:t>
            </a:r>
            <a:r>
              <a:rPr lang="en-US" altLang="en-US" sz="3600" dirty="0"/>
              <a:t>C?</a:t>
            </a:r>
          </a:p>
          <a:p>
            <a:endParaRPr lang="en-US" dirty="0"/>
          </a:p>
        </p:txBody>
      </p:sp>
      <p:pic>
        <p:nvPicPr>
          <p:cNvPr id="4" name="Picture 11"/>
          <p:cNvPicPr>
            <a:picLocks noChangeAspect="1" noChangeArrowheads="1"/>
          </p:cNvPicPr>
          <p:nvPr/>
        </p:nvPicPr>
        <p:blipFill>
          <a:blip r:embed="rId2" cstate="print"/>
          <a:srcRect/>
          <a:stretch>
            <a:fillRect/>
          </a:stretch>
        </p:blipFill>
        <p:spPr bwMode="auto">
          <a:xfrm>
            <a:off x="8974546" y="0"/>
            <a:ext cx="3197860" cy="5051809"/>
          </a:xfrm>
          <a:prstGeom prst="rect">
            <a:avLst/>
          </a:prstGeom>
          <a:noFill/>
          <a:ln w="9525">
            <a:noFill/>
            <a:miter lim="800000"/>
            <a:headEnd/>
            <a:tailEnd/>
          </a:ln>
          <a:effectLst/>
        </p:spPr>
      </p:pic>
    </p:spTree>
    <p:extLst>
      <p:ext uri="{BB962C8B-B14F-4D97-AF65-F5344CB8AC3E}">
        <p14:creationId xmlns:p14="http://schemas.microsoft.com/office/powerpoint/2010/main" val="5144888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Conservation of energy</a:t>
            </a:r>
          </a:p>
        </p:txBody>
      </p:sp>
      <p:sp>
        <p:nvSpPr>
          <p:cNvPr id="3" name="Content Placeholder 2"/>
          <p:cNvSpPr>
            <a:spLocks noGrp="1"/>
          </p:cNvSpPr>
          <p:nvPr>
            <p:ph idx="1"/>
          </p:nvPr>
        </p:nvSpPr>
        <p:spPr/>
        <p:txBody>
          <a:bodyPr/>
          <a:lstStyle/>
          <a:p>
            <a:r>
              <a:rPr lang="en-US" dirty="0"/>
              <a:t>Energy can neither be created nor destroyed, so the TOTAL energy change in the UNIVERSE for any process is ZERO!</a:t>
            </a:r>
          </a:p>
          <a:p>
            <a:pPr algn="ctr">
              <a:buNone/>
            </a:pPr>
            <a:r>
              <a:rPr lang="en-US" dirty="0"/>
              <a:t>q(universe)= q(system) + q (surroundings) = 0</a:t>
            </a:r>
          </a:p>
          <a:p>
            <a:pPr algn="ctr">
              <a:buNone/>
            </a:pPr>
            <a:r>
              <a:rPr lang="en-US" dirty="0"/>
              <a:t>q(system) + q (surroundings) = 0 </a:t>
            </a:r>
          </a:p>
          <a:p>
            <a:pPr algn="ctr">
              <a:buNone/>
            </a:pPr>
            <a:r>
              <a:rPr lang="en-US" dirty="0"/>
              <a:t>q(system) = -q (surroundings)</a:t>
            </a:r>
          </a:p>
          <a:p>
            <a:pPr algn="ctr">
              <a:buNone/>
            </a:pPr>
            <a:endParaRPr lang="en-US" dirty="0"/>
          </a:p>
        </p:txBody>
      </p:sp>
    </p:spTree>
    <p:extLst>
      <p:ext uri="{BB962C8B-B14F-4D97-AF65-F5344CB8AC3E}">
        <p14:creationId xmlns:p14="http://schemas.microsoft.com/office/powerpoint/2010/main" val="4097168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2209800" y="2590800"/>
            <a:ext cx="4572000" cy="1143000"/>
          </a:xfrm>
        </p:spPr>
        <p:txBody>
          <a:bodyPr/>
          <a:lstStyle/>
          <a:p>
            <a:pPr algn="l"/>
            <a:br>
              <a:rPr lang="en-US" sz="3600" dirty="0">
                <a:solidFill>
                  <a:schemeClr val="tx1"/>
                </a:solidFill>
              </a:rPr>
            </a:br>
            <a:br>
              <a:rPr lang="en-US" sz="4000" dirty="0">
                <a:solidFill>
                  <a:schemeClr val="tx1"/>
                </a:solidFill>
              </a:rPr>
            </a:br>
            <a:r>
              <a:rPr lang="en-US" sz="4000" dirty="0">
                <a:solidFill>
                  <a:schemeClr val="tx1"/>
                </a:solidFill>
              </a:rPr>
              <a:t> 	</a:t>
            </a:r>
            <a:br>
              <a:rPr lang="en-US" sz="4000" dirty="0">
                <a:solidFill>
                  <a:schemeClr val="tx1"/>
                </a:solidFill>
              </a:rPr>
            </a:br>
            <a:br>
              <a:rPr lang="en-US" sz="4000" dirty="0">
                <a:solidFill>
                  <a:schemeClr val="tx1"/>
                </a:solidFill>
              </a:rPr>
            </a:br>
            <a:endParaRPr lang="en-US" sz="4000" dirty="0">
              <a:solidFill>
                <a:schemeClr val="tx1"/>
              </a:solidFill>
            </a:endParaRPr>
          </a:p>
        </p:txBody>
      </p:sp>
      <p:sp>
        <p:nvSpPr>
          <p:cNvPr id="24579" name="Rectangle 4"/>
          <p:cNvSpPr>
            <a:spLocks noGrp="1" noChangeArrowheads="1"/>
          </p:cNvSpPr>
          <p:nvPr>
            <p:ph type="body" idx="1"/>
          </p:nvPr>
        </p:nvSpPr>
        <p:spPr>
          <a:xfrm>
            <a:off x="228600" y="409280"/>
            <a:ext cx="8077200" cy="6372520"/>
          </a:xfrm>
        </p:spPr>
        <p:txBody>
          <a:bodyPr/>
          <a:lstStyle/>
          <a:p>
            <a:pPr lvl="0"/>
            <a:r>
              <a:rPr lang="en-US" dirty="0">
                <a:solidFill>
                  <a:srgbClr val="FF0000"/>
                </a:solidFill>
              </a:rPr>
              <a:t>Calorimeter</a:t>
            </a:r>
            <a:r>
              <a:rPr lang="en-US" dirty="0"/>
              <a:t> - insulated container of fluid (water) used for measuring the amount of </a:t>
            </a:r>
            <a:r>
              <a:rPr lang="en-US" dirty="0">
                <a:solidFill>
                  <a:srgbClr val="FF0000"/>
                </a:solidFill>
              </a:rPr>
              <a:t>heat</a:t>
            </a:r>
            <a:r>
              <a:rPr lang="en-US" dirty="0"/>
              <a:t> absorbed or released in a process.</a:t>
            </a:r>
          </a:p>
          <a:p>
            <a:pPr lvl="0"/>
            <a:r>
              <a:rPr lang="en-US" dirty="0"/>
              <a:t>Energy released in a process (</a:t>
            </a:r>
            <a:r>
              <a:rPr lang="en-US" dirty="0">
                <a:solidFill>
                  <a:srgbClr val="FF0000"/>
                </a:solidFill>
              </a:rPr>
              <a:t>exothermic</a:t>
            </a:r>
            <a:r>
              <a:rPr lang="en-US" dirty="0"/>
              <a:t>) is absorbed by the water (</a:t>
            </a:r>
            <a:r>
              <a:rPr lang="en-US" dirty="0">
                <a:solidFill>
                  <a:srgbClr val="FF0000"/>
                </a:solidFill>
              </a:rPr>
              <a:t>endothermic</a:t>
            </a:r>
            <a:r>
              <a:rPr lang="en-US" dirty="0"/>
              <a:t>) and vice versa.</a:t>
            </a:r>
          </a:p>
          <a:p>
            <a:pPr lvl="0"/>
            <a:r>
              <a:rPr lang="en-US" dirty="0"/>
              <a:t>Careful measurement of temperature changes and mass of water allow us to calculate </a:t>
            </a:r>
            <a:r>
              <a:rPr lang="en-US" i="1" dirty="0"/>
              <a:t>q</a:t>
            </a:r>
            <a:r>
              <a:rPr lang="en-US" dirty="0"/>
              <a:t>, energy released or absorbed.</a:t>
            </a:r>
          </a:p>
          <a:p>
            <a:r>
              <a:rPr lang="en-US" dirty="0"/>
              <a:t>Because of conservation of energy, </a:t>
            </a:r>
          </a:p>
          <a:p>
            <a:pPr marL="0" indent="0" algn="ctr">
              <a:buNone/>
            </a:pPr>
            <a:r>
              <a:rPr lang="en-US" dirty="0" err="1">
                <a:solidFill>
                  <a:srgbClr val="FF0000"/>
                </a:solidFill>
              </a:rPr>
              <a:t>q</a:t>
            </a:r>
            <a:r>
              <a:rPr lang="en-US" baseline="-25000" dirty="0" err="1">
                <a:solidFill>
                  <a:srgbClr val="FF0000"/>
                </a:solidFill>
              </a:rPr>
              <a:t>sys</a:t>
            </a:r>
            <a:r>
              <a:rPr lang="en-US" dirty="0"/>
              <a:t> = </a:t>
            </a:r>
            <a:r>
              <a:rPr lang="en-US" dirty="0">
                <a:solidFill>
                  <a:srgbClr val="FF0000"/>
                </a:solidFill>
              </a:rPr>
              <a:t>-</a:t>
            </a:r>
            <a:r>
              <a:rPr lang="en-US" dirty="0" err="1">
                <a:solidFill>
                  <a:srgbClr val="FF0000"/>
                </a:solidFill>
              </a:rPr>
              <a:t>q</a:t>
            </a:r>
            <a:r>
              <a:rPr lang="en-US" baseline="-25000" dirty="0" err="1">
                <a:solidFill>
                  <a:srgbClr val="FF0000"/>
                </a:solidFill>
              </a:rPr>
              <a:t>surr</a:t>
            </a:r>
            <a:endParaRPr lang="en-US" dirty="0">
              <a:solidFill>
                <a:srgbClr val="FF0000"/>
              </a:solidFill>
            </a:endParaRPr>
          </a:p>
          <a:p>
            <a:endParaRPr lang="en-US" dirty="0"/>
          </a:p>
          <a:p>
            <a:endParaRPr lang="en-US" sz="2800" dirty="0"/>
          </a:p>
        </p:txBody>
      </p:sp>
      <p:pic>
        <p:nvPicPr>
          <p:cNvPr id="4" name="Picture 2" descr="fig06_05"/>
          <p:cNvPicPr>
            <a:picLocks noChangeAspect="1" noChangeArrowheads="1"/>
          </p:cNvPicPr>
          <p:nvPr/>
        </p:nvPicPr>
        <p:blipFill>
          <a:blip r:embed="rId2" cstate="print"/>
          <a:srcRect/>
          <a:stretch>
            <a:fillRect/>
          </a:stretch>
        </p:blipFill>
        <p:spPr bwMode="auto">
          <a:xfrm>
            <a:off x="8610600" y="457200"/>
            <a:ext cx="3448050" cy="5867400"/>
          </a:xfrm>
          <a:prstGeom prst="rect">
            <a:avLst/>
          </a:prstGeom>
          <a:noFill/>
          <a:ln w="9525">
            <a:noFill/>
            <a:miter lim="800000"/>
            <a:headEnd/>
            <a:tailEnd/>
          </a:ln>
        </p:spPr>
      </p:pic>
    </p:spTree>
    <p:extLst>
      <p:ext uri="{BB962C8B-B14F-4D97-AF65-F5344CB8AC3E}">
        <p14:creationId xmlns:p14="http://schemas.microsoft.com/office/powerpoint/2010/main" val="1184185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533400"/>
          </a:xfrm>
        </p:spPr>
        <p:txBody>
          <a:bodyPr>
            <a:normAutofit fontScale="90000"/>
          </a:bodyPr>
          <a:lstStyle/>
          <a:p>
            <a:r>
              <a:rPr lang="en-US" dirty="0"/>
              <a:t>Practice Problem</a:t>
            </a:r>
          </a:p>
        </p:txBody>
      </p:sp>
      <p:sp>
        <p:nvSpPr>
          <p:cNvPr id="3" name="Content Placeholder 2"/>
          <p:cNvSpPr>
            <a:spLocks noGrp="1"/>
          </p:cNvSpPr>
          <p:nvPr>
            <p:ph idx="1"/>
          </p:nvPr>
        </p:nvSpPr>
        <p:spPr>
          <a:xfrm>
            <a:off x="381000" y="533400"/>
            <a:ext cx="11430000" cy="6096000"/>
          </a:xfrm>
        </p:spPr>
        <p:txBody>
          <a:bodyPr>
            <a:normAutofit/>
          </a:bodyPr>
          <a:lstStyle/>
          <a:p>
            <a:r>
              <a:rPr lang="en-US" sz="3100" dirty="0"/>
              <a:t>A hot (81°C) piece of metal weighing 12 grams is dropped in a calorimeter holding 222 ml water. The water’s temperature rises from 22.0</a:t>
            </a:r>
            <a:r>
              <a:rPr lang="en-US" sz="3100" baseline="30000" dirty="0"/>
              <a:t>o</a:t>
            </a:r>
            <a:r>
              <a:rPr lang="en-US" sz="3100" dirty="0"/>
              <a:t>C to 24.5</a:t>
            </a:r>
            <a:r>
              <a:rPr lang="en-US" sz="3100" baseline="30000" dirty="0"/>
              <a:t>o</a:t>
            </a:r>
            <a:r>
              <a:rPr lang="en-US" sz="3100" dirty="0"/>
              <a:t>C. The specific heat (C) of water is 4.184 J/</a:t>
            </a:r>
            <a:r>
              <a:rPr lang="en-US" sz="3100" dirty="0" err="1"/>
              <a:t>g</a:t>
            </a:r>
            <a:r>
              <a:rPr lang="en-US" sz="3100" baseline="30000" dirty="0" err="1"/>
              <a:t>o</a:t>
            </a:r>
            <a:r>
              <a:rPr lang="en-US" sz="3100" dirty="0" err="1"/>
              <a:t>C</a:t>
            </a:r>
            <a:r>
              <a:rPr lang="en-US" sz="3100" dirty="0"/>
              <a:t>. </a:t>
            </a:r>
          </a:p>
          <a:p>
            <a:r>
              <a:rPr lang="en-US" sz="3100" dirty="0"/>
              <a:t>What is the system? The surroundings?</a:t>
            </a:r>
          </a:p>
          <a:p>
            <a:endParaRPr lang="en-US" sz="3100" dirty="0"/>
          </a:p>
          <a:p>
            <a:r>
              <a:rPr lang="en-US" sz="3100" dirty="0"/>
              <a:t>How much energy did the water absorb?</a:t>
            </a:r>
          </a:p>
          <a:p>
            <a:endParaRPr lang="en-US" sz="3100" dirty="0"/>
          </a:p>
          <a:p>
            <a:endParaRPr lang="en-US" sz="3100" dirty="0"/>
          </a:p>
          <a:p>
            <a:r>
              <a:rPr lang="en-US" sz="3100" dirty="0"/>
              <a:t>What is the specific heat capacity of the metal?</a:t>
            </a:r>
          </a:p>
          <a:p>
            <a:pPr>
              <a:buNone/>
            </a:pPr>
            <a:r>
              <a:rPr lang="en-US" sz="3600" i="1" dirty="0"/>
              <a:t>				</a:t>
            </a:r>
            <a:endParaRPr lang="en-US" sz="3600" dirty="0">
              <a:latin typeface="+mj-lt"/>
            </a:endParaRPr>
          </a:p>
        </p:txBody>
      </p:sp>
    </p:spTree>
    <p:extLst>
      <p:ext uri="{BB962C8B-B14F-4D97-AF65-F5344CB8AC3E}">
        <p14:creationId xmlns:p14="http://schemas.microsoft.com/office/powerpoint/2010/main" val="3761218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086600" y="4495800"/>
            <a:ext cx="5105400" cy="2362200"/>
          </a:xfrm>
          <a:noFill/>
        </p:spPr>
        <p:txBody>
          <a:bodyPr/>
          <a:lstStyle/>
          <a:p>
            <a:pPr algn="r"/>
            <a:r>
              <a:rPr lang="en-US" sz="3200" b="1" dirty="0">
                <a:solidFill>
                  <a:srgbClr val="00B0F0"/>
                </a:solidFill>
                <a:effectLst>
                  <a:outerShdw blurRad="38100" dist="38100" dir="2700000" algn="tl">
                    <a:srgbClr val="000000">
                      <a:alpha val="43137"/>
                    </a:srgbClr>
                  </a:outerShdw>
                </a:effectLst>
              </a:rPr>
              <a:t>6.5 Energy of Phase Change </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6.6 Intro to Enthalpy of </a:t>
            </a:r>
            <a:r>
              <a:rPr lang="en-US" sz="3200" b="1" dirty="0" err="1">
                <a:solidFill>
                  <a:srgbClr val="00B0F0"/>
                </a:solidFill>
                <a:effectLst>
                  <a:outerShdw blurRad="38100" dist="38100" dir="2700000" algn="tl">
                    <a:srgbClr val="000000">
                      <a:alpha val="43137"/>
                    </a:srgbClr>
                  </a:outerShdw>
                </a:effectLst>
              </a:rPr>
              <a:t>Rxn</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6.9 Hess’ Law</a:t>
            </a:r>
            <a:r>
              <a:rPr lang="en-US" sz="2800" b="1" dirty="0">
                <a:solidFill>
                  <a:srgbClr val="00B0F0"/>
                </a:solidFill>
                <a:effectLst>
                  <a:outerShdw blurRad="38100" dist="38100" dir="2700000" algn="tl">
                    <a:srgbClr val="000000">
                      <a:alpha val="43137"/>
                    </a:srgbClr>
                  </a:outerShdw>
                </a:effectLst>
              </a:rPr>
              <a:t> </a:t>
            </a:r>
            <a:endParaRPr lang="en-US" sz="5400" b="1" u="sng" dirty="0">
              <a:solidFill>
                <a:schemeClr val="bg1"/>
              </a:solidFill>
              <a:effectLst>
                <a:outerShdw blurRad="38100" dist="38100" dir="2700000" algn="tl">
                  <a:srgbClr val="000000">
                    <a:alpha val="43137"/>
                  </a:srgbClr>
                </a:outerShdw>
              </a:effectLst>
            </a:endParaRPr>
          </a:p>
        </p:txBody>
      </p:sp>
      <p:sp>
        <p:nvSpPr>
          <p:cNvPr id="3" name="Rectangle 2"/>
          <p:cNvSpPr txBox="1">
            <a:spLocks noChangeArrowheads="1"/>
          </p:cNvSpPr>
          <p:nvPr/>
        </p:nvSpPr>
        <p:spPr bwMode="auto">
          <a:xfrm>
            <a:off x="-17417" y="0"/>
            <a:ext cx="8458200" cy="1752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br>
              <a:rPr lang="en-US" b="1" kern="0" dirty="0">
                <a:solidFill>
                  <a:srgbClr val="00B0F0"/>
                </a:solidFill>
                <a:effectLst>
                  <a:outerShdw blurRad="38100" dist="38100" dir="2700000" algn="tl">
                    <a:srgbClr val="000000">
                      <a:alpha val="43137"/>
                    </a:srgbClr>
                  </a:outerShdw>
                </a:effectLst>
              </a:rPr>
            </a:br>
            <a:r>
              <a:rPr lang="en-US" sz="5400" b="1" kern="0" dirty="0">
                <a:solidFill>
                  <a:srgbClr val="00B0F0"/>
                </a:solidFill>
                <a:effectLst>
                  <a:outerShdw blurRad="38100" dist="38100" dir="2700000" algn="tl">
                    <a:srgbClr val="000000">
                      <a:alpha val="43137"/>
                    </a:srgbClr>
                  </a:outerShdw>
                </a:effectLst>
              </a:rPr>
              <a:t>AP </a:t>
            </a:r>
            <a:r>
              <a:rPr lang="en-US" sz="5400" b="1" kern="0" dirty="0" err="1">
                <a:solidFill>
                  <a:srgbClr val="00B0F0"/>
                </a:solidFill>
                <a:effectLst>
                  <a:outerShdw blurRad="38100" dist="38100" dir="2700000" algn="tl">
                    <a:srgbClr val="000000">
                      <a:alpha val="43137"/>
                    </a:srgbClr>
                  </a:outerShdw>
                </a:effectLst>
              </a:rPr>
              <a:t>Chem</a:t>
            </a:r>
            <a:r>
              <a:rPr lang="en-US" sz="5400" b="1" kern="0" dirty="0">
                <a:solidFill>
                  <a:srgbClr val="00B0F0"/>
                </a:solidFill>
                <a:effectLst>
                  <a:outerShdw blurRad="38100" dist="38100" dir="2700000" algn="tl">
                    <a:srgbClr val="000000">
                      <a:alpha val="43137"/>
                    </a:srgbClr>
                  </a:outerShdw>
                </a:effectLst>
              </a:rPr>
              <a:t> Unit 6</a:t>
            </a:r>
          </a:p>
          <a:p>
            <a:pPr algn="l"/>
            <a:r>
              <a:rPr lang="en-US" sz="5400" b="1" u="sng" kern="0" dirty="0">
                <a:solidFill>
                  <a:srgbClr val="00B0F0"/>
                </a:solidFill>
                <a:effectLst>
                  <a:outerShdw blurRad="38100" dist="38100" dir="2700000" algn="tl">
                    <a:srgbClr val="000000">
                      <a:alpha val="43137"/>
                    </a:srgbClr>
                  </a:outerShdw>
                </a:effectLst>
              </a:rPr>
              <a:t>THERMOCHEMISTRY</a:t>
            </a:r>
            <a:br>
              <a:rPr lang="en-US" sz="6000" b="1" u="sng" kern="0" dirty="0">
                <a:solidFill>
                  <a:schemeClr val="bg1"/>
                </a:solidFill>
                <a:effectLst>
                  <a:outerShdw blurRad="38100" dist="38100" dir="2700000" algn="tl">
                    <a:srgbClr val="000000">
                      <a:alpha val="43137"/>
                    </a:srgbClr>
                  </a:outerShdw>
                </a:effectLst>
              </a:rPr>
            </a:br>
            <a:endParaRPr lang="en-US" sz="6000" b="1" u="sng" kern="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33015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652" y="0"/>
            <a:ext cx="11236234" cy="990600"/>
          </a:xfrm>
        </p:spPr>
        <p:txBody>
          <a:bodyPr/>
          <a:lstStyle/>
          <a:p>
            <a:r>
              <a:rPr lang="en-US" sz="4000" dirty="0"/>
              <a:t>Heat Transfer and Phase Changes</a:t>
            </a:r>
            <a:br>
              <a:rPr lang="en-US" sz="4000" dirty="0"/>
            </a:br>
            <a:r>
              <a:rPr lang="en-US" sz="2800" dirty="0"/>
              <a:t>Label the diagram with the phase changes represented for each segment</a:t>
            </a:r>
            <a:endParaRPr lang="en-US" sz="3600" dirty="0"/>
          </a:p>
        </p:txBody>
      </p:sp>
      <p:sp>
        <p:nvSpPr>
          <p:cNvPr id="3" name="Content Placeholder 2"/>
          <p:cNvSpPr>
            <a:spLocks noGrp="1"/>
          </p:cNvSpPr>
          <p:nvPr>
            <p:ph idx="1"/>
          </p:nvPr>
        </p:nvSpPr>
        <p:spPr>
          <a:xfrm>
            <a:off x="304800" y="3810200"/>
            <a:ext cx="11582400" cy="2895400"/>
          </a:xfrm>
        </p:spPr>
        <p:txBody>
          <a:bodyPr/>
          <a:lstStyle/>
          <a:p>
            <a:r>
              <a:rPr lang="en-US" sz="2800" dirty="0"/>
              <a:t>Which phase changes are endothermic? Which are endothermic?</a:t>
            </a:r>
          </a:p>
          <a:p>
            <a:endParaRPr lang="en-US" sz="2800" dirty="0"/>
          </a:p>
          <a:p>
            <a:endParaRPr lang="en-US" sz="2800" dirty="0"/>
          </a:p>
          <a:p>
            <a:r>
              <a:rPr lang="en-US" sz="2800" dirty="0"/>
              <a:t>Explain why </a:t>
            </a:r>
            <a:r>
              <a:rPr lang="en-US" sz="2800" dirty="0" err="1"/>
              <a:t>ΔH</a:t>
            </a:r>
            <a:r>
              <a:rPr lang="en-US" sz="2800" baseline="-25000" dirty="0" err="1"/>
              <a:t>vap</a:t>
            </a:r>
            <a:r>
              <a:rPr lang="en-US" sz="2800" dirty="0"/>
              <a:t> tends to be larger than </a:t>
            </a:r>
            <a:r>
              <a:rPr lang="en-US" sz="2800" dirty="0" err="1"/>
              <a:t>ΔH</a:t>
            </a:r>
            <a:r>
              <a:rPr lang="en-US" sz="2800" baseline="-25000" dirty="0" err="1"/>
              <a:t>fus</a:t>
            </a:r>
            <a:r>
              <a:rPr lang="en-US" sz="2800" dirty="0"/>
              <a:t>.</a:t>
            </a:r>
          </a:p>
          <a:p>
            <a:pPr marL="0" indent="0">
              <a:buNone/>
            </a:pPr>
            <a:endParaRPr lang="en-US" dirty="0"/>
          </a:p>
        </p:txBody>
      </p:sp>
      <p:pic>
        <p:nvPicPr>
          <p:cNvPr id="4" name="Picture 3"/>
          <p:cNvPicPr>
            <a:picLocks noChangeAspect="1"/>
          </p:cNvPicPr>
          <p:nvPr/>
        </p:nvPicPr>
        <p:blipFill rotWithShape="1">
          <a:blip r:embed="rId2"/>
          <a:srcRect t="2260"/>
          <a:stretch/>
        </p:blipFill>
        <p:spPr>
          <a:xfrm>
            <a:off x="2895600" y="1018903"/>
            <a:ext cx="6510338" cy="2791297"/>
          </a:xfrm>
          <a:prstGeom prst="rect">
            <a:avLst/>
          </a:prstGeom>
        </p:spPr>
      </p:pic>
    </p:spTree>
    <p:extLst>
      <p:ext uri="{BB962C8B-B14F-4D97-AF65-F5344CB8AC3E}">
        <p14:creationId xmlns:p14="http://schemas.microsoft.com/office/powerpoint/2010/main" val="2067258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883" y="2177"/>
            <a:ext cx="11236234" cy="531223"/>
          </a:xfrm>
        </p:spPr>
        <p:txBody>
          <a:bodyPr/>
          <a:lstStyle/>
          <a:p>
            <a:r>
              <a:rPr lang="en-US" sz="3200" dirty="0"/>
              <a:t>Heat Transfer and Phase Changes</a:t>
            </a:r>
            <a:endParaRPr lang="en-US" sz="2800" dirty="0"/>
          </a:p>
        </p:txBody>
      </p:sp>
      <p:sp>
        <p:nvSpPr>
          <p:cNvPr id="3" name="Content Placeholder 2"/>
          <p:cNvSpPr>
            <a:spLocks noGrp="1"/>
          </p:cNvSpPr>
          <p:nvPr>
            <p:ph idx="1"/>
          </p:nvPr>
        </p:nvSpPr>
        <p:spPr>
          <a:xfrm>
            <a:off x="0" y="533400"/>
            <a:ext cx="12192000" cy="5781180"/>
          </a:xfrm>
        </p:spPr>
        <p:txBody>
          <a:bodyPr/>
          <a:lstStyle/>
          <a:p>
            <a:pPr marL="571500" indent="-571500">
              <a:buFont typeface="Arial" panose="020B0604020202020204" pitchFamily="34" charset="0"/>
              <a:buChar char="•"/>
            </a:pPr>
            <a:r>
              <a:rPr lang="en-US" altLang="en-US" sz="2400" dirty="0"/>
              <a:t>Heat of Vaporization = </a:t>
            </a:r>
            <a:r>
              <a:rPr lang="en-US" altLang="en-US" sz="2400" dirty="0" err="1">
                <a:latin typeface="Symbol" panose="05050102010706020507" pitchFamily="18" charset="2"/>
              </a:rPr>
              <a:t>D</a:t>
            </a:r>
            <a:r>
              <a:rPr lang="en-US" altLang="en-US" sz="2400" dirty="0" err="1"/>
              <a:t>H</a:t>
            </a:r>
            <a:r>
              <a:rPr lang="en-US" altLang="en-US" sz="2400" baseline="-25000" dirty="0" err="1"/>
              <a:t>vap</a:t>
            </a:r>
            <a:r>
              <a:rPr lang="en-US" altLang="en-US" sz="2400" baseline="-25000" dirty="0"/>
              <a:t> </a:t>
            </a:r>
            <a:r>
              <a:rPr lang="en-US" altLang="en-US" sz="2400" dirty="0"/>
              <a:t>= the heat required to change one mole of a substance from a </a:t>
            </a:r>
            <a:r>
              <a:rPr lang="en-US" altLang="en-US" sz="2400" dirty="0">
                <a:solidFill>
                  <a:srgbClr val="FF0000"/>
                </a:solidFill>
              </a:rPr>
              <a:t>liquid</a:t>
            </a:r>
            <a:r>
              <a:rPr lang="en-US" altLang="en-US" sz="2400" dirty="0"/>
              <a:t> to a </a:t>
            </a:r>
            <a:r>
              <a:rPr lang="en-US" altLang="en-US" sz="2400" dirty="0">
                <a:solidFill>
                  <a:srgbClr val="FF0000"/>
                </a:solidFill>
              </a:rPr>
              <a:t>gas</a:t>
            </a:r>
            <a:r>
              <a:rPr lang="en-US" altLang="en-US" sz="2400" dirty="0"/>
              <a:t>; units = Joules/mole = J/</a:t>
            </a:r>
            <a:r>
              <a:rPr lang="en-US" altLang="en-US" sz="2400" dirty="0" err="1"/>
              <a:t>mol</a:t>
            </a:r>
            <a:r>
              <a:rPr lang="en-US" altLang="en-US" sz="2400" dirty="0"/>
              <a:t> OR kJ/</a:t>
            </a:r>
            <a:r>
              <a:rPr lang="en-US" altLang="en-US" sz="2400" dirty="0" err="1"/>
              <a:t>mol</a:t>
            </a:r>
            <a:endParaRPr lang="en-US" altLang="en-US" sz="2400" dirty="0"/>
          </a:p>
          <a:p>
            <a:pPr marL="571500" indent="-571500">
              <a:buFont typeface="Arial" panose="020B0604020202020204" pitchFamily="34" charset="0"/>
              <a:buChar char="•"/>
            </a:pPr>
            <a:r>
              <a:rPr lang="en-US" altLang="en-US" sz="2400" dirty="0"/>
              <a:t>n = </a:t>
            </a:r>
            <a:r>
              <a:rPr lang="en-US" altLang="en-US" sz="2400" dirty="0">
                <a:solidFill>
                  <a:srgbClr val="FF0000"/>
                </a:solidFill>
              </a:rPr>
              <a:t>moles</a:t>
            </a:r>
          </a:p>
          <a:p>
            <a:pPr eaLnBrk="1" hangingPunct="1"/>
            <a:r>
              <a:rPr lang="en-US" altLang="en-US" sz="2400" dirty="0"/>
              <a:t>How do enthalpy of boiling and condensing compare:</a:t>
            </a:r>
          </a:p>
          <a:p>
            <a:pPr marL="0" indent="0" algn="ctr" eaLnBrk="1" hangingPunct="1">
              <a:buNone/>
            </a:pPr>
            <a:r>
              <a:rPr lang="en-US" altLang="en-US" sz="2400" dirty="0" err="1">
                <a:latin typeface="Symbol" panose="05050102010706020507" pitchFamily="18" charset="2"/>
              </a:rPr>
              <a:t>D</a:t>
            </a:r>
            <a:r>
              <a:rPr lang="en-US" altLang="en-US" sz="2400" dirty="0" err="1"/>
              <a:t>H</a:t>
            </a:r>
            <a:r>
              <a:rPr lang="en-US" altLang="en-US" sz="2400" baseline="-25000" dirty="0" err="1"/>
              <a:t>boil</a:t>
            </a:r>
            <a:r>
              <a:rPr lang="en-US" altLang="en-US" sz="2400" dirty="0"/>
              <a:t> = + </a:t>
            </a:r>
            <a:r>
              <a:rPr lang="en-US" altLang="en-US" sz="2400" dirty="0" err="1">
                <a:latin typeface="Symbol" panose="05050102010706020507" pitchFamily="18" charset="2"/>
              </a:rPr>
              <a:t>D</a:t>
            </a:r>
            <a:r>
              <a:rPr lang="en-US" altLang="en-US" sz="2400" dirty="0" err="1"/>
              <a:t>H</a:t>
            </a:r>
            <a:r>
              <a:rPr lang="en-US" altLang="en-US" sz="2400" baseline="-25000" dirty="0" err="1"/>
              <a:t>vap</a:t>
            </a:r>
            <a:r>
              <a:rPr lang="en-US" altLang="en-US" sz="2400" baseline="-25000" dirty="0"/>
              <a:t> </a:t>
            </a:r>
            <a:r>
              <a:rPr lang="en-US" altLang="en-US" sz="2400" dirty="0"/>
              <a:t>· n		</a:t>
            </a:r>
            <a:r>
              <a:rPr lang="en-US" altLang="en-US" sz="2400" dirty="0" err="1"/>
              <a:t>H</a:t>
            </a:r>
            <a:r>
              <a:rPr lang="en-US" altLang="en-US" sz="2400" baseline="-25000" dirty="0" err="1"/>
              <a:t>condens</a:t>
            </a:r>
            <a:r>
              <a:rPr lang="en-US" altLang="en-US" sz="2400" dirty="0"/>
              <a:t> = - </a:t>
            </a:r>
            <a:r>
              <a:rPr lang="en-US" altLang="en-US" sz="2400" dirty="0" err="1">
                <a:latin typeface="Symbol" panose="05050102010706020507" pitchFamily="18" charset="2"/>
              </a:rPr>
              <a:t>D</a:t>
            </a:r>
            <a:r>
              <a:rPr lang="en-US" altLang="en-US" sz="2400" dirty="0" err="1"/>
              <a:t>H</a:t>
            </a:r>
            <a:r>
              <a:rPr lang="en-US" altLang="en-US" sz="2400" baseline="-25000" dirty="0" err="1"/>
              <a:t>vap</a:t>
            </a:r>
            <a:r>
              <a:rPr lang="en-US" altLang="en-US" sz="2400" baseline="-25000" dirty="0"/>
              <a:t> </a:t>
            </a:r>
            <a:r>
              <a:rPr lang="en-US" altLang="en-US" sz="2400" dirty="0"/>
              <a:t>· n 	</a:t>
            </a:r>
            <a:r>
              <a:rPr lang="en-US" altLang="en-US" sz="2400" dirty="0">
                <a:solidFill>
                  <a:srgbClr val="FF0000"/>
                </a:solidFill>
              </a:rPr>
              <a:t>Equal</a:t>
            </a:r>
            <a:r>
              <a:rPr lang="en-US" altLang="en-US" sz="2400" dirty="0"/>
              <a:t> and </a:t>
            </a:r>
            <a:r>
              <a:rPr lang="en-US" altLang="en-US" sz="2400" dirty="0">
                <a:solidFill>
                  <a:srgbClr val="FF0000"/>
                </a:solidFill>
              </a:rPr>
              <a:t>Opposite</a:t>
            </a:r>
            <a:r>
              <a:rPr lang="en-US" altLang="en-US" sz="2400" dirty="0"/>
              <a:t>!</a:t>
            </a:r>
          </a:p>
          <a:p>
            <a:r>
              <a:rPr lang="en-US" altLang="en-US" sz="2400" dirty="0"/>
              <a:t>Heat of Fusion= </a:t>
            </a:r>
            <a:r>
              <a:rPr lang="en-US" altLang="en-US" sz="2400" dirty="0" err="1">
                <a:latin typeface="Symbol" panose="05050102010706020507" pitchFamily="18" charset="2"/>
              </a:rPr>
              <a:t>D</a:t>
            </a:r>
            <a:r>
              <a:rPr lang="en-US" altLang="en-US" sz="2400" dirty="0" err="1"/>
              <a:t>H</a:t>
            </a:r>
            <a:r>
              <a:rPr lang="en-US" altLang="en-US" sz="2400" baseline="-25000" dirty="0" err="1"/>
              <a:t>fus</a:t>
            </a:r>
            <a:r>
              <a:rPr lang="en-US" altLang="en-US" sz="2400" dirty="0"/>
              <a:t> = heat required to change one mole substance from a </a:t>
            </a:r>
            <a:r>
              <a:rPr lang="en-US" altLang="en-US" sz="2400" dirty="0">
                <a:solidFill>
                  <a:srgbClr val="FF0000"/>
                </a:solidFill>
              </a:rPr>
              <a:t>solid</a:t>
            </a:r>
            <a:r>
              <a:rPr lang="en-US" altLang="en-US" sz="2400" dirty="0"/>
              <a:t> to a </a:t>
            </a:r>
            <a:r>
              <a:rPr lang="en-US" altLang="en-US" sz="2400" dirty="0">
                <a:solidFill>
                  <a:srgbClr val="FF0000"/>
                </a:solidFill>
              </a:rPr>
              <a:t>liquid</a:t>
            </a:r>
            <a:r>
              <a:rPr lang="en-US" altLang="en-US" sz="2400" dirty="0"/>
              <a:t>; </a:t>
            </a:r>
          </a:p>
          <a:p>
            <a:r>
              <a:rPr lang="en-US" altLang="en-US" sz="2400" dirty="0"/>
              <a:t>	units = Joules/mole = J/</a:t>
            </a:r>
            <a:r>
              <a:rPr lang="en-US" altLang="en-US" sz="2400" dirty="0" err="1"/>
              <a:t>mol</a:t>
            </a:r>
            <a:r>
              <a:rPr lang="en-US" altLang="en-US" sz="2400" dirty="0"/>
              <a:t> OR kJ/</a:t>
            </a:r>
            <a:r>
              <a:rPr lang="en-US" altLang="en-US" sz="2400" dirty="0" err="1"/>
              <a:t>mol</a:t>
            </a:r>
            <a:endParaRPr lang="en-US" altLang="en-US" sz="2400" dirty="0"/>
          </a:p>
          <a:p>
            <a:r>
              <a:rPr lang="en-US" altLang="en-US" sz="2400" dirty="0"/>
              <a:t>How do H of melting and freezing compare:</a:t>
            </a:r>
          </a:p>
          <a:p>
            <a:pPr marL="0" indent="0" algn="ctr">
              <a:buNone/>
            </a:pPr>
            <a:r>
              <a:rPr lang="en-US" altLang="en-US" sz="2400" dirty="0" err="1">
                <a:latin typeface="Symbol" panose="05050102010706020507" pitchFamily="18" charset="2"/>
              </a:rPr>
              <a:t>D</a:t>
            </a:r>
            <a:r>
              <a:rPr lang="en-US" altLang="en-US" sz="2400" dirty="0" err="1"/>
              <a:t>H</a:t>
            </a:r>
            <a:r>
              <a:rPr lang="en-US" altLang="en-US" sz="2400" baseline="-25000" dirty="0" err="1"/>
              <a:t>melt</a:t>
            </a:r>
            <a:r>
              <a:rPr lang="en-US" altLang="en-US" sz="2400" dirty="0"/>
              <a:t> = + </a:t>
            </a:r>
            <a:r>
              <a:rPr lang="en-US" altLang="en-US" sz="2400" dirty="0" err="1">
                <a:latin typeface="Symbol" panose="05050102010706020507" pitchFamily="18" charset="2"/>
              </a:rPr>
              <a:t>D</a:t>
            </a:r>
            <a:r>
              <a:rPr lang="en-US" altLang="en-US" sz="2400" dirty="0" err="1"/>
              <a:t>H</a:t>
            </a:r>
            <a:r>
              <a:rPr lang="en-US" altLang="en-US" sz="2400" baseline="-25000" dirty="0" err="1"/>
              <a:t>fus</a:t>
            </a:r>
            <a:r>
              <a:rPr lang="en-US" altLang="en-US" sz="2400" baseline="-25000" dirty="0"/>
              <a:t> </a:t>
            </a:r>
            <a:r>
              <a:rPr lang="en-US" altLang="en-US" sz="2400" dirty="0"/>
              <a:t>· n 		</a:t>
            </a:r>
            <a:r>
              <a:rPr lang="en-US" altLang="en-US" sz="2400" dirty="0" err="1">
                <a:latin typeface="Symbol" panose="05050102010706020507" pitchFamily="18" charset="2"/>
              </a:rPr>
              <a:t>D</a:t>
            </a:r>
            <a:r>
              <a:rPr lang="en-US" altLang="en-US" sz="2400" dirty="0" err="1"/>
              <a:t>H</a:t>
            </a:r>
            <a:r>
              <a:rPr lang="en-US" altLang="en-US" sz="2400" baseline="-25000" dirty="0" err="1"/>
              <a:t>freeze</a:t>
            </a:r>
            <a:r>
              <a:rPr lang="en-US" altLang="en-US" sz="2400" dirty="0"/>
              <a:t> = - </a:t>
            </a:r>
            <a:r>
              <a:rPr lang="en-US" altLang="en-US" sz="2400" dirty="0" err="1">
                <a:latin typeface="Symbol" panose="05050102010706020507" pitchFamily="18" charset="2"/>
              </a:rPr>
              <a:t>D</a:t>
            </a:r>
            <a:r>
              <a:rPr lang="en-US" altLang="en-US" sz="2400" dirty="0" err="1"/>
              <a:t>H</a:t>
            </a:r>
            <a:r>
              <a:rPr lang="en-US" altLang="en-US" sz="2400" baseline="-25000" dirty="0" err="1"/>
              <a:t>fus</a:t>
            </a:r>
            <a:r>
              <a:rPr lang="en-US" altLang="en-US" sz="2400" baseline="-25000" dirty="0"/>
              <a:t> </a:t>
            </a:r>
            <a:r>
              <a:rPr lang="en-US" altLang="en-US" sz="2400" dirty="0"/>
              <a:t>· n		</a:t>
            </a:r>
            <a:r>
              <a:rPr lang="en-US" altLang="en-US" sz="2400" dirty="0">
                <a:solidFill>
                  <a:srgbClr val="FF0000"/>
                </a:solidFill>
              </a:rPr>
              <a:t>Equal</a:t>
            </a:r>
            <a:r>
              <a:rPr lang="en-US" altLang="en-US" sz="2400" dirty="0"/>
              <a:t> and </a:t>
            </a:r>
            <a:r>
              <a:rPr lang="en-US" altLang="en-US" sz="2400" dirty="0">
                <a:solidFill>
                  <a:srgbClr val="FF0000"/>
                </a:solidFill>
              </a:rPr>
              <a:t>Opposite</a:t>
            </a:r>
            <a:r>
              <a:rPr lang="en-US" altLang="en-US" sz="2400" dirty="0"/>
              <a:t>!</a:t>
            </a:r>
          </a:p>
          <a:p>
            <a:pPr marL="0" indent="0">
              <a:buNone/>
            </a:pPr>
            <a:endParaRPr lang="en-US" sz="2400" dirty="0"/>
          </a:p>
          <a:p>
            <a:pPr marL="0" indent="0">
              <a:buNone/>
            </a:pPr>
            <a:r>
              <a:rPr lang="en-US" sz="2400" dirty="0"/>
              <a:t>Which phase changes are endothermic? Which are endothermic?</a:t>
            </a:r>
          </a:p>
          <a:p>
            <a:pPr marL="0" indent="0">
              <a:buNone/>
            </a:pPr>
            <a:r>
              <a:rPr lang="en-US" sz="2400" dirty="0"/>
              <a:t>Define enthalpy of fusion and enthalpy of vaporization. What does the sign show?</a:t>
            </a:r>
          </a:p>
          <a:p>
            <a:pPr marL="0" indent="0">
              <a:buNone/>
            </a:pPr>
            <a:endParaRPr lang="en-US" sz="2400" dirty="0"/>
          </a:p>
          <a:p>
            <a:pPr marL="0" indent="0">
              <a:buNone/>
            </a:pPr>
            <a:r>
              <a:rPr lang="en-US" sz="2400" dirty="0"/>
              <a:t>Explain why </a:t>
            </a:r>
            <a:r>
              <a:rPr lang="en-US" sz="2400" dirty="0" err="1"/>
              <a:t>ΔH</a:t>
            </a:r>
            <a:r>
              <a:rPr lang="en-US" sz="2400" baseline="-25000" dirty="0" err="1"/>
              <a:t>vap</a:t>
            </a:r>
            <a:r>
              <a:rPr lang="en-US" sz="2400" dirty="0"/>
              <a:t> tends to be larger than </a:t>
            </a:r>
            <a:r>
              <a:rPr lang="en-US" sz="2400" dirty="0" err="1"/>
              <a:t>ΔH</a:t>
            </a:r>
            <a:r>
              <a:rPr lang="en-US" sz="2400" baseline="-25000" dirty="0" err="1"/>
              <a:t>fus</a:t>
            </a:r>
            <a:r>
              <a:rPr lang="en-US" sz="2400" dirty="0"/>
              <a:t>.</a:t>
            </a:r>
          </a:p>
          <a:p>
            <a:pPr marL="0" indent="0">
              <a:buNone/>
            </a:pPr>
            <a:endParaRPr lang="en-US" sz="2400" dirty="0"/>
          </a:p>
        </p:txBody>
      </p:sp>
    </p:spTree>
    <p:extLst>
      <p:ext uri="{BB962C8B-B14F-4D97-AF65-F5344CB8AC3E}">
        <p14:creationId xmlns:p14="http://schemas.microsoft.com/office/powerpoint/2010/main" val="34174869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389" y="0"/>
            <a:ext cx="10363200" cy="1143000"/>
          </a:xfrm>
        </p:spPr>
        <p:txBody>
          <a:bodyPr>
            <a:normAutofit/>
          </a:bodyPr>
          <a:lstStyle/>
          <a:p>
            <a:r>
              <a:rPr lang="en-US" sz="5400" dirty="0"/>
              <a:t>Practice</a:t>
            </a:r>
          </a:p>
        </p:txBody>
      </p:sp>
      <p:sp>
        <p:nvSpPr>
          <p:cNvPr id="5" name="Content Placeholder 4"/>
          <p:cNvSpPr>
            <a:spLocks noGrp="1"/>
          </p:cNvSpPr>
          <p:nvPr>
            <p:ph idx="1"/>
          </p:nvPr>
        </p:nvSpPr>
        <p:spPr>
          <a:xfrm>
            <a:off x="877389" y="1143000"/>
            <a:ext cx="10363200" cy="4876800"/>
          </a:xfrm>
        </p:spPr>
        <p:txBody>
          <a:bodyPr>
            <a:normAutofit/>
          </a:bodyPr>
          <a:lstStyle/>
          <a:p>
            <a:r>
              <a:rPr lang="en-US" dirty="0"/>
              <a:t>What is the energy change when 75.0 grams of molten tin turns to solid? (</a:t>
            </a:r>
            <a:r>
              <a:rPr lang="en-US" dirty="0" err="1"/>
              <a:t>H</a:t>
            </a:r>
            <a:r>
              <a:rPr lang="en-US" baseline="-25000" dirty="0" err="1"/>
              <a:t>f</a:t>
            </a:r>
            <a:r>
              <a:rPr lang="en-US" dirty="0"/>
              <a:t> = 7.03 kJ/</a:t>
            </a:r>
            <a:r>
              <a:rPr lang="en-US" dirty="0" err="1"/>
              <a:t>mol</a:t>
            </a:r>
            <a:r>
              <a:rPr lang="en-US" dirty="0"/>
              <a:t>) </a:t>
            </a:r>
          </a:p>
          <a:p>
            <a:endParaRPr lang="en-US" sz="3600" dirty="0"/>
          </a:p>
          <a:p>
            <a:pPr marL="0" indent="0" algn="ctr">
              <a:buNone/>
            </a:pPr>
            <a:r>
              <a:rPr lang="en-US" altLang="en-US" sz="3600" dirty="0" err="1">
                <a:latin typeface="Symbol" panose="05050102010706020507" pitchFamily="18" charset="2"/>
              </a:rPr>
              <a:t>D</a:t>
            </a:r>
            <a:r>
              <a:rPr lang="en-US" altLang="en-US" sz="3600" dirty="0" err="1"/>
              <a:t>H</a:t>
            </a:r>
            <a:r>
              <a:rPr lang="en-US" altLang="en-US" sz="3600" baseline="-25000" dirty="0" err="1"/>
              <a:t>freeze</a:t>
            </a:r>
            <a:r>
              <a:rPr lang="en-US" altLang="en-US" sz="3600" dirty="0"/>
              <a:t> = - </a:t>
            </a:r>
            <a:r>
              <a:rPr lang="en-US" altLang="en-US" sz="3600" dirty="0" err="1">
                <a:latin typeface="Symbol" panose="05050102010706020507" pitchFamily="18" charset="2"/>
              </a:rPr>
              <a:t>D</a:t>
            </a:r>
            <a:r>
              <a:rPr lang="en-US" altLang="en-US" sz="3600" dirty="0" err="1"/>
              <a:t>H</a:t>
            </a:r>
            <a:r>
              <a:rPr lang="en-US" altLang="en-US" sz="3600" baseline="-25000" dirty="0" err="1"/>
              <a:t>fus</a:t>
            </a:r>
            <a:r>
              <a:rPr lang="en-US" altLang="en-US" sz="3600" baseline="-25000" dirty="0"/>
              <a:t> </a:t>
            </a:r>
            <a:r>
              <a:rPr lang="en-US" altLang="en-US" sz="3600" dirty="0"/>
              <a:t>· n</a:t>
            </a:r>
          </a:p>
          <a:p>
            <a:pPr marL="0" indent="0" algn="ctr">
              <a:buNone/>
            </a:pPr>
            <a:r>
              <a:rPr lang="en-US" altLang="en-US" sz="3600" dirty="0"/>
              <a:t>n = 75.0g / 118.71 g/</a:t>
            </a:r>
            <a:r>
              <a:rPr lang="en-US" altLang="en-US" sz="3600" dirty="0" err="1"/>
              <a:t>mol</a:t>
            </a:r>
            <a:r>
              <a:rPr lang="en-US" altLang="en-US" sz="3600" dirty="0"/>
              <a:t> = 0.6318 </a:t>
            </a:r>
            <a:r>
              <a:rPr lang="en-US" altLang="en-US" sz="3600" dirty="0" err="1"/>
              <a:t>mol</a:t>
            </a:r>
            <a:r>
              <a:rPr lang="en-US" altLang="en-US" sz="3600" dirty="0"/>
              <a:t>	</a:t>
            </a:r>
          </a:p>
          <a:p>
            <a:pPr marL="0" indent="0" algn="ctr">
              <a:buNone/>
            </a:pPr>
            <a:r>
              <a:rPr lang="en-US" altLang="en-US" sz="3600" dirty="0" err="1">
                <a:latin typeface="Symbol" panose="05050102010706020507" pitchFamily="18" charset="2"/>
              </a:rPr>
              <a:t>D</a:t>
            </a:r>
            <a:r>
              <a:rPr lang="en-US" altLang="en-US" sz="3600" dirty="0" err="1"/>
              <a:t>H</a:t>
            </a:r>
            <a:r>
              <a:rPr lang="en-US" altLang="en-US" sz="3600" baseline="-25000" dirty="0" err="1"/>
              <a:t>freeze</a:t>
            </a:r>
            <a:r>
              <a:rPr lang="en-US" altLang="en-US" sz="3600" dirty="0"/>
              <a:t> = - </a:t>
            </a:r>
            <a:r>
              <a:rPr lang="en-US" altLang="en-US" sz="3600" dirty="0">
                <a:latin typeface="Symbol" panose="05050102010706020507" pitchFamily="18" charset="2"/>
              </a:rPr>
              <a:t>7.03 </a:t>
            </a:r>
            <a:r>
              <a:rPr lang="en-US" altLang="en-US" sz="3600" baseline="-25000" dirty="0"/>
              <a:t> </a:t>
            </a:r>
            <a:r>
              <a:rPr lang="en-US" altLang="en-US" sz="3600" dirty="0"/>
              <a:t>· 0.6318 </a:t>
            </a:r>
            <a:r>
              <a:rPr lang="en-US" altLang="en-US" sz="3600" dirty="0" err="1"/>
              <a:t>mol</a:t>
            </a:r>
            <a:r>
              <a:rPr lang="en-US" altLang="en-US" sz="3600" dirty="0"/>
              <a:t>	</a:t>
            </a:r>
          </a:p>
          <a:p>
            <a:pPr marL="0" indent="0" algn="ctr">
              <a:buNone/>
            </a:pPr>
            <a:r>
              <a:rPr lang="en-US" altLang="en-US" sz="3600" dirty="0" err="1">
                <a:latin typeface="Symbol" panose="05050102010706020507" pitchFamily="18" charset="2"/>
              </a:rPr>
              <a:t>D</a:t>
            </a:r>
            <a:r>
              <a:rPr lang="en-US" altLang="en-US" sz="3600" dirty="0" err="1"/>
              <a:t>H</a:t>
            </a:r>
            <a:r>
              <a:rPr lang="en-US" altLang="en-US" sz="3600" baseline="-25000" dirty="0" err="1"/>
              <a:t>freeze</a:t>
            </a:r>
            <a:r>
              <a:rPr lang="en-US" altLang="en-US" sz="3600" dirty="0"/>
              <a:t> = - </a:t>
            </a:r>
            <a:r>
              <a:rPr lang="en-US" altLang="en-US" sz="3600" dirty="0">
                <a:latin typeface="Symbol" panose="05050102010706020507" pitchFamily="18" charset="2"/>
              </a:rPr>
              <a:t>4.44 </a:t>
            </a:r>
            <a:r>
              <a:rPr lang="en-US" altLang="en-US" sz="3600" dirty="0">
                <a:latin typeface="Times New Roman" panose="02020603050405020304" pitchFamily="18" charset="0"/>
                <a:cs typeface="Times New Roman" panose="02020603050405020304" pitchFamily="18" charset="0"/>
              </a:rPr>
              <a:t>kJ</a:t>
            </a:r>
            <a:r>
              <a:rPr lang="en-US" altLang="en-US" sz="3600" dirty="0"/>
              <a:t>		</a:t>
            </a:r>
            <a:endParaRPr lang="en-US" sz="3600" dirty="0"/>
          </a:p>
          <a:p>
            <a:pPr marL="0" indent="0">
              <a:buNone/>
            </a:pPr>
            <a:endParaRPr lang="en-US" sz="3600" dirty="0"/>
          </a:p>
        </p:txBody>
      </p:sp>
    </p:spTree>
    <p:extLst>
      <p:ext uri="{BB962C8B-B14F-4D97-AF65-F5344CB8AC3E}">
        <p14:creationId xmlns:p14="http://schemas.microsoft.com/office/powerpoint/2010/main" val="1737907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12039600" cy="5943600"/>
          </a:xfrm>
        </p:spPr>
        <p:txBody>
          <a:bodyPr/>
          <a:lstStyle/>
          <a:p>
            <a:r>
              <a:rPr lang="en-US" sz="2800" dirty="0"/>
              <a:t>Identify the segments of this heating curve that would involve the equation:</a:t>
            </a:r>
          </a:p>
          <a:p>
            <a:pPr marL="0" indent="0" algn="ctr">
              <a:buNone/>
            </a:pPr>
            <a:r>
              <a:rPr lang="fr-FR" sz="2800" dirty="0"/>
              <a:t>q = m x C x ΔT </a:t>
            </a:r>
          </a:p>
          <a:p>
            <a:r>
              <a:rPr lang="en-US" sz="2800" dirty="0"/>
              <a:t>Identify the segments of this heating curve that would involve the equation:</a:t>
            </a:r>
          </a:p>
          <a:p>
            <a:pPr marL="0" indent="0" algn="ctr">
              <a:buNone/>
            </a:pPr>
            <a:r>
              <a:rPr lang="fr-FR" sz="2800" dirty="0">
                <a:latin typeface="Symbol" panose="05050102010706020507" pitchFamily="18" charset="2"/>
              </a:rPr>
              <a:t>D</a:t>
            </a:r>
            <a:r>
              <a:rPr lang="fr-FR" sz="2800" dirty="0"/>
              <a:t>H = </a:t>
            </a:r>
            <a:r>
              <a:rPr lang="fr-FR" sz="2800" dirty="0" err="1">
                <a:latin typeface="Symbol" panose="05050102010706020507" pitchFamily="18" charset="2"/>
              </a:rPr>
              <a:t>D</a:t>
            </a:r>
            <a:r>
              <a:rPr lang="fr-FR" sz="2800" dirty="0" err="1"/>
              <a:t>H</a:t>
            </a:r>
            <a:r>
              <a:rPr lang="fr-FR" sz="2800" baseline="-25000" dirty="0" err="1"/>
              <a:t>phase</a:t>
            </a:r>
            <a:r>
              <a:rPr lang="fr-FR" sz="2800" dirty="0"/>
              <a:t> n</a:t>
            </a:r>
          </a:p>
          <a:p>
            <a:endParaRPr lang="fr-FR" sz="2800" dirty="0"/>
          </a:p>
          <a:p>
            <a:endParaRPr lang="fr-FR" sz="2800" dirty="0"/>
          </a:p>
        </p:txBody>
      </p:sp>
      <p:pic>
        <p:nvPicPr>
          <p:cNvPr id="5" name="Picture 4"/>
          <p:cNvPicPr>
            <a:picLocks noChangeAspect="1"/>
          </p:cNvPicPr>
          <p:nvPr/>
        </p:nvPicPr>
        <p:blipFill>
          <a:blip r:embed="rId2"/>
          <a:stretch>
            <a:fillRect/>
          </a:stretch>
        </p:blipFill>
        <p:spPr>
          <a:xfrm>
            <a:off x="3200400" y="2133600"/>
            <a:ext cx="5334000" cy="4581514"/>
          </a:xfrm>
          <a:prstGeom prst="rect">
            <a:avLst/>
          </a:prstGeom>
        </p:spPr>
      </p:pic>
    </p:spTree>
    <p:extLst>
      <p:ext uri="{BB962C8B-B14F-4D97-AF65-F5344CB8AC3E}">
        <p14:creationId xmlns:p14="http://schemas.microsoft.com/office/powerpoint/2010/main" val="3924898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12039600" cy="5943600"/>
          </a:xfrm>
        </p:spPr>
        <p:txBody>
          <a:bodyPr/>
          <a:lstStyle/>
          <a:p>
            <a:pPr lvl="0"/>
            <a:r>
              <a:rPr lang="en-US" sz="2400" dirty="0"/>
              <a:t>How much heat is needed to raise the temperature of 32.0g of water from 9.0</a:t>
            </a:r>
            <a:r>
              <a:rPr lang="en-US" sz="2400" baseline="30000" dirty="0"/>
              <a:t>o</a:t>
            </a:r>
            <a:r>
              <a:rPr lang="en-US" sz="2400" dirty="0"/>
              <a:t>C to 104.0</a:t>
            </a:r>
            <a:r>
              <a:rPr lang="en-US" sz="2400" baseline="30000" dirty="0"/>
              <a:t>o</a:t>
            </a:r>
            <a:r>
              <a:rPr lang="en-US" sz="2400" dirty="0"/>
              <a:t>C? </a:t>
            </a:r>
          </a:p>
          <a:p>
            <a:pPr lvl="0"/>
            <a:r>
              <a:rPr lang="en-US" sz="2400" dirty="0"/>
              <a:t>[</a:t>
            </a:r>
            <a:r>
              <a:rPr lang="en-US" sz="2400" dirty="0" err="1"/>
              <a:t>C</a:t>
            </a:r>
            <a:r>
              <a:rPr lang="en-US" sz="2400" baseline="-25000" dirty="0" err="1"/>
              <a:t>p</a:t>
            </a:r>
            <a:r>
              <a:rPr lang="en-US" sz="2400" dirty="0"/>
              <a:t> (ice)= 2.06 J/</a:t>
            </a:r>
            <a:r>
              <a:rPr lang="en-US" sz="2400" dirty="0" err="1"/>
              <a:t>g</a:t>
            </a:r>
            <a:r>
              <a:rPr lang="en-US" sz="2400" baseline="30000" dirty="0" err="1"/>
              <a:t>o</a:t>
            </a:r>
            <a:r>
              <a:rPr lang="en-US" sz="2400" dirty="0" err="1"/>
              <a:t>C</a:t>
            </a:r>
            <a:r>
              <a:rPr lang="en-US" sz="2400" dirty="0"/>
              <a:t>, </a:t>
            </a:r>
            <a:r>
              <a:rPr lang="en-US" sz="2400" dirty="0" err="1"/>
              <a:t>C</a:t>
            </a:r>
            <a:r>
              <a:rPr lang="en-US" sz="2400" baseline="-25000" dirty="0" err="1"/>
              <a:t>p</a:t>
            </a:r>
            <a:r>
              <a:rPr lang="en-US" sz="2400" dirty="0"/>
              <a:t> (water) = 4.184 J/</a:t>
            </a:r>
            <a:r>
              <a:rPr lang="en-US" sz="2400" dirty="0" err="1"/>
              <a:t>g</a:t>
            </a:r>
            <a:r>
              <a:rPr lang="en-US" sz="2400" baseline="30000" dirty="0" err="1"/>
              <a:t>o</a:t>
            </a:r>
            <a:r>
              <a:rPr lang="en-US" sz="2400" dirty="0" err="1"/>
              <a:t>C</a:t>
            </a:r>
            <a:r>
              <a:rPr lang="en-US" sz="2400" dirty="0"/>
              <a:t>, </a:t>
            </a:r>
            <a:r>
              <a:rPr lang="en-US" sz="2400" dirty="0" err="1"/>
              <a:t>C</a:t>
            </a:r>
            <a:r>
              <a:rPr lang="en-US" sz="2400" baseline="-25000" dirty="0" err="1"/>
              <a:t>p</a:t>
            </a:r>
            <a:r>
              <a:rPr lang="en-US" sz="2400" dirty="0"/>
              <a:t>  (steam) = 1.87 J/</a:t>
            </a:r>
            <a:r>
              <a:rPr lang="en-US" sz="2400" dirty="0" err="1"/>
              <a:t>g</a:t>
            </a:r>
            <a:r>
              <a:rPr lang="en-US" sz="2400" baseline="30000" dirty="0" err="1"/>
              <a:t>o</a:t>
            </a:r>
            <a:r>
              <a:rPr lang="en-US" sz="2400" dirty="0" err="1"/>
              <a:t>C</a:t>
            </a:r>
            <a:r>
              <a:rPr lang="en-US" sz="2400" dirty="0"/>
              <a:t>, </a:t>
            </a:r>
            <a:r>
              <a:rPr lang="en-US" sz="2400" dirty="0" err="1"/>
              <a:t>H</a:t>
            </a:r>
            <a:r>
              <a:rPr lang="en-US" sz="2400" baseline="-25000" dirty="0" err="1"/>
              <a:t>f</a:t>
            </a:r>
            <a:r>
              <a:rPr lang="en-US" sz="2400" dirty="0"/>
              <a:t> (water) = 6.01 kJ/</a:t>
            </a:r>
            <a:r>
              <a:rPr lang="en-US" sz="2400" dirty="0" err="1"/>
              <a:t>mol</a:t>
            </a:r>
            <a:r>
              <a:rPr lang="en-US" sz="2400" dirty="0"/>
              <a:t>,  </a:t>
            </a:r>
            <a:r>
              <a:rPr lang="en-US" sz="2400" dirty="0" err="1"/>
              <a:t>H</a:t>
            </a:r>
            <a:r>
              <a:rPr lang="en-US" sz="2400" baseline="-25000" dirty="0" err="1"/>
              <a:t>v</a:t>
            </a:r>
            <a:r>
              <a:rPr lang="en-US" sz="2400" dirty="0"/>
              <a:t>(water)=40.7 kJ/</a:t>
            </a:r>
            <a:r>
              <a:rPr lang="en-US" sz="2400" dirty="0" err="1"/>
              <a:t>mol</a:t>
            </a:r>
            <a:r>
              <a:rPr lang="en-US" sz="2400" dirty="0"/>
              <a:t>]</a:t>
            </a:r>
          </a:p>
          <a:p>
            <a:pPr lvl="0"/>
            <a:endParaRPr lang="en-US" sz="2400" dirty="0"/>
          </a:p>
          <a:p>
            <a:pPr marL="0" indent="0">
              <a:buNone/>
            </a:pPr>
            <a:r>
              <a:rPr lang="fr-FR" sz="2400" dirty="0"/>
              <a:t> Δ</a:t>
            </a:r>
            <a:r>
              <a:rPr lang="en-US" sz="2400" dirty="0" err="1"/>
              <a:t>H</a:t>
            </a:r>
            <a:r>
              <a:rPr lang="en-US" sz="2400" baseline="-25000" dirty="0" err="1"/>
              <a:t>process</a:t>
            </a:r>
            <a:r>
              <a:rPr lang="fr-FR" sz="2400" dirty="0"/>
              <a:t>=  </a:t>
            </a:r>
            <a:r>
              <a:rPr lang="fr-FR" sz="2400" dirty="0" err="1">
                <a:solidFill>
                  <a:srgbClr val="FF0000"/>
                </a:solidFill>
              </a:rPr>
              <a:t>heating</a:t>
            </a:r>
            <a:r>
              <a:rPr lang="fr-FR" sz="2400" dirty="0">
                <a:solidFill>
                  <a:srgbClr val="FF0000"/>
                </a:solidFill>
              </a:rPr>
              <a:t> </a:t>
            </a:r>
            <a:r>
              <a:rPr lang="fr-FR" sz="2400" dirty="0" err="1">
                <a:solidFill>
                  <a:srgbClr val="FF0000"/>
                </a:solidFill>
              </a:rPr>
              <a:t>liquid</a:t>
            </a:r>
            <a:r>
              <a:rPr lang="fr-FR" sz="2400" dirty="0">
                <a:solidFill>
                  <a:srgbClr val="FF0000"/>
                </a:solidFill>
              </a:rPr>
              <a:t> 9 - 100</a:t>
            </a:r>
            <a:r>
              <a:rPr lang="en-US" sz="2400" baseline="30000" dirty="0" err="1">
                <a:solidFill>
                  <a:srgbClr val="FF0000"/>
                </a:solidFill>
              </a:rPr>
              <a:t>o</a:t>
            </a:r>
            <a:r>
              <a:rPr lang="en-US" sz="2400" dirty="0" err="1">
                <a:solidFill>
                  <a:srgbClr val="FF0000"/>
                </a:solidFill>
              </a:rPr>
              <a:t>C</a:t>
            </a:r>
            <a:r>
              <a:rPr lang="fr-FR" sz="2400" dirty="0">
                <a:solidFill>
                  <a:srgbClr val="FF0000"/>
                </a:solidFill>
              </a:rPr>
              <a:t> </a:t>
            </a:r>
            <a:r>
              <a:rPr lang="fr-FR" sz="2400" dirty="0"/>
              <a:t>+ </a:t>
            </a:r>
            <a:r>
              <a:rPr lang="fr-FR" sz="2400" dirty="0" err="1">
                <a:solidFill>
                  <a:schemeClr val="accent2"/>
                </a:solidFill>
              </a:rPr>
              <a:t>boiling</a:t>
            </a:r>
            <a:r>
              <a:rPr lang="fr-FR" sz="2400" dirty="0">
                <a:solidFill>
                  <a:schemeClr val="accent2"/>
                </a:solidFill>
              </a:rPr>
              <a:t> water </a:t>
            </a:r>
            <a:r>
              <a:rPr lang="fr-FR" sz="2400" dirty="0">
                <a:solidFill>
                  <a:srgbClr val="7030A0"/>
                </a:solidFill>
              </a:rPr>
              <a:t>+ </a:t>
            </a:r>
            <a:r>
              <a:rPr lang="fr-FR" sz="2400" dirty="0" err="1">
                <a:solidFill>
                  <a:srgbClr val="185503"/>
                </a:solidFill>
              </a:rPr>
              <a:t>heating</a:t>
            </a:r>
            <a:r>
              <a:rPr lang="fr-FR" sz="2400" dirty="0">
                <a:solidFill>
                  <a:srgbClr val="185503"/>
                </a:solidFill>
              </a:rPr>
              <a:t> </a:t>
            </a:r>
            <a:r>
              <a:rPr lang="fr-FR" sz="2400" dirty="0" err="1">
                <a:solidFill>
                  <a:srgbClr val="185503"/>
                </a:solidFill>
              </a:rPr>
              <a:t>gas</a:t>
            </a:r>
            <a:r>
              <a:rPr lang="fr-FR" sz="2400" dirty="0">
                <a:solidFill>
                  <a:srgbClr val="185503"/>
                </a:solidFill>
              </a:rPr>
              <a:t> </a:t>
            </a:r>
            <a:r>
              <a:rPr lang="fr-FR" sz="2400" dirty="0" err="1">
                <a:solidFill>
                  <a:srgbClr val="185503"/>
                </a:solidFill>
              </a:rPr>
              <a:t>from</a:t>
            </a:r>
            <a:r>
              <a:rPr lang="fr-FR" sz="2400" dirty="0">
                <a:solidFill>
                  <a:srgbClr val="185503"/>
                </a:solidFill>
              </a:rPr>
              <a:t> 100 - 109</a:t>
            </a:r>
            <a:r>
              <a:rPr lang="en-US" sz="2400" baseline="30000" dirty="0" err="1">
                <a:solidFill>
                  <a:srgbClr val="185503"/>
                </a:solidFill>
              </a:rPr>
              <a:t>o</a:t>
            </a:r>
            <a:r>
              <a:rPr lang="en-US" sz="2400" dirty="0" err="1">
                <a:solidFill>
                  <a:srgbClr val="185503"/>
                </a:solidFill>
              </a:rPr>
              <a:t>C</a:t>
            </a:r>
            <a:endParaRPr lang="en-US" sz="2400" dirty="0">
              <a:solidFill>
                <a:srgbClr val="185503"/>
              </a:solidFill>
            </a:endParaRPr>
          </a:p>
          <a:p>
            <a:pPr marL="0" indent="0">
              <a:buNone/>
            </a:pPr>
            <a:r>
              <a:rPr lang="fr-FR" sz="2400" dirty="0"/>
              <a:t> Δ</a:t>
            </a:r>
            <a:r>
              <a:rPr lang="en-US" sz="2400" dirty="0" err="1"/>
              <a:t>H</a:t>
            </a:r>
            <a:r>
              <a:rPr lang="en-US" sz="2400" baseline="-25000" dirty="0" err="1"/>
              <a:t>process</a:t>
            </a:r>
            <a:r>
              <a:rPr lang="fr-FR" sz="2400" dirty="0"/>
              <a:t>=  </a:t>
            </a:r>
            <a:r>
              <a:rPr lang="en-US" sz="2400" dirty="0">
                <a:solidFill>
                  <a:srgbClr val="FF0000"/>
                </a:solidFill>
              </a:rPr>
              <a:t>segment CD </a:t>
            </a:r>
            <a:r>
              <a:rPr lang="fr-FR" sz="2400" dirty="0"/>
              <a:t>+ </a:t>
            </a:r>
            <a:r>
              <a:rPr lang="en-US" sz="2400" dirty="0">
                <a:solidFill>
                  <a:schemeClr val="accent2"/>
                </a:solidFill>
              </a:rPr>
              <a:t>segment DE </a:t>
            </a:r>
            <a:r>
              <a:rPr lang="fr-FR" sz="2400" dirty="0"/>
              <a:t>+ </a:t>
            </a:r>
            <a:r>
              <a:rPr lang="en-US" sz="2400" dirty="0">
                <a:solidFill>
                  <a:srgbClr val="185503"/>
                </a:solidFill>
              </a:rPr>
              <a:t>segment EF </a:t>
            </a:r>
          </a:p>
          <a:p>
            <a:pPr marL="0" indent="0">
              <a:buNone/>
            </a:pPr>
            <a:r>
              <a:rPr lang="fr-FR" sz="2400" dirty="0"/>
              <a:t> Δ</a:t>
            </a:r>
            <a:r>
              <a:rPr lang="en-US" sz="2400" dirty="0" err="1"/>
              <a:t>H</a:t>
            </a:r>
            <a:r>
              <a:rPr lang="en-US" sz="2400" baseline="-25000" dirty="0" err="1"/>
              <a:t>process</a:t>
            </a:r>
            <a:r>
              <a:rPr lang="fr-FR" sz="2400" dirty="0"/>
              <a:t>=  </a:t>
            </a:r>
            <a:r>
              <a:rPr lang="en-US" sz="2400" dirty="0">
                <a:solidFill>
                  <a:srgbClr val="FF0000"/>
                </a:solidFill>
              </a:rPr>
              <a:t>q (liquid) </a:t>
            </a:r>
            <a:r>
              <a:rPr lang="fr-FR" sz="2400" dirty="0"/>
              <a:t>+ </a:t>
            </a:r>
            <a:r>
              <a:rPr lang="fr-FR" sz="2400" dirty="0">
                <a:solidFill>
                  <a:schemeClr val="accent2"/>
                </a:solidFill>
              </a:rPr>
              <a:t>Δ</a:t>
            </a:r>
            <a:r>
              <a:rPr lang="en-US" sz="2400" dirty="0">
                <a:solidFill>
                  <a:schemeClr val="accent2"/>
                </a:solidFill>
              </a:rPr>
              <a:t> </a:t>
            </a:r>
            <a:r>
              <a:rPr lang="en-US" sz="2400" dirty="0" err="1">
                <a:solidFill>
                  <a:schemeClr val="accent2"/>
                </a:solidFill>
              </a:rPr>
              <a:t>H</a:t>
            </a:r>
            <a:r>
              <a:rPr lang="en-US" sz="2400" baseline="-25000" dirty="0" err="1">
                <a:solidFill>
                  <a:schemeClr val="accent2"/>
                </a:solidFill>
              </a:rPr>
              <a:t>v</a:t>
            </a:r>
            <a:r>
              <a:rPr lang="en-US" sz="2400" dirty="0">
                <a:solidFill>
                  <a:schemeClr val="accent2"/>
                </a:solidFill>
              </a:rPr>
              <a:t> </a:t>
            </a:r>
            <a:r>
              <a:rPr lang="fr-FR" sz="2400" dirty="0"/>
              <a:t>+ </a:t>
            </a:r>
            <a:r>
              <a:rPr lang="en-US" sz="2400" dirty="0">
                <a:solidFill>
                  <a:srgbClr val="185503"/>
                </a:solidFill>
              </a:rPr>
              <a:t>q (gas) </a:t>
            </a:r>
          </a:p>
          <a:p>
            <a:endParaRPr lang="en-US" sz="2400" dirty="0"/>
          </a:p>
          <a:p>
            <a:r>
              <a:rPr lang="en-US" sz="2400" dirty="0">
                <a:solidFill>
                  <a:srgbClr val="FF0000"/>
                </a:solidFill>
              </a:rPr>
              <a:t>q (liquid) = </a:t>
            </a:r>
            <a:r>
              <a:rPr lang="fr-FR" sz="2400" dirty="0" err="1">
                <a:solidFill>
                  <a:srgbClr val="FF0000"/>
                </a:solidFill>
              </a:rPr>
              <a:t>mCΔT</a:t>
            </a:r>
            <a:r>
              <a:rPr lang="fr-FR" sz="2400" dirty="0">
                <a:solidFill>
                  <a:srgbClr val="FF0000"/>
                </a:solidFill>
              </a:rPr>
              <a:t> = 32.0x4.184x(100-9) = 12183 </a:t>
            </a:r>
            <a:r>
              <a:rPr lang="fr-FR" sz="2400" b="1" dirty="0">
                <a:solidFill>
                  <a:srgbClr val="FF0000"/>
                </a:solidFill>
              </a:rPr>
              <a:t>Joules = 12.183 kJ</a:t>
            </a:r>
            <a:endParaRPr lang="en-US" sz="2400" b="1" dirty="0">
              <a:solidFill>
                <a:srgbClr val="FF0000"/>
              </a:solidFill>
            </a:endParaRPr>
          </a:p>
          <a:p>
            <a:r>
              <a:rPr lang="fr-FR" sz="2400" dirty="0">
                <a:solidFill>
                  <a:schemeClr val="accent2"/>
                </a:solidFill>
              </a:rPr>
              <a:t>Δ</a:t>
            </a:r>
            <a:r>
              <a:rPr lang="en-US" sz="2400" dirty="0">
                <a:solidFill>
                  <a:schemeClr val="accent2"/>
                </a:solidFill>
              </a:rPr>
              <a:t> </a:t>
            </a:r>
            <a:r>
              <a:rPr lang="en-US" sz="2400" dirty="0" err="1">
                <a:solidFill>
                  <a:schemeClr val="accent2"/>
                </a:solidFill>
              </a:rPr>
              <a:t>H</a:t>
            </a:r>
            <a:r>
              <a:rPr lang="en-US" sz="2400" baseline="-25000" dirty="0" err="1">
                <a:solidFill>
                  <a:schemeClr val="accent2"/>
                </a:solidFill>
              </a:rPr>
              <a:t>vap</a:t>
            </a:r>
            <a:r>
              <a:rPr lang="en-US" sz="2400" dirty="0">
                <a:solidFill>
                  <a:schemeClr val="accent2"/>
                </a:solidFill>
              </a:rPr>
              <a:t> = </a:t>
            </a:r>
            <a:r>
              <a:rPr lang="fr-FR" sz="2400" dirty="0" err="1">
                <a:solidFill>
                  <a:schemeClr val="accent2"/>
                </a:solidFill>
                <a:latin typeface="Symbol" panose="05050102010706020507" pitchFamily="18" charset="2"/>
              </a:rPr>
              <a:t>D</a:t>
            </a:r>
            <a:r>
              <a:rPr lang="fr-FR" sz="2400" dirty="0" err="1">
                <a:solidFill>
                  <a:schemeClr val="accent2"/>
                </a:solidFill>
              </a:rPr>
              <a:t>H</a:t>
            </a:r>
            <a:r>
              <a:rPr lang="fr-FR" sz="2400" baseline="-25000" dirty="0" err="1">
                <a:solidFill>
                  <a:schemeClr val="accent2"/>
                </a:solidFill>
              </a:rPr>
              <a:t>vap</a:t>
            </a:r>
            <a:r>
              <a:rPr lang="fr-FR" sz="2400" dirty="0">
                <a:solidFill>
                  <a:schemeClr val="accent2"/>
                </a:solidFill>
              </a:rPr>
              <a:t> n = 40.7 kJ/mol x (32.0g/18.02g/mol) = </a:t>
            </a:r>
            <a:r>
              <a:rPr lang="fr-FR" sz="2400" b="1" dirty="0">
                <a:solidFill>
                  <a:schemeClr val="accent2"/>
                </a:solidFill>
              </a:rPr>
              <a:t>72.27 kJ</a:t>
            </a:r>
            <a:endParaRPr lang="en-US" sz="2400" dirty="0">
              <a:solidFill>
                <a:schemeClr val="accent2"/>
              </a:solidFill>
            </a:endParaRPr>
          </a:p>
          <a:p>
            <a:r>
              <a:rPr lang="en-US" sz="2400" dirty="0">
                <a:solidFill>
                  <a:srgbClr val="185503"/>
                </a:solidFill>
              </a:rPr>
              <a:t>q (gas) = </a:t>
            </a:r>
            <a:r>
              <a:rPr lang="fr-FR" sz="2400" dirty="0" err="1">
                <a:solidFill>
                  <a:srgbClr val="185503"/>
                </a:solidFill>
              </a:rPr>
              <a:t>mCΔT</a:t>
            </a:r>
            <a:r>
              <a:rPr lang="fr-FR" sz="2400" dirty="0">
                <a:solidFill>
                  <a:srgbClr val="185503"/>
                </a:solidFill>
              </a:rPr>
              <a:t> = 32.0x1.87x(104-100) = 239 </a:t>
            </a:r>
            <a:r>
              <a:rPr lang="fr-FR" sz="2400" b="1" dirty="0">
                <a:solidFill>
                  <a:srgbClr val="185503"/>
                </a:solidFill>
              </a:rPr>
              <a:t>Joules = 0.239 kJ</a:t>
            </a:r>
          </a:p>
          <a:p>
            <a:endParaRPr lang="en-US" sz="2400" b="1" dirty="0"/>
          </a:p>
          <a:p>
            <a:r>
              <a:rPr lang="fr-FR" sz="2800" dirty="0"/>
              <a:t>Δ</a:t>
            </a:r>
            <a:r>
              <a:rPr lang="en-US" sz="2800" dirty="0" err="1"/>
              <a:t>H</a:t>
            </a:r>
            <a:r>
              <a:rPr lang="en-US" sz="2800" baseline="-25000" dirty="0" err="1"/>
              <a:t>process</a:t>
            </a:r>
            <a:r>
              <a:rPr lang="fr-FR" sz="2800" dirty="0"/>
              <a:t>=  </a:t>
            </a:r>
            <a:r>
              <a:rPr lang="fr-FR" sz="2800" b="1" dirty="0">
                <a:solidFill>
                  <a:srgbClr val="FF0000"/>
                </a:solidFill>
              </a:rPr>
              <a:t>12.183 kJ</a:t>
            </a:r>
            <a:r>
              <a:rPr lang="en-US" sz="2800" b="1" dirty="0">
                <a:solidFill>
                  <a:srgbClr val="FF0000"/>
                </a:solidFill>
              </a:rPr>
              <a:t> </a:t>
            </a:r>
            <a:r>
              <a:rPr lang="fr-FR" sz="2800" dirty="0"/>
              <a:t>+ </a:t>
            </a:r>
            <a:r>
              <a:rPr lang="fr-FR" sz="2800" b="1" dirty="0">
                <a:solidFill>
                  <a:schemeClr val="accent2"/>
                </a:solidFill>
              </a:rPr>
              <a:t>72.27 kJ</a:t>
            </a:r>
            <a:r>
              <a:rPr lang="en-US" sz="2800" dirty="0">
                <a:solidFill>
                  <a:schemeClr val="accent2"/>
                </a:solidFill>
              </a:rPr>
              <a:t> </a:t>
            </a:r>
            <a:r>
              <a:rPr lang="fr-FR" sz="2800" dirty="0"/>
              <a:t>+ </a:t>
            </a:r>
            <a:r>
              <a:rPr lang="fr-FR" sz="2800" b="1" dirty="0">
                <a:solidFill>
                  <a:srgbClr val="185503"/>
                </a:solidFill>
              </a:rPr>
              <a:t>0.239 kJ</a:t>
            </a:r>
          </a:p>
          <a:p>
            <a:pPr marL="0" indent="0">
              <a:buNone/>
            </a:pPr>
            <a:r>
              <a:rPr lang="fr-FR" sz="2800" b="1" dirty="0"/>
              <a:t>		= 84.7 kJ</a:t>
            </a:r>
          </a:p>
          <a:p>
            <a:endParaRPr lang="fr-FR" sz="2800" dirty="0"/>
          </a:p>
          <a:p>
            <a:endParaRPr lang="fr-FR" sz="2800" dirty="0"/>
          </a:p>
        </p:txBody>
      </p:sp>
      <p:pic>
        <p:nvPicPr>
          <p:cNvPr id="5" name="Picture 4"/>
          <p:cNvPicPr>
            <a:picLocks noChangeAspect="1"/>
          </p:cNvPicPr>
          <p:nvPr/>
        </p:nvPicPr>
        <p:blipFill>
          <a:blip r:embed="rId2"/>
          <a:stretch>
            <a:fillRect/>
          </a:stretch>
        </p:blipFill>
        <p:spPr>
          <a:xfrm>
            <a:off x="9067800" y="4174542"/>
            <a:ext cx="3124200" cy="2683458"/>
          </a:xfrm>
          <a:prstGeom prst="rect">
            <a:avLst/>
          </a:prstGeom>
        </p:spPr>
      </p:pic>
    </p:spTree>
    <p:extLst>
      <p:ext uri="{BB962C8B-B14F-4D97-AF65-F5344CB8AC3E}">
        <p14:creationId xmlns:p14="http://schemas.microsoft.com/office/powerpoint/2010/main" val="67240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http://upload.wikimedia.org/wikipedia/commons/a/a6/Exothermic_Reaction.png"/>
          <p:cNvPicPr>
            <a:picLocks noChangeAspect="1" noChangeArrowheads="1"/>
          </p:cNvPicPr>
          <p:nvPr/>
        </p:nvPicPr>
        <p:blipFill>
          <a:blip r:embed="rId2" cstate="print"/>
          <a:srcRect/>
          <a:stretch>
            <a:fillRect/>
          </a:stretch>
        </p:blipFill>
        <p:spPr bwMode="auto">
          <a:xfrm>
            <a:off x="8837023" y="2438400"/>
            <a:ext cx="3352800" cy="2486133"/>
          </a:xfrm>
          <a:prstGeom prst="rect">
            <a:avLst/>
          </a:prstGeom>
          <a:noFill/>
        </p:spPr>
      </p:pic>
      <p:sp>
        <p:nvSpPr>
          <p:cNvPr id="2" name="Title 1"/>
          <p:cNvSpPr>
            <a:spLocks noGrp="1"/>
          </p:cNvSpPr>
          <p:nvPr>
            <p:ph type="title"/>
          </p:nvPr>
        </p:nvSpPr>
        <p:spPr>
          <a:xfrm>
            <a:off x="637429" y="106710"/>
            <a:ext cx="10363200" cy="914400"/>
          </a:xfrm>
        </p:spPr>
        <p:txBody>
          <a:bodyPr/>
          <a:lstStyle/>
          <a:p>
            <a:r>
              <a:rPr lang="en-US" sz="3600" b="1" dirty="0"/>
              <a:t>Reaction Enthalpy</a:t>
            </a:r>
            <a:endParaRPr lang="en-US" sz="3600" dirty="0"/>
          </a:p>
        </p:txBody>
      </p:sp>
      <p:sp>
        <p:nvSpPr>
          <p:cNvPr id="3" name="Content Placeholder 2"/>
          <p:cNvSpPr>
            <a:spLocks noGrp="1"/>
          </p:cNvSpPr>
          <p:nvPr>
            <p:ph idx="1"/>
          </p:nvPr>
        </p:nvSpPr>
        <p:spPr>
          <a:xfrm>
            <a:off x="381000" y="1021110"/>
            <a:ext cx="11353800" cy="4114800"/>
          </a:xfrm>
        </p:spPr>
        <p:txBody>
          <a:bodyPr/>
          <a:lstStyle/>
          <a:p>
            <a:pPr eaLnBrk="1" hangingPunct="1">
              <a:spcBef>
                <a:spcPct val="50000"/>
              </a:spcBef>
            </a:pPr>
            <a:r>
              <a:rPr lang="en-US" sz="2800" b="1" i="1" dirty="0"/>
              <a:t>Reaction Enthalpy or Heat of Reaction (</a:t>
            </a:r>
            <a:r>
              <a:rPr lang="el-GR" sz="2800" dirty="0"/>
              <a:t>Δ</a:t>
            </a:r>
            <a:r>
              <a:rPr lang="en-US" sz="2800" b="1" i="1" dirty="0" err="1"/>
              <a:t>H</a:t>
            </a:r>
            <a:r>
              <a:rPr lang="en-US" sz="2800" b="1" i="1" baseline="-25000" dirty="0" err="1"/>
              <a:t>rxn</a:t>
            </a:r>
            <a:r>
              <a:rPr lang="en-US" sz="2800" b="1" i="1" dirty="0"/>
              <a:t>)</a:t>
            </a:r>
            <a:r>
              <a:rPr lang="en-US" sz="2800" dirty="0"/>
              <a:t> is used to </a:t>
            </a:r>
            <a:r>
              <a:rPr lang="en-US" sz="2800" dirty="0">
                <a:solidFill>
                  <a:srgbClr val="FF0000"/>
                </a:solidFill>
              </a:rPr>
              <a:t>quantify</a:t>
            </a:r>
            <a:r>
              <a:rPr lang="en-US" sz="2800" dirty="0"/>
              <a:t> the </a:t>
            </a:r>
            <a:r>
              <a:rPr lang="en-US" sz="2800" dirty="0">
                <a:solidFill>
                  <a:srgbClr val="FF0000"/>
                </a:solidFill>
              </a:rPr>
              <a:t>heat</a:t>
            </a:r>
            <a:r>
              <a:rPr lang="en-US" sz="2800" dirty="0"/>
              <a:t> </a:t>
            </a:r>
            <a:r>
              <a:rPr lang="en-US" sz="2800" dirty="0">
                <a:solidFill>
                  <a:srgbClr val="FF0000"/>
                </a:solidFill>
              </a:rPr>
              <a:t>flow</a:t>
            </a:r>
            <a:r>
              <a:rPr lang="en-US" sz="2800" dirty="0"/>
              <a:t> into (or out of) a system in a process that occurs at constant pressure. </a:t>
            </a:r>
          </a:p>
          <a:p>
            <a:pPr eaLnBrk="1" hangingPunct="1">
              <a:spcBef>
                <a:spcPct val="50000"/>
              </a:spcBef>
            </a:pPr>
            <a:r>
              <a:rPr lang="el-GR" sz="2800" dirty="0"/>
              <a:t>Δ </a:t>
            </a:r>
            <a:r>
              <a:rPr lang="en-US" sz="2800" i="1" dirty="0" err="1"/>
              <a:t>H</a:t>
            </a:r>
            <a:r>
              <a:rPr lang="en-US" sz="2800" b="1" i="1" baseline="-25000" dirty="0" err="1"/>
              <a:t>rxn</a:t>
            </a:r>
            <a:r>
              <a:rPr lang="en-US" sz="2800" dirty="0"/>
              <a:t> = </a:t>
            </a:r>
            <a:r>
              <a:rPr lang="el-GR" sz="2800" dirty="0"/>
              <a:t>Δ</a:t>
            </a:r>
            <a:r>
              <a:rPr lang="en-US" sz="2800" i="1" dirty="0"/>
              <a:t>H</a:t>
            </a:r>
            <a:r>
              <a:rPr lang="en-US" sz="2800" dirty="0"/>
              <a:t> (products) – </a:t>
            </a:r>
            <a:r>
              <a:rPr lang="el-GR" sz="2800" dirty="0"/>
              <a:t>Δ</a:t>
            </a:r>
            <a:r>
              <a:rPr lang="en-US" sz="2800" i="1" dirty="0"/>
              <a:t>H</a:t>
            </a:r>
            <a:r>
              <a:rPr lang="en-US" sz="2800" dirty="0"/>
              <a:t> (reactants)</a:t>
            </a:r>
          </a:p>
          <a:p>
            <a:pPr eaLnBrk="1" hangingPunct="1">
              <a:spcBef>
                <a:spcPct val="50000"/>
              </a:spcBef>
            </a:pPr>
            <a:r>
              <a:rPr lang="en-US" sz="2800" dirty="0"/>
              <a:t>Label on the reaction energy diagram below.</a:t>
            </a:r>
          </a:p>
          <a:p>
            <a:pPr eaLnBrk="1" hangingPunct="1">
              <a:spcBef>
                <a:spcPct val="50000"/>
              </a:spcBef>
            </a:pPr>
            <a:r>
              <a:rPr lang="en-US" sz="2800" dirty="0"/>
              <a:t>Heat of Reaction can be measured with a </a:t>
            </a:r>
            <a:r>
              <a:rPr lang="en-US" sz="2800" dirty="0">
                <a:solidFill>
                  <a:srgbClr val="FF0000"/>
                </a:solidFill>
              </a:rPr>
              <a:t>calorimeter</a:t>
            </a:r>
          </a:p>
          <a:p>
            <a:pPr eaLnBrk="1" hangingPunct="1">
              <a:spcBef>
                <a:spcPct val="50000"/>
              </a:spcBef>
            </a:pPr>
            <a:endParaRPr lang="en-US" sz="2800" dirty="0">
              <a:latin typeface="Arial" charset="0"/>
            </a:endParaRPr>
          </a:p>
          <a:p>
            <a:pPr eaLnBrk="1" hangingPunct="1">
              <a:spcBef>
                <a:spcPct val="50000"/>
              </a:spcBef>
            </a:pPr>
            <a:endParaRPr lang="en-US" sz="2800" dirty="0">
              <a:latin typeface="Arial" charset="0"/>
            </a:endParaRPr>
          </a:p>
        </p:txBody>
      </p:sp>
    </p:spTree>
    <p:extLst>
      <p:ext uri="{BB962C8B-B14F-4D97-AF65-F5344CB8AC3E}">
        <p14:creationId xmlns:p14="http://schemas.microsoft.com/office/powerpoint/2010/main" val="1924287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14400" y="76200"/>
            <a:ext cx="10363200" cy="685800"/>
          </a:xfrm>
        </p:spPr>
        <p:txBody>
          <a:bodyPr/>
          <a:lstStyle/>
          <a:p>
            <a:r>
              <a:rPr lang="en-US" sz="4000" dirty="0"/>
              <a:t>Molar Enthalpy (</a:t>
            </a:r>
            <a:r>
              <a:rPr lang="en-US" sz="4000" dirty="0" err="1">
                <a:latin typeface="Symbol" panose="05050102010706020507" pitchFamily="18" charset="2"/>
              </a:rPr>
              <a:t>D</a:t>
            </a:r>
            <a:r>
              <a:rPr lang="en-US" sz="4000" dirty="0" err="1"/>
              <a:t>H</a:t>
            </a:r>
            <a:r>
              <a:rPr lang="en-US" sz="4000" baseline="-25000" dirty="0" err="1"/>
              <a:t>molrxn</a:t>
            </a:r>
            <a:r>
              <a:rPr lang="en-US" sz="4000" dirty="0"/>
              <a:t>)</a:t>
            </a:r>
          </a:p>
        </p:txBody>
      </p:sp>
      <p:sp>
        <p:nvSpPr>
          <p:cNvPr id="4" name="Content Placeholder 3"/>
          <p:cNvSpPr>
            <a:spLocks noGrp="1"/>
          </p:cNvSpPr>
          <p:nvPr>
            <p:ph idx="1"/>
          </p:nvPr>
        </p:nvSpPr>
        <p:spPr>
          <a:xfrm>
            <a:off x="609600" y="762000"/>
            <a:ext cx="11277600" cy="5334000"/>
          </a:xfrm>
        </p:spPr>
        <p:txBody>
          <a:bodyPr/>
          <a:lstStyle/>
          <a:p>
            <a:r>
              <a:rPr lang="en-US" sz="2800" dirty="0"/>
              <a:t>Calorimetry is the </a:t>
            </a:r>
            <a:r>
              <a:rPr lang="en-US" sz="2800" b="1" i="1" dirty="0">
                <a:solidFill>
                  <a:srgbClr val="FF0000"/>
                </a:solidFill>
              </a:rPr>
              <a:t>laboratory method </a:t>
            </a:r>
            <a:r>
              <a:rPr lang="en-US" sz="2800" dirty="0"/>
              <a:t>of finding q, or heat transferred, for a chemical reaction, the heat involved in a physical change, or the specific heat of a substance. </a:t>
            </a:r>
          </a:p>
          <a:p>
            <a:r>
              <a:rPr lang="en-US" sz="2800" dirty="0"/>
              <a:t>q is an </a:t>
            </a:r>
            <a:r>
              <a:rPr lang="en-US" sz="2800" b="1" i="1" dirty="0">
                <a:solidFill>
                  <a:srgbClr val="FF0000"/>
                </a:solidFill>
              </a:rPr>
              <a:t>extensive quantity </a:t>
            </a:r>
            <a:r>
              <a:rPr lang="en-US" sz="2800" dirty="0"/>
              <a:t>that depends on the </a:t>
            </a:r>
            <a:r>
              <a:rPr lang="en-US" sz="2800" i="1" dirty="0">
                <a:solidFill>
                  <a:srgbClr val="FF0000"/>
                </a:solidFill>
              </a:rPr>
              <a:t>amounts</a:t>
            </a:r>
            <a:r>
              <a:rPr lang="en-US" sz="2800" i="1" dirty="0"/>
              <a:t> </a:t>
            </a:r>
            <a:r>
              <a:rPr lang="en-US" sz="2800" dirty="0"/>
              <a:t>of substance used in the reaction. It cannot be compared unless standardized to a specific amount….. </a:t>
            </a:r>
            <a:r>
              <a:rPr lang="en-US" sz="2800" dirty="0">
                <a:solidFill>
                  <a:srgbClr val="FF0000"/>
                </a:solidFill>
              </a:rPr>
              <a:t>one mole</a:t>
            </a:r>
            <a:r>
              <a:rPr lang="en-US" sz="2800" dirty="0"/>
              <a:t>.</a:t>
            </a:r>
          </a:p>
          <a:p>
            <a:r>
              <a:rPr lang="en-US" sz="2800" dirty="0"/>
              <a:t>Molar enthalpy =  heat per mole of reactant</a:t>
            </a:r>
          </a:p>
          <a:p>
            <a:r>
              <a:rPr lang="en-US" sz="2800" dirty="0"/>
              <a:t>Can be calculated:</a:t>
            </a:r>
          </a:p>
          <a:p>
            <a:pPr algn="ctr">
              <a:buNone/>
            </a:pPr>
            <a:r>
              <a:rPr lang="en-US" sz="2800" dirty="0" err="1">
                <a:latin typeface="Symbol" panose="05050102010706020507" pitchFamily="18" charset="2"/>
              </a:rPr>
              <a:t>D</a:t>
            </a:r>
            <a:r>
              <a:rPr lang="en-US" sz="2800" dirty="0" err="1"/>
              <a:t>H</a:t>
            </a:r>
            <a:r>
              <a:rPr lang="en-US" sz="2800" baseline="-25000" dirty="0" err="1"/>
              <a:t>molrxn</a:t>
            </a:r>
            <a:r>
              <a:rPr lang="en-US" sz="2800" baseline="-25000" dirty="0"/>
              <a:t> </a:t>
            </a:r>
            <a:r>
              <a:rPr lang="en-US" sz="2800" dirty="0"/>
              <a:t>= </a:t>
            </a:r>
            <a:r>
              <a:rPr lang="en-US" sz="2800" dirty="0" err="1"/>
              <a:t>q</a:t>
            </a:r>
            <a:r>
              <a:rPr lang="en-US" sz="2800" baseline="-25000" dirty="0" err="1"/>
              <a:t>sys</a:t>
            </a:r>
            <a:r>
              <a:rPr lang="en-US" sz="2800" dirty="0"/>
              <a:t> / moles of reactant</a:t>
            </a:r>
          </a:p>
          <a:p>
            <a:r>
              <a:rPr lang="en-US" sz="2800" dirty="0"/>
              <a:t>Why is it useful? </a:t>
            </a:r>
          </a:p>
          <a:p>
            <a:pPr lvl="1"/>
            <a:r>
              <a:rPr lang="en-US" dirty="0"/>
              <a:t>Comparable because it is an </a:t>
            </a:r>
            <a:r>
              <a:rPr lang="en-US" dirty="0">
                <a:solidFill>
                  <a:srgbClr val="FF0000"/>
                </a:solidFill>
              </a:rPr>
              <a:t>intensive</a:t>
            </a:r>
            <a:r>
              <a:rPr lang="en-US" dirty="0"/>
              <a:t> property</a:t>
            </a:r>
          </a:p>
          <a:p>
            <a:pPr lvl="1"/>
            <a:r>
              <a:rPr lang="en-US" dirty="0">
                <a:solidFill>
                  <a:srgbClr val="FF0000"/>
                </a:solidFill>
              </a:rPr>
              <a:t>Tabulated</a:t>
            </a:r>
            <a:r>
              <a:rPr lang="en-US" dirty="0"/>
              <a:t> values can be applied to any amount </a:t>
            </a:r>
          </a:p>
          <a:p>
            <a:endParaRPr lang="en-US" dirty="0"/>
          </a:p>
          <a:p>
            <a:endParaRPr lang="en-US" dirty="0"/>
          </a:p>
        </p:txBody>
      </p:sp>
    </p:spTree>
    <p:extLst>
      <p:ext uri="{BB962C8B-B14F-4D97-AF65-F5344CB8AC3E}">
        <p14:creationId xmlns:p14="http://schemas.microsoft.com/office/powerpoint/2010/main" val="28797116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9700" y="28280"/>
            <a:ext cx="9296400" cy="868362"/>
          </a:xfrm>
        </p:spPr>
        <p:txBody>
          <a:bodyPr/>
          <a:lstStyle/>
          <a:p>
            <a:r>
              <a:rPr lang="en-US" dirty="0"/>
              <a:t>Calorimetry Problem</a:t>
            </a:r>
          </a:p>
        </p:txBody>
      </p:sp>
      <p:sp>
        <p:nvSpPr>
          <p:cNvPr id="3" name="Content Placeholder 2"/>
          <p:cNvSpPr>
            <a:spLocks noGrp="1"/>
          </p:cNvSpPr>
          <p:nvPr>
            <p:ph idx="1"/>
          </p:nvPr>
        </p:nvSpPr>
        <p:spPr>
          <a:xfrm>
            <a:off x="228600" y="762000"/>
            <a:ext cx="11658600" cy="5791200"/>
          </a:xfrm>
        </p:spPr>
        <p:txBody>
          <a:bodyPr>
            <a:normAutofit/>
          </a:bodyPr>
          <a:lstStyle/>
          <a:p>
            <a:pPr marL="0" lvl="0" indent="0">
              <a:buNone/>
            </a:pPr>
            <a:r>
              <a:rPr lang="en-US" sz="2800" dirty="0"/>
              <a:t>When a 1.5 g sample of </a:t>
            </a:r>
            <a:r>
              <a:rPr lang="en-US" sz="2800" dirty="0" err="1"/>
              <a:t>KCl</a:t>
            </a:r>
            <a:r>
              <a:rPr lang="en-US" sz="2800" dirty="0"/>
              <a:t> dissolves in 100.0 g of water in a calorimeter, the temperature drops from 22.1 </a:t>
            </a:r>
            <a:r>
              <a:rPr lang="en-US" sz="2800" baseline="30000" dirty="0" err="1"/>
              <a:t>o</a:t>
            </a:r>
            <a:r>
              <a:rPr lang="en-US" sz="2800" dirty="0" err="1"/>
              <a:t>C</a:t>
            </a:r>
            <a:r>
              <a:rPr lang="en-US" sz="2800" dirty="0"/>
              <a:t> to 21.6 </a:t>
            </a:r>
            <a:r>
              <a:rPr lang="en-US" sz="2800" baseline="30000" dirty="0" err="1"/>
              <a:t>o</a:t>
            </a:r>
            <a:r>
              <a:rPr lang="en-US" sz="2800" dirty="0" err="1"/>
              <a:t>C.</a:t>
            </a:r>
            <a:endParaRPr lang="en-US" sz="2800" dirty="0"/>
          </a:p>
          <a:p>
            <a:pPr marL="914400" lvl="1" indent="-514350">
              <a:buFont typeface="+mj-lt"/>
              <a:buAutoNum type="alphaLcParenR"/>
            </a:pPr>
            <a:r>
              <a:rPr lang="en-US" sz="2400" dirty="0"/>
              <a:t>Write an equation for the process.</a:t>
            </a:r>
          </a:p>
          <a:p>
            <a:pPr marL="914400" lvl="1" indent="-514350">
              <a:buFont typeface="+mj-lt"/>
              <a:buAutoNum type="alphaLcParenR"/>
            </a:pPr>
            <a:r>
              <a:rPr lang="en-US" sz="2400" dirty="0"/>
              <a:t>Identify the system and the surroundings. (remember these are processes)</a:t>
            </a:r>
          </a:p>
          <a:p>
            <a:pPr marL="914400" lvl="1" indent="-514350">
              <a:buFont typeface="+mj-lt"/>
              <a:buAutoNum type="alphaLcParenR"/>
            </a:pPr>
            <a:r>
              <a:rPr lang="en-US" sz="2400" dirty="0"/>
              <a:t>Calculate q,  the heat transferred in the process. </a:t>
            </a:r>
          </a:p>
          <a:p>
            <a:pPr marL="914400" lvl="1" indent="-514350">
              <a:buFont typeface="+mj-lt"/>
              <a:buAutoNum type="alphaLcParenR"/>
            </a:pPr>
            <a:r>
              <a:rPr lang="en-US" sz="2400" dirty="0">
                <a:sym typeface="Symbol"/>
              </a:rPr>
              <a:t>Calculate </a:t>
            </a:r>
            <a:r>
              <a:rPr lang="en-US" sz="2400" dirty="0" err="1"/>
              <a:t>H</a:t>
            </a:r>
            <a:r>
              <a:rPr lang="en-US" sz="2400" baseline="-25000" dirty="0" err="1"/>
              <a:t>rxn</a:t>
            </a:r>
            <a:r>
              <a:rPr lang="en-US" sz="2400" dirty="0"/>
              <a:t> for the dissolving process.</a:t>
            </a:r>
          </a:p>
        </p:txBody>
      </p:sp>
    </p:spTree>
    <p:extLst>
      <p:ext uri="{BB962C8B-B14F-4D97-AF65-F5344CB8AC3E}">
        <p14:creationId xmlns:p14="http://schemas.microsoft.com/office/powerpoint/2010/main" val="7330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20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20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609600" y="2286000"/>
            <a:ext cx="11049000" cy="1143000"/>
          </a:xfrm>
        </p:spPr>
        <p:txBody>
          <a:bodyPr/>
          <a:lstStyle/>
          <a:p>
            <a:pPr algn="l"/>
            <a:r>
              <a:rPr lang="en-US" sz="3600" dirty="0">
                <a:solidFill>
                  <a:schemeClr val="tx1"/>
                </a:solidFill>
              </a:rPr>
              <a:t>Practice:</a:t>
            </a:r>
            <a:r>
              <a:rPr lang="en-US" sz="3600" b="1" dirty="0">
                <a:solidFill>
                  <a:schemeClr val="tx1"/>
                </a:solidFill>
              </a:rPr>
              <a:t> </a:t>
            </a:r>
            <a:br>
              <a:rPr lang="en-US" sz="3600" b="1" dirty="0">
                <a:solidFill>
                  <a:schemeClr val="tx1"/>
                </a:solidFill>
              </a:rPr>
            </a:br>
            <a:r>
              <a:rPr lang="en-US" sz="3200" dirty="0">
                <a:solidFill>
                  <a:schemeClr val="tx1"/>
                </a:solidFill>
              </a:rPr>
              <a:t>For the reaction   </a:t>
            </a:r>
            <a:br>
              <a:rPr lang="en-US" sz="3200" dirty="0">
                <a:solidFill>
                  <a:schemeClr val="tx1"/>
                </a:solidFill>
              </a:rPr>
            </a:br>
            <a:r>
              <a:rPr lang="en-US" sz="3200" dirty="0">
                <a:solidFill>
                  <a:schemeClr val="tx1"/>
                </a:solidFill>
              </a:rPr>
              <a:t> 2Na + 2H</a:t>
            </a:r>
            <a:r>
              <a:rPr lang="en-US" sz="3200" baseline="-25000" dirty="0">
                <a:solidFill>
                  <a:schemeClr val="tx1"/>
                </a:solidFill>
              </a:rPr>
              <a:t>2</a:t>
            </a:r>
            <a:r>
              <a:rPr lang="en-US" sz="3200" dirty="0">
                <a:solidFill>
                  <a:schemeClr val="tx1"/>
                </a:solidFill>
              </a:rPr>
              <a:t>O </a:t>
            </a:r>
            <a:r>
              <a:rPr lang="en-US" sz="3200" noProof="1">
                <a:solidFill>
                  <a:schemeClr val="tx1"/>
                </a:solidFill>
                <a:sym typeface="Wingdings" pitchFamily="2" charset="2"/>
              </a:rPr>
              <a:t></a:t>
            </a:r>
            <a:r>
              <a:rPr lang="en-US" sz="3200" dirty="0">
                <a:solidFill>
                  <a:schemeClr val="tx1"/>
                </a:solidFill>
              </a:rPr>
              <a:t> 2NaOH + H</a:t>
            </a:r>
            <a:r>
              <a:rPr lang="en-US" sz="3200" baseline="-25000" dirty="0">
                <a:solidFill>
                  <a:schemeClr val="tx1"/>
                </a:solidFill>
              </a:rPr>
              <a:t>2</a:t>
            </a:r>
            <a:r>
              <a:rPr lang="en-US" sz="3200" dirty="0">
                <a:solidFill>
                  <a:schemeClr val="tx1"/>
                </a:solidFill>
              </a:rPr>
              <a:t> , </a:t>
            </a:r>
            <a:br>
              <a:rPr lang="en-US" sz="3200" dirty="0">
                <a:solidFill>
                  <a:schemeClr val="tx1"/>
                </a:solidFill>
              </a:rPr>
            </a:br>
            <a:r>
              <a:rPr lang="en-US" sz="3200" dirty="0">
                <a:solidFill>
                  <a:schemeClr val="tx1"/>
                </a:solidFill>
              </a:rPr>
              <a:t> </a:t>
            </a:r>
            <a:r>
              <a:rPr lang="en-US" sz="3200" dirty="0">
                <a:solidFill>
                  <a:schemeClr val="tx1"/>
                </a:solidFill>
                <a:sym typeface="Symbol" pitchFamily="18" charset="2"/>
              </a:rPr>
              <a:t></a:t>
            </a:r>
            <a:r>
              <a:rPr lang="en-US" sz="3200" i="1" dirty="0">
                <a:solidFill>
                  <a:schemeClr val="tx1"/>
                </a:solidFill>
              </a:rPr>
              <a:t>H</a:t>
            </a:r>
            <a:r>
              <a:rPr lang="en-US" sz="3200" dirty="0">
                <a:solidFill>
                  <a:schemeClr val="tx1"/>
                </a:solidFill>
              </a:rPr>
              <a:t> = </a:t>
            </a:r>
            <a:r>
              <a:rPr lang="en-US" sz="3200" dirty="0">
                <a:solidFill>
                  <a:schemeClr val="tx1"/>
                </a:solidFill>
                <a:sym typeface="Symbol"/>
              </a:rPr>
              <a:t></a:t>
            </a:r>
            <a:r>
              <a:rPr lang="en-US" sz="3200" dirty="0">
                <a:solidFill>
                  <a:schemeClr val="tx1"/>
                </a:solidFill>
              </a:rPr>
              <a:t>368 kJ/</a:t>
            </a:r>
            <a:r>
              <a:rPr lang="en-US" sz="3200" dirty="0" err="1">
                <a:solidFill>
                  <a:schemeClr val="tx1"/>
                </a:solidFill>
              </a:rPr>
              <a:t>mol</a:t>
            </a:r>
            <a:r>
              <a:rPr lang="en-US" sz="3200" baseline="-25000" dirty="0" err="1">
                <a:solidFill>
                  <a:schemeClr val="tx1"/>
                </a:solidFill>
              </a:rPr>
              <a:t>rxn</a:t>
            </a:r>
            <a:br>
              <a:rPr lang="en-US" sz="3200" dirty="0">
                <a:solidFill>
                  <a:schemeClr val="tx1"/>
                </a:solidFill>
              </a:rPr>
            </a:br>
            <a:r>
              <a:rPr lang="en-US" sz="3200" dirty="0">
                <a:solidFill>
                  <a:schemeClr val="tx1"/>
                </a:solidFill>
              </a:rPr>
              <a:t>Calculate the heat change that occurs when 3.5 g of Na reacts with excess water</a:t>
            </a:r>
            <a:r>
              <a:rPr lang="en-US" sz="4000" dirty="0">
                <a:solidFill>
                  <a:schemeClr val="tx1"/>
                </a:solidFill>
              </a:rPr>
              <a:t>.</a:t>
            </a:r>
            <a:br>
              <a:rPr lang="en-US" sz="4000" b="1" dirty="0">
                <a:solidFill>
                  <a:schemeClr val="tx1"/>
                </a:solidFill>
              </a:rPr>
            </a:br>
            <a:br>
              <a:rPr lang="en-US" dirty="0">
                <a:solidFill>
                  <a:schemeClr val="tx1"/>
                </a:solidFill>
              </a:rPr>
            </a:br>
            <a:endParaRPr lang="en-US" dirty="0">
              <a:solidFill>
                <a:schemeClr val="tx1"/>
              </a:solidFill>
            </a:endParaRPr>
          </a:p>
        </p:txBody>
      </p:sp>
      <p:sp>
        <p:nvSpPr>
          <p:cNvPr id="20483" name="Rectangle 3"/>
          <p:cNvSpPr>
            <a:spLocks noGrp="1" noChangeArrowheads="1"/>
          </p:cNvSpPr>
          <p:nvPr>
            <p:ph type="subTitle" idx="1"/>
          </p:nvPr>
        </p:nvSpPr>
        <p:spPr>
          <a:xfrm>
            <a:off x="2895600" y="4343400"/>
            <a:ext cx="6400800" cy="1752600"/>
          </a:xfrm>
        </p:spPr>
        <p:txBody>
          <a:bodyPr/>
          <a:lstStyle/>
          <a:p>
            <a:pPr algn="l"/>
            <a:r>
              <a:rPr lang="en-US" dirty="0"/>
              <a:t>3.5g Na  1 mol Na   368 kJ     =</a:t>
            </a:r>
          </a:p>
          <a:p>
            <a:pPr algn="l"/>
            <a:r>
              <a:rPr lang="en-US" dirty="0"/>
              <a:t>               23.0g Na  2 mol Na</a:t>
            </a:r>
          </a:p>
          <a:p>
            <a:pPr algn="l"/>
            <a:r>
              <a:rPr lang="en-US" dirty="0">
                <a:solidFill>
                  <a:schemeClr val="accent2"/>
                </a:solidFill>
                <a:latin typeface="Symbol" pitchFamily="18" charset="2"/>
              </a:rPr>
              <a:t>D</a:t>
            </a:r>
            <a:r>
              <a:rPr lang="en-US" i="1" dirty="0">
                <a:solidFill>
                  <a:schemeClr val="accent2"/>
                </a:solidFill>
              </a:rPr>
              <a:t>H</a:t>
            </a:r>
            <a:r>
              <a:rPr lang="en-US" dirty="0">
                <a:solidFill>
                  <a:schemeClr val="accent2"/>
                </a:solidFill>
              </a:rPr>
              <a:t> = </a:t>
            </a:r>
            <a:r>
              <a:rPr lang="en-US" dirty="0">
                <a:solidFill>
                  <a:schemeClr val="accent2"/>
                </a:solidFill>
                <a:sym typeface="Symbol"/>
              </a:rPr>
              <a:t></a:t>
            </a:r>
            <a:r>
              <a:rPr lang="en-US" dirty="0">
                <a:solidFill>
                  <a:schemeClr val="accent2"/>
                </a:solidFill>
              </a:rPr>
              <a:t>28 kJ  (or 28 kJ is released)</a:t>
            </a:r>
          </a:p>
        </p:txBody>
      </p:sp>
      <p:sp>
        <p:nvSpPr>
          <p:cNvPr id="23556" name="Line 4"/>
          <p:cNvSpPr>
            <a:spLocks noChangeShapeType="1"/>
          </p:cNvSpPr>
          <p:nvPr/>
        </p:nvSpPr>
        <p:spPr bwMode="auto">
          <a:xfrm>
            <a:off x="2895600" y="4953000"/>
            <a:ext cx="4953000" cy="0"/>
          </a:xfrm>
          <a:prstGeom prst="line">
            <a:avLst/>
          </a:prstGeom>
          <a:noFill/>
          <a:ln w="9525">
            <a:solidFill>
              <a:schemeClr val="tx1"/>
            </a:solidFill>
            <a:round/>
            <a:headEnd/>
            <a:tailEnd/>
          </a:ln>
        </p:spPr>
        <p:txBody>
          <a:bodyPr wrap="none" anchor="ctr"/>
          <a:lstStyle/>
          <a:p>
            <a:endParaRPr lang="en-US"/>
          </a:p>
        </p:txBody>
      </p:sp>
      <p:sp>
        <p:nvSpPr>
          <p:cNvPr id="23557" name="Line 5"/>
          <p:cNvSpPr>
            <a:spLocks noChangeShapeType="1"/>
          </p:cNvSpPr>
          <p:nvPr/>
        </p:nvSpPr>
        <p:spPr bwMode="auto">
          <a:xfrm>
            <a:off x="4343400" y="4343400"/>
            <a:ext cx="0" cy="1066800"/>
          </a:xfrm>
          <a:prstGeom prst="line">
            <a:avLst/>
          </a:prstGeom>
          <a:noFill/>
          <a:ln w="9525">
            <a:solidFill>
              <a:schemeClr val="tx1"/>
            </a:solidFill>
            <a:round/>
            <a:headEnd/>
            <a:tailEnd/>
          </a:ln>
        </p:spPr>
        <p:txBody>
          <a:bodyPr wrap="none" anchor="ctr"/>
          <a:lstStyle/>
          <a:p>
            <a:endParaRPr lang="en-US"/>
          </a:p>
        </p:txBody>
      </p:sp>
      <p:sp>
        <p:nvSpPr>
          <p:cNvPr id="23558" name="Line 6"/>
          <p:cNvSpPr>
            <a:spLocks noChangeShapeType="1"/>
          </p:cNvSpPr>
          <p:nvPr/>
        </p:nvSpPr>
        <p:spPr bwMode="auto">
          <a:xfrm>
            <a:off x="6172200" y="4419600"/>
            <a:ext cx="0" cy="990600"/>
          </a:xfrm>
          <a:prstGeom prst="line">
            <a:avLst/>
          </a:prstGeom>
          <a:noFill/>
          <a:ln w="9525">
            <a:solidFill>
              <a:schemeClr val="tx1"/>
            </a:solidFill>
            <a:round/>
            <a:headEnd/>
            <a:tailEnd/>
          </a:ln>
        </p:spPr>
        <p:txBody>
          <a:bodyPr wrap="none" anchor="ctr"/>
          <a:lstStyle/>
          <a:p>
            <a:endParaRPr lang="en-US"/>
          </a:p>
        </p:txBody>
      </p:sp>
    </p:spTree>
    <p:extLst>
      <p:ext uri="{BB962C8B-B14F-4D97-AF65-F5344CB8AC3E}">
        <p14:creationId xmlns:p14="http://schemas.microsoft.com/office/powerpoint/2010/main" val="1046207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04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04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04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ctrTitle"/>
          </p:nvPr>
        </p:nvSpPr>
        <p:spPr>
          <a:xfrm>
            <a:off x="838200" y="990600"/>
            <a:ext cx="10591800" cy="1143000"/>
          </a:xfrm>
        </p:spPr>
        <p:txBody>
          <a:bodyPr/>
          <a:lstStyle/>
          <a:p>
            <a:pPr algn="l"/>
            <a:br>
              <a:rPr lang="en-US" b="1" dirty="0">
                <a:solidFill>
                  <a:schemeClr val="tx1"/>
                </a:solidFill>
              </a:rPr>
            </a:br>
            <a:r>
              <a:rPr lang="en-US" sz="3200" dirty="0"/>
              <a:t>Practice: </a:t>
            </a:r>
            <a:br>
              <a:rPr lang="en-US" sz="3200" dirty="0"/>
            </a:br>
            <a:r>
              <a:rPr lang="en-US" sz="2400" dirty="0"/>
              <a:t>4.00g of ammonium nitrate are added to 100.0 mL of water in a polystyrene cup.  The water in the cup is initially at a temperature of 22.5°C and decreases to a temperature of 19.3°C.  Determine the heat transferred in this reaction, then determine the enthalpy of solution of ammonium nitrate in kJ/mol.  Assume that the heat absorbed or released by the calorimeter is negligible.</a:t>
            </a:r>
            <a:br>
              <a:rPr lang="en-US" sz="3200" dirty="0"/>
            </a:br>
            <a:br>
              <a:rPr lang="en-US" b="1" dirty="0">
                <a:solidFill>
                  <a:schemeClr val="tx1"/>
                </a:solidFill>
              </a:rPr>
            </a:br>
            <a:endParaRPr lang="en-US" b="1" dirty="0">
              <a:solidFill>
                <a:schemeClr val="tx1"/>
              </a:solidFill>
            </a:endParaRPr>
          </a:p>
        </p:txBody>
      </p:sp>
      <p:sp>
        <p:nvSpPr>
          <p:cNvPr id="25603" name="Rectangle 3"/>
          <p:cNvSpPr>
            <a:spLocks noGrp="1" noChangeArrowheads="1"/>
          </p:cNvSpPr>
          <p:nvPr>
            <p:ph type="subTitle" idx="1"/>
          </p:nvPr>
        </p:nvSpPr>
        <p:spPr>
          <a:xfrm>
            <a:off x="2209800" y="3200400"/>
            <a:ext cx="8229600" cy="1752600"/>
          </a:xfrm>
        </p:spPr>
        <p:txBody>
          <a:bodyPr/>
          <a:lstStyle/>
          <a:p>
            <a:r>
              <a:rPr lang="en-US" i="1" dirty="0" err="1"/>
              <a:t>q</a:t>
            </a:r>
            <a:r>
              <a:rPr lang="en-US" i="1" baseline="-25000" dirty="0" err="1"/>
              <a:t>sys</a:t>
            </a:r>
            <a:r>
              <a:rPr lang="en-US" i="1" dirty="0"/>
              <a:t> = -</a:t>
            </a:r>
            <a:r>
              <a:rPr lang="en-US" i="1" dirty="0" err="1"/>
              <a:t>q</a:t>
            </a:r>
            <a:r>
              <a:rPr lang="en-US" i="1" baseline="-25000" dirty="0" err="1"/>
              <a:t>surr</a:t>
            </a:r>
            <a:r>
              <a:rPr lang="en-US" dirty="0"/>
              <a:t> = -</a:t>
            </a:r>
            <a:r>
              <a:rPr lang="en-US" i="1" dirty="0" err="1"/>
              <a:t>mC</a:t>
            </a:r>
            <a:r>
              <a:rPr lang="en-US" dirty="0" err="1">
                <a:latin typeface="Symbol" pitchFamily="18" charset="2"/>
              </a:rPr>
              <a:t>D</a:t>
            </a:r>
            <a:r>
              <a:rPr lang="en-US" i="1" dirty="0" err="1"/>
              <a:t>T</a:t>
            </a:r>
            <a:endParaRPr lang="en-US" i="1" dirty="0"/>
          </a:p>
          <a:p>
            <a:r>
              <a:rPr lang="en-US" sz="2800" i="1" dirty="0"/>
              <a:t>q</a:t>
            </a:r>
            <a:r>
              <a:rPr lang="en-US" sz="2800" dirty="0"/>
              <a:t> = -104g(4.18J/</a:t>
            </a:r>
            <a:r>
              <a:rPr lang="en-US" sz="2800" dirty="0" err="1"/>
              <a:t>g</a:t>
            </a:r>
            <a:r>
              <a:rPr lang="en-US" sz="2800" baseline="30000" dirty="0" err="1"/>
              <a:t>o</a:t>
            </a:r>
            <a:r>
              <a:rPr lang="en-US" sz="2800" dirty="0" err="1"/>
              <a:t>C</a:t>
            </a:r>
            <a:r>
              <a:rPr lang="en-US" sz="2800" dirty="0"/>
              <a:t>)(19.3 – 22.5)</a:t>
            </a:r>
            <a:r>
              <a:rPr lang="en-US" sz="2800" baseline="30000" dirty="0" err="1"/>
              <a:t>o</a:t>
            </a:r>
            <a:r>
              <a:rPr lang="en-US" sz="2800" dirty="0" err="1"/>
              <a:t>C</a:t>
            </a:r>
            <a:r>
              <a:rPr lang="en-US" sz="2800" dirty="0"/>
              <a:t> = 1391J absorbed = 1.39 kJ</a:t>
            </a:r>
          </a:p>
          <a:p>
            <a:r>
              <a:rPr lang="en-US" sz="2400" dirty="0"/>
              <a:t>4.00g NH</a:t>
            </a:r>
            <a:r>
              <a:rPr lang="en-US" sz="2400" baseline="-25000" dirty="0"/>
              <a:t>4</a:t>
            </a:r>
            <a:r>
              <a:rPr lang="en-US" sz="2400" dirty="0"/>
              <a:t>NO</a:t>
            </a:r>
            <a:r>
              <a:rPr lang="en-US" sz="2400" baseline="-25000" dirty="0"/>
              <a:t>3</a:t>
            </a:r>
            <a:r>
              <a:rPr lang="en-US" sz="2400" dirty="0"/>
              <a:t>  x   1 mol NH</a:t>
            </a:r>
            <a:r>
              <a:rPr lang="en-US" sz="2400" baseline="-25000" dirty="0"/>
              <a:t>4</a:t>
            </a:r>
            <a:r>
              <a:rPr lang="en-US" sz="2400" dirty="0"/>
              <a:t>NO</a:t>
            </a:r>
            <a:r>
              <a:rPr lang="en-US" sz="2400" baseline="-25000" dirty="0"/>
              <a:t>3</a:t>
            </a:r>
            <a:r>
              <a:rPr lang="en-US" sz="2400" dirty="0"/>
              <a:t> = 0.0500 mol </a:t>
            </a:r>
          </a:p>
          <a:p>
            <a:r>
              <a:rPr lang="en-US" sz="2400" dirty="0"/>
              <a:t>          80.06g NH</a:t>
            </a:r>
            <a:r>
              <a:rPr lang="en-US" sz="2400" baseline="-25000" dirty="0"/>
              <a:t>4</a:t>
            </a:r>
            <a:r>
              <a:rPr lang="en-US" sz="2400" dirty="0"/>
              <a:t>NO</a:t>
            </a:r>
            <a:r>
              <a:rPr lang="en-US" sz="2400" baseline="-25000" dirty="0"/>
              <a:t>3</a:t>
            </a:r>
          </a:p>
          <a:p>
            <a:r>
              <a:rPr lang="en-US" dirty="0">
                <a:solidFill>
                  <a:schemeClr val="accent2"/>
                </a:solidFill>
              </a:rPr>
              <a:t>1.39 kJ/0.0500 =</a:t>
            </a:r>
            <a:r>
              <a:rPr lang="en-US" i="1" dirty="0">
                <a:solidFill>
                  <a:schemeClr val="accent2"/>
                </a:solidFill>
              </a:rPr>
              <a:t> </a:t>
            </a:r>
            <a:r>
              <a:rPr lang="en-US" dirty="0">
                <a:solidFill>
                  <a:schemeClr val="accent2"/>
                </a:solidFill>
              </a:rPr>
              <a:t>28 kJ/mol</a:t>
            </a:r>
            <a:endParaRPr lang="en-US" dirty="0"/>
          </a:p>
        </p:txBody>
      </p:sp>
      <p:cxnSp>
        <p:nvCxnSpPr>
          <p:cNvPr id="7" name="Straight Connector 6"/>
          <p:cNvCxnSpPr/>
          <p:nvPr/>
        </p:nvCxnSpPr>
        <p:spPr bwMode="auto">
          <a:xfrm>
            <a:off x="5715000" y="4724400"/>
            <a:ext cx="198120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920896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5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56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56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560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603">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603">
                                            <p:txEl>
                                              <p:pRg st="3" end="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56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98B30-C74E-48B3-BC68-DEEECCBECB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75E6170-1606-46F6-A98B-2CC4B6C5367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9AF46BF-496B-419F-BBD4-5C8C15DE9195}"/>
              </a:ext>
            </a:extLst>
          </p:cNvPr>
          <p:cNvPicPr>
            <a:picLocks noChangeAspect="1"/>
          </p:cNvPicPr>
          <p:nvPr/>
        </p:nvPicPr>
        <p:blipFill>
          <a:blip r:embed="rId2"/>
          <a:stretch>
            <a:fillRect/>
          </a:stretch>
        </p:blipFill>
        <p:spPr>
          <a:xfrm>
            <a:off x="430490" y="638175"/>
            <a:ext cx="11331019" cy="5763290"/>
          </a:xfrm>
          <a:prstGeom prst="rect">
            <a:avLst/>
          </a:prstGeom>
        </p:spPr>
      </p:pic>
    </p:spTree>
    <p:extLst>
      <p:ext uri="{BB962C8B-B14F-4D97-AF65-F5344CB8AC3E}">
        <p14:creationId xmlns:p14="http://schemas.microsoft.com/office/powerpoint/2010/main" val="1382254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086600" y="4724400"/>
            <a:ext cx="5105400" cy="2133600"/>
          </a:xfrm>
          <a:noFill/>
        </p:spPr>
        <p:txBody>
          <a:bodyPr/>
          <a:lstStyle/>
          <a:p>
            <a:pPr algn="r"/>
            <a:r>
              <a:rPr lang="en-US" sz="3200" b="1" dirty="0">
                <a:solidFill>
                  <a:srgbClr val="00B0F0"/>
                </a:solidFill>
                <a:effectLst>
                  <a:outerShdw blurRad="38100" dist="38100" dir="2700000" algn="tl">
                    <a:srgbClr val="000000">
                      <a:alpha val="43137"/>
                    </a:srgbClr>
                  </a:outerShdw>
                </a:effectLst>
              </a:rPr>
              <a:t>6.9 Hess’ Law</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6.7 Bond Enthalpies</a:t>
            </a:r>
            <a:br>
              <a:rPr lang="en-US" sz="3200" b="1" dirty="0">
                <a:solidFill>
                  <a:srgbClr val="00B0F0"/>
                </a:solidFill>
                <a:effectLst>
                  <a:outerShdw blurRad="38100" dist="38100" dir="2700000" algn="tl">
                    <a:srgbClr val="000000">
                      <a:alpha val="43137"/>
                    </a:srgbClr>
                  </a:outerShdw>
                </a:effectLst>
              </a:rPr>
            </a:br>
            <a:r>
              <a:rPr lang="en-US" sz="3200" b="1" dirty="0">
                <a:solidFill>
                  <a:srgbClr val="00B0F0"/>
                </a:solidFill>
                <a:effectLst>
                  <a:outerShdw blurRad="38100" dist="38100" dir="2700000" algn="tl">
                    <a:srgbClr val="000000">
                      <a:alpha val="43137"/>
                    </a:srgbClr>
                  </a:outerShdw>
                </a:effectLst>
              </a:rPr>
              <a:t>6.8 Energy of Formation (Big MAMA)</a:t>
            </a:r>
            <a:endParaRPr lang="en-US" sz="5400" b="1" u="sng" dirty="0">
              <a:solidFill>
                <a:schemeClr val="bg1"/>
              </a:solidFill>
              <a:effectLst>
                <a:outerShdw blurRad="38100" dist="38100" dir="2700000" algn="tl">
                  <a:srgbClr val="000000">
                    <a:alpha val="43137"/>
                  </a:srgbClr>
                </a:outerShdw>
              </a:effectLst>
            </a:endParaRPr>
          </a:p>
        </p:txBody>
      </p:sp>
      <p:sp>
        <p:nvSpPr>
          <p:cNvPr id="3" name="Rectangle 2"/>
          <p:cNvSpPr txBox="1">
            <a:spLocks noChangeArrowheads="1"/>
          </p:cNvSpPr>
          <p:nvPr/>
        </p:nvSpPr>
        <p:spPr bwMode="auto">
          <a:xfrm>
            <a:off x="-17417" y="0"/>
            <a:ext cx="8458200" cy="1752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br>
              <a:rPr lang="en-US" b="1" kern="0" dirty="0">
                <a:solidFill>
                  <a:srgbClr val="00B0F0"/>
                </a:solidFill>
                <a:effectLst>
                  <a:outerShdw blurRad="38100" dist="38100" dir="2700000" algn="tl">
                    <a:srgbClr val="000000">
                      <a:alpha val="43137"/>
                    </a:srgbClr>
                  </a:outerShdw>
                </a:effectLst>
              </a:rPr>
            </a:br>
            <a:r>
              <a:rPr lang="en-US" sz="5400" b="1" kern="0" dirty="0">
                <a:solidFill>
                  <a:srgbClr val="00B0F0"/>
                </a:solidFill>
                <a:effectLst>
                  <a:outerShdw blurRad="38100" dist="38100" dir="2700000" algn="tl">
                    <a:srgbClr val="000000">
                      <a:alpha val="43137"/>
                    </a:srgbClr>
                  </a:outerShdw>
                </a:effectLst>
              </a:rPr>
              <a:t>AP </a:t>
            </a:r>
            <a:r>
              <a:rPr lang="en-US" sz="5400" b="1" kern="0" dirty="0" err="1">
                <a:solidFill>
                  <a:srgbClr val="00B0F0"/>
                </a:solidFill>
                <a:effectLst>
                  <a:outerShdw blurRad="38100" dist="38100" dir="2700000" algn="tl">
                    <a:srgbClr val="000000">
                      <a:alpha val="43137"/>
                    </a:srgbClr>
                  </a:outerShdw>
                </a:effectLst>
              </a:rPr>
              <a:t>Chem</a:t>
            </a:r>
            <a:r>
              <a:rPr lang="en-US" sz="5400" b="1" kern="0" dirty="0">
                <a:solidFill>
                  <a:srgbClr val="00B0F0"/>
                </a:solidFill>
                <a:effectLst>
                  <a:outerShdw blurRad="38100" dist="38100" dir="2700000" algn="tl">
                    <a:srgbClr val="000000">
                      <a:alpha val="43137"/>
                    </a:srgbClr>
                  </a:outerShdw>
                </a:effectLst>
              </a:rPr>
              <a:t> Unit 6</a:t>
            </a:r>
          </a:p>
          <a:p>
            <a:pPr algn="l"/>
            <a:r>
              <a:rPr lang="en-US" sz="5400" b="1" u="sng" kern="0" dirty="0">
                <a:solidFill>
                  <a:srgbClr val="00B0F0"/>
                </a:solidFill>
                <a:effectLst>
                  <a:outerShdw blurRad="38100" dist="38100" dir="2700000" algn="tl">
                    <a:srgbClr val="000000">
                      <a:alpha val="43137"/>
                    </a:srgbClr>
                  </a:outerShdw>
                </a:effectLst>
              </a:rPr>
              <a:t>THERMOCHEMISTRY</a:t>
            </a:r>
            <a:br>
              <a:rPr lang="en-US" sz="6000" b="1" u="sng" kern="0" dirty="0">
                <a:solidFill>
                  <a:schemeClr val="bg1"/>
                </a:solidFill>
                <a:effectLst>
                  <a:outerShdw blurRad="38100" dist="38100" dir="2700000" algn="tl">
                    <a:srgbClr val="000000">
                      <a:alpha val="43137"/>
                    </a:srgbClr>
                  </a:outerShdw>
                </a:effectLst>
              </a:rPr>
            </a:br>
            <a:endParaRPr lang="en-US" sz="6000" b="1" u="sng" kern="0"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0672179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620000" y="4114800"/>
            <a:ext cx="4572000" cy="2743200"/>
          </a:xfrm>
          <a:prstGeom prst="rect">
            <a:avLst/>
          </a:prstGeom>
        </p:spPr>
      </p:pic>
      <p:sp>
        <p:nvSpPr>
          <p:cNvPr id="2" name="Subtitle 2"/>
          <p:cNvSpPr txBox="1">
            <a:spLocks/>
          </p:cNvSpPr>
          <p:nvPr/>
        </p:nvSpPr>
        <p:spPr>
          <a:xfrm>
            <a:off x="304800" y="801188"/>
            <a:ext cx="11049000" cy="5782492"/>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pPr>
            <a:r>
              <a:rPr lang="en-US" dirty="0"/>
              <a:t>Enthalpy of reaction is a </a:t>
            </a:r>
            <a:r>
              <a:rPr lang="en-US" b="1" dirty="0">
                <a:solidFill>
                  <a:srgbClr val="FF0000"/>
                </a:solidFill>
              </a:rPr>
              <a:t>state function</a:t>
            </a:r>
            <a:r>
              <a:rPr lang="en-US" dirty="0"/>
              <a:t>: the change in enthalpy for any chemical reaction is </a:t>
            </a:r>
            <a:r>
              <a:rPr lang="en-US" u="sng" dirty="0">
                <a:solidFill>
                  <a:srgbClr val="FF0000"/>
                </a:solidFill>
              </a:rPr>
              <a:t>constant</a:t>
            </a:r>
            <a:r>
              <a:rPr lang="en-US" dirty="0"/>
              <a:t>, whether the reaction occurs in </a:t>
            </a:r>
            <a:r>
              <a:rPr lang="en-US" u="sng" dirty="0">
                <a:solidFill>
                  <a:srgbClr val="FF0000"/>
                </a:solidFill>
              </a:rPr>
              <a:t>one</a:t>
            </a:r>
            <a:r>
              <a:rPr lang="en-US" dirty="0"/>
              <a:t> step, or a </a:t>
            </a:r>
            <a:r>
              <a:rPr lang="en-US" u="sng" dirty="0">
                <a:solidFill>
                  <a:srgbClr val="FF0000"/>
                </a:solidFill>
              </a:rPr>
              <a:t>series</a:t>
            </a:r>
            <a:r>
              <a:rPr lang="en-US" dirty="0"/>
              <a:t> of steps.</a:t>
            </a:r>
          </a:p>
          <a:p>
            <a:pPr marL="0" indent="0">
              <a:lnSpc>
                <a:spcPct val="90000"/>
              </a:lnSpc>
              <a:buNone/>
            </a:pPr>
            <a:r>
              <a:rPr lang="en-US" dirty="0"/>
              <a:t> </a:t>
            </a:r>
          </a:p>
          <a:p>
            <a:pPr>
              <a:lnSpc>
                <a:spcPct val="90000"/>
              </a:lnSpc>
            </a:pPr>
            <a:r>
              <a:rPr lang="en-US" dirty="0"/>
              <a:t>Hess’ Law: The </a:t>
            </a:r>
            <a:r>
              <a:rPr lang="en-US" u="sng" dirty="0">
                <a:solidFill>
                  <a:srgbClr val="FF0000"/>
                </a:solidFill>
              </a:rPr>
              <a:t>overall</a:t>
            </a:r>
            <a:r>
              <a:rPr lang="en-US" dirty="0"/>
              <a:t> enthalpy change in a reaction is equal to the </a:t>
            </a:r>
            <a:r>
              <a:rPr lang="en-US" u="sng" dirty="0">
                <a:solidFill>
                  <a:srgbClr val="FF0000"/>
                </a:solidFill>
              </a:rPr>
              <a:t>sum</a:t>
            </a:r>
            <a:r>
              <a:rPr lang="en-US" dirty="0"/>
              <a:t> of the enthalpy changes for the </a:t>
            </a:r>
            <a:r>
              <a:rPr lang="en-US" u="sng" dirty="0">
                <a:solidFill>
                  <a:srgbClr val="FF0000"/>
                </a:solidFill>
              </a:rPr>
              <a:t>individual</a:t>
            </a:r>
            <a:r>
              <a:rPr lang="en-US" dirty="0"/>
              <a:t> </a:t>
            </a:r>
            <a:r>
              <a:rPr lang="en-US" u="sng" dirty="0">
                <a:solidFill>
                  <a:srgbClr val="FF0000"/>
                </a:solidFill>
              </a:rPr>
              <a:t>steps</a:t>
            </a:r>
            <a:r>
              <a:rPr lang="en-US" dirty="0"/>
              <a:t> in the process.</a:t>
            </a:r>
          </a:p>
          <a:p>
            <a:pPr marL="0" indent="0">
              <a:lnSpc>
                <a:spcPct val="90000"/>
              </a:lnSpc>
              <a:buNone/>
            </a:pPr>
            <a:r>
              <a:rPr lang="en-US" sz="2800" dirty="0"/>
              <a:t> </a:t>
            </a:r>
          </a:p>
          <a:p>
            <a:pPr marL="0" indent="0">
              <a:buNone/>
            </a:pPr>
            <a:r>
              <a:rPr lang="en-US" altLang="en-US" sz="2800" dirty="0"/>
              <a:t>Energy of the climb of hiker 1 and hiker 2 </a:t>
            </a:r>
          </a:p>
          <a:p>
            <a:pPr marL="0" indent="0">
              <a:buNone/>
            </a:pPr>
            <a:r>
              <a:rPr lang="en-US" altLang="en-US" sz="2800" dirty="0"/>
              <a:t>is the same even though they took different paths.</a:t>
            </a:r>
          </a:p>
          <a:p>
            <a:pPr marL="0" indent="0">
              <a:buNone/>
            </a:pPr>
            <a:r>
              <a:rPr lang="en-US" altLang="en-US" sz="2800" i="1" dirty="0"/>
              <a:t>The path doesn’t matter- the destination does.</a:t>
            </a:r>
          </a:p>
          <a:p>
            <a:pPr marL="0" indent="0">
              <a:lnSpc>
                <a:spcPct val="90000"/>
              </a:lnSpc>
              <a:buNone/>
            </a:pPr>
            <a:endParaRPr lang="en-US" sz="2500" dirty="0"/>
          </a:p>
        </p:txBody>
      </p:sp>
      <p:sp>
        <p:nvSpPr>
          <p:cNvPr id="3" name="Title 1"/>
          <p:cNvSpPr txBox="1">
            <a:spLocks/>
          </p:cNvSpPr>
          <p:nvPr/>
        </p:nvSpPr>
        <p:spPr>
          <a:xfrm>
            <a:off x="2133600" y="-37011"/>
            <a:ext cx="7772400" cy="8382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dirty="0"/>
              <a:t>Enthalpy and Hess’ Law</a:t>
            </a:r>
          </a:p>
        </p:txBody>
      </p:sp>
    </p:spTree>
    <p:extLst>
      <p:ext uri="{BB962C8B-B14F-4D97-AF65-F5344CB8AC3E}">
        <p14:creationId xmlns:p14="http://schemas.microsoft.com/office/powerpoint/2010/main" val="111733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1"/>
            <a:ext cx="11506200" cy="5550237"/>
          </a:xfrm>
          <a:prstGeom prst="rect">
            <a:avLst/>
          </a:prstGeom>
        </p:spPr>
        <p:txBody>
          <a:bodyPr wrap="square">
            <a:spAutoFit/>
          </a:bodyPr>
          <a:lstStyle/>
          <a:p>
            <a:pPr marL="457200" indent="-457200">
              <a:buFont typeface="Arial" panose="020B0604020202020204" pitchFamily="34" charset="0"/>
              <a:buChar char="•"/>
            </a:pPr>
            <a:r>
              <a:rPr lang="en-US" sz="2800" dirty="0"/>
              <a:t>In other words, if you perform the following series of reaction steps, with the associated heats of reaction:</a:t>
            </a:r>
          </a:p>
          <a:p>
            <a:pPr algn="ctr"/>
            <a:endParaRPr lang="en-US" sz="2800" dirty="0"/>
          </a:p>
          <a:p>
            <a:pPr algn="ctr"/>
            <a:r>
              <a:rPr lang="en-US" sz="2800" dirty="0"/>
              <a:t>A + B </a:t>
            </a:r>
            <a:r>
              <a:rPr lang="en-US" sz="2800" dirty="0">
                <a:sym typeface="Wingdings"/>
              </a:rPr>
              <a:t></a:t>
            </a:r>
            <a:r>
              <a:rPr lang="en-US" sz="2800" dirty="0"/>
              <a:t> C		</a:t>
            </a:r>
            <a:r>
              <a:rPr lang="en-US" sz="2800" dirty="0">
                <a:latin typeface="Symbol" pitchFamily="18" charset="2"/>
              </a:rPr>
              <a:t>D</a:t>
            </a:r>
            <a:r>
              <a:rPr lang="en-US" sz="2800" dirty="0"/>
              <a:t>H</a:t>
            </a:r>
            <a:r>
              <a:rPr lang="en-US" sz="2800" baseline="-25000" dirty="0"/>
              <a:t>1</a:t>
            </a:r>
            <a:endParaRPr lang="en-US" sz="2800" dirty="0"/>
          </a:p>
          <a:p>
            <a:pPr algn="ctr"/>
            <a:r>
              <a:rPr lang="en-US" sz="2800" dirty="0"/>
              <a:t>C</a:t>
            </a:r>
            <a:r>
              <a:rPr lang="en-US" sz="2800" dirty="0">
                <a:sym typeface="Wingdings"/>
              </a:rPr>
              <a:t></a:t>
            </a:r>
            <a:r>
              <a:rPr lang="en-US" sz="2800" dirty="0"/>
              <a:t> D + E		</a:t>
            </a:r>
            <a:r>
              <a:rPr lang="en-US" sz="2800" dirty="0">
                <a:latin typeface="Symbol" pitchFamily="18" charset="2"/>
              </a:rPr>
              <a:t>D</a:t>
            </a:r>
            <a:r>
              <a:rPr lang="en-US" sz="2800" dirty="0"/>
              <a:t>H</a:t>
            </a:r>
            <a:r>
              <a:rPr lang="en-US" sz="2800" baseline="-25000" dirty="0"/>
              <a:t>2</a:t>
            </a:r>
            <a:endParaRPr lang="en-US" sz="2800" dirty="0"/>
          </a:p>
          <a:p>
            <a:pPr algn="ctr"/>
            <a:r>
              <a:rPr lang="en-US" sz="2800" dirty="0"/>
              <a:t>D + E </a:t>
            </a:r>
            <a:r>
              <a:rPr lang="en-US" sz="2800" dirty="0">
                <a:sym typeface="Wingdings"/>
              </a:rPr>
              <a:t></a:t>
            </a:r>
            <a:r>
              <a:rPr lang="en-US" sz="2800" dirty="0"/>
              <a:t> F		</a:t>
            </a:r>
            <a:r>
              <a:rPr lang="en-US" sz="2800" dirty="0">
                <a:latin typeface="Symbol" pitchFamily="18" charset="2"/>
              </a:rPr>
              <a:t>D</a:t>
            </a:r>
            <a:r>
              <a:rPr lang="en-US" sz="2800" dirty="0"/>
              <a:t>H</a:t>
            </a:r>
            <a:r>
              <a:rPr lang="en-US" sz="2800" baseline="-25000" dirty="0"/>
              <a:t>3</a:t>
            </a:r>
          </a:p>
          <a:p>
            <a:endParaRPr lang="en-US" sz="2800" dirty="0"/>
          </a:p>
          <a:p>
            <a:pPr marL="457200" indent="-457200">
              <a:buFont typeface="Arial" panose="020B0604020202020204" pitchFamily="34" charset="0"/>
              <a:buChar char="•"/>
            </a:pPr>
            <a:r>
              <a:rPr lang="en-US" sz="2800" dirty="0"/>
              <a:t>The </a:t>
            </a:r>
            <a:r>
              <a:rPr lang="en-US" sz="2800" dirty="0">
                <a:solidFill>
                  <a:srgbClr val="FF0000"/>
                </a:solidFill>
              </a:rPr>
              <a:t>sum</a:t>
            </a:r>
            <a:r>
              <a:rPr lang="en-US" sz="2800" dirty="0"/>
              <a:t> of the heat from the collection of processes is </a:t>
            </a:r>
            <a:r>
              <a:rPr lang="en-US" sz="2800" u="sng" dirty="0">
                <a:solidFill>
                  <a:srgbClr val="FF0000"/>
                </a:solidFill>
              </a:rPr>
              <a:t>THE SAME</a:t>
            </a:r>
            <a:r>
              <a:rPr lang="en-US" sz="2800" dirty="0">
                <a:solidFill>
                  <a:srgbClr val="FF0000"/>
                </a:solidFill>
              </a:rPr>
              <a:t> </a:t>
            </a:r>
            <a:r>
              <a:rPr lang="en-US" sz="2800" dirty="0"/>
              <a:t>as the heat from the single step reaction </a:t>
            </a:r>
          </a:p>
          <a:p>
            <a:pPr algn="ctr"/>
            <a:r>
              <a:rPr lang="en-US" sz="2800" dirty="0"/>
              <a:t>A + B </a:t>
            </a:r>
            <a:r>
              <a:rPr lang="en-US" sz="2800" dirty="0">
                <a:sym typeface="Wingdings"/>
              </a:rPr>
              <a:t></a:t>
            </a:r>
            <a:r>
              <a:rPr lang="en-US" sz="2800" dirty="0"/>
              <a:t> F. </a:t>
            </a:r>
          </a:p>
          <a:p>
            <a:pPr marL="457200" indent="-457200">
              <a:buFont typeface="Arial" panose="020B0604020202020204" pitchFamily="34" charset="0"/>
              <a:buChar char="•"/>
            </a:pPr>
            <a:r>
              <a:rPr lang="en-US" sz="2800" dirty="0"/>
              <a:t>For A + B </a:t>
            </a:r>
            <a:r>
              <a:rPr lang="en-US" sz="2800" dirty="0">
                <a:sym typeface="Wingdings"/>
              </a:rPr>
              <a:t></a:t>
            </a:r>
            <a:r>
              <a:rPr lang="en-US" sz="2800" dirty="0"/>
              <a:t> F, </a:t>
            </a:r>
            <a:r>
              <a:rPr lang="en-US" sz="2800" dirty="0" err="1">
                <a:latin typeface="Symbol" pitchFamily="18" charset="2"/>
              </a:rPr>
              <a:t>D</a:t>
            </a:r>
            <a:r>
              <a:rPr lang="en-US" sz="2800" dirty="0" err="1"/>
              <a:t>H</a:t>
            </a:r>
            <a:r>
              <a:rPr lang="en-US" sz="2800" baseline="-25000" dirty="0" err="1"/>
              <a:t>total</a:t>
            </a:r>
            <a:r>
              <a:rPr lang="en-US" sz="2800" dirty="0"/>
              <a:t> = </a:t>
            </a:r>
            <a:r>
              <a:rPr lang="en-US" sz="2800" dirty="0">
                <a:latin typeface="Symbol" pitchFamily="18" charset="2"/>
              </a:rPr>
              <a:t>D</a:t>
            </a:r>
            <a:r>
              <a:rPr lang="en-US" sz="2800" dirty="0"/>
              <a:t>H</a:t>
            </a:r>
            <a:r>
              <a:rPr lang="en-US" sz="2800" baseline="-25000" dirty="0"/>
              <a:t>1 </a:t>
            </a:r>
            <a:r>
              <a:rPr lang="en-US" sz="2800" dirty="0"/>
              <a:t>+ </a:t>
            </a:r>
            <a:r>
              <a:rPr lang="en-US" sz="2800" dirty="0">
                <a:latin typeface="Symbol" pitchFamily="18" charset="2"/>
              </a:rPr>
              <a:t>D</a:t>
            </a:r>
            <a:r>
              <a:rPr lang="en-US" sz="2800" dirty="0"/>
              <a:t>H</a:t>
            </a:r>
            <a:r>
              <a:rPr lang="en-US" sz="2800" baseline="-25000" dirty="0"/>
              <a:t>2 </a:t>
            </a:r>
            <a:r>
              <a:rPr lang="en-US" sz="2800" dirty="0"/>
              <a:t>+ </a:t>
            </a:r>
            <a:r>
              <a:rPr lang="en-US" sz="2800" dirty="0">
                <a:latin typeface="Symbol" pitchFamily="18" charset="2"/>
              </a:rPr>
              <a:t>D</a:t>
            </a:r>
            <a:r>
              <a:rPr lang="en-US" sz="2800" dirty="0"/>
              <a:t>H</a:t>
            </a:r>
            <a:r>
              <a:rPr lang="en-US" sz="2800" baseline="-25000" dirty="0"/>
              <a:t>3</a:t>
            </a:r>
          </a:p>
          <a:p>
            <a:endParaRPr lang="en-US" sz="2800" baseline="-25000" dirty="0"/>
          </a:p>
          <a:p>
            <a:pPr marL="457200" indent="-457200">
              <a:buFont typeface="Arial" panose="020B0604020202020204" pitchFamily="34" charset="0"/>
              <a:buChar char="•"/>
            </a:pPr>
            <a:r>
              <a:rPr lang="en-US" sz="2800" dirty="0"/>
              <a:t>Helpful if </a:t>
            </a:r>
            <a:r>
              <a:rPr lang="en-US" sz="2800" dirty="0">
                <a:latin typeface="Symbol" pitchFamily="18" charset="2"/>
              </a:rPr>
              <a:t>D</a:t>
            </a:r>
            <a:r>
              <a:rPr lang="en-US" sz="2800" dirty="0"/>
              <a:t>H</a:t>
            </a:r>
            <a:r>
              <a:rPr lang="en-US" sz="2800" baseline="-25000" dirty="0"/>
              <a:t>1</a:t>
            </a:r>
            <a:r>
              <a:rPr lang="en-US" sz="2800" dirty="0"/>
              <a:t>, </a:t>
            </a:r>
            <a:r>
              <a:rPr lang="en-US" sz="2800" dirty="0">
                <a:latin typeface="Symbol" pitchFamily="18" charset="2"/>
              </a:rPr>
              <a:t>D</a:t>
            </a:r>
            <a:r>
              <a:rPr lang="en-US" sz="2800" dirty="0"/>
              <a:t>H</a:t>
            </a:r>
            <a:r>
              <a:rPr lang="en-US" sz="2800" baseline="-25000" dirty="0"/>
              <a:t>2</a:t>
            </a:r>
            <a:r>
              <a:rPr lang="en-US" sz="2800" dirty="0"/>
              <a:t>, and </a:t>
            </a:r>
            <a:r>
              <a:rPr lang="en-US" sz="2800" dirty="0">
                <a:latin typeface="Symbol" pitchFamily="18" charset="2"/>
              </a:rPr>
              <a:t>D</a:t>
            </a:r>
            <a:r>
              <a:rPr lang="en-US" sz="2800" dirty="0"/>
              <a:t>H</a:t>
            </a:r>
            <a:r>
              <a:rPr lang="en-US" sz="2800" baseline="-25000" dirty="0"/>
              <a:t>3 </a:t>
            </a:r>
            <a:r>
              <a:rPr lang="en-US" sz="2800" dirty="0"/>
              <a:t>are already </a:t>
            </a:r>
            <a:r>
              <a:rPr lang="en-US" sz="2800" dirty="0">
                <a:solidFill>
                  <a:srgbClr val="FF0000"/>
                </a:solidFill>
              </a:rPr>
              <a:t>tabulated</a:t>
            </a:r>
            <a:r>
              <a:rPr lang="en-US" sz="2800" dirty="0"/>
              <a:t> values</a:t>
            </a:r>
            <a:endParaRPr lang="en-US" sz="2800" baseline="-25000" dirty="0"/>
          </a:p>
        </p:txBody>
      </p:sp>
    </p:spTree>
    <p:extLst>
      <p:ext uri="{BB962C8B-B14F-4D97-AF65-F5344CB8AC3E}">
        <p14:creationId xmlns:p14="http://schemas.microsoft.com/office/powerpoint/2010/main" val="34448598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890451" y="0"/>
            <a:ext cx="10363200" cy="685800"/>
          </a:xfrm>
        </p:spPr>
        <p:txBody>
          <a:bodyPr/>
          <a:lstStyle/>
          <a:p>
            <a:r>
              <a:rPr lang="en-US" sz="4000" dirty="0">
                <a:solidFill>
                  <a:schemeClr val="tx1"/>
                </a:solidFill>
              </a:rPr>
              <a:t>Rules for applying Hess’ Law</a:t>
            </a:r>
          </a:p>
        </p:txBody>
      </p:sp>
      <p:sp>
        <p:nvSpPr>
          <p:cNvPr id="2" name="Content Placeholder 1"/>
          <p:cNvSpPr>
            <a:spLocks noGrp="1"/>
          </p:cNvSpPr>
          <p:nvPr>
            <p:ph idx="1"/>
          </p:nvPr>
        </p:nvSpPr>
        <p:spPr>
          <a:xfrm>
            <a:off x="914400" y="1066800"/>
            <a:ext cx="10363200" cy="5029200"/>
          </a:xfrm>
        </p:spPr>
        <p:txBody>
          <a:bodyPr/>
          <a:lstStyle/>
          <a:p>
            <a:pPr marL="514350" indent="-514350">
              <a:buAutoNum type="arabicPeriod"/>
            </a:pPr>
            <a:r>
              <a:rPr lang="en-US" dirty="0"/>
              <a:t>If a reaction is </a:t>
            </a:r>
            <a:r>
              <a:rPr lang="en-US" dirty="0">
                <a:solidFill>
                  <a:srgbClr val="FF0000"/>
                </a:solidFill>
              </a:rPr>
              <a:t>reversed</a:t>
            </a:r>
            <a:r>
              <a:rPr lang="en-US" dirty="0"/>
              <a:t>, the sign of </a:t>
            </a:r>
            <a:r>
              <a:rPr lang="en-US" dirty="0">
                <a:sym typeface="Symbol" pitchFamily="18" charset="2"/>
              </a:rPr>
              <a:t></a:t>
            </a:r>
            <a:r>
              <a:rPr lang="en-US" i="1" dirty="0"/>
              <a:t>H</a:t>
            </a:r>
            <a:r>
              <a:rPr lang="en-US" dirty="0"/>
              <a:t> is </a:t>
            </a:r>
            <a:r>
              <a:rPr lang="en-US" dirty="0">
                <a:solidFill>
                  <a:srgbClr val="FF0000"/>
                </a:solidFill>
              </a:rPr>
              <a:t>reversed</a:t>
            </a:r>
            <a:r>
              <a:rPr lang="en-US" dirty="0"/>
              <a:t>.</a:t>
            </a:r>
          </a:p>
          <a:p>
            <a:pPr marL="0" indent="0">
              <a:buNone/>
            </a:pPr>
            <a:r>
              <a:rPr lang="en-US" dirty="0"/>
              <a:t>	If		</a:t>
            </a:r>
            <a:r>
              <a:rPr lang="en-US" i="1" dirty="0"/>
              <a:t>A </a:t>
            </a:r>
            <a:r>
              <a:rPr lang="en-US" i="1" dirty="0">
                <a:sym typeface="Wingdings" panose="05000000000000000000" pitchFamily="2" charset="2"/>
              </a:rPr>
              <a:t> B</a:t>
            </a:r>
            <a:r>
              <a:rPr lang="en-US" dirty="0">
                <a:sym typeface="Wingdings" panose="05000000000000000000" pitchFamily="2" charset="2"/>
              </a:rPr>
              <a:t>		</a:t>
            </a:r>
            <a:r>
              <a:rPr lang="en-US" dirty="0">
                <a:latin typeface="Symbol" pitchFamily="18" charset="2"/>
              </a:rPr>
              <a:t>D</a:t>
            </a:r>
            <a:r>
              <a:rPr lang="en-US" dirty="0"/>
              <a:t>H</a:t>
            </a:r>
            <a:r>
              <a:rPr lang="en-US" baseline="-25000" dirty="0"/>
              <a:t>1</a:t>
            </a:r>
          </a:p>
          <a:p>
            <a:pPr marL="0" indent="0">
              <a:buNone/>
            </a:pPr>
            <a:r>
              <a:rPr lang="en-US" baseline="-25000" dirty="0"/>
              <a:t>	</a:t>
            </a:r>
            <a:r>
              <a:rPr lang="en-US" dirty="0"/>
              <a:t>Then for 	</a:t>
            </a:r>
            <a:r>
              <a:rPr lang="en-US" i="1" dirty="0"/>
              <a:t>B </a:t>
            </a:r>
            <a:r>
              <a:rPr lang="en-US" i="1" dirty="0">
                <a:sym typeface="Wingdings" panose="05000000000000000000" pitchFamily="2" charset="2"/>
              </a:rPr>
              <a:t> A</a:t>
            </a:r>
            <a:r>
              <a:rPr lang="en-US" dirty="0">
                <a:sym typeface="Wingdings" panose="05000000000000000000" pitchFamily="2" charset="2"/>
              </a:rPr>
              <a:t>		-</a:t>
            </a:r>
            <a:r>
              <a:rPr lang="en-US" dirty="0">
                <a:latin typeface="Symbol" pitchFamily="18" charset="2"/>
              </a:rPr>
              <a:t>D</a:t>
            </a:r>
            <a:r>
              <a:rPr lang="en-US" dirty="0"/>
              <a:t>H</a:t>
            </a:r>
            <a:r>
              <a:rPr lang="en-US" baseline="-25000" dirty="0"/>
              <a:t>1</a:t>
            </a:r>
            <a:endParaRPr lang="en-US" dirty="0"/>
          </a:p>
          <a:p>
            <a:pPr marL="0" indent="0">
              <a:buNone/>
            </a:pPr>
            <a:br>
              <a:rPr lang="en-US" dirty="0"/>
            </a:br>
            <a:r>
              <a:rPr lang="en-US" dirty="0"/>
              <a:t>2. If the coefficients in a reaction are multiplied by an </a:t>
            </a:r>
            <a:r>
              <a:rPr lang="en-US" dirty="0">
                <a:solidFill>
                  <a:srgbClr val="FF0000"/>
                </a:solidFill>
              </a:rPr>
              <a:t>integer</a:t>
            </a:r>
            <a:r>
              <a:rPr lang="en-US" dirty="0"/>
              <a:t>, the value of </a:t>
            </a:r>
            <a:r>
              <a:rPr lang="en-US" dirty="0">
                <a:sym typeface="Symbol" pitchFamily="18" charset="2"/>
              </a:rPr>
              <a:t></a:t>
            </a:r>
            <a:r>
              <a:rPr lang="en-US" i="1" dirty="0"/>
              <a:t>H</a:t>
            </a:r>
            <a:r>
              <a:rPr lang="en-US" dirty="0"/>
              <a:t> is multiplied by the same </a:t>
            </a:r>
            <a:r>
              <a:rPr lang="en-US" dirty="0">
                <a:solidFill>
                  <a:srgbClr val="FF0000"/>
                </a:solidFill>
              </a:rPr>
              <a:t>integer</a:t>
            </a:r>
            <a:r>
              <a:rPr lang="en-US" dirty="0"/>
              <a:t>.</a:t>
            </a:r>
            <a:br>
              <a:rPr lang="en-US" sz="3600" dirty="0"/>
            </a:br>
            <a:r>
              <a:rPr lang="en-US" sz="3600" dirty="0"/>
              <a:t>	</a:t>
            </a:r>
            <a:r>
              <a:rPr lang="en-US" dirty="0"/>
              <a:t>If		</a:t>
            </a:r>
            <a:r>
              <a:rPr lang="en-US" i="1" dirty="0"/>
              <a:t>A </a:t>
            </a:r>
            <a:r>
              <a:rPr lang="en-US" i="1" dirty="0">
                <a:sym typeface="Wingdings" panose="05000000000000000000" pitchFamily="2" charset="2"/>
              </a:rPr>
              <a:t> B</a:t>
            </a:r>
            <a:r>
              <a:rPr lang="en-US" dirty="0">
                <a:sym typeface="Wingdings" panose="05000000000000000000" pitchFamily="2" charset="2"/>
              </a:rPr>
              <a:t>		</a:t>
            </a:r>
            <a:r>
              <a:rPr lang="en-US" dirty="0">
                <a:latin typeface="Symbol" pitchFamily="18" charset="2"/>
              </a:rPr>
              <a:t>D</a:t>
            </a:r>
            <a:r>
              <a:rPr lang="en-US" dirty="0"/>
              <a:t>H</a:t>
            </a:r>
            <a:r>
              <a:rPr lang="en-US" baseline="-25000" dirty="0"/>
              <a:t>1</a:t>
            </a:r>
          </a:p>
          <a:p>
            <a:pPr marL="0" indent="0">
              <a:buNone/>
            </a:pPr>
            <a:r>
              <a:rPr lang="en-US" baseline="-25000" dirty="0"/>
              <a:t>	</a:t>
            </a:r>
            <a:r>
              <a:rPr lang="en-US" dirty="0"/>
              <a:t>Then for 	</a:t>
            </a:r>
            <a:r>
              <a:rPr lang="en-US" i="1" dirty="0" err="1"/>
              <a:t>aA</a:t>
            </a:r>
            <a:r>
              <a:rPr lang="en-US" i="1" dirty="0"/>
              <a:t> </a:t>
            </a:r>
            <a:r>
              <a:rPr lang="en-US" i="1" dirty="0">
                <a:sym typeface="Wingdings" panose="05000000000000000000" pitchFamily="2" charset="2"/>
              </a:rPr>
              <a:t> </a:t>
            </a:r>
            <a:r>
              <a:rPr lang="en-US" i="1" dirty="0" err="1">
                <a:sym typeface="Wingdings" panose="05000000000000000000" pitchFamily="2" charset="2"/>
              </a:rPr>
              <a:t>aB</a:t>
            </a:r>
            <a:r>
              <a:rPr lang="en-US" dirty="0">
                <a:sym typeface="Wingdings" panose="05000000000000000000" pitchFamily="2" charset="2"/>
              </a:rPr>
              <a:t>		</a:t>
            </a:r>
            <a:r>
              <a:rPr lang="en-US" i="1" dirty="0">
                <a:sym typeface="Wingdings" panose="05000000000000000000" pitchFamily="2" charset="2"/>
              </a:rPr>
              <a:t>a</a:t>
            </a:r>
            <a:r>
              <a:rPr lang="en-US" dirty="0">
                <a:latin typeface="Symbol" pitchFamily="18" charset="2"/>
              </a:rPr>
              <a:t>D</a:t>
            </a:r>
            <a:r>
              <a:rPr lang="en-US" dirty="0"/>
              <a:t>H</a:t>
            </a:r>
            <a:r>
              <a:rPr lang="en-US" baseline="-25000" dirty="0"/>
              <a:t>1</a:t>
            </a:r>
            <a:endParaRPr lang="en-US" dirty="0"/>
          </a:p>
          <a:p>
            <a:pPr marL="0" indent="0">
              <a:buNone/>
            </a:pPr>
            <a:br>
              <a:rPr lang="en-US" dirty="0"/>
            </a:br>
            <a:endParaRPr lang="en-US" dirty="0"/>
          </a:p>
        </p:txBody>
      </p:sp>
    </p:spTree>
    <p:extLst>
      <p:ext uri="{BB962C8B-B14F-4D97-AF65-F5344CB8AC3E}">
        <p14:creationId xmlns:p14="http://schemas.microsoft.com/office/powerpoint/2010/main" val="1909508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ctrTitle"/>
          </p:nvPr>
        </p:nvSpPr>
        <p:spPr>
          <a:xfrm>
            <a:off x="381000" y="11083"/>
            <a:ext cx="11049000" cy="674717"/>
          </a:xfrm>
        </p:spPr>
        <p:txBody>
          <a:bodyPr/>
          <a:lstStyle/>
          <a:p>
            <a:pPr algn="l"/>
            <a:r>
              <a:rPr lang="en-US" sz="2800" b="1" dirty="0">
                <a:solidFill>
                  <a:schemeClr val="tx1"/>
                </a:solidFill>
              </a:rPr>
              <a:t>Example:</a:t>
            </a:r>
          </a:p>
        </p:txBody>
      </p:sp>
      <p:sp>
        <p:nvSpPr>
          <p:cNvPr id="30723" name="Rectangle 3"/>
          <p:cNvSpPr>
            <a:spLocks noGrp="1" noChangeArrowheads="1"/>
          </p:cNvSpPr>
          <p:nvPr>
            <p:ph type="subTitle" idx="1"/>
          </p:nvPr>
        </p:nvSpPr>
        <p:spPr>
          <a:xfrm>
            <a:off x="383771" y="609600"/>
            <a:ext cx="9296400" cy="3733800"/>
          </a:xfrm>
        </p:spPr>
        <p:txBody>
          <a:bodyPr/>
          <a:lstStyle/>
          <a:p>
            <a:pPr algn="l"/>
            <a:r>
              <a:rPr lang="en-US" sz="2800" dirty="0"/>
              <a:t>Given:</a:t>
            </a:r>
          </a:p>
          <a:p>
            <a:pPr algn="l"/>
            <a:r>
              <a:rPr lang="en-US" sz="2800" dirty="0"/>
              <a:t>	C + O</a:t>
            </a:r>
            <a:r>
              <a:rPr lang="en-US" sz="2800" baseline="-25000" dirty="0"/>
              <a:t>2</a:t>
            </a:r>
            <a:r>
              <a:rPr lang="en-US" sz="2800" dirty="0"/>
              <a:t> </a:t>
            </a:r>
            <a:r>
              <a:rPr lang="en-US" sz="1800" b="1" noProof="1">
                <a:sym typeface="Wingdings" pitchFamily="2" charset="2"/>
              </a:rPr>
              <a:t></a:t>
            </a:r>
            <a:r>
              <a:rPr lang="en-US" sz="2800" dirty="0"/>
              <a:t> CO</a:t>
            </a:r>
            <a:r>
              <a:rPr lang="en-US" sz="2800" baseline="-25000" dirty="0"/>
              <a:t>2                    </a:t>
            </a:r>
            <a:r>
              <a:rPr lang="en-US" sz="2800" dirty="0">
                <a:latin typeface="Symbol" pitchFamily="18" charset="2"/>
              </a:rPr>
              <a:t>D</a:t>
            </a:r>
            <a:r>
              <a:rPr lang="en-US" sz="2800" i="1" dirty="0">
                <a:latin typeface="Symbol" pitchFamily="18" charset="2"/>
              </a:rPr>
              <a:t>H</a:t>
            </a:r>
            <a:r>
              <a:rPr lang="en-US" sz="2800" dirty="0">
                <a:latin typeface="Symbol" pitchFamily="18" charset="2"/>
              </a:rPr>
              <a:t> = -393.5 </a:t>
            </a:r>
            <a:r>
              <a:rPr lang="en-US" sz="2800" dirty="0"/>
              <a:t>kJ</a:t>
            </a:r>
          </a:p>
          <a:p>
            <a:pPr algn="l"/>
            <a:r>
              <a:rPr lang="en-US" sz="2800" dirty="0"/>
              <a:t>	CO + 1/2O</a:t>
            </a:r>
            <a:r>
              <a:rPr lang="en-US" sz="2800" baseline="-25000" dirty="0"/>
              <a:t>2</a:t>
            </a:r>
            <a:r>
              <a:rPr lang="en-US" sz="2800" dirty="0"/>
              <a:t> </a:t>
            </a:r>
            <a:r>
              <a:rPr lang="en-US" sz="1800" b="1" noProof="1">
                <a:sym typeface="Wingdings" pitchFamily="2" charset="2"/>
              </a:rPr>
              <a:t></a:t>
            </a:r>
            <a:r>
              <a:rPr lang="en-US" sz="2800" dirty="0"/>
              <a:t> CO</a:t>
            </a:r>
            <a:r>
              <a:rPr lang="en-US" sz="2800" baseline="-25000" dirty="0"/>
              <a:t>2 </a:t>
            </a:r>
            <a:r>
              <a:rPr lang="en-US" sz="2800" dirty="0"/>
              <a:t>     </a:t>
            </a:r>
            <a:r>
              <a:rPr lang="en-US" sz="2800" dirty="0">
                <a:latin typeface="Symbol" pitchFamily="18" charset="2"/>
              </a:rPr>
              <a:t>D</a:t>
            </a:r>
            <a:r>
              <a:rPr lang="en-US" sz="2800" i="1" dirty="0">
                <a:latin typeface="Symbol" pitchFamily="18" charset="2"/>
              </a:rPr>
              <a:t>H</a:t>
            </a:r>
            <a:r>
              <a:rPr lang="en-US" sz="2800" dirty="0">
                <a:latin typeface="Symbol" pitchFamily="18" charset="2"/>
              </a:rPr>
              <a:t> = -283.0 </a:t>
            </a:r>
            <a:r>
              <a:rPr lang="en-US" sz="2800" dirty="0"/>
              <a:t>kJ</a:t>
            </a:r>
            <a:r>
              <a:rPr lang="en-US" sz="2800" dirty="0">
                <a:latin typeface="Symbol" pitchFamily="18" charset="2"/>
              </a:rPr>
              <a:t>  </a:t>
            </a:r>
            <a:r>
              <a:rPr lang="en-US" sz="2800" dirty="0"/>
              <a:t>    </a:t>
            </a:r>
          </a:p>
          <a:p>
            <a:pPr algn="l"/>
            <a:endParaRPr lang="en-US" sz="2800" dirty="0"/>
          </a:p>
          <a:p>
            <a:pPr algn="l"/>
            <a:r>
              <a:rPr lang="en-US" sz="2800" dirty="0"/>
              <a:t>Find the heat of reaction for:</a:t>
            </a:r>
          </a:p>
          <a:p>
            <a:pPr algn="l"/>
            <a:r>
              <a:rPr lang="en-US" sz="2800" dirty="0"/>
              <a:t>			C + 1/2O</a:t>
            </a:r>
            <a:r>
              <a:rPr lang="en-US" sz="2800" baseline="-25000" dirty="0"/>
              <a:t>2</a:t>
            </a:r>
            <a:r>
              <a:rPr lang="en-US" sz="2800" dirty="0"/>
              <a:t> </a:t>
            </a:r>
            <a:r>
              <a:rPr lang="en-US" sz="1800" b="1" noProof="1">
                <a:sym typeface="Wingdings" pitchFamily="2" charset="2"/>
              </a:rPr>
              <a:t></a:t>
            </a:r>
            <a:r>
              <a:rPr lang="en-US" sz="2800" dirty="0"/>
              <a:t> CO</a:t>
            </a:r>
          </a:p>
          <a:p>
            <a:pPr algn="l"/>
            <a:endParaRPr lang="en-US" dirty="0"/>
          </a:p>
          <a:p>
            <a:pPr algn="l"/>
            <a:endParaRPr lang="en-US" dirty="0">
              <a:latin typeface="Symbol" pitchFamily="18" charset="2"/>
            </a:endParaRPr>
          </a:p>
        </p:txBody>
      </p:sp>
      <p:sp>
        <p:nvSpPr>
          <p:cNvPr id="8" name="Dodecagon 7"/>
          <p:cNvSpPr/>
          <p:nvPr/>
        </p:nvSpPr>
        <p:spPr bwMode="auto">
          <a:xfrm>
            <a:off x="7620000" y="1017617"/>
            <a:ext cx="457200" cy="533400"/>
          </a:xfrm>
          <a:prstGeom prst="dodecagon">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charset="0"/>
              </a:rPr>
              <a:t>1</a:t>
            </a:r>
          </a:p>
        </p:txBody>
      </p:sp>
      <p:sp>
        <p:nvSpPr>
          <p:cNvPr id="9" name="Dodecagon 8"/>
          <p:cNvSpPr/>
          <p:nvPr/>
        </p:nvSpPr>
        <p:spPr bwMode="auto">
          <a:xfrm>
            <a:off x="7620000" y="1616134"/>
            <a:ext cx="457200" cy="533400"/>
          </a:xfrm>
          <a:prstGeom prst="dodecagon">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charset="0"/>
              </a:rPr>
              <a:t>2</a:t>
            </a:r>
          </a:p>
        </p:txBody>
      </p:sp>
    </p:spTree>
    <p:extLst>
      <p:ext uri="{BB962C8B-B14F-4D97-AF65-F5344CB8AC3E}">
        <p14:creationId xmlns:p14="http://schemas.microsoft.com/office/powerpoint/2010/main" val="3143750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7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07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2"/>
          <p:cNvSpPr>
            <a:spLocks noGrp="1" noChangeArrowheads="1"/>
          </p:cNvSpPr>
          <p:nvPr>
            <p:ph type="ctrTitle"/>
          </p:nvPr>
        </p:nvSpPr>
        <p:spPr>
          <a:xfrm>
            <a:off x="304800" y="1524000"/>
            <a:ext cx="11049000" cy="1143000"/>
          </a:xfrm>
        </p:spPr>
        <p:txBody>
          <a:bodyPr/>
          <a:lstStyle/>
          <a:p>
            <a:pPr algn="l"/>
            <a:r>
              <a:rPr lang="en-US" sz="3200" b="1" dirty="0">
                <a:solidFill>
                  <a:schemeClr val="tx1"/>
                </a:solidFill>
              </a:rPr>
              <a:t>Practice:</a:t>
            </a:r>
            <a:br>
              <a:rPr lang="en-US" sz="3200" b="1" dirty="0">
                <a:solidFill>
                  <a:schemeClr val="tx1"/>
                </a:solidFill>
              </a:rPr>
            </a:br>
            <a:r>
              <a:rPr lang="en-US" sz="3200" b="1" dirty="0">
                <a:solidFill>
                  <a:schemeClr val="tx1"/>
                </a:solidFill>
              </a:rPr>
              <a:t>	</a:t>
            </a:r>
            <a:r>
              <a:rPr lang="en-US" sz="2800" dirty="0">
                <a:solidFill>
                  <a:schemeClr val="tx1"/>
                </a:solidFill>
              </a:rPr>
              <a:t>Given the following reactions and their respective enthalpy changes, calculate </a:t>
            </a:r>
            <a:r>
              <a:rPr lang="en-US" sz="2800" dirty="0">
                <a:solidFill>
                  <a:schemeClr val="tx1"/>
                </a:solidFill>
                <a:sym typeface="Symbol" pitchFamily="18" charset="2"/>
              </a:rPr>
              <a:t></a:t>
            </a:r>
            <a:r>
              <a:rPr lang="en-US" sz="2800" i="1" dirty="0">
                <a:solidFill>
                  <a:schemeClr val="tx1"/>
                </a:solidFill>
              </a:rPr>
              <a:t>H</a:t>
            </a:r>
            <a:r>
              <a:rPr lang="en-US" sz="2800" dirty="0">
                <a:solidFill>
                  <a:schemeClr val="tx1"/>
                </a:solidFill>
              </a:rPr>
              <a:t> for the reaction: 2C + H</a:t>
            </a:r>
            <a:r>
              <a:rPr lang="en-US" sz="2800" baseline="-25000" dirty="0">
                <a:solidFill>
                  <a:schemeClr val="tx1"/>
                </a:solidFill>
              </a:rPr>
              <a:t>2</a:t>
            </a:r>
            <a:r>
              <a:rPr lang="en-US" sz="2800" noProof="1">
                <a:solidFill>
                  <a:schemeClr val="tx1"/>
                </a:solidFill>
                <a:sym typeface="Wingdings" pitchFamily="2" charset="2"/>
              </a:rPr>
              <a:t></a:t>
            </a:r>
            <a:r>
              <a:rPr lang="en-US" sz="2800" dirty="0">
                <a:solidFill>
                  <a:schemeClr val="tx1"/>
                </a:solidFill>
              </a:rPr>
              <a:t> C</a:t>
            </a:r>
            <a:r>
              <a:rPr lang="en-US" sz="2800" baseline="-25000" dirty="0">
                <a:solidFill>
                  <a:schemeClr val="tx1"/>
                </a:solidFill>
              </a:rPr>
              <a:t>2</a:t>
            </a:r>
            <a:r>
              <a:rPr lang="en-US" sz="2800" dirty="0">
                <a:solidFill>
                  <a:schemeClr val="tx1"/>
                </a:solidFill>
              </a:rPr>
              <a:t>H</a:t>
            </a:r>
            <a:r>
              <a:rPr lang="en-US" sz="2800" baseline="-25000" dirty="0">
                <a:solidFill>
                  <a:schemeClr val="tx1"/>
                </a:solidFill>
              </a:rPr>
              <a:t>2.</a:t>
            </a:r>
            <a:br>
              <a:rPr lang="en-US" sz="2800" baseline="-25000" dirty="0">
                <a:solidFill>
                  <a:schemeClr val="tx1"/>
                </a:solidFill>
              </a:rPr>
            </a:br>
            <a:br>
              <a:rPr lang="en-US" sz="2800" baseline="-25000" dirty="0">
                <a:solidFill>
                  <a:schemeClr val="tx1"/>
                </a:solidFill>
              </a:rPr>
            </a:br>
            <a:r>
              <a:rPr lang="en-US" sz="2800" dirty="0">
                <a:solidFill>
                  <a:schemeClr val="tx1"/>
                </a:solidFill>
              </a:rPr>
              <a:t>C</a:t>
            </a:r>
            <a:r>
              <a:rPr lang="en-US" sz="2800" baseline="-25000" dirty="0">
                <a:solidFill>
                  <a:schemeClr val="tx1"/>
                </a:solidFill>
              </a:rPr>
              <a:t>2</a:t>
            </a:r>
            <a:r>
              <a:rPr lang="en-US" sz="2800" dirty="0">
                <a:solidFill>
                  <a:schemeClr val="tx1"/>
                </a:solidFill>
              </a:rPr>
              <a:t>H</a:t>
            </a:r>
            <a:r>
              <a:rPr lang="en-US" sz="2800" baseline="-25000" dirty="0">
                <a:solidFill>
                  <a:schemeClr val="tx1"/>
                </a:solidFill>
              </a:rPr>
              <a:t>2</a:t>
            </a:r>
            <a:r>
              <a:rPr lang="en-US" sz="2800" dirty="0">
                <a:solidFill>
                  <a:schemeClr val="tx1"/>
                </a:solidFill>
              </a:rPr>
              <a:t> + 5/2 O</a:t>
            </a:r>
            <a:r>
              <a:rPr lang="en-US" sz="2800" baseline="-25000" dirty="0">
                <a:solidFill>
                  <a:schemeClr val="tx1"/>
                </a:solidFill>
              </a:rPr>
              <a:t>2</a:t>
            </a:r>
            <a:r>
              <a:rPr lang="en-US" sz="2800" dirty="0">
                <a:solidFill>
                  <a:schemeClr val="tx1"/>
                </a:solidFill>
              </a:rPr>
              <a:t> </a:t>
            </a:r>
            <a:r>
              <a:rPr lang="en-US" sz="2800" noProof="1">
                <a:solidFill>
                  <a:schemeClr val="tx1"/>
                </a:solidFill>
                <a:sym typeface="Wingdings" pitchFamily="2" charset="2"/>
              </a:rPr>
              <a:t></a:t>
            </a:r>
            <a:r>
              <a:rPr lang="en-US" sz="2800" dirty="0">
                <a:solidFill>
                  <a:schemeClr val="tx1"/>
                </a:solidFill>
              </a:rPr>
              <a:t> 2CO</a:t>
            </a:r>
            <a:r>
              <a:rPr lang="en-US" sz="2800" baseline="-25000" dirty="0">
                <a:solidFill>
                  <a:schemeClr val="tx1"/>
                </a:solidFill>
              </a:rPr>
              <a:t>2</a:t>
            </a:r>
            <a:r>
              <a:rPr lang="en-US" sz="2800" dirty="0">
                <a:solidFill>
                  <a:schemeClr val="tx1"/>
                </a:solidFill>
              </a:rPr>
              <a:t> + H</a:t>
            </a:r>
            <a:r>
              <a:rPr lang="en-US" sz="2800" baseline="-25000" dirty="0">
                <a:solidFill>
                  <a:schemeClr val="tx1"/>
                </a:solidFill>
              </a:rPr>
              <a:t>2</a:t>
            </a:r>
            <a:r>
              <a:rPr lang="en-US" sz="2800" dirty="0">
                <a:solidFill>
                  <a:schemeClr val="tx1"/>
                </a:solidFill>
              </a:rPr>
              <a:t>O      </a:t>
            </a:r>
            <a:r>
              <a:rPr lang="en-US" sz="2800" dirty="0">
                <a:solidFill>
                  <a:schemeClr val="tx1"/>
                </a:solidFill>
                <a:sym typeface="Symbol" pitchFamily="18" charset="2"/>
              </a:rPr>
              <a:t></a:t>
            </a:r>
            <a:r>
              <a:rPr lang="en-US" sz="2800" dirty="0">
                <a:solidFill>
                  <a:schemeClr val="tx1"/>
                </a:solidFill>
              </a:rPr>
              <a:t> </a:t>
            </a:r>
            <a:r>
              <a:rPr lang="en-US" sz="2800" i="1" dirty="0">
                <a:solidFill>
                  <a:schemeClr val="tx1"/>
                </a:solidFill>
              </a:rPr>
              <a:t>H</a:t>
            </a:r>
            <a:r>
              <a:rPr lang="en-US" sz="2800" dirty="0">
                <a:solidFill>
                  <a:schemeClr val="tx1"/>
                </a:solidFill>
              </a:rPr>
              <a:t> = </a:t>
            </a:r>
            <a:r>
              <a:rPr lang="en-US" sz="2800" dirty="0">
                <a:solidFill>
                  <a:schemeClr val="tx1"/>
                </a:solidFill>
                <a:sym typeface="Symbol"/>
              </a:rPr>
              <a:t></a:t>
            </a:r>
            <a:r>
              <a:rPr lang="en-US" sz="2800" dirty="0">
                <a:solidFill>
                  <a:schemeClr val="tx1"/>
                </a:solidFill>
              </a:rPr>
              <a:t>1299.6 kJ/</a:t>
            </a:r>
            <a:r>
              <a:rPr lang="en-US" sz="2800" dirty="0" err="1">
                <a:solidFill>
                  <a:schemeClr val="tx1"/>
                </a:solidFill>
              </a:rPr>
              <a:t>mol</a:t>
            </a:r>
            <a:r>
              <a:rPr lang="en-US" sz="2800" baseline="-25000" dirty="0" err="1">
                <a:solidFill>
                  <a:schemeClr val="tx1"/>
                </a:solidFill>
              </a:rPr>
              <a:t>rxn</a:t>
            </a:r>
            <a:r>
              <a:rPr lang="en-US" sz="2800" dirty="0">
                <a:solidFill>
                  <a:schemeClr val="tx1"/>
                </a:solidFill>
              </a:rPr>
              <a:t> </a:t>
            </a:r>
            <a:br>
              <a:rPr lang="en-US" sz="2800" dirty="0">
                <a:solidFill>
                  <a:schemeClr val="tx1"/>
                </a:solidFill>
              </a:rPr>
            </a:br>
            <a:r>
              <a:rPr lang="en-US" sz="2800" dirty="0">
                <a:solidFill>
                  <a:schemeClr val="tx1"/>
                </a:solidFill>
              </a:rPr>
              <a:t>C + O</a:t>
            </a:r>
            <a:r>
              <a:rPr lang="en-US" sz="2800" baseline="-25000" dirty="0">
                <a:solidFill>
                  <a:schemeClr val="tx1"/>
                </a:solidFill>
              </a:rPr>
              <a:t>2</a:t>
            </a:r>
            <a:r>
              <a:rPr lang="en-US" sz="2800" dirty="0">
                <a:solidFill>
                  <a:schemeClr val="tx1"/>
                </a:solidFill>
              </a:rPr>
              <a:t> </a:t>
            </a:r>
            <a:r>
              <a:rPr lang="en-US" sz="2800" noProof="1">
                <a:solidFill>
                  <a:schemeClr val="tx1"/>
                </a:solidFill>
                <a:sym typeface="Wingdings" pitchFamily="2" charset="2"/>
              </a:rPr>
              <a:t></a:t>
            </a:r>
            <a:r>
              <a:rPr lang="en-US" sz="2800" dirty="0">
                <a:solidFill>
                  <a:schemeClr val="tx1"/>
                </a:solidFill>
              </a:rPr>
              <a:t> CO</a:t>
            </a:r>
            <a:r>
              <a:rPr lang="en-US" sz="2800" baseline="-25000" dirty="0">
                <a:solidFill>
                  <a:schemeClr val="tx1"/>
                </a:solidFill>
              </a:rPr>
              <a:t>2</a:t>
            </a:r>
            <a:r>
              <a:rPr lang="en-US" sz="2800" dirty="0">
                <a:solidFill>
                  <a:schemeClr val="tx1"/>
                </a:solidFill>
              </a:rPr>
              <a:t>                               </a:t>
            </a:r>
            <a:r>
              <a:rPr lang="en-US" sz="2800" dirty="0">
                <a:solidFill>
                  <a:schemeClr val="tx1"/>
                </a:solidFill>
                <a:sym typeface="Symbol" pitchFamily="18" charset="2"/>
              </a:rPr>
              <a:t></a:t>
            </a:r>
            <a:r>
              <a:rPr lang="en-US" sz="2800" i="1" dirty="0">
                <a:solidFill>
                  <a:schemeClr val="tx1"/>
                </a:solidFill>
              </a:rPr>
              <a:t>H</a:t>
            </a:r>
            <a:r>
              <a:rPr lang="en-US" sz="2800" dirty="0">
                <a:solidFill>
                  <a:schemeClr val="tx1"/>
                </a:solidFill>
              </a:rPr>
              <a:t> = </a:t>
            </a:r>
            <a:r>
              <a:rPr lang="en-US" sz="2800" dirty="0">
                <a:solidFill>
                  <a:schemeClr val="tx1"/>
                </a:solidFill>
                <a:sym typeface="Symbol"/>
              </a:rPr>
              <a:t></a:t>
            </a:r>
            <a:r>
              <a:rPr lang="en-US" sz="2800" dirty="0">
                <a:solidFill>
                  <a:schemeClr val="tx1"/>
                </a:solidFill>
              </a:rPr>
              <a:t>393.5 kJ/</a:t>
            </a:r>
            <a:r>
              <a:rPr lang="en-US" sz="2800" dirty="0" err="1">
                <a:solidFill>
                  <a:schemeClr val="tx1"/>
                </a:solidFill>
              </a:rPr>
              <a:t>mol</a:t>
            </a:r>
            <a:r>
              <a:rPr lang="en-US" sz="2800" baseline="-25000" dirty="0" err="1">
                <a:solidFill>
                  <a:schemeClr val="tx1"/>
                </a:solidFill>
              </a:rPr>
              <a:t>rxn</a:t>
            </a:r>
            <a:r>
              <a:rPr lang="en-US" sz="2800" dirty="0">
                <a:solidFill>
                  <a:schemeClr val="tx1"/>
                </a:solidFill>
              </a:rPr>
              <a:t> </a:t>
            </a:r>
            <a:br>
              <a:rPr lang="en-US" sz="2800" dirty="0">
                <a:solidFill>
                  <a:schemeClr val="tx1"/>
                </a:solidFill>
              </a:rPr>
            </a:br>
            <a:r>
              <a:rPr lang="en-US" sz="2800" dirty="0">
                <a:solidFill>
                  <a:schemeClr val="tx1"/>
                </a:solidFill>
              </a:rPr>
              <a:t>H</a:t>
            </a:r>
            <a:r>
              <a:rPr lang="en-US" sz="2800" baseline="-25000" dirty="0">
                <a:solidFill>
                  <a:schemeClr val="tx1"/>
                </a:solidFill>
              </a:rPr>
              <a:t>2 </a:t>
            </a:r>
            <a:r>
              <a:rPr lang="en-US" sz="2800" dirty="0">
                <a:solidFill>
                  <a:schemeClr val="tx1"/>
                </a:solidFill>
              </a:rPr>
              <a:t>+ ½ O</a:t>
            </a:r>
            <a:r>
              <a:rPr lang="en-US" sz="2800" baseline="-25000" dirty="0">
                <a:solidFill>
                  <a:schemeClr val="tx1"/>
                </a:solidFill>
              </a:rPr>
              <a:t>2</a:t>
            </a:r>
            <a:r>
              <a:rPr lang="en-US" sz="2800" dirty="0">
                <a:solidFill>
                  <a:schemeClr val="tx1"/>
                </a:solidFill>
              </a:rPr>
              <a:t> </a:t>
            </a:r>
            <a:r>
              <a:rPr lang="en-US" sz="2800" noProof="1">
                <a:solidFill>
                  <a:schemeClr val="tx1"/>
                </a:solidFill>
                <a:sym typeface="Wingdings" pitchFamily="2" charset="2"/>
              </a:rPr>
              <a:t></a:t>
            </a:r>
            <a:r>
              <a:rPr lang="en-US" sz="2800" dirty="0">
                <a:solidFill>
                  <a:schemeClr val="tx1"/>
                </a:solidFill>
              </a:rPr>
              <a:t> H</a:t>
            </a:r>
            <a:r>
              <a:rPr lang="en-US" sz="2800" baseline="-25000" dirty="0">
                <a:solidFill>
                  <a:schemeClr val="tx1"/>
                </a:solidFill>
              </a:rPr>
              <a:t>2</a:t>
            </a:r>
            <a:r>
              <a:rPr lang="en-US" sz="2800" dirty="0">
                <a:solidFill>
                  <a:schemeClr val="tx1"/>
                </a:solidFill>
              </a:rPr>
              <a:t>O	                        </a:t>
            </a:r>
            <a:r>
              <a:rPr lang="en-US" sz="2800" dirty="0">
                <a:solidFill>
                  <a:schemeClr val="tx1"/>
                </a:solidFill>
                <a:sym typeface="Symbol" pitchFamily="18" charset="2"/>
              </a:rPr>
              <a:t></a:t>
            </a:r>
            <a:r>
              <a:rPr lang="en-US" sz="2800" i="1" dirty="0">
                <a:solidFill>
                  <a:schemeClr val="tx1"/>
                </a:solidFill>
              </a:rPr>
              <a:t>H</a:t>
            </a:r>
            <a:r>
              <a:rPr lang="en-US" sz="2800" dirty="0">
                <a:solidFill>
                  <a:schemeClr val="tx1"/>
                </a:solidFill>
              </a:rPr>
              <a:t> = </a:t>
            </a:r>
            <a:r>
              <a:rPr lang="en-US" sz="2800" dirty="0">
                <a:solidFill>
                  <a:schemeClr val="tx1"/>
                </a:solidFill>
                <a:sym typeface="Symbol"/>
              </a:rPr>
              <a:t></a:t>
            </a:r>
            <a:r>
              <a:rPr lang="en-US" sz="2800" dirty="0">
                <a:solidFill>
                  <a:schemeClr val="tx1"/>
                </a:solidFill>
              </a:rPr>
              <a:t>285.9 kJ /</a:t>
            </a:r>
            <a:r>
              <a:rPr lang="en-US" sz="2800" dirty="0" err="1">
                <a:solidFill>
                  <a:schemeClr val="tx1"/>
                </a:solidFill>
              </a:rPr>
              <a:t>mol</a:t>
            </a:r>
            <a:r>
              <a:rPr lang="en-US" sz="2800" baseline="-25000" dirty="0" err="1">
                <a:solidFill>
                  <a:schemeClr val="tx1"/>
                </a:solidFill>
              </a:rPr>
              <a:t>rxn</a:t>
            </a:r>
            <a:r>
              <a:rPr lang="en-US" sz="2800" dirty="0">
                <a:solidFill>
                  <a:schemeClr val="tx1"/>
                </a:solidFill>
              </a:rPr>
              <a:t> </a:t>
            </a:r>
            <a:br>
              <a:rPr lang="en-US" sz="2800" dirty="0">
                <a:solidFill>
                  <a:schemeClr val="tx1"/>
                </a:solidFill>
              </a:rPr>
            </a:br>
            <a:br>
              <a:rPr lang="en-US" b="1" dirty="0">
                <a:solidFill>
                  <a:schemeClr val="tx1"/>
                </a:solidFill>
              </a:rPr>
            </a:br>
            <a:endParaRPr lang="en-US" sz="2800" dirty="0">
              <a:solidFill>
                <a:schemeClr val="tx1"/>
              </a:solidFill>
              <a:sym typeface="Wingdings" pitchFamily="2" charset="2"/>
            </a:endParaRPr>
          </a:p>
        </p:txBody>
      </p:sp>
      <p:sp>
        <p:nvSpPr>
          <p:cNvPr id="31747" name="Rectangle 3"/>
          <p:cNvSpPr>
            <a:spLocks noGrp="1" noChangeArrowheads="1"/>
          </p:cNvSpPr>
          <p:nvPr>
            <p:ph type="subTitle" idx="1"/>
          </p:nvPr>
        </p:nvSpPr>
        <p:spPr>
          <a:xfrm>
            <a:off x="1905000" y="3962400"/>
            <a:ext cx="8763000" cy="2590800"/>
          </a:xfrm>
        </p:spPr>
        <p:txBody>
          <a:bodyPr/>
          <a:lstStyle/>
          <a:p>
            <a:pPr algn="l">
              <a:lnSpc>
                <a:spcPct val="90000"/>
              </a:lnSpc>
            </a:pPr>
            <a:r>
              <a:rPr lang="en-US" sz="2800" dirty="0"/>
              <a:t>2C + 2O</a:t>
            </a:r>
            <a:r>
              <a:rPr lang="en-US" sz="2800" baseline="-25000" dirty="0"/>
              <a:t>2</a:t>
            </a:r>
            <a:r>
              <a:rPr lang="en-US" sz="2800" dirty="0"/>
              <a:t> </a:t>
            </a:r>
            <a:r>
              <a:rPr lang="en-US" sz="2800" noProof="1">
                <a:sym typeface="Wingdings" pitchFamily="2" charset="2"/>
              </a:rPr>
              <a:t> 2 CO</a:t>
            </a:r>
            <a:r>
              <a:rPr lang="en-US" sz="2800" baseline="-25000" noProof="1">
                <a:sym typeface="Wingdings" pitchFamily="2" charset="2"/>
              </a:rPr>
              <a:t>2</a:t>
            </a:r>
            <a:r>
              <a:rPr lang="en-US" sz="2800" noProof="1">
                <a:sym typeface="Wingdings" pitchFamily="2" charset="2"/>
              </a:rPr>
              <a:t>                      </a:t>
            </a:r>
            <a:r>
              <a:rPr lang="en-US" sz="2800" dirty="0">
                <a:sym typeface="Symbol" pitchFamily="18" charset="2"/>
              </a:rPr>
              <a:t></a:t>
            </a:r>
            <a:r>
              <a:rPr lang="en-US" sz="2800" i="1" dirty="0"/>
              <a:t>H</a:t>
            </a:r>
            <a:r>
              <a:rPr lang="en-US" sz="2800" dirty="0"/>
              <a:t> = 2(</a:t>
            </a:r>
            <a:r>
              <a:rPr lang="en-US" sz="2800" dirty="0">
                <a:sym typeface="Symbol"/>
              </a:rPr>
              <a:t></a:t>
            </a:r>
            <a:r>
              <a:rPr lang="en-US" sz="2800" dirty="0"/>
              <a:t>393.5) kJ/</a:t>
            </a:r>
            <a:r>
              <a:rPr lang="en-US" sz="2800" dirty="0" err="1"/>
              <a:t>mol</a:t>
            </a:r>
            <a:r>
              <a:rPr lang="en-US" sz="2800" baseline="-25000" dirty="0" err="1"/>
              <a:t>rxn</a:t>
            </a:r>
            <a:r>
              <a:rPr lang="en-US" sz="2800" dirty="0"/>
              <a:t> </a:t>
            </a:r>
            <a:endParaRPr lang="en-US" sz="2800" noProof="1">
              <a:sym typeface="Wingdings" pitchFamily="2" charset="2"/>
            </a:endParaRPr>
          </a:p>
          <a:p>
            <a:pPr algn="l">
              <a:lnSpc>
                <a:spcPct val="90000"/>
              </a:lnSpc>
            </a:pPr>
            <a:r>
              <a:rPr lang="en-US" sz="2800" dirty="0"/>
              <a:t>H</a:t>
            </a:r>
            <a:r>
              <a:rPr lang="en-US" sz="2800" baseline="-25000" dirty="0"/>
              <a:t>2 </a:t>
            </a:r>
            <a:r>
              <a:rPr lang="en-US" sz="2800" dirty="0"/>
              <a:t>+ ½ O</a:t>
            </a:r>
            <a:r>
              <a:rPr lang="en-US" sz="2800" baseline="-25000" dirty="0"/>
              <a:t>2</a:t>
            </a:r>
            <a:r>
              <a:rPr lang="en-US" sz="2800" dirty="0"/>
              <a:t> </a:t>
            </a:r>
            <a:r>
              <a:rPr lang="en-US" sz="2800" noProof="1">
                <a:sym typeface="Wingdings" pitchFamily="2" charset="2"/>
              </a:rPr>
              <a:t></a:t>
            </a:r>
            <a:r>
              <a:rPr lang="en-US" sz="2800" dirty="0"/>
              <a:t> H</a:t>
            </a:r>
            <a:r>
              <a:rPr lang="en-US" sz="2800" baseline="-25000" dirty="0"/>
              <a:t>2</a:t>
            </a:r>
            <a:r>
              <a:rPr lang="en-US" sz="2800" dirty="0"/>
              <a:t>O                           </a:t>
            </a:r>
            <a:r>
              <a:rPr lang="en-US" sz="2800" dirty="0">
                <a:sym typeface="Symbol" pitchFamily="18" charset="2"/>
              </a:rPr>
              <a:t></a:t>
            </a:r>
            <a:r>
              <a:rPr lang="en-US" sz="2800" i="1" dirty="0"/>
              <a:t>H</a:t>
            </a:r>
            <a:r>
              <a:rPr lang="en-US" sz="2800" dirty="0"/>
              <a:t> = </a:t>
            </a:r>
            <a:r>
              <a:rPr lang="en-US" sz="2800" dirty="0">
                <a:sym typeface="Symbol"/>
              </a:rPr>
              <a:t></a:t>
            </a:r>
            <a:r>
              <a:rPr lang="en-US" sz="2800" dirty="0"/>
              <a:t>285.9 kJ/</a:t>
            </a:r>
            <a:r>
              <a:rPr lang="en-US" sz="2800" dirty="0" err="1"/>
              <a:t>mol</a:t>
            </a:r>
            <a:r>
              <a:rPr lang="en-US" sz="2800" baseline="-25000" dirty="0" err="1"/>
              <a:t>rxn</a:t>
            </a:r>
            <a:r>
              <a:rPr lang="en-US" sz="2800" dirty="0"/>
              <a:t> </a:t>
            </a:r>
          </a:p>
          <a:p>
            <a:pPr algn="l">
              <a:lnSpc>
                <a:spcPct val="90000"/>
              </a:lnSpc>
            </a:pPr>
            <a:r>
              <a:rPr lang="en-US" sz="2800" dirty="0"/>
              <a:t>2CO</a:t>
            </a:r>
            <a:r>
              <a:rPr lang="en-US" sz="2800" baseline="-25000" dirty="0"/>
              <a:t>2</a:t>
            </a:r>
            <a:r>
              <a:rPr lang="en-US" sz="2800" dirty="0"/>
              <a:t> + H</a:t>
            </a:r>
            <a:r>
              <a:rPr lang="en-US" sz="2800" baseline="-25000" dirty="0"/>
              <a:t>2</a:t>
            </a:r>
            <a:r>
              <a:rPr lang="en-US" sz="2800" dirty="0"/>
              <a:t>O </a:t>
            </a:r>
            <a:r>
              <a:rPr lang="en-US" sz="2800" noProof="1">
                <a:sym typeface="Wingdings" pitchFamily="2" charset="2"/>
              </a:rPr>
              <a:t> </a:t>
            </a:r>
            <a:r>
              <a:rPr lang="en-US" sz="2800" dirty="0"/>
              <a:t>C</a:t>
            </a:r>
            <a:r>
              <a:rPr lang="en-US" sz="2800" baseline="-25000" dirty="0"/>
              <a:t>2</a:t>
            </a:r>
            <a:r>
              <a:rPr lang="en-US" sz="2800" dirty="0"/>
              <a:t>H</a:t>
            </a:r>
            <a:r>
              <a:rPr lang="en-US" sz="2800" baseline="-25000" dirty="0"/>
              <a:t>2</a:t>
            </a:r>
            <a:r>
              <a:rPr lang="en-US" sz="2800" dirty="0"/>
              <a:t> + 5/2 O</a:t>
            </a:r>
            <a:r>
              <a:rPr lang="en-US" sz="2800" baseline="-25000" dirty="0"/>
              <a:t>2         </a:t>
            </a:r>
            <a:r>
              <a:rPr lang="en-US" sz="2800" dirty="0"/>
              <a:t> </a:t>
            </a:r>
            <a:r>
              <a:rPr lang="en-US" sz="2800" dirty="0">
                <a:sym typeface="Symbol" pitchFamily="18" charset="2"/>
              </a:rPr>
              <a:t></a:t>
            </a:r>
            <a:r>
              <a:rPr lang="en-US" sz="2800" dirty="0"/>
              <a:t> </a:t>
            </a:r>
            <a:r>
              <a:rPr lang="en-US" sz="2800" i="1" dirty="0"/>
              <a:t>H</a:t>
            </a:r>
            <a:r>
              <a:rPr lang="en-US" sz="2800" dirty="0"/>
              <a:t> = +1299.6 kJ/</a:t>
            </a:r>
            <a:r>
              <a:rPr lang="en-US" sz="2800" dirty="0" err="1"/>
              <a:t>mol</a:t>
            </a:r>
            <a:r>
              <a:rPr lang="en-US" sz="2800" baseline="-25000" dirty="0" err="1"/>
              <a:t>rxn</a:t>
            </a:r>
            <a:r>
              <a:rPr lang="en-US" sz="2800" dirty="0"/>
              <a:t> </a:t>
            </a:r>
          </a:p>
          <a:p>
            <a:pPr algn="l">
              <a:lnSpc>
                <a:spcPct val="90000"/>
              </a:lnSpc>
            </a:pPr>
            <a:r>
              <a:rPr lang="en-US" sz="2400" b="1" dirty="0"/>
              <a:t>       </a:t>
            </a:r>
            <a:r>
              <a:rPr lang="en-US" b="1" dirty="0"/>
              <a:t>2C + H</a:t>
            </a:r>
            <a:r>
              <a:rPr lang="en-US" b="1" baseline="-25000" dirty="0"/>
              <a:t>2</a:t>
            </a:r>
            <a:r>
              <a:rPr lang="en-US" b="1" noProof="1">
                <a:sym typeface="Wingdings" pitchFamily="2" charset="2"/>
              </a:rPr>
              <a:t></a:t>
            </a:r>
            <a:r>
              <a:rPr lang="en-US" b="1" dirty="0"/>
              <a:t> C</a:t>
            </a:r>
            <a:r>
              <a:rPr lang="en-US" b="1" baseline="-25000" dirty="0"/>
              <a:t>2</a:t>
            </a:r>
            <a:r>
              <a:rPr lang="en-US" b="1" dirty="0"/>
              <a:t>H</a:t>
            </a:r>
            <a:r>
              <a:rPr lang="en-US" b="1" baseline="-25000" dirty="0"/>
              <a:t>2</a:t>
            </a:r>
          </a:p>
          <a:p>
            <a:pPr algn="l">
              <a:lnSpc>
                <a:spcPct val="90000"/>
              </a:lnSpc>
            </a:pPr>
            <a:r>
              <a:rPr lang="en-US" b="1" baseline="-25000" dirty="0"/>
              <a:t>                                                                    </a:t>
            </a:r>
            <a:r>
              <a:rPr lang="en-US" dirty="0">
                <a:solidFill>
                  <a:schemeClr val="accent2"/>
                </a:solidFill>
                <a:sym typeface="Symbol" pitchFamily="18" charset="2"/>
              </a:rPr>
              <a:t></a:t>
            </a:r>
            <a:r>
              <a:rPr lang="en-US" dirty="0">
                <a:solidFill>
                  <a:schemeClr val="accent2"/>
                </a:solidFill>
              </a:rPr>
              <a:t> </a:t>
            </a:r>
            <a:r>
              <a:rPr lang="en-US" i="1" dirty="0">
                <a:solidFill>
                  <a:schemeClr val="accent2"/>
                </a:solidFill>
              </a:rPr>
              <a:t>H</a:t>
            </a:r>
            <a:r>
              <a:rPr lang="en-US" dirty="0">
                <a:solidFill>
                  <a:schemeClr val="accent2"/>
                </a:solidFill>
              </a:rPr>
              <a:t> = 226.7kJ/</a:t>
            </a:r>
            <a:r>
              <a:rPr lang="en-US" dirty="0" err="1">
                <a:solidFill>
                  <a:schemeClr val="accent2"/>
                </a:solidFill>
              </a:rPr>
              <a:t>mol</a:t>
            </a:r>
            <a:r>
              <a:rPr lang="en-US" baseline="-25000" dirty="0" err="1">
                <a:solidFill>
                  <a:schemeClr val="accent2"/>
                </a:solidFill>
              </a:rPr>
              <a:t>rxn</a:t>
            </a:r>
            <a:endParaRPr lang="en-US" baseline="-25000" dirty="0">
              <a:solidFill>
                <a:schemeClr val="accent2"/>
              </a:solidFill>
            </a:endParaRPr>
          </a:p>
        </p:txBody>
      </p:sp>
      <p:sp>
        <p:nvSpPr>
          <p:cNvPr id="39940" name="Line 4"/>
          <p:cNvSpPr>
            <a:spLocks noChangeShapeType="1"/>
          </p:cNvSpPr>
          <p:nvPr/>
        </p:nvSpPr>
        <p:spPr bwMode="auto">
          <a:xfrm>
            <a:off x="1905000" y="5410200"/>
            <a:ext cx="3733800" cy="0"/>
          </a:xfrm>
          <a:prstGeom prst="line">
            <a:avLst/>
          </a:prstGeom>
          <a:noFill/>
          <a:ln w="9525">
            <a:solidFill>
              <a:schemeClr val="tx1"/>
            </a:solidFill>
            <a:round/>
            <a:headEnd/>
            <a:tailEnd/>
          </a:ln>
        </p:spPr>
        <p:txBody>
          <a:bodyPr wrap="none" anchor="ctr"/>
          <a:lstStyle/>
          <a:p>
            <a:endParaRPr lang="en-US"/>
          </a:p>
        </p:txBody>
      </p:sp>
      <p:sp>
        <p:nvSpPr>
          <p:cNvPr id="39941" name="Line 5"/>
          <p:cNvSpPr>
            <a:spLocks noChangeShapeType="1"/>
          </p:cNvSpPr>
          <p:nvPr/>
        </p:nvSpPr>
        <p:spPr bwMode="auto">
          <a:xfrm>
            <a:off x="7010400" y="5431436"/>
            <a:ext cx="2514600" cy="0"/>
          </a:xfrm>
          <a:prstGeom prst="line">
            <a:avLst/>
          </a:prstGeom>
          <a:noFill/>
          <a:ln w="9525">
            <a:solidFill>
              <a:schemeClr val="tx1"/>
            </a:solidFill>
            <a:round/>
            <a:headEnd/>
            <a:tailEnd/>
          </a:ln>
        </p:spPr>
        <p:txBody>
          <a:bodyPr wrap="none" anchor="ctr"/>
          <a:lstStyle/>
          <a:p>
            <a:endParaRPr lang="en-US"/>
          </a:p>
        </p:txBody>
      </p:sp>
    </p:spTree>
    <p:extLst>
      <p:ext uri="{BB962C8B-B14F-4D97-AF65-F5344CB8AC3E}">
        <p14:creationId xmlns:p14="http://schemas.microsoft.com/office/powerpoint/2010/main" val="65436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317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17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317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title"/>
          </p:nvPr>
        </p:nvSpPr>
        <p:spPr>
          <a:xfrm>
            <a:off x="990600" y="0"/>
            <a:ext cx="10591800" cy="670560"/>
          </a:xfrm>
        </p:spPr>
        <p:txBody>
          <a:bodyPr/>
          <a:lstStyle/>
          <a:p>
            <a:pPr algn="l"/>
            <a:r>
              <a:rPr lang="en-US" sz="3600" dirty="0"/>
              <a:t>Tabulated Enthalpy Values are true at the Standard State</a:t>
            </a:r>
          </a:p>
        </p:txBody>
      </p:sp>
      <p:sp>
        <p:nvSpPr>
          <p:cNvPr id="43011" name="Rectangle 5"/>
          <p:cNvSpPr>
            <a:spLocks noGrp="1" noChangeArrowheads="1"/>
          </p:cNvSpPr>
          <p:nvPr>
            <p:ph type="body" idx="1"/>
          </p:nvPr>
        </p:nvSpPr>
        <p:spPr>
          <a:xfrm>
            <a:off x="838200" y="1066800"/>
            <a:ext cx="10896600" cy="4495800"/>
          </a:xfrm>
        </p:spPr>
        <p:txBody>
          <a:bodyPr/>
          <a:lstStyle/>
          <a:p>
            <a:r>
              <a:rPr lang="en-US" dirty="0"/>
              <a:t> </a:t>
            </a:r>
            <a:r>
              <a:rPr lang="en-US" dirty="0">
                <a:latin typeface="Symbol" panose="05050102010706020507" pitchFamily="18" charset="2"/>
              </a:rPr>
              <a:t>D</a:t>
            </a:r>
            <a:r>
              <a:rPr lang="en-US" dirty="0"/>
              <a:t>H° (delta H ‘naught’) – naught means ‘at standard state’</a:t>
            </a:r>
          </a:p>
          <a:p>
            <a:r>
              <a:rPr lang="en-US" dirty="0"/>
              <a:t>standard state allows for true comparison of values while keeping other conditions </a:t>
            </a:r>
            <a:r>
              <a:rPr lang="en-US" dirty="0">
                <a:solidFill>
                  <a:srgbClr val="FF0000"/>
                </a:solidFill>
              </a:rPr>
              <a:t>uniform</a:t>
            </a:r>
            <a:r>
              <a:rPr lang="en-US" dirty="0"/>
              <a:t> (standard)</a:t>
            </a:r>
          </a:p>
          <a:p>
            <a:r>
              <a:rPr lang="en-US" dirty="0"/>
              <a:t>standard temperature is 25 °C</a:t>
            </a:r>
          </a:p>
          <a:p>
            <a:r>
              <a:rPr lang="en-US" dirty="0"/>
              <a:t>for gases, pressure is </a:t>
            </a:r>
            <a:r>
              <a:rPr lang="en-US" dirty="0">
                <a:solidFill>
                  <a:srgbClr val="FF0000"/>
                </a:solidFill>
              </a:rPr>
              <a:t>one </a:t>
            </a:r>
            <a:r>
              <a:rPr lang="en-US" dirty="0" err="1">
                <a:solidFill>
                  <a:srgbClr val="FF0000"/>
                </a:solidFill>
              </a:rPr>
              <a:t>atm</a:t>
            </a:r>
            <a:endParaRPr lang="en-US" dirty="0">
              <a:solidFill>
                <a:srgbClr val="FF0000"/>
              </a:solidFill>
            </a:endParaRPr>
          </a:p>
          <a:p>
            <a:r>
              <a:rPr lang="en-US" dirty="0"/>
              <a:t>for a substance in solution, the concentration is </a:t>
            </a:r>
            <a:r>
              <a:rPr lang="en-US" dirty="0">
                <a:solidFill>
                  <a:srgbClr val="FF0000"/>
                </a:solidFill>
              </a:rPr>
              <a:t>one molar</a:t>
            </a:r>
          </a:p>
          <a:p>
            <a:r>
              <a:rPr lang="en-US" dirty="0"/>
              <a:t>for a </a:t>
            </a:r>
            <a:r>
              <a:rPr lang="en-US" dirty="0">
                <a:solidFill>
                  <a:srgbClr val="FF0000"/>
                </a:solidFill>
              </a:rPr>
              <a:t>pure</a:t>
            </a:r>
            <a:r>
              <a:rPr lang="en-US" dirty="0"/>
              <a:t> substance in a </a:t>
            </a:r>
            <a:r>
              <a:rPr lang="en-US" dirty="0">
                <a:solidFill>
                  <a:srgbClr val="FF0000"/>
                </a:solidFill>
              </a:rPr>
              <a:t>condensed</a:t>
            </a:r>
            <a:r>
              <a:rPr lang="en-US" dirty="0"/>
              <a:t> state (liquid or solid), the standard state is the pure liquid or solid (not a mixture).</a:t>
            </a:r>
          </a:p>
          <a:p>
            <a:r>
              <a:rPr lang="en-US" dirty="0"/>
              <a:t>for an </a:t>
            </a:r>
            <a:r>
              <a:rPr lang="en-US" dirty="0">
                <a:solidFill>
                  <a:srgbClr val="FF0000"/>
                </a:solidFill>
              </a:rPr>
              <a:t>element</a:t>
            </a:r>
            <a:r>
              <a:rPr lang="en-US" dirty="0"/>
              <a:t>, the standard state is the </a:t>
            </a:r>
            <a:r>
              <a:rPr lang="en-US" dirty="0">
                <a:solidFill>
                  <a:srgbClr val="FF0000"/>
                </a:solidFill>
              </a:rPr>
              <a:t>phase</a:t>
            </a:r>
            <a:r>
              <a:rPr lang="en-US" dirty="0"/>
              <a:t> in which the element exists under conditions of 1 </a:t>
            </a:r>
            <a:r>
              <a:rPr lang="en-US" dirty="0" err="1"/>
              <a:t>atm</a:t>
            </a:r>
            <a:r>
              <a:rPr lang="en-US" dirty="0"/>
              <a:t> and 25 °C.</a:t>
            </a:r>
            <a:br>
              <a:rPr lang="en-US" dirty="0"/>
            </a:br>
            <a:endParaRPr lang="en-US" dirty="0"/>
          </a:p>
        </p:txBody>
      </p:sp>
    </p:spTree>
    <p:extLst>
      <p:ext uri="{BB962C8B-B14F-4D97-AF65-F5344CB8AC3E}">
        <p14:creationId xmlns:p14="http://schemas.microsoft.com/office/powerpoint/2010/main" val="29869841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0"/>
            <a:ext cx="10515600" cy="1446550"/>
          </a:xfrm>
          <a:prstGeom prst="rect">
            <a:avLst/>
          </a:prstGeom>
          <a:noFill/>
        </p:spPr>
        <p:txBody>
          <a:bodyPr wrap="square" rtlCol="0">
            <a:spAutoFit/>
          </a:bodyPr>
          <a:lstStyle/>
          <a:p>
            <a:pPr algn="ctr"/>
            <a:r>
              <a:rPr lang="en-US" sz="4400" dirty="0"/>
              <a:t>Standard Heats of Formation Calculation- BIG MAMA</a:t>
            </a:r>
          </a:p>
        </p:txBody>
      </p:sp>
      <p:sp>
        <p:nvSpPr>
          <p:cNvPr id="3" name="TextBox 2"/>
          <p:cNvSpPr txBox="1"/>
          <p:nvPr/>
        </p:nvSpPr>
        <p:spPr>
          <a:xfrm>
            <a:off x="533400" y="1600200"/>
            <a:ext cx="11125200" cy="4708981"/>
          </a:xfrm>
          <a:prstGeom prst="rect">
            <a:avLst/>
          </a:prstGeom>
          <a:noFill/>
        </p:spPr>
        <p:txBody>
          <a:bodyPr wrap="square" rtlCol="0">
            <a:spAutoFit/>
          </a:bodyPr>
          <a:lstStyle/>
          <a:p>
            <a:pPr marL="457200" indent="-457200">
              <a:buFont typeface="Arial" panose="020B0604020202020204" pitchFamily="34" charset="0"/>
              <a:buChar char="•"/>
            </a:pPr>
            <a:r>
              <a:rPr lang="en-US" sz="2800" dirty="0"/>
              <a:t>Standard enthalpy of formation, </a:t>
            </a:r>
            <a:r>
              <a:rPr lang="en-US" sz="2800" dirty="0" err="1">
                <a:latin typeface="Symbol" pitchFamily="18" charset="2"/>
              </a:rPr>
              <a:t>D</a:t>
            </a:r>
            <a:r>
              <a:rPr lang="en-US" sz="2800" dirty="0" err="1"/>
              <a:t>H°</a:t>
            </a:r>
            <a:r>
              <a:rPr lang="en-US" baseline="-25000" dirty="0" err="1"/>
              <a:t>f</a:t>
            </a:r>
            <a:r>
              <a:rPr lang="en-US" sz="2800" dirty="0"/>
              <a:t> - heat released or absorbed when </a:t>
            </a:r>
            <a:r>
              <a:rPr lang="en-US" sz="2800" dirty="0">
                <a:solidFill>
                  <a:srgbClr val="FF0000"/>
                </a:solidFill>
              </a:rPr>
              <a:t>one mole </a:t>
            </a:r>
            <a:r>
              <a:rPr lang="en-US" sz="2800" dirty="0"/>
              <a:t>of a compound is </a:t>
            </a:r>
            <a:r>
              <a:rPr lang="en-US" sz="2800" dirty="0">
                <a:solidFill>
                  <a:srgbClr val="FF0000"/>
                </a:solidFill>
              </a:rPr>
              <a:t>formed</a:t>
            </a:r>
            <a:r>
              <a:rPr lang="en-US" sz="2800" dirty="0"/>
              <a:t> by combination of its </a:t>
            </a:r>
            <a:r>
              <a:rPr lang="en-US" sz="2800" dirty="0">
                <a:solidFill>
                  <a:srgbClr val="FF0000"/>
                </a:solidFill>
              </a:rPr>
              <a:t>elements</a:t>
            </a:r>
            <a:r>
              <a:rPr lang="en-US" sz="2800" dirty="0"/>
              <a:t>. </a:t>
            </a:r>
          </a:p>
          <a:p>
            <a:pPr marL="457200" indent="-457200">
              <a:buFont typeface="Arial" panose="020B0604020202020204" pitchFamily="34" charset="0"/>
              <a:buChar char="•"/>
            </a:pPr>
            <a:r>
              <a:rPr lang="en-US" sz="2800" dirty="0"/>
              <a:t>Every compound has a </a:t>
            </a:r>
            <a:r>
              <a:rPr lang="en-US" sz="2800" dirty="0" err="1">
                <a:latin typeface="Symbol" pitchFamily="18" charset="2"/>
              </a:rPr>
              <a:t>D</a:t>
            </a:r>
            <a:r>
              <a:rPr lang="en-US" sz="2800" dirty="0" err="1"/>
              <a:t>H</a:t>
            </a:r>
            <a:r>
              <a:rPr lang="en-US" dirty="0" err="1"/>
              <a:t>f</a:t>
            </a:r>
            <a:r>
              <a:rPr lang="en-US" dirty="0"/>
              <a:t>.  </a:t>
            </a:r>
            <a:r>
              <a:rPr lang="en-US" sz="2800" dirty="0"/>
              <a:t>It is the amount of heat released or required to create that compound out of its base elements.</a:t>
            </a:r>
          </a:p>
          <a:p>
            <a:endParaRPr lang="en-US" sz="2800" dirty="0"/>
          </a:p>
          <a:p>
            <a:r>
              <a:rPr lang="en-US" sz="2800" dirty="0"/>
              <a:t>Examples:</a:t>
            </a:r>
          </a:p>
          <a:p>
            <a:r>
              <a:rPr lang="en-US" sz="2800" dirty="0"/>
              <a:t>	Na + ½ Cl</a:t>
            </a:r>
            <a:r>
              <a:rPr lang="en-US" sz="2800" baseline="-25000" dirty="0"/>
              <a:t>2</a:t>
            </a:r>
            <a:r>
              <a:rPr lang="en-US" sz="2800" dirty="0"/>
              <a:t> </a:t>
            </a:r>
            <a:r>
              <a:rPr lang="en-US" sz="2800" dirty="0">
                <a:sym typeface="Wingdings" pitchFamily="2" charset="2"/>
              </a:rPr>
              <a:t> </a:t>
            </a:r>
            <a:r>
              <a:rPr lang="en-US" sz="2800" dirty="0" err="1">
                <a:sym typeface="Wingdings" pitchFamily="2" charset="2"/>
              </a:rPr>
              <a:t>NaCl</a:t>
            </a:r>
            <a:r>
              <a:rPr lang="en-US" sz="2800" dirty="0">
                <a:sym typeface="Wingdings" pitchFamily="2" charset="2"/>
              </a:rPr>
              <a:t>		</a:t>
            </a:r>
            <a:r>
              <a:rPr lang="en-US" sz="2800" dirty="0"/>
              <a:t> </a:t>
            </a:r>
            <a:r>
              <a:rPr lang="en-US" sz="2800" dirty="0" err="1">
                <a:latin typeface="Symbol" pitchFamily="18" charset="2"/>
              </a:rPr>
              <a:t>D</a:t>
            </a:r>
            <a:r>
              <a:rPr lang="en-US" sz="2800" dirty="0" err="1"/>
              <a:t>H°</a:t>
            </a:r>
            <a:r>
              <a:rPr lang="en-US" sz="2800" baseline="-25000" dirty="0" err="1"/>
              <a:t>f</a:t>
            </a:r>
            <a:r>
              <a:rPr lang="en-US" sz="2800" dirty="0"/>
              <a:t> = -410.9 kJ/</a:t>
            </a:r>
            <a:r>
              <a:rPr lang="en-US" sz="2800" dirty="0" err="1"/>
              <a:t>mol</a:t>
            </a:r>
            <a:endParaRPr lang="en-US" sz="2800" dirty="0"/>
          </a:p>
          <a:p>
            <a:endParaRPr lang="en-US" sz="2800" dirty="0"/>
          </a:p>
          <a:p>
            <a:r>
              <a:rPr lang="en-US" sz="2800" dirty="0"/>
              <a:t>	H</a:t>
            </a:r>
            <a:r>
              <a:rPr lang="en-US" sz="2800" baseline="-25000" dirty="0"/>
              <a:t>2</a:t>
            </a:r>
            <a:r>
              <a:rPr lang="en-US" sz="2800" dirty="0"/>
              <a:t> + ½ O</a:t>
            </a:r>
            <a:r>
              <a:rPr lang="en-US" sz="2800" baseline="-25000" dirty="0"/>
              <a:t>2</a:t>
            </a:r>
            <a:r>
              <a:rPr lang="en-US" sz="2800" dirty="0"/>
              <a:t> </a:t>
            </a:r>
            <a:r>
              <a:rPr lang="en-US" sz="2800" dirty="0">
                <a:sym typeface="Wingdings" pitchFamily="2" charset="2"/>
              </a:rPr>
              <a:t> H</a:t>
            </a:r>
            <a:r>
              <a:rPr lang="en-US" sz="2800" baseline="-25000" dirty="0">
                <a:sym typeface="Wingdings" pitchFamily="2" charset="2"/>
              </a:rPr>
              <a:t>2</a:t>
            </a:r>
            <a:r>
              <a:rPr lang="en-US" sz="2800" dirty="0">
                <a:sym typeface="Wingdings" pitchFamily="2" charset="2"/>
              </a:rPr>
              <a:t>O		</a:t>
            </a:r>
            <a:r>
              <a:rPr lang="en-US" sz="2800" dirty="0"/>
              <a:t> 	</a:t>
            </a:r>
            <a:r>
              <a:rPr lang="en-US" sz="2800" dirty="0">
                <a:latin typeface="Symbol" pitchFamily="18" charset="2"/>
              </a:rPr>
              <a:t> </a:t>
            </a:r>
            <a:r>
              <a:rPr lang="en-US" sz="2800" dirty="0" err="1">
                <a:latin typeface="Symbol" pitchFamily="18" charset="2"/>
              </a:rPr>
              <a:t>D</a:t>
            </a:r>
            <a:r>
              <a:rPr lang="en-US" sz="2800" dirty="0" err="1"/>
              <a:t>H°</a:t>
            </a:r>
            <a:r>
              <a:rPr lang="en-US" sz="2800" baseline="-25000" dirty="0" err="1"/>
              <a:t>f</a:t>
            </a:r>
            <a:r>
              <a:rPr lang="en-US" sz="2800" dirty="0"/>
              <a:t> = -285.8 kJ/</a:t>
            </a:r>
            <a:r>
              <a:rPr lang="en-US" sz="2800" dirty="0" err="1"/>
              <a:t>mol</a:t>
            </a:r>
            <a:endParaRPr lang="en-US" sz="2800" dirty="0"/>
          </a:p>
          <a:p>
            <a:endParaRPr lang="en-US" dirty="0"/>
          </a:p>
          <a:p>
            <a:endParaRPr lang="en-US" dirty="0"/>
          </a:p>
        </p:txBody>
      </p:sp>
    </p:spTree>
    <p:extLst>
      <p:ext uri="{BB962C8B-B14F-4D97-AF65-F5344CB8AC3E}">
        <p14:creationId xmlns:p14="http://schemas.microsoft.com/office/powerpoint/2010/main" val="1744207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609601"/>
            <a:ext cx="11049000" cy="5262979"/>
          </a:xfrm>
          <a:prstGeom prst="rect">
            <a:avLst/>
          </a:prstGeom>
          <a:noFill/>
        </p:spPr>
        <p:txBody>
          <a:bodyPr wrap="square" rtlCol="0">
            <a:spAutoFit/>
          </a:bodyPr>
          <a:lstStyle/>
          <a:p>
            <a:pPr marL="457200" indent="-457200">
              <a:buFont typeface="Arial" panose="020B0604020202020204" pitchFamily="34" charset="0"/>
              <a:buChar char="•"/>
            </a:pPr>
            <a:r>
              <a:rPr lang="en-US" sz="2800" dirty="0"/>
              <a:t>Because of Hess’ Law, any reaction can be calculated by this sum:</a:t>
            </a:r>
          </a:p>
          <a:p>
            <a:pPr marL="457200" indent="-457200">
              <a:buFont typeface="Arial" panose="020B0604020202020204" pitchFamily="34" charset="0"/>
              <a:buChar char="•"/>
            </a:pPr>
            <a:endParaRPr lang="en-US" sz="2800" dirty="0"/>
          </a:p>
          <a:p>
            <a:pPr algn="ctr"/>
            <a:r>
              <a:rPr lang="en-US" sz="3600" dirty="0" err="1"/>
              <a:t>ΔH</a:t>
            </a:r>
            <a:r>
              <a:rPr lang="en-US" sz="3600" baseline="-25000" dirty="0" err="1"/>
              <a:t>rxn</a:t>
            </a:r>
            <a:r>
              <a:rPr lang="en-US" sz="3600" dirty="0"/>
              <a:t> = Σ</a:t>
            </a:r>
            <a:r>
              <a:rPr lang="en-US" sz="3600" dirty="0">
                <a:latin typeface="Symbol" pitchFamily="18" charset="2"/>
              </a:rPr>
              <a:t> </a:t>
            </a:r>
            <a:r>
              <a:rPr lang="en-US" sz="3600" dirty="0" err="1">
                <a:latin typeface="Symbol" pitchFamily="18" charset="2"/>
              </a:rPr>
              <a:t>D</a:t>
            </a:r>
            <a:r>
              <a:rPr lang="en-US" sz="3600" dirty="0" err="1"/>
              <a:t>H°</a:t>
            </a:r>
            <a:r>
              <a:rPr lang="en-US" sz="3600" baseline="-25000" dirty="0" err="1"/>
              <a:t>f</a:t>
            </a:r>
            <a:r>
              <a:rPr lang="en-US" sz="3600" baseline="-25000" dirty="0"/>
              <a:t> </a:t>
            </a:r>
            <a:r>
              <a:rPr lang="en-US" sz="3600" dirty="0"/>
              <a:t>(products) – Σ</a:t>
            </a:r>
            <a:r>
              <a:rPr lang="en-US" sz="3600" dirty="0">
                <a:latin typeface="Symbol" pitchFamily="18" charset="2"/>
              </a:rPr>
              <a:t> </a:t>
            </a:r>
            <a:r>
              <a:rPr lang="en-US" sz="3600" dirty="0" err="1">
                <a:latin typeface="Symbol" pitchFamily="18" charset="2"/>
              </a:rPr>
              <a:t>D</a:t>
            </a:r>
            <a:r>
              <a:rPr lang="en-US" sz="3600" dirty="0" err="1"/>
              <a:t>H°</a:t>
            </a:r>
            <a:r>
              <a:rPr lang="en-US" sz="3600" baseline="-25000" dirty="0" err="1"/>
              <a:t>f</a:t>
            </a:r>
            <a:r>
              <a:rPr lang="en-US" sz="3600" baseline="-25000" dirty="0"/>
              <a:t> </a:t>
            </a:r>
            <a:r>
              <a:rPr lang="en-US" sz="3600" dirty="0"/>
              <a:t>(reactants) </a:t>
            </a:r>
          </a:p>
          <a:p>
            <a:pPr marL="342900" indent="-342900" algn="ctr">
              <a:buFont typeface="Arial" panose="020B0604020202020204" pitchFamily="34" charset="0"/>
              <a:buChar char="•"/>
            </a:pPr>
            <a:endParaRPr lang="en-US" dirty="0"/>
          </a:p>
          <a:p>
            <a:pPr marL="342900" indent="-342900" algn="ctr">
              <a:buFont typeface="Arial" panose="020B0604020202020204" pitchFamily="34" charset="0"/>
              <a:buChar char="•"/>
            </a:pPr>
            <a:r>
              <a:rPr lang="en-US" dirty="0"/>
              <a:t>(Σ means “the sum of”)</a:t>
            </a:r>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endParaRPr lang="en-US" sz="2800" dirty="0"/>
          </a:p>
          <a:p>
            <a:pPr marL="457200" indent="-457200">
              <a:buFont typeface="Arial" panose="020B0604020202020204" pitchFamily="34" charset="0"/>
              <a:buChar char="•"/>
            </a:pPr>
            <a:r>
              <a:rPr lang="en-US" sz="2800" dirty="0"/>
              <a:t>Stuff you break apart (reactants) </a:t>
            </a:r>
            <a:r>
              <a:rPr lang="en-US" sz="2800" dirty="0">
                <a:sym typeface="Wingdings" pitchFamily="2" charset="2"/>
              </a:rPr>
              <a:t> Stuff you make (products) </a:t>
            </a:r>
          </a:p>
          <a:p>
            <a:pPr marL="457200" indent="-457200">
              <a:buFont typeface="Arial" panose="020B0604020202020204" pitchFamily="34" charset="0"/>
              <a:buChar char="•"/>
            </a:pPr>
            <a:endParaRPr lang="en-US" sz="2800" dirty="0">
              <a:sym typeface="Wingdings" pitchFamily="2" charset="2"/>
            </a:endParaRPr>
          </a:p>
          <a:p>
            <a:pPr marL="457200" indent="-457200">
              <a:buFont typeface="Arial" panose="020B0604020202020204" pitchFamily="34" charset="0"/>
              <a:buChar char="•"/>
            </a:pPr>
            <a:r>
              <a:rPr lang="en-US" sz="2800" dirty="0">
                <a:sym typeface="Wingdings" pitchFamily="2" charset="2"/>
              </a:rPr>
              <a:t>So i</a:t>
            </a:r>
            <a:r>
              <a:rPr lang="en-US" sz="2800" dirty="0"/>
              <a:t>n words, this equation says: The amount of heat for a reaction (</a:t>
            </a:r>
            <a:r>
              <a:rPr lang="en-US" sz="2800" dirty="0" err="1"/>
              <a:t>ΔH</a:t>
            </a:r>
            <a:r>
              <a:rPr lang="en-US" sz="2800" baseline="-25000" dirty="0" err="1"/>
              <a:t>rxn</a:t>
            </a:r>
            <a:r>
              <a:rPr lang="en-US" sz="2800" dirty="0"/>
              <a:t>) is equal to the heat it takes to MAKE stuff (products) </a:t>
            </a:r>
            <a:r>
              <a:rPr lang="en-US" sz="2800" i="1" dirty="0"/>
              <a:t>minus </a:t>
            </a:r>
            <a:r>
              <a:rPr lang="en-US" sz="2800" dirty="0"/>
              <a:t>the heat it takes to break stuff up (reactants).</a:t>
            </a:r>
          </a:p>
        </p:txBody>
      </p:sp>
    </p:spTree>
    <p:extLst>
      <p:ext uri="{BB962C8B-B14F-4D97-AF65-F5344CB8AC3E}">
        <p14:creationId xmlns:p14="http://schemas.microsoft.com/office/powerpoint/2010/main" val="37713160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524001"/>
            <a:ext cx="10896600" cy="3908762"/>
          </a:xfrm>
          <a:prstGeom prst="rect">
            <a:avLst/>
          </a:prstGeom>
          <a:noFill/>
        </p:spPr>
        <p:txBody>
          <a:bodyPr wrap="square" rtlCol="0">
            <a:spAutoFit/>
          </a:bodyPr>
          <a:lstStyle/>
          <a:p>
            <a:pPr marL="285750" indent="-285750">
              <a:buFont typeface="Arial" pitchFamily="34" charset="0"/>
              <a:buChar char="•"/>
            </a:pPr>
            <a:r>
              <a:rPr lang="en-US" sz="3200" dirty="0"/>
              <a:t>Pay attention to </a:t>
            </a:r>
            <a:r>
              <a:rPr lang="en-US" sz="3200" b="1" i="1" u="sng" dirty="0">
                <a:solidFill>
                  <a:srgbClr val="FF0000"/>
                </a:solidFill>
              </a:rPr>
              <a:t>coefficients</a:t>
            </a:r>
            <a:r>
              <a:rPr lang="en-US" sz="3200" dirty="0"/>
              <a:t> in your equation- if 2 moles of a compound are formed, the </a:t>
            </a:r>
            <a:r>
              <a:rPr lang="en-US" sz="3200" dirty="0" err="1">
                <a:latin typeface="Symbol" pitchFamily="18" charset="2"/>
              </a:rPr>
              <a:t>D</a:t>
            </a:r>
            <a:r>
              <a:rPr lang="en-US" sz="3200" dirty="0" err="1"/>
              <a:t>H</a:t>
            </a:r>
            <a:r>
              <a:rPr lang="en-US" sz="3200" baseline="-25000" dirty="0" err="1"/>
              <a:t>f</a:t>
            </a:r>
            <a:r>
              <a:rPr lang="en-US" sz="3200" dirty="0"/>
              <a:t> must be multiplied by 2! </a:t>
            </a:r>
          </a:p>
          <a:p>
            <a:pPr marL="285750" indent="-285750">
              <a:buFont typeface="Arial" pitchFamily="34" charset="0"/>
              <a:buChar char="•"/>
            </a:pPr>
            <a:r>
              <a:rPr lang="en-US" sz="3200" dirty="0"/>
              <a:t>The </a:t>
            </a:r>
            <a:r>
              <a:rPr lang="en-US" sz="3200" b="1" i="1" u="sng" dirty="0">
                <a:solidFill>
                  <a:srgbClr val="FF0000"/>
                </a:solidFill>
              </a:rPr>
              <a:t>sign</a:t>
            </a:r>
            <a:r>
              <a:rPr lang="en-US" sz="3200" dirty="0"/>
              <a:t> matters! Make sure you keep +’s positive and –’s negative.  The more negative the value of </a:t>
            </a:r>
            <a:r>
              <a:rPr lang="en-US" sz="3200" dirty="0" err="1"/>
              <a:t>ΔHº</a:t>
            </a:r>
            <a:r>
              <a:rPr lang="en-US" sz="3200" baseline="-25000" dirty="0" err="1"/>
              <a:t>f</a:t>
            </a:r>
            <a:r>
              <a:rPr lang="en-US" sz="3200" dirty="0"/>
              <a:t>, the more stable the compound. </a:t>
            </a:r>
          </a:p>
          <a:p>
            <a:pPr marL="285750" indent="-285750">
              <a:buFont typeface="Arial" pitchFamily="34" charset="0"/>
              <a:buChar char="•"/>
            </a:pPr>
            <a:r>
              <a:rPr lang="en-US" sz="3200" dirty="0"/>
              <a:t>Note that </a:t>
            </a:r>
            <a:r>
              <a:rPr lang="en-US" sz="3200" dirty="0" err="1"/>
              <a:t>ΔH</a:t>
            </a:r>
            <a:r>
              <a:rPr lang="en-US" sz="3200" baseline="-25000" dirty="0" err="1"/>
              <a:t>f</a:t>
            </a:r>
            <a:r>
              <a:rPr lang="en-US" sz="3200" dirty="0"/>
              <a:t> for free </a:t>
            </a:r>
            <a:r>
              <a:rPr lang="en-US" sz="3200" b="1" i="1" u="sng" dirty="0">
                <a:solidFill>
                  <a:srgbClr val="FF0000"/>
                </a:solidFill>
              </a:rPr>
              <a:t>elements</a:t>
            </a:r>
            <a:r>
              <a:rPr lang="en-US" sz="3200" dirty="0"/>
              <a:t> is zero (0.00 kJ/</a:t>
            </a:r>
            <a:r>
              <a:rPr lang="en-US" sz="3200" dirty="0" err="1"/>
              <a:t>mol</a:t>
            </a:r>
            <a:r>
              <a:rPr lang="en-US" sz="3200" dirty="0"/>
              <a:t>).  (Examples: C, Na, O</a:t>
            </a:r>
            <a:r>
              <a:rPr lang="en-US" sz="3200" baseline="-25000" dirty="0"/>
              <a:t>2</a:t>
            </a:r>
            <a:r>
              <a:rPr lang="en-US" sz="3200" dirty="0"/>
              <a:t>, Cl</a:t>
            </a:r>
            <a:r>
              <a:rPr lang="en-US" sz="3200" baseline="-25000" dirty="0"/>
              <a:t>2</a:t>
            </a:r>
            <a:r>
              <a:rPr lang="en-US" sz="3200" dirty="0"/>
              <a:t>)</a:t>
            </a:r>
          </a:p>
          <a:p>
            <a:endParaRPr lang="en-US" dirty="0"/>
          </a:p>
        </p:txBody>
      </p:sp>
      <p:sp>
        <p:nvSpPr>
          <p:cNvPr id="3" name="TextBox 2"/>
          <p:cNvSpPr txBox="1"/>
          <p:nvPr/>
        </p:nvSpPr>
        <p:spPr>
          <a:xfrm>
            <a:off x="2079171" y="685801"/>
            <a:ext cx="7924800" cy="646331"/>
          </a:xfrm>
          <a:prstGeom prst="rect">
            <a:avLst/>
          </a:prstGeom>
          <a:noFill/>
        </p:spPr>
        <p:txBody>
          <a:bodyPr wrap="square" rtlCol="0">
            <a:spAutoFit/>
          </a:bodyPr>
          <a:lstStyle/>
          <a:p>
            <a:pPr algn="ctr"/>
            <a:r>
              <a:rPr lang="en-US" sz="3600" dirty="0"/>
              <a:t>A few rules for this equation:</a:t>
            </a:r>
          </a:p>
        </p:txBody>
      </p:sp>
    </p:spTree>
    <p:extLst>
      <p:ext uri="{BB962C8B-B14F-4D97-AF65-F5344CB8AC3E}">
        <p14:creationId xmlns:p14="http://schemas.microsoft.com/office/powerpoint/2010/main" val="2457973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Text Box 3"/>
          <p:cNvSpPr txBox="1">
            <a:spLocks noChangeArrowheads="1"/>
          </p:cNvSpPr>
          <p:nvPr/>
        </p:nvSpPr>
        <p:spPr bwMode="auto">
          <a:xfrm>
            <a:off x="10055226" y="6384925"/>
            <a:ext cx="505267" cy="400110"/>
          </a:xfrm>
          <a:prstGeom prst="rect">
            <a:avLst/>
          </a:prstGeom>
          <a:noFill/>
          <a:ln w="9525">
            <a:noFill/>
            <a:miter lim="800000"/>
            <a:headEnd/>
            <a:tailEnd/>
          </a:ln>
          <a:effectLst/>
        </p:spPr>
        <p:txBody>
          <a:bodyPr wrap="none">
            <a:spAutoFit/>
          </a:bodyPr>
          <a:lstStyle/>
          <a:p>
            <a:r>
              <a:rPr lang="en-US" altLang="en-US" sz="2000"/>
              <a:t>6.5</a:t>
            </a:r>
          </a:p>
        </p:txBody>
      </p:sp>
      <p:pic>
        <p:nvPicPr>
          <p:cNvPr id="18436" name="Picture 4"/>
          <p:cNvPicPr>
            <a:picLocks noChangeAspect="1" noChangeArrowheads="1"/>
          </p:cNvPicPr>
          <p:nvPr/>
        </p:nvPicPr>
        <p:blipFill>
          <a:blip r:embed="rId2" cstate="print"/>
          <a:srcRect/>
          <a:stretch>
            <a:fillRect/>
          </a:stretch>
        </p:blipFill>
        <p:spPr bwMode="auto">
          <a:xfrm>
            <a:off x="2565400" y="88900"/>
            <a:ext cx="7086600" cy="6673850"/>
          </a:xfrm>
          <a:prstGeom prst="rect">
            <a:avLst/>
          </a:prstGeom>
          <a:noFill/>
          <a:ln w="9525">
            <a:noFill/>
            <a:miter lim="800000"/>
            <a:headEnd/>
            <a:tailEnd/>
          </a:ln>
          <a:effectLst/>
        </p:spPr>
      </p:pic>
    </p:spTree>
    <p:extLst>
      <p:ext uri="{BB962C8B-B14F-4D97-AF65-F5344CB8AC3E}">
        <p14:creationId xmlns:p14="http://schemas.microsoft.com/office/powerpoint/2010/main" val="2401740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304800"/>
            <a:ext cx="8229600" cy="4708981"/>
          </a:xfrm>
          <a:prstGeom prst="rect">
            <a:avLst/>
          </a:prstGeom>
          <a:noFill/>
        </p:spPr>
        <p:txBody>
          <a:bodyPr wrap="square" rtlCol="0">
            <a:spAutoFit/>
          </a:bodyPr>
          <a:lstStyle/>
          <a:p>
            <a:r>
              <a:rPr lang="en-US" sz="2800" dirty="0"/>
              <a:t>Calculate the heat of reaction of sulfur trioxide: </a:t>
            </a:r>
          </a:p>
          <a:p>
            <a:pPr algn="ctr"/>
            <a:r>
              <a:rPr lang="en-US" sz="2800" dirty="0"/>
              <a:t>2 SO</a:t>
            </a:r>
            <a:r>
              <a:rPr lang="en-US" sz="2800" baseline="-25000" dirty="0"/>
              <a:t>2</a:t>
            </a:r>
            <a:r>
              <a:rPr lang="en-US" sz="2800" dirty="0"/>
              <a:t>(</a:t>
            </a:r>
            <a:r>
              <a:rPr lang="en-US" sz="2800" i="1" dirty="0"/>
              <a:t>g</a:t>
            </a:r>
            <a:r>
              <a:rPr lang="en-US" sz="2800" dirty="0"/>
              <a:t>) +  O</a:t>
            </a:r>
            <a:r>
              <a:rPr lang="en-US" sz="2800" baseline="-25000" dirty="0"/>
              <a:t>2</a:t>
            </a:r>
            <a:r>
              <a:rPr lang="en-US" sz="2800" dirty="0"/>
              <a:t>(</a:t>
            </a:r>
            <a:r>
              <a:rPr lang="en-US" sz="2800" i="1" dirty="0"/>
              <a:t>g</a:t>
            </a:r>
            <a:r>
              <a:rPr lang="en-US" sz="2800" dirty="0"/>
              <a:t>) </a:t>
            </a:r>
            <a:r>
              <a:rPr lang="en-US" sz="2800" dirty="0">
                <a:sym typeface="Wingdings"/>
              </a:rPr>
              <a:t></a:t>
            </a:r>
            <a:r>
              <a:rPr lang="en-US" sz="2800" dirty="0"/>
              <a:t> 2 SO</a:t>
            </a:r>
            <a:r>
              <a:rPr lang="en-US" sz="2800" baseline="-25000" dirty="0"/>
              <a:t>3</a:t>
            </a:r>
            <a:r>
              <a:rPr lang="en-US" sz="2800" dirty="0"/>
              <a:t>(</a:t>
            </a:r>
            <a:r>
              <a:rPr lang="en-US" sz="2800" i="1" dirty="0"/>
              <a:t>g</a:t>
            </a:r>
            <a:r>
              <a:rPr lang="en-US" sz="2800" dirty="0"/>
              <a:t>)</a:t>
            </a:r>
          </a:p>
          <a:p>
            <a:r>
              <a:rPr lang="en-US" sz="2800" dirty="0"/>
              <a:t> </a:t>
            </a:r>
          </a:p>
          <a:p>
            <a:r>
              <a:rPr lang="en-US" sz="2800" dirty="0"/>
              <a:t>from the reference table: </a:t>
            </a:r>
            <a:r>
              <a:rPr lang="en-US" sz="2800" dirty="0" err="1">
                <a:latin typeface="Symbol" pitchFamily="18" charset="2"/>
              </a:rPr>
              <a:t>D</a:t>
            </a:r>
            <a:r>
              <a:rPr lang="en-US" sz="2800" dirty="0" err="1"/>
              <a:t>H°</a:t>
            </a:r>
            <a:r>
              <a:rPr lang="en-US" sz="2800" baseline="-25000" dirty="0" err="1"/>
              <a:t>f</a:t>
            </a:r>
            <a:r>
              <a:rPr lang="en-US" sz="2800" dirty="0"/>
              <a:t> SO</a:t>
            </a:r>
            <a:r>
              <a:rPr lang="en-US" sz="2800" baseline="-25000" dirty="0"/>
              <a:t>2</a:t>
            </a:r>
            <a:r>
              <a:rPr lang="en-US" sz="2800" dirty="0"/>
              <a:t>(</a:t>
            </a:r>
            <a:r>
              <a:rPr lang="en-US" sz="2800" i="1" dirty="0"/>
              <a:t>g</a:t>
            </a:r>
            <a:r>
              <a:rPr lang="en-US" sz="2800" dirty="0"/>
              <a:t>) = -296.8 kJ/</a:t>
            </a:r>
            <a:r>
              <a:rPr lang="en-US" sz="2800" dirty="0" err="1"/>
              <a:t>mol</a:t>
            </a:r>
            <a:endParaRPr lang="en-US" sz="2800" dirty="0"/>
          </a:p>
          <a:p>
            <a:r>
              <a:rPr lang="en-US" sz="2800" dirty="0"/>
              <a:t>				 </a:t>
            </a:r>
            <a:r>
              <a:rPr lang="en-US" sz="2800" dirty="0" err="1">
                <a:latin typeface="Symbol" pitchFamily="18" charset="2"/>
              </a:rPr>
              <a:t>D</a:t>
            </a:r>
            <a:r>
              <a:rPr lang="en-US" sz="2800" dirty="0" err="1"/>
              <a:t>H°</a:t>
            </a:r>
            <a:r>
              <a:rPr lang="en-US" sz="2800" baseline="-25000" dirty="0" err="1"/>
              <a:t>f</a:t>
            </a:r>
            <a:r>
              <a:rPr lang="en-US" sz="2800" dirty="0"/>
              <a:t> O</a:t>
            </a:r>
            <a:r>
              <a:rPr lang="en-US" sz="2800" baseline="-25000" dirty="0"/>
              <a:t>2</a:t>
            </a:r>
            <a:r>
              <a:rPr lang="en-US" sz="2800" dirty="0"/>
              <a:t>(</a:t>
            </a:r>
            <a:r>
              <a:rPr lang="en-US" sz="2800" i="1" dirty="0"/>
              <a:t>g</a:t>
            </a:r>
            <a:r>
              <a:rPr lang="en-US" sz="2800" dirty="0"/>
              <a:t>) = 0.00 kJ/</a:t>
            </a:r>
            <a:r>
              <a:rPr lang="en-US" sz="2800" dirty="0" err="1"/>
              <a:t>mol</a:t>
            </a:r>
            <a:endParaRPr lang="en-US" sz="2800" dirty="0"/>
          </a:p>
          <a:p>
            <a:r>
              <a:rPr lang="en-US" sz="2800" dirty="0"/>
              <a:t>				 </a:t>
            </a:r>
            <a:r>
              <a:rPr lang="en-US" sz="2800" dirty="0" err="1">
                <a:latin typeface="Symbol" pitchFamily="18" charset="2"/>
              </a:rPr>
              <a:t>D</a:t>
            </a:r>
            <a:r>
              <a:rPr lang="en-US" sz="2800" dirty="0" err="1"/>
              <a:t>H°</a:t>
            </a:r>
            <a:r>
              <a:rPr lang="en-US" sz="2800" baseline="-25000" dirty="0" err="1"/>
              <a:t>f</a:t>
            </a:r>
            <a:r>
              <a:rPr lang="en-US" sz="2800" dirty="0"/>
              <a:t> SO</a:t>
            </a:r>
            <a:r>
              <a:rPr lang="en-US" sz="2800" baseline="-25000" dirty="0"/>
              <a:t>3</a:t>
            </a:r>
            <a:r>
              <a:rPr lang="en-US" sz="2800" dirty="0"/>
              <a:t>(</a:t>
            </a:r>
            <a:r>
              <a:rPr lang="en-US" sz="2800" i="1" dirty="0"/>
              <a:t>g</a:t>
            </a:r>
            <a:r>
              <a:rPr lang="en-US" sz="2800" dirty="0"/>
              <a:t>) = -395.7 kJ/</a:t>
            </a:r>
            <a:r>
              <a:rPr lang="en-US" sz="2800" dirty="0" err="1"/>
              <a:t>mol</a:t>
            </a:r>
            <a:endParaRPr lang="en-US" sz="2800" dirty="0"/>
          </a:p>
          <a:p>
            <a:endParaRPr lang="en-US" sz="2800" dirty="0"/>
          </a:p>
          <a:p>
            <a:r>
              <a:rPr lang="en-US" sz="2800" dirty="0" err="1"/>
              <a:t>ΔH</a:t>
            </a:r>
            <a:r>
              <a:rPr lang="en-US" sz="2800" baseline="-25000" dirty="0" err="1"/>
              <a:t>rxn</a:t>
            </a:r>
            <a:r>
              <a:rPr lang="en-US" sz="2800" dirty="0"/>
              <a:t> = Σ</a:t>
            </a:r>
            <a:r>
              <a:rPr lang="en-US" sz="2800" dirty="0">
                <a:latin typeface="Symbol" pitchFamily="18" charset="2"/>
              </a:rPr>
              <a:t> </a:t>
            </a:r>
            <a:r>
              <a:rPr lang="en-US" sz="2800" dirty="0" err="1">
                <a:latin typeface="Symbol" pitchFamily="18" charset="2"/>
              </a:rPr>
              <a:t>D</a:t>
            </a:r>
            <a:r>
              <a:rPr lang="en-US" sz="2800" dirty="0" err="1"/>
              <a:t>H°</a:t>
            </a:r>
            <a:r>
              <a:rPr lang="en-US" sz="2800" baseline="-25000" dirty="0" err="1"/>
              <a:t>f</a:t>
            </a:r>
            <a:r>
              <a:rPr lang="en-US" sz="2800" baseline="-25000" dirty="0"/>
              <a:t> </a:t>
            </a:r>
            <a:r>
              <a:rPr lang="en-US" sz="2800" dirty="0"/>
              <a:t>(products) – Σ</a:t>
            </a:r>
            <a:r>
              <a:rPr lang="en-US" sz="2800" dirty="0">
                <a:latin typeface="Symbol" pitchFamily="18" charset="2"/>
              </a:rPr>
              <a:t> </a:t>
            </a:r>
            <a:r>
              <a:rPr lang="en-US" sz="2800" dirty="0" err="1">
                <a:latin typeface="Symbol" pitchFamily="18" charset="2"/>
              </a:rPr>
              <a:t>D</a:t>
            </a:r>
            <a:r>
              <a:rPr lang="en-US" sz="2800" dirty="0" err="1"/>
              <a:t>H°</a:t>
            </a:r>
            <a:r>
              <a:rPr lang="en-US" sz="2800" baseline="-25000" dirty="0" err="1"/>
              <a:t>f</a:t>
            </a:r>
            <a:r>
              <a:rPr lang="en-US" sz="2800" baseline="-25000" dirty="0"/>
              <a:t> </a:t>
            </a:r>
            <a:r>
              <a:rPr lang="en-US" sz="2800" dirty="0"/>
              <a:t>(reactants) </a:t>
            </a:r>
          </a:p>
          <a:p>
            <a:r>
              <a:rPr lang="en-US" sz="2800" dirty="0"/>
              <a:t> = (2* -395.7 kJ/</a:t>
            </a:r>
            <a:r>
              <a:rPr lang="en-US" sz="2800" dirty="0" err="1"/>
              <a:t>mol</a:t>
            </a:r>
            <a:r>
              <a:rPr lang="en-US" sz="2800" dirty="0"/>
              <a:t>) – (2* -296.8 kJ/</a:t>
            </a:r>
            <a:r>
              <a:rPr lang="en-US" sz="2800" dirty="0" err="1"/>
              <a:t>mol</a:t>
            </a:r>
            <a:r>
              <a:rPr lang="en-US" sz="2800" dirty="0"/>
              <a:t> + 0.0)</a:t>
            </a:r>
          </a:p>
          <a:p>
            <a:r>
              <a:rPr lang="en-US" sz="2800" dirty="0"/>
              <a:t> = -197.8 kJ/</a:t>
            </a:r>
            <a:r>
              <a:rPr lang="en-US" sz="2800" dirty="0" err="1"/>
              <a:t>mol</a:t>
            </a:r>
            <a:endParaRPr lang="en-US" sz="2800" dirty="0"/>
          </a:p>
          <a:p>
            <a:endParaRPr lang="en-US" sz="2000" dirty="0"/>
          </a:p>
        </p:txBody>
      </p:sp>
    </p:spTree>
    <p:extLst>
      <p:ext uri="{BB962C8B-B14F-4D97-AF65-F5344CB8AC3E}">
        <p14:creationId xmlns:p14="http://schemas.microsoft.com/office/powerpoint/2010/main" val="115079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2057400" y="-4354"/>
            <a:ext cx="8153400" cy="104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spcBef>
                <a:spcPct val="20000"/>
              </a:spcBef>
            </a:pPr>
            <a:r>
              <a:rPr lang="en-US" sz="2800" dirty="0"/>
              <a:t>Calculate the heat of reaction:</a:t>
            </a:r>
          </a:p>
          <a:p>
            <a:pPr algn="ctr" eaLnBrk="0" hangingPunct="0">
              <a:spcBef>
                <a:spcPct val="20000"/>
              </a:spcBef>
            </a:pPr>
            <a:r>
              <a:rPr lang="en-US" sz="2800" dirty="0"/>
              <a:t> C</a:t>
            </a:r>
            <a:r>
              <a:rPr lang="en-US" sz="2800" baseline="-25000" dirty="0"/>
              <a:t>3</a:t>
            </a:r>
            <a:r>
              <a:rPr lang="en-US" sz="2800" dirty="0"/>
              <a:t>H</a:t>
            </a:r>
            <a:r>
              <a:rPr lang="en-US" sz="2800" baseline="-25000" dirty="0"/>
              <a:t>8</a:t>
            </a:r>
            <a:r>
              <a:rPr lang="en-US" sz="2800" dirty="0"/>
              <a:t>(g) + 5O</a:t>
            </a:r>
            <a:r>
              <a:rPr lang="en-US" sz="2800" baseline="-25000" dirty="0"/>
              <a:t>2</a:t>
            </a:r>
            <a:r>
              <a:rPr lang="en-US" sz="2800" dirty="0"/>
              <a:t>(g) </a:t>
            </a:r>
            <a:r>
              <a:rPr lang="en-US" sz="2800" dirty="0">
                <a:sym typeface="Symbol" charset="2"/>
              </a:rPr>
              <a:t> 3CO</a:t>
            </a:r>
            <a:r>
              <a:rPr lang="en-US" sz="2800" baseline="-25000" dirty="0">
                <a:sym typeface="Symbol" charset="2"/>
              </a:rPr>
              <a:t>2</a:t>
            </a:r>
            <a:r>
              <a:rPr lang="en-US" sz="2800" dirty="0">
                <a:sym typeface="Symbol" charset="2"/>
              </a:rPr>
              <a:t>(g) + 4H</a:t>
            </a:r>
            <a:r>
              <a:rPr lang="en-US" sz="2800" baseline="-25000" dirty="0">
                <a:sym typeface="Symbol" charset="2"/>
              </a:rPr>
              <a:t>2</a:t>
            </a:r>
            <a:r>
              <a:rPr lang="en-US" sz="2800" dirty="0">
                <a:sym typeface="Symbol" charset="2"/>
              </a:rPr>
              <a:t>O(</a:t>
            </a:r>
            <a:r>
              <a:rPr lang="en-US" sz="2800" dirty="0">
                <a:sym typeface="WP MathA" pitchFamily="2" charset="2"/>
              </a:rPr>
              <a:t>l</a:t>
            </a:r>
            <a:r>
              <a:rPr lang="en-US" sz="2800" dirty="0">
                <a:sym typeface="Symbol" charset="2"/>
              </a:rPr>
              <a:t>)</a:t>
            </a:r>
          </a:p>
        </p:txBody>
      </p:sp>
      <p:pic>
        <p:nvPicPr>
          <p:cNvPr id="40964" name="Picture 3" descr="TB05_T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 y="1191846"/>
            <a:ext cx="11049000" cy="5666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691342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fade">
                                      <p:cBhvr>
                                        <p:cTn id="7" dur="1000"/>
                                        <p:tgtEl>
                                          <p:spTgt spid="40964"/>
                                        </p:tgtEl>
                                      </p:cBhvr>
                                    </p:animEffect>
                                    <p:anim calcmode="lin" valueType="num">
                                      <p:cBhvr>
                                        <p:cTn id="8" dur="1000" fill="hold"/>
                                        <p:tgtEl>
                                          <p:spTgt spid="40964"/>
                                        </p:tgtEl>
                                        <p:attrNameLst>
                                          <p:attrName>ppt_x</p:attrName>
                                        </p:attrNameLst>
                                      </p:cBhvr>
                                      <p:tavLst>
                                        <p:tav tm="0">
                                          <p:val>
                                            <p:strVal val="#ppt_x"/>
                                          </p:val>
                                        </p:tav>
                                        <p:tav tm="100000">
                                          <p:val>
                                            <p:strVal val="#ppt_x"/>
                                          </p:val>
                                        </p:tav>
                                      </p:tavLst>
                                    </p:anim>
                                    <p:anim calcmode="lin" valueType="num">
                                      <p:cBhvr>
                                        <p:cTn id="9" dur="1000" fill="hold"/>
                                        <p:tgtEl>
                                          <p:spTgt spid="4096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40962"/>
                                        </p:tgtEl>
                                        <p:attrNameLst>
                                          <p:attrName>style.visibility</p:attrName>
                                        </p:attrNameLst>
                                      </p:cBhvr>
                                      <p:to>
                                        <p:strVal val="visible"/>
                                      </p:to>
                                    </p:set>
                                    <p:animEffect transition="in" filter="fade">
                                      <p:cBhvr>
                                        <p:cTn id="14"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ChangeArrowheads="1"/>
          </p:cNvSpPr>
          <p:nvPr/>
        </p:nvSpPr>
        <p:spPr bwMode="auto">
          <a:xfrm>
            <a:off x="914400" y="-4354"/>
            <a:ext cx="10668000" cy="336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eaLnBrk="0" hangingPunct="0">
              <a:spcBef>
                <a:spcPct val="20000"/>
              </a:spcBef>
            </a:pPr>
            <a:r>
              <a:rPr lang="en-US" sz="2800" dirty="0"/>
              <a:t>Calculate the heat of reaction:</a:t>
            </a:r>
          </a:p>
          <a:p>
            <a:pPr algn="ctr" eaLnBrk="0" hangingPunct="0">
              <a:spcBef>
                <a:spcPct val="20000"/>
              </a:spcBef>
            </a:pPr>
            <a:r>
              <a:rPr lang="en-US" sz="2800" dirty="0"/>
              <a:t> C</a:t>
            </a:r>
            <a:r>
              <a:rPr lang="en-US" sz="2800" baseline="-25000" dirty="0"/>
              <a:t>3</a:t>
            </a:r>
            <a:r>
              <a:rPr lang="en-US" sz="2800" dirty="0"/>
              <a:t>H</a:t>
            </a:r>
            <a:r>
              <a:rPr lang="en-US" sz="2800" baseline="-25000" dirty="0"/>
              <a:t>8</a:t>
            </a:r>
            <a:r>
              <a:rPr lang="en-US" sz="2800" dirty="0"/>
              <a:t>(g) + 5O</a:t>
            </a:r>
            <a:r>
              <a:rPr lang="en-US" sz="2800" baseline="-25000" dirty="0"/>
              <a:t>2</a:t>
            </a:r>
            <a:r>
              <a:rPr lang="en-US" sz="2800" dirty="0"/>
              <a:t>(g) </a:t>
            </a:r>
            <a:r>
              <a:rPr lang="en-US" sz="2800" dirty="0">
                <a:sym typeface="Symbol" charset="2"/>
              </a:rPr>
              <a:t> 3CO</a:t>
            </a:r>
            <a:r>
              <a:rPr lang="en-US" sz="2800" baseline="-25000" dirty="0">
                <a:sym typeface="Symbol" charset="2"/>
              </a:rPr>
              <a:t>2</a:t>
            </a:r>
            <a:r>
              <a:rPr lang="en-US" sz="2800" dirty="0">
                <a:sym typeface="Symbol" charset="2"/>
              </a:rPr>
              <a:t>(g) + 4H</a:t>
            </a:r>
            <a:r>
              <a:rPr lang="en-US" sz="2800" baseline="-25000" dirty="0">
                <a:sym typeface="Symbol" charset="2"/>
              </a:rPr>
              <a:t>2</a:t>
            </a:r>
            <a:r>
              <a:rPr lang="en-US" sz="2800" dirty="0">
                <a:sym typeface="Symbol" charset="2"/>
              </a:rPr>
              <a:t>O(</a:t>
            </a:r>
            <a:r>
              <a:rPr lang="en-US" sz="2800" dirty="0">
                <a:sym typeface="WP MathA" pitchFamily="2" charset="2"/>
              </a:rPr>
              <a:t>l</a:t>
            </a:r>
            <a:r>
              <a:rPr lang="en-US" sz="2800" dirty="0">
                <a:sym typeface="Symbol" charset="2"/>
              </a:rPr>
              <a:t>)</a:t>
            </a:r>
          </a:p>
          <a:p>
            <a:pPr algn="ctr" eaLnBrk="0" hangingPunct="0">
              <a:spcBef>
                <a:spcPct val="20000"/>
              </a:spcBef>
            </a:pPr>
            <a:endParaRPr lang="en-US" sz="2800" dirty="0">
              <a:sym typeface="Symbol" charset="2"/>
            </a:endParaRPr>
          </a:p>
          <a:p>
            <a:r>
              <a:rPr lang="en-US" sz="2800" dirty="0" err="1"/>
              <a:t>ΔH</a:t>
            </a:r>
            <a:r>
              <a:rPr lang="en-US" sz="2800" baseline="-25000" dirty="0" err="1"/>
              <a:t>rxn</a:t>
            </a:r>
            <a:r>
              <a:rPr lang="en-US" sz="2800" dirty="0"/>
              <a:t> = Σ</a:t>
            </a:r>
            <a:r>
              <a:rPr lang="en-US" sz="2800" dirty="0">
                <a:latin typeface="Symbol" pitchFamily="18" charset="2"/>
              </a:rPr>
              <a:t> </a:t>
            </a:r>
            <a:r>
              <a:rPr lang="en-US" sz="2800" dirty="0" err="1">
                <a:latin typeface="Symbol" pitchFamily="18" charset="2"/>
              </a:rPr>
              <a:t>D</a:t>
            </a:r>
            <a:r>
              <a:rPr lang="en-US" sz="2800" dirty="0" err="1"/>
              <a:t>H°</a:t>
            </a:r>
            <a:r>
              <a:rPr lang="en-US" sz="2800" baseline="-25000" dirty="0" err="1"/>
              <a:t>f</a:t>
            </a:r>
            <a:r>
              <a:rPr lang="en-US" sz="2800" baseline="-25000" dirty="0"/>
              <a:t> </a:t>
            </a:r>
            <a:r>
              <a:rPr lang="en-US" sz="2800" dirty="0"/>
              <a:t>(products) – Σ</a:t>
            </a:r>
            <a:r>
              <a:rPr lang="en-US" sz="2800" dirty="0">
                <a:latin typeface="Symbol" pitchFamily="18" charset="2"/>
              </a:rPr>
              <a:t> </a:t>
            </a:r>
            <a:r>
              <a:rPr lang="en-US" sz="2800" dirty="0" err="1">
                <a:latin typeface="Symbol" pitchFamily="18" charset="2"/>
              </a:rPr>
              <a:t>D</a:t>
            </a:r>
            <a:r>
              <a:rPr lang="en-US" sz="2800" dirty="0" err="1"/>
              <a:t>H°</a:t>
            </a:r>
            <a:r>
              <a:rPr lang="en-US" sz="2800" baseline="-25000" dirty="0" err="1"/>
              <a:t>f</a:t>
            </a:r>
            <a:r>
              <a:rPr lang="en-US" sz="2800" baseline="-25000" dirty="0"/>
              <a:t> </a:t>
            </a:r>
            <a:r>
              <a:rPr lang="en-US" sz="2800" dirty="0"/>
              <a:t>(reactants) </a:t>
            </a:r>
          </a:p>
          <a:p>
            <a:r>
              <a:rPr lang="en-US" sz="2800" dirty="0"/>
              <a:t> = (3* -393.5 kJ/</a:t>
            </a:r>
            <a:r>
              <a:rPr lang="en-US" sz="2800" dirty="0" err="1"/>
              <a:t>mol</a:t>
            </a:r>
            <a:r>
              <a:rPr lang="en-US" sz="2800" dirty="0"/>
              <a:t> + 4 * 285.8 ) – (-103.8 kJ/</a:t>
            </a:r>
            <a:r>
              <a:rPr lang="en-US" sz="2800" dirty="0" err="1"/>
              <a:t>mol</a:t>
            </a:r>
            <a:r>
              <a:rPr lang="en-US" sz="2800" dirty="0"/>
              <a:t> + 5* 0.0)</a:t>
            </a:r>
          </a:p>
          <a:p>
            <a:r>
              <a:rPr lang="en-US" sz="2800" dirty="0"/>
              <a:t> = -2219.9 kJ/</a:t>
            </a:r>
            <a:r>
              <a:rPr lang="en-US" sz="2800" dirty="0" err="1"/>
              <a:t>mol</a:t>
            </a:r>
            <a:endParaRPr lang="en-US" sz="2800" dirty="0"/>
          </a:p>
          <a:p>
            <a:pPr algn="ctr" eaLnBrk="0" hangingPunct="0">
              <a:spcBef>
                <a:spcPct val="20000"/>
              </a:spcBef>
            </a:pPr>
            <a:endParaRPr lang="en-US" sz="2800" dirty="0">
              <a:sym typeface="Symbol" charset="2"/>
            </a:endParaRPr>
          </a:p>
        </p:txBody>
      </p:sp>
    </p:spTree>
    <p:extLst>
      <p:ext uri="{BB962C8B-B14F-4D97-AF65-F5344CB8AC3E}">
        <p14:creationId xmlns:p14="http://schemas.microsoft.com/office/powerpoint/2010/main" val="6886422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962"/>
                                        </p:tgtEl>
                                        <p:attrNameLst>
                                          <p:attrName>style.visibility</p:attrName>
                                        </p:attrNameLst>
                                      </p:cBhvr>
                                      <p:to>
                                        <p:strVal val="visible"/>
                                      </p:to>
                                    </p:set>
                                    <p:animEffect transition="in" filter="fade">
                                      <p:cBhvr>
                                        <p:cTn id="7"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AA91-5CA3-44E7-BDE2-B834D9EEA7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E8C841-A216-445D-84DE-6FAF79E0F5B6}"/>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A987FFD-C848-431C-8B5A-C1BFE5CDC0E1}"/>
              </a:ext>
            </a:extLst>
          </p:cNvPr>
          <p:cNvPicPr>
            <a:picLocks noChangeAspect="1"/>
          </p:cNvPicPr>
          <p:nvPr/>
        </p:nvPicPr>
        <p:blipFill>
          <a:blip r:embed="rId2"/>
          <a:stretch>
            <a:fillRect/>
          </a:stretch>
        </p:blipFill>
        <p:spPr>
          <a:xfrm>
            <a:off x="662630" y="838200"/>
            <a:ext cx="10866740" cy="5410200"/>
          </a:xfrm>
          <a:prstGeom prst="rect">
            <a:avLst/>
          </a:prstGeom>
        </p:spPr>
      </p:pic>
    </p:spTree>
    <p:extLst>
      <p:ext uri="{BB962C8B-B14F-4D97-AF65-F5344CB8AC3E}">
        <p14:creationId xmlns:p14="http://schemas.microsoft.com/office/powerpoint/2010/main" val="10641205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C2674-75A6-4CF1-BD80-3686F3E1A9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2970927-E41E-48A1-BDC3-1B3595EF498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0DBF78C-5579-41F5-97DB-4AE5A0219C09}"/>
              </a:ext>
            </a:extLst>
          </p:cNvPr>
          <p:cNvPicPr>
            <a:picLocks noChangeAspect="1"/>
          </p:cNvPicPr>
          <p:nvPr/>
        </p:nvPicPr>
        <p:blipFill>
          <a:blip r:embed="rId2"/>
          <a:stretch>
            <a:fillRect/>
          </a:stretch>
        </p:blipFill>
        <p:spPr>
          <a:xfrm>
            <a:off x="533400" y="609600"/>
            <a:ext cx="11262265" cy="5715000"/>
          </a:xfrm>
          <a:prstGeom prst="rect">
            <a:avLst/>
          </a:prstGeom>
        </p:spPr>
      </p:pic>
    </p:spTree>
    <p:extLst>
      <p:ext uri="{BB962C8B-B14F-4D97-AF65-F5344CB8AC3E}">
        <p14:creationId xmlns:p14="http://schemas.microsoft.com/office/powerpoint/2010/main" val="36244211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1371600" y="32657"/>
            <a:ext cx="8991600" cy="579438"/>
          </a:xfrm>
        </p:spPr>
        <p:txBody>
          <a:bodyPr/>
          <a:lstStyle/>
          <a:p>
            <a:r>
              <a:rPr lang="en-US" altLang="en-US" sz="4000"/>
              <a:t>Enthalpy </a:t>
            </a:r>
            <a:r>
              <a:rPr lang="en-US" altLang="en-US" sz="4000" dirty="0"/>
              <a:t>of Reaction from Bond Energies</a:t>
            </a:r>
          </a:p>
        </p:txBody>
      </p:sp>
      <p:sp>
        <p:nvSpPr>
          <p:cNvPr id="4099" name="Rectangle 3"/>
          <p:cNvSpPr>
            <a:spLocks noGrp="1" noChangeArrowheads="1"/>
          </p:cNvSpPr>
          <p:nvPr>
            <p:ph idx="1"/>
          </p:nvPr>
        </p:nvSpPr>
        <p:spPr>
          <a:xfrm>
            <a:off x="609600" y="762000"/>
            <a:ext cx="11201400" cy="5638800"/>
          </a:xfrm>
        </p:spPr>
        <p:txBody>
          <a:bodyPr/>
          <a:lstStyle/>
          <a:p>
            <a:r>
              <a:rPr lang="en-US" altLang="en-US" sz="2800" dirty="0"/>
              <a:t>Chemical reactions involve a combination of </a:t>
            </a:r>
            <a:r>
              <a:rPr lang="en-US" altLang="en-US" sz="2800" dirty="0">
                <a:solidFill>
                  <a:srgbClr val="FF0000"/>
                </a:solidFill>
              </a:rPr>
              <a:t>breaking bonds </a:t>
            </a:r>
            <a:r>
              <a:rPr lang="en-US" altLang="en-US" sz="2800" dirty="0"/>
              <a:t>(always </a:t>
            </a:r>
            <a:r>
              <a:rPr lang="en-US" altLang="en-US" sz="2800" dirty="0">
                <a:solidFill>
                  <a:srgbClr val="FF0000"/>
                </a:solidFill>
              </a:rPr>
              <a:t>endo</a:t>
            </a:r>
            <a:r>
              <a:rPr lang="en-US" altLang="en-US" sz="2800" dirty="0"/>
              <a:t>thermic- TTB) and </a:t>
            </a:r>
            <a:r>
              <a:rPr lang="en-US" altLang="en-US" sz="2800" dirty="0">
                <a:solidFill>
                  <a:srgbClr val="FF0000"/>
                </a:solidFill>
              </a:rPr>
              <a:t>making new bonds </a:t>
            </a:r>
            <a:r>
              <a:rPr lang="en-US" altLang="en-US" sz="2800" dirty="0"/>
              <a:t>(always </a:t>
            </a:r>
            <a:r>
              <a:rPr lang="en-US" altLang="en-US" sz="2800" dirty="0">
                <a:solidFill>
                  <a:srgbClr val="FF0000"/>
                </a:solidFill>
              </a:rPr>
              <a:t>exo</a:t>
            </a:r>
            <a:r>
              <a:rPr lang="en-US" altLang="en-US" sz="2800" dirty="0"/>
              <a:t>thermic- FTF).</a:t>
            </a:r>
          </a:p>
          <a:p>
            <a:r>
              <a:rPr lang="en-US" altLang="en-US" sz="2800" dirty="0"/>
              <a:t>The </a:t>
            </a:r>
            <a:r>
              <a:rPr lang="en-US" altLang="en-US" sz="2800" dirty="0" err="1">
                <a:latin typeface="Symbol" pitchFamily="18" charset="2"/>
              </a:rPr>
              <a:t>D</a:t>
            </a:r>
            <a:r>
              <a:rPr lang="en-US" altLang="en-US" sz="2800" i="1" dirty="0" err="1"/>
              <a:t>H</a:t>
            </a:r>
            <a:r>
              <a:rPr lang="en-US" altLang="en-US" sz="2800" dirty="0" err="1"/>
              <a:t>°</a:t>
            </a:r>
            <a:r>
              <a:rPr lang="en-US" altLang="en-US" sz="2800" baseline="-25000" dirty="0" err="1"/>
              <a:t>reaction</a:t>
            </a:r>
            <a:r>
              <a:rPr lang="en-US" altLang="en-US" sz="2800" dirty="0"/>
              <a:t> can be estimated by comparing the </a:t>
            </a:r>
            <a:r>
              <a:rPr lang="en-US" altLang="en-US" sz="2800" dirty="0">
                <a:solidFill>
                  <a:srgbClr val="FF0000"/>
                </a:solidFill>
              </a:rPr>
              <a:t>cost</a:t>
            </a:r>
            <a:r>
              <a:rPr lang="en-US" altLang="en-US" sz="2800" dirty="0"/>
              <a:t> of breaking old bonds to the </a:t>
            </a:r>
            <a:r>
              <a:rPr lang="en-US" altLang="en-US" sz="2800" dirty="0">
                <a:solidFill>
                  <a:srgbClr val="FF0000"/>
                </a:solidFill>
              </a:rPr>
              <a:t>income</a:t>
            </a:r>
            <a:r>
              <a:rPr lang="en-US" altLang="en-US" sz="2800" dirty="0"/>
              <a:t> from making new bonds.</a:t>
            </a:r>
          </a:p>
          <a:p>
            <a:r>
              <a:rPr lang="en-US" altLang="en-US" sz="2800" b="1" dirty="0"/>
              <a:t>Bond Energy- </a:t>
            </a:r>
            <a:r>
              <a:rPr lang="en-US" altLang="en-US" sz="2800" dirty="0"/>
              <a:t>The amount of energy it takes to </a:t>
            </a:r>
            <a:r>
              <a:rPr lang="en-US" altLang="en-US" sz="2800" dirty="0">
                <a:solidFill>
                  <a:srgbClr val="FF0000"/>
                </a:solidFill>
              </a:rPr>
              <a:t>break</a:t>
            </a:r>
            <a:r>
              <a:rPr lang="en-US" altLang="en-US" sz="2800" dirty="0"/>
              <a:t> one mole of a specific bond in a compound.</a:t>
            </a:r>
          </a:p>
          <a:p>
            <a:pPr lvl="1"/>
            <a:r>
              <a:rPr lang="en-US" altLang="en-US" dirty="0"/>
              <a:t>Usually measured in the </a:t>
            </a:r>
            <a:r>
              <a:rPr lang="en-US" altLang="en-US" dirty="0">
                <a:solidFill>
                  <a:srgbClr val="FF0000"/>
                </a:solidFill>
              </a:rPr>
              <a:t>gas state</a:t>
            </a:r>
          </a:p>
          <a:p>
            <a:pPr lvl="1"/>
            <a:r>
              <a:rPr lang="en-US" altLang="en-US" dirty="0"/>
              <a:t>Bond breaking is always </a:t>
            </a:r>
            <a:r>
              <a:rPr lang="en-US" altLang="en-US" dirty="0">
                <a:solidFill>
                  <a:srgbClr val="FF0000"/>
                </a:solidFill>
              </a:rPr>
              <a:t>endothermic</a:t>
            </a:r>
            <a:r>
              <a:rPr lang="en-US" altLang="en-US" dirty="0"/>
              <a:t>, so bond energies are </a:t>
            </a:r>
            <a:r>
              <a:rPr lang="en-US" altLang="en-US" dirty="0">
                <a:solidFill>
                  <a:srgbClr val="FF0000"/>
                </a:solidFill>
              </a:rPr>
              <a:t>positive</a:t>
            </a:r>
            <a:r>
              <a:rPr lang="en-US" altLang="en-US" dirty="0"/>
              <a:t> values</a:t>
            </a:r>
          </a:p>
          <a:p>
            <a:pPr lvl="1"/>
            <a:r>
              <a:rPr lang="en-US" altLang="en-US" sz="2800" dirty="0"/>
              <a:t>The actual bond energy depends on the surrounding atoms and other factors, so </a:t>
            </a:r>
            <a:r>
              <a:rPr lang="en-US" altLang="en-US" sz="2800" b="1" dirty="0">
                <a:solidFill>
                  <a:srgbClr val="FF0000"/>
                </a:solidFill>
              </a:rPr>
              <a:t>average bond energies</a:t>
            </a:r>
            <a:r>
              <a:rPr lang="en-US" altLang="en-US" sz="2800" dirty="0">
                <a:solidFill>
                  <a:srgbClr val="FF0000"/>
                </a:solidFill>
              </a:rPr>
              <a:t> </a:t>
            </a:r>
            <a:r>
              <a:rPr lang="en-US" altLang="en-US" sz="2800" dirty="0"/>
              <a:t>to estimate the </a:t>
            </a:r>
            <a:r>
              <a:rPr lang="en-US" altLang="en-US" sz="2800" dirty="0" err="1">
                <a:latin typeface="Symbol" pitchFamily="18" charset="2"/>
              </a:rPr>
              <a:t>D</a:t>
            </a:r>
            <a:r>
              <a:rPr lang="en-US" altLang="en-US" sz="2800" i="1" dirty="0" err="1"/>
              <a:t>H</a:t>
            </a:r>
            <a:r>
              <a:rPr lang="en-US" altLang="en-US" sz="2800" baseline="-25000" dirty="0" err="1"/>
              <a:t>rxn</a:t>
            </a:r>
            <a:r>
              <a:rPr lang="en-US" altLang="en-US" sz="2800" dirty="0"/>
              <a:t>. </a:t>
            </a:r>
          </a:p>
          <a:p>
            <a:pPr lvl="1"/>
            <a:endParaRPr lang="en-US" altLang="en-US" dirty="0"/>
          </a:p>
        </p:txBody>
      </p:sp>
    </p:spTree>
    <p:extLst>
      <p:ext uri="{BB962C8B-B14F-4D97-AF65-F5344CB8AC3E}">
        <p14:creationId xmlns:p14="http://schemas.microsoft.com/office/powerpoint/2010/main" val="52352429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2209800" y="-17417"/>
            <a:ext cx="7772400" cy="838200"/>
          </a:xfrm>
        </p:spPr>
        <p:txBody>
          <a:bodyPr/>
          <a:lstStyle/>
          <a:p>
            <a:r>
              <a:rPr lang="en-US" altLang="en-US" sz="3600" dirty="0"/>
              <a:t>Using Bond Energies to Estimate </a:t>
            </a:r>
            <a:r>
              <a:rPr lang="en-US" altLang="en-US" sz="3600" dirty="0" err="1">
                <a:latin typeface="Symbol" pitchFamily="18" charset="2"/>
              </a:rPr>
              <a:t>D</a:t>
            </a:r>
            <a:r>
              <a:rPr lang="en-US" altLang="en-US" sz="3600" i="1" dirty="0" err="1"/>
              <a:t>H</a:t>
            </a:r>
            <a:r>
              <a:rPr lang="en-US" altLang="en-US" sz="3600" dirty="0" err="1"/>
              <a:t>°</a:t>
            </a:r>
            <a:r>
              <a:rPr lang="en-US" altLang="en-US" sz="3600" baseline="-25000" dirty="0" err="1"/>
              <a:t>rxn</a:t>
            </a:r>
            <a:endParaRPr lang="en-US" altLang="en-US" sz="3600" dirty="0"/>
          </a:p>
        </p:txBody>
      </p:sp>
      <p:sp>
        <p:nvSpPr>
          <p:cNvPr id="5123" name="Rectangle 3"/>
          <p:cNvSpPr>
            <a:spLocks noGrp="1" noChangeArrowheads="1"/>
          </p:cNvSpPr>
          <p:nvPr>
            <p:ph idx="1"/>
          </p:nvPr>
        </p:nvSpPr>
        <p:spPr>
          <a:xfrm>
            <a:off x="13063" y="990600"/>
            <a:ext cx="11340737" cy="5638800"/>
          </a:xfrm>
        </p:spPr>
        <p:txBody>
          <a:bodyPr/>
          <a:lstStyle/>
          <a:p>
            <a:r>
              <a:rPr lang="en-US" altLang="en-US" sz="2800" dirty="0"/>
              <a:t>Because bond energies are averages, </a:t>
            </a:r>
          </a:p>
          <a:p>
            <a:pPr marL="0" indent="0">
              <a:buNone/>
            </a:pPr>
            <a:r>
              <a:rPr lang="en-US" altLang="en-US" sz="2800" dirty="0">
                <a:latin typeface="Symbol" pitchFamily="18" charset="2"/>
              </a:rPr>
              <a:t>	</a:t>
            </a:r>
            <a:r>
              <a:rPr lang="en-US" altLang="en-US" sz="2800" dirty="0" err="1">
                <a:latin typeface="Symbol" pitchFamily="18" charset="2"/>
              </a:rPr>
              <a:t>D</a:t>
            </a:r>
            <a:r>
              <a:rPr lang="en-US" altLang="en-US" sz="2800" i="1" dirty="0" err="1"/>
              <a:t>H</a:t>
            </a:r>
            <a:r>
              <a:rPr lang="en-US" altLang="en-US" sz="2800" dirty="0" err="1"/>
              <a:t>°</a:t>
            </a:r>
            <a:r>
              <a:rPr lang="en-US" altLang="en-US" sz="2800" baseline="-25000" dirty="0" err="1"/>
              <a:t>rxn</a:t>
            </a:r>
            <a:r>
              <a:rPr lang="en-US" altLang="en-US" sz="2800" dirty="0" err="1"/>
              <a:t>is</a:t>
            </a:r>
            <a:r>
              <a:rPr lang="en-US" altLang="en-US" sz="2800" dirty="0"/>
              <a:t> an </a:t>
            </a:r>
            <a:r>
              <a:rPr lang="en-US" altLang="en-US" sz="2800" dirty="0">
                <a:solidFill>
                  <a:srgbClr val="FF0000"/>
                </a:solidFill>
              </a:rPr>
              <a:t>estimate</a:t>
            </a:r>
            <a:r>
              <a:rPr lang="en-US" altLang="en-US" sz="2800" dirty="0"/>
              <a:t>.</a:t>
            </a:r>
          </a:p>
          <a:p>
            <a:r>
              <a:rPr lang="en-US" altLang="en-US" sz="2800" dirty="0"/>
              <a:t>Works best when all reactants </a:t>
            </a:r>
          </a:p>
          <a:p>
            <a:pPr marL="457200" lvl="1" indent="0">
              <a:buNone/>
            </a:pPr>
            <a:r>
              <a:rPr lang="en-US" altLang="en-US" dirty="0"/>
              <a:t>and products in </a:t>
            </a:r>
            <a:r>
              <a:rPr lang="en-US" altLang="en-US" dirty="0">
                <a:solidFill>
                  <a:srgbClr val="FF0000"/>
                </a:solidFill>
              </a:rPr>
              <a:t>gas state</a:t>
            </a:r>
          </a:p>
          <a:p>
            <a:r>
              <a:rPr lang="en-US" altLang="en-US" sz="2800" dirty="0"/>
              <a:t>Bond breaking is </a:t>
            </a:r>
            <a:r>
              <a:rPr lang="en-US" altLang="en-US" sz="2800" dirty="0">
                <a:solidFill>
                  <a:srgbClr val="FF0000"/>
                </a:solidFill>
              </a:rPr>
              <a:t>endo</a:t>
            </a:r>
            <a:r>
              <a:rPr lang="en-US" altLang="en-US" sz="2800" dirty="0"/>
              <a:t>thermic, </a:t>
            </a:r>
          </a:p>
          <a:p>
            <a:pPr marL="0" indent="0">
              <a:buNone/>
            </a:pPr>
            <a:r>
              <a:rPr lang="en-US" altLang="en-US" sz="2800" dirty="0">
                <a:latin typeface="Symbol" pitchFamily="18" charset="2"/>
              </a:rPr>
              <a:t>	D</a:t>
            </a:r>
            <a:r>
              <a:rPr lang="en-US" altLang="en-US" sz="2800" i="1" dirty="0"/>
              <a:t>H</a:t>
            </a:r>
            <a:r>
              <a:rPr lang="en-US" altLang="en-US" sz="2800" dirty="0"/>
              <a:t>(breaking) = +.</a:t>
            </a:r>
          </a:p>
          <a:p>
            <a:r>
              <a:rPr lang="en-US" altLang="en-US" sz="2800" dirty="0"/>
              <a:t>Bond making is </a:t>
            </a:r>
            <a:r>
              <a:rPr lang="en-US" altLang="en-US" sz="2800" dirty="0">
                <a:solidFill>
                  <a:srgbClr val="FF0000"/>
                </a:solidFill>
              </a:rPr>
              <a:t>exo</a:t>
            </a:r>
            <a:r>
              <a:rPr lang="en-US" altLang="en-US" sz="2800" dirty="0"/>
              <a:t>thermic, </a:t>
            </a:r>
          </a:p>
          <a:p>
            <a:pPr marL="0" indent="0">
              <a:buNone/>
            </a:pPr>
            <a:r>
              <a:rPr lang="en-US" altLang="en-US" sz="2800" dirty="0">
                <a:latin typeface="Symbol" pitchFamily="18" charset="2"/>
              </a:rPr>
              <a:t>	D</a:t>
            </a:r>
            <a:r>
              <a:rPr lang="en-US" altLang="en-US" sz="2800" i="1" dirty="0"/>
              <a:t>H</a:t>
            </a:r>
            <a:r>
              <a:rPr lang="en-US" altLang="en-US" sz="2800" dirty="0"/>
              <a:t>(making) = </a:t>
            </a:r>
            <a:r>
              <a:rPr lang="en-US" altLang="en-US" sz="2800" dirty="0">
                <a:cs typeface="Times New Roman" pitchFamily="18" charset="0"/>
              </a:rPr>
              <a:t>−.</a:t>
            </a:r>
            <a:endParaRPr lang="en-US" altLang="en-US" sz="2800" dirty="0"/>
          </a:p>
          <a:p>
            <a:pPr algn="ctr">
              <a:lnSpc>
                <a:spcPct val="200000"/>
              </a:lnSpc>
              <a:buFontTx/>
              <a:buNone/>
            </a:pPr>
            <a:endParaRPr lang="en-US" altLang="en-US" sz="2600" dirty="0">
              <a:solidFill>
                <a:schemeClr val="accent2"/>
              </a:solidFill>
              <a:latin typeface="Symbol" pitchFamily="18" charset="2"/>
            </a:endParaRPr>
          </a:p>
          <a:p>
            <a:pPr algn="ctr">
              <a:lnSpc>
                <a:spcPct val="200000"/>
              </a:lnSpc>
              <a:buFontTx/>
              <a:buNone/>
            </a:pPr>
            <a:r>
              <a:rPr lang="en-US" altLang="en-US" sz="2600" dirty="0" err="1">
                <a:solidFill>
                  <a:srgbClr val="FF0000"/>
                </a:solidFill>
                <a:latin typeface="Symbol" pitchFamily="18" charset="2"/>
              </a:rPr>
              <a:t>D</a:t>
            </a:r>
            <a:r>
              <a:rPr lang="en-US" altLang="en-US" sz="2600" i="1" dirty="0" err="1">
                <a:solidFill>
                  <a:srgbClr val="FF0000"/>
                </a:solidFill>
              </a:rPr>
              <a:t>H</a:t>
            </a:r>
            <a:r>
              <a:rPr lang="en-US" altLang="en-US" sz="2600" baseline="-25000" dirty="0" err="1">
                <a:solidFill>
                  <a:srgbClr val="FF0000"/>
                </a:solidFill>
              </a:rPr>
              <a:t>rxn</a:t>
            </a:r>
            <a:r>
              <a:rPr lang="en-US" altLang="en-US" sz="2600" baseline="-25000" dirty="0">
                <a:solidFill>
                  <a:srgbClr val="FF0000"/>
                </a:solidFill>
              </a:rPr>
              <a:t> </a:t>
            </a:r>
            <a:r>
              <a:rPr lang="en-US" altLang="en-US" sz="2600" dirty="0">
                <a:solidFill>
                  <a:srgbClr val="FF0000"/>
                </a:solidFill>
              </a:rPr>
              <a:t>= </a:t>
            </a:r>
            <a:r>
              <a:rPr lang="en-US" altLang="en-US" sz="2600" dirty="0">
                <a:solidFill>
                  <a:srgbClr val="FF0000"/>
                </a:solidFill>
                <a:cs typeface="Times New Roman" pitchFamily="18" charset="0"/>
              </a:rPr>
              <a:t>∑ (</a:t>
            </a:r>
            <a:r>
              <a:rPr lang="en-US" altLang="en-US" sz="2600" dirty="0">
                <a:solidFill>
                  <a:srgbClr val="FF0000"/>
                </a:solidFill>
                <a:latin typeface="Symbol" pitchFamily="18" charset="2"/>
              </a:rPr>
              <a:t>D</a:t>
            </a:r>
            <a:r>
              <a:rPr lang="en-US" altLang="en-US" sz="2600" i="1" dirty="0">
                <a:solidFill>
                  <a:srgbClr val="FF0000"/>
                </a:solidFill>
              </a:rPr>
              <a:t>H</a:t>
            </a:r>
            <a:r>
              <a:rPr lang="en-US" altLang="en-US" sz="2600" dirty="0">
                <a:solidFill>
                  <a:srgbClr val="FF0000"/>
                </a:solidFill>
              </a:rPr>
              <a:t>(bonds broken)) - </a:t>
            </a:r>
            <a:r>
              <a:rPr lang="en-US" altLang="en-US" sz="2600" dirty="0">
                <a:solidFill>
                  <a:srgbClr val="FF0000"/>
                </a:solidFill>
                <a:cs typeface="Times New Roman" pitchFamily="18" charset="0"/>
              </a:rPr>
              <a:t>∑ (</a:t>
            </a:r>
            <a:r>
              <a:rPr lang="en-US" altLang="en-US" sz="2600" dirty="0">
                <a:solidFill>
                  <a:srgbClr val="FF0000"/>
                </a:solidFill>
                <a:latin typeface="Symbol" pitchFamily="18" charset="2"/>
              </a:rPr>
              <a:t>D</a:t>
            </a:r>
            <a:r>
              <a:rPr lang="en-US" altLang="en-US" sz="2600" i="1" dirty="0">
                <a:solidFill>
                  <a:srgbClr val="FF0000"/>
                </a:solidFill>
              </a:rPr>
              <a:t>H</a:t>
            </a:r>
            <a:r>
              <a:rPr lang="en-US" altLang="en-US" sz="2600" dirty="0">
                <a:solidFill>
                  <a:srgbClr val="FF0000"/>
                </a:solidFill>
              </a:rPr>
              <a:t>(bonds formed))</a:t>
            </a:r>
            <a:endParaRPr lang="en-US" altLang="en-US" sz="2600" dirty="0">
              <a:solidFill>
                <a:srgbClr val="FF0000"/>
              </a:solidFill>
              <a:cs typeface="Times New Roman" pitchFamily="18" charset="0"/>
            </a:endParaRPr>
          </a:p>
          <a:p>
            <a:endParaRPr lang="en-US" altLang="en-US" sz="2800" dirty="0"/>
          </a:p>
        </p:txBody>
      </p:sp>
      <p:pic>
        <p:nvPicPr>
          <p:cNvPr id="2" name="Picture 1"/>
          <p:cNvPicPr>
            <a:picLocks noChangeAspect="1"/>
          </p:cNvPicPr>
          <p:nvPr/>
        </p:nvPicPr>
        <p:blipFill rotWithShape="1">
          <a:blip r:embed="rId3"/>
          <a:srcRect r="2609"/>
          <a:stretch/>
        </p:blipFill>
        <p:spPr>
          <a:xfrm>
            <a:off x="6495975" y="820783"/>
            <a:ext cx="5689494" cy="4563291"/>
          </a:xfrm>
          <a:prstGeom prst="rect">
            <a:avLst/>
          </a:prstGeom>
        </p:spPr>
      </p:pic>
    </p:spTree>
    <p:extLst>
      <p:ext uri="{BB962C8B-B14F-4D97-AF65-F5344CB8AC3E}">
        <p14:creationId xmlns:p14="http://schemas.microsoft.com/office/powerpoint/2010/main" val="232964473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1816101" y="2478088"/>
            <a:ext cx="8321675" cy="3694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endParaRPr lang="en-US" altLang="en-US" sz="1400">
              <a:solidFill>
                <a:srgbClr val="000000"/>
              </a:solidFill>
              <a:ea typeface="ＭＳ Ｐゴシック" pitchFamily="34" charset="-128"/>
            </a:endParaRPr>
          </a:p>
          <a:p>
            <a:pPr>
              <a:spcBef>
                <a:spcPct val="0"/>
              </a:spcBef>
              <a:buFontTx/>
              <a:buNone/>
            </a:pPr>
            <a:endParaRPr lang="en-US" altLang="en-US" sz="1400">
              <a:latin typeface="Times New Roman" pitchFamily="18" charset="0"/>
              <a:ea typeface="ＭＳ Ｐゴシック" pitchFamily="34" charset="-128"/>
            </a:endParaRPr>
          </a:p>
          <a:p>
            <a:pPr>
              <a:spcBef>
                <a:spcPct val="0"/>
              </a:spcBef>
              <a:buFontTx/>
              <a:buNone/>
            </a:pPr>
            <a:endParaRPr lang="en-US" altLang="en-US" sz="1400">
              <a:latin typeface="Times New Roman" pitchFamily="18" charset="0"/>
              <a:ea typeface="ＭＳ Ｐゴシック" pitchFamily="34" charset="-128"/>
            </a:endParaRPr>
          </a:p>
          <a:p>
            <a:pPr>
              <a:spcBef>
                <a:spcPct val="0"/>
              </a:spcBef>
              <a:buFontTx/>
              <a:buNone/>
            </a:pPr>
            <a:endParaRPr lang="en-US" altLang="en-US" sz="1400">
              <a:latin typeface="Times New Roman" pitchFamily="18" charset="0"/>
              <a:ea typeface="ＭＳ Ｐゴシック" pitchFamily="34" charset="-128"/>
            </a:endParaRPr>
          </a:p>
          <a:p>
            <a:pPr>
              <a:spcBef>
                <a:spcPct val="0"/>
              </a:spcBef>
              <a:buFontTx/>
              <a:buNone/>
            </a:pPr>
            <a:endParaRPr lang="en-US" altLang="en-US" sz="1400">
              <a:latin typeface="Times New Roman" pitchFamily="18" charset="0"/>
              <a:ea typeface="ＭＳ Ｐゴシック" pitchFamily="34" charset="-128"/>
            </a:endParaRPr>
          </a:p>
          <a:p>
            <a:pPr>
              <a:spcBef>
                <a:spcPct val="0"/>
              </a:spcBef>
              <a:buFontTx/>
              <a:buNone/>
            </a:pPr>
            <a:endParaRPr lang="en-US" altLang="en-US" sz="1400">
              <a:latin typeface="Times New Roman" pitchFamily="18" charset="0"/>
              <a:ea typeface="ＭＳ Ｐゴシック" pitchFamily="34" charset="-128"/>
            </a:endParaRPr>
          </a:p>
        </p:txBody>
      </p:sp>
      <p:sp>
        <p:nvSpPr>
          <p:cNvPr id="5" name="Text Box 8"/>
          <p:cNvSpPr txBox="1">
            <a:spLocks noChangeArrowheads="1"/>
          </p:cNvSpPr>
          <p:nvPr/>
        </p:nvSpPr>
        <p:spPr bwMode="auto">
          <a:xfrm>
            <a:off x="1845854" y="702130"/>
            <a:ext cx="8523288" cy="110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a:spcBef>
                <a:spcPct val="20000"/>
              </a:spcBef>
              <a:buChar char="•"/>
              <a:defRPr sz="3200">
                <a:solidFill>
                  <a:schemeClr val="tx1"/>
                </a:solidFill>
                <a:latin typeface="Arial" charset="0"/>
              </a:defRPr>
            </a:lvl1pPr>
            <a:lvl2pPr marL="742950" indent="-285750">
              <a:spcBef>
                <a:spcPct val="20000"/>
              </a:spcBef>
              <a:buChar char="–"/>
              <a:defRPr sz="2800">
                <a:solidFill>
                  <a:schemeClr val="tx1"/>
                </a:solidFill>
                <a:latin typeface="Arial" charset="0"/>
              </a:defRPr>
            </a:lvl2pPr>
            <a:lvl3pPr marL="1143000" indent="-228600">
              <a:spcBef>
                <a:spcPct val="20000"/>
              </a:spcBef>
              <a:buChar char="•"/>
              <a:defRPr sz="2400">
                <a:solidFill>
                  <a:schemeClr val="tx1"/>
                </a:solidFill>
                <a:latin typeface="Arial" charset="0"/>
              </a:defRPr>
            </a:lvl3pPr>
            <a:lvl4pPr marL="1600200" indent="-228600">
              <a:spcBef>
                <a:spcPct val="20000"/>
              </a:spcBef>
              <a:buChar char="–"/>
              <a:defRPr sz="2000">
                <a:solidFill>
                  <a:schemeClr val="tx1"/>
                </a:solidFill>
                <a:latin typeface="Arial" charset="0"/>
              </a:defRPr>
            </a:lvl4pPr>
            <a:lvl5pPr marL="2057400" indent="-22860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en-US" sz="2400" dirty="0">
                <a:latin typeface="Times New Roman" pitchFamily="18" charset="0"/>
                <a:ea typeface="ＭＳ Ｐゴシック" pitchFamily="34" charset="-128"/>
              </a:rPr>
              <a:t>Hydrogen gas, a potential fuel, can be made by the reaction of methane gas and steam.</a:t>
            </a:r>
          </a:p>
          <a:p>
            <a:pPr>
              <a:spcBef>
                <a:spcPct val="0"/>
              </a:spcBef>
              <a:buFontTx/>
              <a:buNone/>
            </a:pPr>
            <a:endParaRPr lang="en-US" altLang="en-US" sz="1400" dirty="0">
              <a:latin typeface="Times New Roman" pitchFamily="18" charset="0"/>
              <a:ea typeface="ＭＳ Ｐゴシック" pitchFamily="34" charset="-128"/>
            </a:endParaRPr>
          </a:p>
          <a:p>
            <a:pPr>
              <a:spcBef>
                <a:spcPct val="0"/>
              </a:spcBef>
              <a:buFontTx/>
              <a:buNone/>
            </a:pPr>
            <a:endParaRPr lang="en-US" altLang="en-US" sz="1400" dirty="0">
              <a:latin typeface="Times New Roman" pitchFamily="18" charset="0"/>
              <a:ea typeface="ＭＳ Ｐゴシック" pitchFamily="34" charset="-128"/>
            </a:endParaRPr>
          </a:p>
          <a:p>
            <a:pPr>
              <a:spcBef>
                <a:spcPct val="0"/>
              </a:spcBef>
              <a:buFontTx/>
              <a:buNone/>
            </a:pPr>
            <a:endParaRPr lang="en-US" altLang="en-US" sz="2400" dirty="0">
              <a:latin typeface="Times New Roman" pitchFamily="18" charset="0"/>
              <a:ea typeface="ＭＳ Ｐゴシック" pitchFamily="34" charset="-128"/>
            </a:endParaRPr>
          </a:p>
          <a:p>
            <a:pPr>
              <a:spcBef>
                <a:spcPct val="0"/>
              </a:spcBef>
              <a:buFontTx/>
              <a:buNone/>
            </a:pPr>
            <a:endParaRPr lang="en-US" altLang="en-US" sz="2400" dirty="0">
              <a:latin typeface="Times New Roman" pitchFamily="18" charset="0"/>
              <a:ea typeface="ＭＳ Ｐゴシック" pitchFamily="34" charset="-128"/>
            </a:endParaRPr>
          </a:p>
          <a:p>
            <a:pPr>
              <a:spcBef>
                <a:spcPct val="0"/>
              </a:spcBef>
              <a:buFontTx/>
              <a:buNone/>
            </a:pPr>
            <a:r>
              <a:rPr lang="en-US" altLang="en-US" sz="2400" dirty="0">
                <a:latin typeface="Times New Roman" pitchFamily="18" charset="0"/>
                <a:ea typeface="ＭＳ Ｐゴシック" pitchFamily="34" charset="-128"/>
              </a:rPr>
              <a:t>Use bond energies to calculate </a:t>
            </a:r>
            <a:r>
              <a:rPr lang="el-GR" altLang="en-US" sz="2400" dirty="0">
                <a:latin typeface="Times New Roman" pitchFamily="18" charset="0"/>
                <a:ea typeface="ＭＳ Ｐゴシック" pitchFamily="34" charset="-128"/>
                <a:cs typeface="Times New Roman" pitchFamily="18" charset="0"/>
              </a:rPr>
              <a:t>Δ</a:t>
            </a:r>
            <a:r>
              <a:rPr lang="en-US" altLang="en-US" sz="2400" i="1" dirty="0" err="1">
                <a:latin typeface="Times New Roman" pitchFamily="18" charset="0"/>
                <a:ea typeface="ＭＳ Ｐゴシック" pitchFamily="34" charset="-128"/>
              </a:rPr>
              <a:t>H</a:t>
            </a:r>
            <a:r>
              <a:rPr lang="en-US" altLang="en-US" sz="2400" baseline="-25000" dirty="0" err="1">
                <a:latin typeface="Times New Roman" pitchFamily="18" charset="0"/>
                <a:ea typeface="ＭＳ Ｐゴシック" pitchFamily="34" charset="-128"/>
              </a:rPr>
              <a:t>rxn</a:t>
            </a:r>
            <a:r>
              <a:rPr lang="en-US" altLang="en-US" sz="2400" dirty="0">
                <a:latin typeface="Times New Roman" pitchFamily="18" charset="0"/>
                <a:ea typeface="ＭＳ Ｐゴシック" pitchFamily="34" charset="-128"/>
              </a:rPr>
              <a:t> for this reaction.</a:t>
            </a:r>
          </a:p>
        </p:txBody>
      </p:sp>
      <p:sp>
        <p:nvSpPr>
          <p:cNvPr id="6" name="Rectangle 3"/>
          <p:cNvSpPr>
            <a:spLocks noChangeArrowheads="1"/>
          </p:cNvSpPr>
          <p:nvPr/>
        </p:nvSpPr>
        <p:spPr bwMode="auto">
          <a:xfrm>
            <a:off x="1843088" y="358776"/>
            <a:ext cx="8318500" cy="365125"/>
          </a:xfrm>
          <a:prstGeom prst="rect">
            <a:avLst/>
          </a:prstGeom>
          <a:noFill/>
          <a:ln>
            <a:noFill/>
          </a:ln>
          <a:effectLst/>
          <a:extLst>
            <a:ext uri="{909E8E84-426E-40DD-AFC4-6F175D3DCCD1}">
              <a14:hiddenFill xmlns:a14="http://schemas.microsoft.com/office/drawing/2010/main">
                <a:solidFill>
                  <a:srgbClr val="0080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marL="1719263" indent="-1719263" eaLnBrk="0" hangingPunct="0">
              <a:defRPr sz="1600">
                <a:solidFill>
                  <a:schemeClr val="tx1"/>
                </a:solidFill>
                <a:latin typeface="Times New Roman" pitchFamily="18" charset="0"/>
                <a:ea typeface="ＭＳ Ｐゴシック" pitchFamily="34" charset="-128"/>
              </a:defRPr>
            </a:lvl1pPr>
            <a:lvl2pPr marL="742950" indent="-285750" eaLnBrk="0" hangingPunct="0">
              <a:defRPr sz="1600">
                <a:solidFill>
                  <a:schemeClr val="tx1"/>
                </a:solidFill>
                <a:latin typeface="Times New Roman" pitchFamily="18" charset="0"/>
                <a:ea typeface="ＭＳ Ｐゴシック" pitchFamily="34" charset="-128"/>
              </a:defRPr>
            </a:lvl2pPr>
            <a:lvl3pPr marL="1143000" indent="-228600" eaLnBrk="0" hangingPunct="0">
              <a:defRPr sz="1600">
                <a:solidFill>
                  <a:schemeClr val="tx1"/>
                </a:solidFill>
                <a:latin typeface="Times New Roman" pitchFamily="18" charset="0"/>
                <a:ea typeface="ＭＳ Ｐゴシック" pitchFamily="34" charset="-128"/>
              </a:defRPr>
            </a:lvl3pPr>
            <a:lvl4pPr marL="1600200" indent="-228600" eaLnBrk="0" hangingPunct="0">
              <a:defRPr sz="1600">
                <a:solidFill>
                  <a:schemeClr val="tx1"/>
                </a:solidFill>
                <a:latin typeface="Times New Roman" pitchFamily="18" charset="0"/>
                <a:ea typeface="ＭＳ Ｐゴシック" pitchFamily="34" charset="-128"/>
              </a:defRPr>
            </a:lvl4pPr>
            <a:lvl5pPr marL="2057400" indent="-228600" eaLnBrk="0" hangingPunct="0">
              <a:defRPr sz="1600">
                <a:solidFill>
                  <a:schemeClr val="tx1"/>
                </a:solidFill>
                <a:latin typeface="Times New Roman" pitchFamily="18"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Times New Roman" pitchFamily="18"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Times New Roman" pitchFamily="18"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Times New Roman" pitchFamily="18"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Times New Roman" pitchFamily="18" charset="0"/>
                <a:ea typeface="ＭＳ Ｐゴシック" pitchFamily="34" charset="-128"/>
              </a:defRPr>
            </a:lvl9pPr>
          </a:lstStyle>
          <a:p>
            <a:pPr>
              <a:spcBef>
                <a:spcPct val="50000"/>
              </a:spcBef>
              <a:defRPr/>
            </a:pPr>
            <a:r>
              <a:rPr lang="en-US" altLang="en-US" sz="2000" b="1" dirty="0">
                <a:latin typeface="Arial" charset="0"/>
              </a:rPr>
              <a:t>Calculating </a:t>
            </a:r>
            <a:r>
              <a:rPr lang="el-GR" altLang="en-US" sz="2000" b="1" dirty="0">
                <a:cs typeface="Times New Roman" pitchFamily="18" charset="0"/>
              </a:rPr>
              <a:t>Δ</a:t>
            </a:r>
            <a:r>
              <a:rPr lang="en-US" altLang="en-US" sz="2000" b="1" dirty="0" err="1">
                <a:latin typeface="Arial" charset="0"/>
              </a:rPr>
              <a:t>H</a:t>
            </a:r>
            <a:r>
              <a:rPr lang="en-US" altLang="en-US" sz="2000" b="1" baseline="-25000" dirty="0" err="1">
                <a:latin typeface="Arial" charset="0"/>
              </a:rPr>
              <a:t>rxn</a:t>
            </a:r>
            <a:r>
              <a:rPr lang="en-US" altLang="en-US" sz="2000" b="1" dirty="0">
                <a:latin typeface="Arial" charset="0"/>
              </a:rPr>
              <a:t> from Bond Energies</a:t>
            </a:r>
          </a:p>
        </p:txBody>
      </p:sp>
      <p:sp>
        <p:nvSpPr>
          <p:cNvPr id="7" name="Line 7"/>
          <p:cNvSpPr>
            <a:spLocks noChangeShapeType="1"/>
          </p:cNvSpPr>
          <p:nvPr/>
        </p:nvSpPr>
        <p:spPr bwMode="auto">
          <a:xfrm>
            <a:off x="1828800" y="285751"/>
            <a:ext cx="0" cy="5318125"/>
          </a:xfrm>
          <a:prstGeom prst="line">
            <a:avLst/>
          </a:prstGeom>
          <a:noFill/>
          <a:ln w="1905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cs typeface="ＭＳ Ｐゴシック" charset="0"/>
            </a:endParaRPr>
          </a:p>
        </p:txBody>
      </p:sp>
      <p:sp>
        <p:nvSpPr>
          <p:cNvPr id="8" name="Line 9"/>
          <p:cNvSpPr>
            <a:spLocks noChangeShapeType="1"/>
          </p:cNvSpPr>
          <p:nvPr/>
        </p:nvSpPr>
        <p:spPr bwMode="auto">
          <a:xfrm>
            <a:off x="1828800" y="304800"/>
            <a:ext cx="457200"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cs typeface="ＭＳ Ｐゴシック" charset="0"/>
            </a:endParaRPr>
          </a:p>
        </p:txBody>
      </p:sp>
      <p:sp>
        <p:nvSpPr>
          <p:cNvPr id="9" name="Line 10"/>
          <p:cNvSpPr>
            <a:spLocks noChangeShapeType="1"/>
          </p:cNvSpPr>
          <p:nvPr/>
        </p:nvSpPr>
        <p:spPr bwMode="auto">
          <a:xfrm>
            <a:off x="1828800" y="5581650"/>
            <a:ext cx="457200"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a typeface="ＭＳ Ｐゴシック" charset="0"/>
              <a:cs typeface="ＭＳ Ｐゴシック" charset="0"/>
            </a:endParaRPr>
          </a:p>
        </p:txBody>
      </p:sp>
      <p:pic>
        <p:nvPicPr>
          <p:cNvPr id="10" name="Picture 2" descr="C:\Documents and Settings\GEX User\Desktop\IRDVDs\50627 Tro IRDVD\Worked Example\Component\Ch09\9_pg412_equation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32984"/>
            <a:ext cx="5659438"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descr="Z:\50627 IRDVD Tro Chemistry A Molecular Approach\Working Files 50627\JPEG 50627\Ch09\09_Pg412_UnFigure_1.jpg"/>
          <p:cNvPicPr>
            <a:picLocks noChangeAspect="1" noChangeArrowheads="1"/>
          </p:cNvPicPr>
          <p:nvPr/>
        </p:nvPicPr>
        <p:blipFill>
          <a:blip r:embed="rId3">
            <a:extLst>
              <a:ext uri="{28A0092B-C50C-407E-A947-70E740481C1C}">
                <a14:useLocalDpi xmlns:a14="http://schemas.microsoft.com/office/drawing/2010/main" val="0"/>
              </a:ext>
            </a:extLst>
          </a:blip>
          <a:srcRect b="10091"/>
          <a:stretch>
            <a:fillRect/>
          </a:stretch>
        </p:blipFill>
        <p:spPr bwMode="auto">
          <a:xfrm>
            <a:off x="2807494" y="3080544"/>
            <a:ext cx="6389688"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
          <p:cNvSpPr txBox="1">
            <a:spLocks noChangeArrowheads="1"/>
          </p:cNvSpPr>
          <p:nvPr/>
        </p:nvSpPr>
        <p:spPr bwMode="auto">
          <a:xfrm>
            <a:off x="2286000" y="6172201"/>
            <a:ext cx="4921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defRPr>
            </a:lvl1pPr>
            <a:lvl2pPr marL="742950" indent="-285750">
              <a:defRPr sz="2400">
                <a:solidFill>
                  <a:schemeClr val="tx1"/>
                </a:solidFill>
                <a:latin typeface="Arial" charset="0"/>
              </a:defRPr>
            </a:lvl2pPr>
            <a:lvl3pPr marL="1143000" indent="-228600">
              <a:defRPr sz="2400">
                <a:solidFill>
                  <a:schemeClr val="tx1"/>
                </a:solidFill>
                <a:latin typeface="Arial" charset="0"/>
              </a:defRPr>
            </a:lvl3pPr>
            <a:lvl4pPr marL="1600200" indent="-228600">
              <a:defRPr sz="2400">
                <a:solidFill>
                  <a:schemeClr val="tx1"/>
                </a:solidFill>
                <a:latin typeface="Arial" charset="0"/>
              </a:defRPr>
            </a:lvl4pPr>
            <a:lvl5pPr marL="2057400" indent="-22860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r>
              <a:rPr lang="en-US" altLang="en-US"/>
              <a:t>Bond Energy Table found on p 410</a:t>
            </a:r>
          </a:p>
        </p:txBody>
      </p:sp>
    </p:spTree>
    <p:extLst>
      <p:ext uri="{BB962C8B-B14F-4D97-AF65-F5344CB8AC3E}">
        <p14:creationId xmlns:p14="http://schemas.microsoft.com/office/powerpoint/2010/main" val="4187475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F56D3B5-7439-455F-A7F5-356EE10D48D8}"/>
              </a:ext>
            </a:extLst>
          </p:cNvPr>
          <p:cNvPicPr>
            <a:picLocks noChangeAspect="1"/>
          </p:cNvPicPr>
          <p:nvPr/>
        </p:nvPicPr>
        <p:blipFill>
          <a:blip r:embed="rId2"/>
          <a:stretch>
            <a:fillRect/>
          </a:stretch>
        </p:blipFill>
        <p:spPr>
          <a:xfrm>
            <a:off x="1828800" y="263973"/>
            <a:ext cx="8305799" cy="6330054"/>
          </a:xfrm>
          <a:prstGeom prst="rect">
            <a:avLst/>
          </a:prstGeom>
        </p:spPr>
      </p:pic>
    </p:spTree>
    <p:extLst>
      <p:ext uri="{BB962C8B-B14F-4D97-AF65-F5344CB8AC3E}">
        <p14:creationId xmlns:p14="http://schemas.microsoft.com/office/powerpoint/2010/main" val="7735461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FC325-1CF6-419E-BF5A-C6DEFB07BA13}"/>
              </a:ext>
            </a:extLst>
          </p:cNvPr>
          <p:cNvSpPr>
            <a:spLocks noGrp="1"/>
          </p:cNvSpPr>
          <p:nvPr>
            <p:ph type="title"/>
          </p:nvPr>
        </p:nvSpPr>
        <p:spPr>
          <a:xfrm>
            <a:off x="914400" y="76200"/>
            <a:ext cx="10363200" cy="762000"/>
          </a:xfrm>
        </p:spPr>
        <p:txBody>
          <a:bodyPr/>
          <a:lstStyle/>
          <a:p>
            <a:r>
              <a:rPr lang="en-US" sz="3600" dirty="0"/>
              <a:t>How do you know what to solve???</a:t>
            </a:r>
          </a:p>
        </p:txBody>
      </p:sp>
      <p:sp>
        <p:nvSpPr>
          <p:cNvPr id="3" name="Content Placeholder 2">
            <a:extLst>
              <a:ext uri="{FF2B5EF4-FFF2-40B4-BE49-F238E27FC236}">
                <a16:creationId xmlns:a16="http://schemas.microsoft.com/office/drawing/2014/main" id="{F16251D3-3D4C-4205-B517-40A335ECD113}"/>
              </a:ext>
            </a:extLst>
          </p:cNvPr>
          <p:cNvSpPr>
            <a:spLocks noGrp="1"/>
          </p:cNvSpPr>
          <p:nvPr>
            <p:ph idx="1"/>
          </p:nvPr>
        </p:nvSpPr>
        <p:spPr>
          <a:xfrm>
            <a:off x="457200" y="914400"/>
            <a:ext cx="11277600" cy="5181600"/>
          </a:xfrm>
        </p:spPr>
        <p:txBody>
          <a:bodyPr/>
          <a:lstStyle/>
          <a:p>
            <a:pPr marL="0" indent="0">
              <a:buNone/>
            </a:pPr>
            <a:r>
              <a:rPr lang="en-US" sz="2800" dirty="0"/>
              <a:t>First: determine what you’re being asked to find: </a:t>
            </a:r>
            <a:r>
              <a:rPr lang="en-US" sz="2800" b="1" dirty="0" err="1"/>
              <a:t>ΔH</a:t>
            </a:r>
            <a:r>
              <a:rPr lang="en-US" sz="2800" b="1" baseline="-25000" dirty="0" err="1"/>
              <a:t>rxn</a:t>
            </a:r>
            <a:r>
              <a:rPr lang="en-US" sz="2800" b="1" dirty="0"/>
              <a:t> or something else?</a:t>
            </a:r>
            <a:endParaRPr lang="en-US" sz="2800" dirty="0"/>
          </a:p>
          <a:p>
            <a:pPr marL="0" indent="0">
              <a:buNone/>
            </a:pPr>
            <a:endParaRPr lang="en-US" dirty="0"/>
          </a:p>
        </p:txBody>
      </p:sp>
      <p:sp>
        <p:nvSpPr>
          <p:cNvPr id="8" name="docshape156">
            <a:extLst>
              <a:ext uri="{FF2B5EF4-FFF2-40B4-BE49-F238E27FC236}">
                <a16:creationId xmlns:a16="http://schemas.microsoft.com/office/drawing/2014/main" id="{4899E401-D224-4AF0-9A68-378ADDB9876B}"/>
              </a:ext>
            </a:extLst>
          </p:cNvPr>
          <p:cNvSpPr>
            <a:spLocks noChangeArrowheads="1"/>
          </p:cNvSpPr>
          <p:nvPr/>
        </p:nvSpPr>
        <p:spPr bwMode="auto">
          <a:xfrm>
            <a:off x="2033588" y="8274050"/>
            <a:ext cx="182562"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docshape157">
            <a:extLst>
              <a:ext uri="{FF2B5EF4-FFF2-40B4-BE49-F238E27FC236}">
                <a16:creationId xmlns:a16="http://schemas.microsoft.com/office/drawing/2014/main" id="{60567E1D-2EF6-46EF-922B-A93378F62558}"/>
              </a:ext>
            </a:extLst>
          </p:cNvPr>
          <p:cNvSpPr>
            <a:spLocks noChangeArrowheads="1"/>
          </p:cNvSpPr>
          <p:nvPr/>
        </p:nvSpPr>
        <p:spPr bwMode="auto">
          <a:xfrm>
            <a:off x="2401888" y="8274050"/>
            <a:ext cx="307975" cy="952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Rectangle 9">
            <a:extLst>
              <a:ext uri="{FF2B5EF4-FFF2-40B4-BE49-F238E27FC236}">
                <a16:creationId xmlns:a16="http://schemas.microsoft.com/office/drawing/2014/main" id="{12BB8541-CE71-49BC-A561-E0B7AD4353F7}"/>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98242" tIns="1587" rIns="887133" bIns="0" numCol="1" anchor="ctr" anchorCtr="0" compatLnSpc="1">
            <a:prstTxWarp prst="textNoShape">
              <a:avLst/>
            </a:prstTxWarp>
            <a:spAutoFit/>
          </a:bodyPr>
          <a:lstStyle/>
          <a:p>
            <a:endParaRPr lang="en-US"/>
          </a:p>
        </p:txBody>
      </p:sp>
      <p:graphicFrame>
        <p:nvGraphicFramePr>
          <p:cNvPr id="12" name="Table 11">
            <a:extLst>
              <a:ext uri="{FF2B5EF4-FFF2-40B4-BE49-F238E27FC236}">
                <a16:creationId xmlns:a16="http://schemas.microsoft.com/office/drawing/2014/main" id="{191C096E-6570-4577-9F43-32960EA93927}"/>
              </a:ext>
            </a:extLst>
          </p:cNvPr>
          <p:cNvGraphicFramePr>
            <a:graphicFrameLocks noGrp="1"/>
          </p:cNvGraphicFramePr>
          <p:nvPr>
            <p:extLst>
              <p:ext uri="{D42A27DB-BD31-4B8C-83A1-F6EECF244321}">
                <p14:modId xmlns:p14="http://schemas.microsoft.com/office/powerpoint/2010/main" val="3266261061"/>
              </p:ext>
            </p:extLst>
          </p:nvPr>
        </p:nvGraphicFramePr>
        <p:xfrm>
          <a:off x="381000" y="1600200"/>
          <a:ext cx="11430000" cy="4665980"/>
        </p:xfrm>
        <a:graphic>
          <a:graphicData uri="http://schemas.openxmlformats.org/drawingml/2006/table">
            <a:tbl>
              <a:tblPr firstRow="1" firstCol="1" lastRow="1" lastCol="1" bandRow="1" bandCol="1">
                <a:tableStyleId>{69012ECD-51FC-41F1-AA8D-1B2483CD663E}</a:tableStyleId>
              </a:tblPr>
              <a:tblGrid>
                <a:gridCol w="4571099">
                  <a:extLst>
                    <a:ext uri="{9D8B030D-6E8A-4147-A177-3AD203B41FA5}">
                      <a16:colId xmlns:a16="http://schemas.microsoft.com/office/drawing/2014/main" val="3496678944"/>
                    </a:ext>
                  </a:extLst>
                </a:gridCol>
                <a:gridCol w="2084944">
                  <a:extLst>
                    <a:ext uri="{9D8B030D-6E8A-4147-A177-3AD203B41FA5}">
                      <a16:colId xmlns:a16="http://schemas.microsoft.com/office/drawing/2014/main" val="3328826300"/>
                    </a:ext>
                  </a:extLst>
                </a:gridCol>
                <a:gridCol w="4773957">
                  <a:extLst>
                    <a:ext uri="{9D8B030D-6E8A-4147-A177-3AD203B41FA5}">
                      <a16:colId xmlns:a16="http://schemas.microsoft.com/office/drawing/2014/main" val="723815339"/>
                    </a:ext>
                  </a:extLst>
                </a:gridCol>
              </a:tblGrid>
              <a:tr h="487253">
                <a:tc>
                  <a:txBody>
                    <a:bodyPr/>
                    <a:lstStyle/>
                    <a:p>
                      <a:pPr marL="1056640" marR="1050290" algn="ctr">
                        <a:spcBef>
                          <a:spcPts val="295"/>
                        </a:spcBef>
                        <a:spcAft>
                          <a:spcPts val="0"/>
                        </a:spcAft>
                      </a:pPr>
                      <a:r>
                        <a:rPr lang="en-US" sz="2400" dirty="0">
                          <a:effectLst/>
                        </a:rPr>
                        <a:t>Given?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121285" marR="114300" algn="ctr">
                        <a:spcBef>
                          <a:spcPts val="295"/>
                        </a:spcBef>
                        <a:spcAft>
                          <a:spcPts val="0"/>
                        </a:spcAft>
                      </a:pPr>
                      <a:r>
                        <a:rPr lang="en-US" sz="2400" dirty="0">
                          <a:effectLst/>
                        </a:rPr>
                        <a:t>Asked to</a:t>
                      </a:r>
                      <a:r>
                        <a:rPr lang="en-US" sz="2400" spc="-10" dirty="0">
                          <a:effectLst/>
                        </a:rPr>
                        <a:t> </a:t>
                      </a:r>
                      <a:r>
                        <a:rPr lang="en-US" sz="2400" dirty="0">
                          <a:effectLst/>
                        </a:rPr>
                        <a:t>find?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209550" marR="204470" algn="ctr">
                        <a:spcBef>
                          <a:spcPts val="295"/>
                        </a:spcBef>
                        <a:spcAft>
                          <a:spcPts val="0"/>
                        </a:spcAft>
                      </a:pPr>
                      <a:r>
                        <a:rPr lang="en-US" sz="2400">
                          <a:effectLst/>
                        </a:rPr>
                        <a:t>Use: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1862620734"/>
                  </a:ext>
                </a:extLst>
              </a:tr>
              <a:tr h="905140">
                <a:tc>
                  <a:txBody>
                    <a:bodyPr/>
                    <a:lstStyle/>
                    <a:p>
                      <a:pPr marL="0" marR="0">
                        <a:spcBef>
                          <a:spcPts val="45"/>
                        </a:spcBef>
                        <a:spcAft>
                          <a:spcPts val="0"/>
                        </a:spcAft>
                      </a:pPr>
                      <a:r>
                        <a:rPr lang="en-US" sz="1400" dirty="0">
                          <a:effectLst/>
                        </a:rPr>
                        <a:t> </a:t>
                      </a:r>
                      <a:endParaRPr lang="en-US" sz="2000" dirty="0">
                        <a:effectLst/>
                      </a:endParaRPr>
                    </a:p>
                    <a:p>
                      <a:pPr marL="342900" marR="0" lvl="0" indent="-342900">
                        <a:spcBef>
                          <a:spcPts val="0"/>
                        </a:spcBef>
                        <a:spcAft>
                          <a:spcPts val="0"/>
                        </a:spcAft>
                        <a:buFont typeface="+mj-lt"/>
                        <a:buAutoNum type="arabicPeriod"/>
                        <a:tabLst>
                          <a:tab pos="297180" algn="l"/>
                        </a:tabLst>
                      </a:pPr>
                      <a:r>
                        <a:rPr lang="en-US" sz="2400" dirty="0">
                          <a:effectLst/>
                        </a:rPr>
                        <a:t>A lot</a:t>
                      </a:r>
                      <a:r>
                        <a:rPr lang="en-US" sz="2400" spc="-10" dirty="0">
                          <a:effectLst/>
                        </a:rPr>
                        <a:t> </a:t>
                      </a:r>
                      <a:r>
                        <a:rPr lang="en-US" sz="2400" dirty="0">
                          <a:effectLst/>
                        </a:rPr>
                        <a:t>of</a:t>
                      </a:r>
                      <a:r>
                        <a:rPr lang="en-US" sz="2400" spc="-5" dirty="0">
                          <a:effectLst/>
                        </a:rPr>
                        <a:t> </a:t>
                      </a:r>
                      <a:r>
                        <a:rPr lang="en-US" sz="2400" dirty="0">
                          <a:effectLst/>
                        </a:rPr>
                        <a:t>bond</a:t>
                      </a:r>
                      <a:r>
                        <a:rPr lang="en-US" sz="2400" spc="-10" dirty="0">
                          <a:effectLst/>
                        </a:rPr>
                        <a:t> </a:t>
                      </a:r>
                      <a:r>
                        <a:rPr lang="en-US" sz="2400" dirty="0">
                          <a:effectLst/>
                        </a:rPr>
                        <a:t>energies</a:t>
                      </a:r>
                      <a:endParaRPr lang="en-US" sz="2000" dirty="0">
                        <a:effectLst/>
                      </a:endParaRPr>
                    </a:p>
                    <a:p>
                      <a:pPr marL="342900" marR="0" lvl="0" indent="-342900">
                        <a:spcBef>
                          <a:spcPts val="395"/>
                        </a:spcBef>
                        <a:spcAft>
                          <a:spcPts val="0"/>
                        </a:spcAft>
                        <a:buFont typeface="+mj-lt"/>
                        <a:buAutoNum type="arabicPeriod"/>
                        <a:tabLst>
                          <a:tab pos="297180" algn="l"/>
                        </a:tabLst>
                      </a:pPr>
                      <a:r>
                        <a:rPr lang="en-US" sz="2000" dirty="0">
                          <a:effectLst/>
                        </a:rPr>
                        <a:t>A</a:t>
                      </a:r>
                      <a:r>
                        <a:rPr lang="en-US" sz="2000" spc="5" dirty="0">
                          <a:effectLst/>
                        </a:rPr>
                        <a:t> </a:t>
                      </a:r>
                      <a:r>
                        <a:rPr lang="en-US" sz="2000" dirty="0">
                          <a:effectLst/>
                        </a:rPr>
                        <a:t>reaction</a:t>
                      </a:r>
                      <a:r>
                        <a:rPr lang="en-US" sz="2000" spc="-5" dirty="0">
                          <a:effectLst/>
                        </a:rPr>
                        <a:t> </a:t>
                      </a:r>
                      <a:r>
                        <a:rPr lang="en-US" sz="2000" u="sng" dirty="0">
                          <a:effectLst/>
                        </a:rPr>
                        <a:t>without</a:t>
                      </a:r>
                      <a:r>
                        <a:rPr lang="en-US" sz="2000" spc="20" dirty="0">
                          <a:effectLst/>
                        </a:rPr>
                        <a:t> </a:t>
                      </a:r>
                      <a:r>
                        <a:rPr lang="en-US" sz="2000" dirty="0" err="1">
                          <a:effectLst/>
                        </a:rPr>
                        <a:t>ΔH</a:t>
                      </a:r>
                      <a:r>
                        <a:rPr lang="en-US" sz="12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0" marR="0">
                        <a:spcBef>
                          <a:spcPts val="45"/>
                        </a:spcBef>
                        <a:spcAft>
                          <a:spcPts val="0"/>
                        </a:spcAft>
                      </a:pPr>
                      <a:r>
                        <a:rPr lang="en-US" sz="2800" dirty="0">
                          <a:effectLst/>
                        </a:rPr>
                        <a:t> </a:t>
                      </a:r>
                      <a:endParaRPr lang="en-US" sz="2000" dirty="0">
                        <a:effectLst/>
                      </a:endParaRPr>
                    </a:p>
                    <a:p>
                      <a:pPr marL="117475" marR="114300" algn="ctr">
                        <a:spcBef>
                          <a:spcPts val="0"/>
                        </a:spcBef>
                        <a:spcAft>
                          <a:spcPts val="0"/>
                        </a:spcAft>
                      </a:pPr>
                      <a:r>
                        <a:rPr lang="en-US" sz="2800" dirty="0" err="1">
                          <a:effectLst/>
                        </a:rPr>
                        <a:t>ΔH</a:t>
                      </a:r>
                      <a:r>
                        <a:rPr lang="en-US" sz="14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342900" marR="0" lvl="0" indent="-342900">
                        <a:spcBef>
                          <a:spcPts val="295"/>
                        </a:spcBef>
                        <a:spcAft>
                          <a:spcPts val="0"/>
                        </a:spcAft>
                        <a:buSzPct val="100000"/>
                        <a:buFont typeface="Calibri" panose="020F0502020204030204" pitchFamily="34" charset="0"/>
                        <a:buAutoNum type="arabicPeriod"/>
                        <a:tabLst>
                          <a:tab pos="300990" algn="l"/>
                        </a:tabLst>
                      </a:pPr>
                      <a:r>
                        <a:rPr lang="en-US" sz="2000" dirty="0">
                          <a:effectLst/>
                        </a:rPr>
                        <a:t>Draw</a:t>
                      </a:r>
                      <a:r>
                        <a:rPr lang="en-US" sz="2000" spc="-20" dirty="0">
                          <a:effectLst/>
                        </a:rPr>
                        <a:t> </a:t>
                      </a:r>
                      <a:r>
                        <a:rPr lang="en-US" sz="2000" dirty="0">
                          <a:effectLst/>
                        </a:rPr>
                        <a:t>the</a:t>
                      </a:r>
                      <a:r>
                        <a:rPr lang="en-US" sz="2000" spc="-15" dirty="0">
                          <a:effectLst/>
                        </a:rPr>
                        <a:t> </a:t>
                      </a:r>
                      <a:r>
                        <a:rPr lang="en-US" sz="2000" dirty="0">
                          <a:effectLst/>
                        </a:rPr>
                        <a:t>Lewis</a:t>
                      </a:r>
                      <a:r>
                        <a:rPr lang="en-US" sz="2000" spc="-5" dirty="0">
                          <a:effectLst/>
                        </a:rPr>
                        <a:t> </a:t>
                      </a:r>
                      <a:r>
                        <a:rPr lang="en-US" sz="2000" dirty="0">
                          <a:effectLst/>
                        </a:rPr>
                        <a:t>structures.</a:t>
                      </a:r>
                    </a:p>
                    <a:p>
                      <a:pPr marL="342900" marR="0" lvl="0" indent="-342900">
                        <a:spcBef>
                          <a:spcPts val="300"/>
                        </a:spcBef>
                        <a:spcAft>
                          <a:spcPts val="0"/>
                        </a:spcAft>
                        <a:buSzPct val="100000"/>
                        <a:buFont typeface="Calibri" panose="020F0502020204030204" pitchFamily="34" charset="0"/>
                        <a:buAutoNum type="arabicPeriod"/>
                        <a:tabLst>
                          <a:tab pos="300990" algn="l"/>
                        </a:tabLst>
                      </a:pPr>
                      <a:r>
                        <a:rPr lang="en-US" sz="2000" dirty="0">
                          <a:effectLst/>
                        </a:rPr>
                        <a:t>Use</a:t>
                      </a:r>
                      <a:r>
                        <a:rPr lang="en-US" sz="2000" spc="-10" dirty="0">
                          <a:effectLst/>
                        </a:rPr>
                        <a:t> </a:t>
                      </a:r>
                      <a:r>
                        <a:rPr lang="en-US" sz="2000" dirty="0">
                          <a:effectLst/>
                        </a:rPr>
                        <a:t>the</a:t>
                      </a:r>
                      <a:r>
                        <a:rPr lang="en-US" sz="2000" spc="-5" dirty="0">
                          <a:effectLst/>
                        </a:rPr>
                        <a:t> </a:t>
                      </a:r>
                      <a:r>
                        <a:rPr lang="en-US" sz="2000" dirty="0">
                          <a:effectLst/>
                        </a:rPr>
                        <a:t>following:</a:t>
                      </a:r>
                    </a:p>
                    <a:p>
                      <a:pPr marL="71755" marR="0">
                        <a:spcBef>
                          <a:spcPts val="395"/>
                        </a:spcBef>
                        <a:spcAft>
                          <a:spcPts val="0"/>
                        </a:spcAft>
                      </a:pPr>
                      <a:r>
                        <a:rPr lang="en-US" sz="2000" dirty="0" err="1">
                          <a:effectLst/>
                        </a:rPr>
                        <a:t>ΔH</a:t>
                      </a:r>
                      <a:r>
                        <a:rPr lang="en-US" sz="1200" dirty="0" err="1">
                          <a:effectLst/>
                        </a:rPr>
                        <a:t>rxn</a:t>
                      </a:r>
                      <a:r>
                        <a:rPr lang="en-US" sz="1200" spc="175" dirty="0">
                          <a:effectLst/>
                        </a:rPr>
                        <a:t> </a:t>
                      </a:r>
                      <a:r>
                        <a:rPr lang="en-US" sz="2000" dirty="0">
                          <a:effectLst/>
                        </a:rPr>
                        <a:t>=</a:t>
                      </a:r>
                      <a:r>
                        <a:rPr lang="en-US" sz="2000" spc="50" dirty="0">
                          <a:effectLst/>
                        </a:rPr>
                        <a:t> </a:t>
                      </a:r>
                      <a:r>
                        <a:rPr lang="en-US" sz="2000" dirty="0">
                          <a:effectLst/>
                        </a:rPr>
                        <a:t>bonds broken – bonds formed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extLst>
                  <a:ext uri="{0D108BD9-81ED-4DB2-BD59-A6C34878D82A}">
                    <a16:rowId xmlns:a16="http://schemas.microsoft.com/office/drawing/2014/main" val="3081972250"/>
                  </a:ext>
                </a:extLst>
              </a:tr>
              <a:tr h="689429">
                <a:tc>
                  <a:txBody>
                    <a:bodyPr/>
                    <a:lstStyle/>
                    <a:p>
                      <a:pPr marL="342900" marR="0" lvl="0" indent="-342900">
                        <a:spcBef>
                          <a:spcPts val="485"/>
                        </a:spcBef>
                        <a:spcAft>
                          <a:spcPts val="0"/>
                        </a:spcAft>
                        <a:buFont typeface="+mj-lt"/>
                        <a:buAutoNum type="arabicPeriod"/>
                        <a:tabLst>
                          <a:tab pos="297180" algn="l"/>
                        </a:tabLst>
                      </a:pPr>
                      <a:r>
                        <a:rPr lang="en-US" sz="2400" dirty="0">
                          <a:effectLst/>
                        </a:rPr>
                        <a:t>A</a:t>
                      </a:r>
                      <a:r>
                        <a:rPr lang="en-US" sz="2400" spc="15" dirty="0">
                          <a:effectLst/>
                        </a:rPr>
                        <a:t> </a:t>
                      </a:r>
                      <a:r>
                        <a:rPr lang="en-US" sz="2400" dirty="0">
                          <a:effectLst/>
                        </a:rPr>
                        <a:t>lot</a:t>
                      </a:r>
                      <a:r>
                        <a:rPr lang="en-US" sz="2400" spc="5" dirty="0">
                          <a:effectLst/>
                        </a:rPr>
                        <a:t> </a:t>
                      </a:r>
                      <a:r>
                        <a:rPr lang="en-US" sz="2400" dirty="0">
                          <a:effectLst/>
                        </a:rPr>
                        <a:t>of</a:t>
                      </a:r>
                      <a:r>
                        <a:rPr lang="en-US" sz="2400" spc="5" dirty="0">
                          <a:effectLst/>
                        </a:rPr>
                        <a:t> </a:t>
                      </a:r>
                      <a:r>
                        <a:rPr lang="en-US" sz="2400" dirty="0">
                          <a:effectLst/>
                        </a:rPr>
                        <a:t>heats</a:t>
                      </a:r>
                      <a:r>
                        <a:rPr lang="en-US" sz="2400" spc="-5" dirty="0">
                          <a:effectLst/>
                        </a:rPr>
                        <a:t> </a:t>
                      </a:r>
                      <a:r>
                        <a:rPr lang="en-US" sz="2400" dirty="0">
                          <a:effectLst/>
                        </a:rPr>
                        <a:t>of</a:t>
                      </a:r>
                      <a:r>
                        <a:rPr lang="en-US" sz="2400" spc="5" dirty="0">
                          <a:effectLst/>
                        </a:rPr>
                        <a:t> </a:t>
                      </a:r>
                      <a:r>
                        <a:rPr lang="en-US" sz="2400" dirty="0">
                          <a:effectLst/>
                        </a:rPr>
                        <a:t>formation</a:t>
                      </a:r>
                      <a:r>
                        <a:rPr lang="en-US" sz="2400" spc="25" dirty="0">
                          <a:effectLst/>
                        </a:rPr>
                        <a:t> </a:t>
                      </a:r>
                      <a:r>
                        <a:rPr lang="en-US" sz="2400" dirty="0">
                          <a:effectLst/>
                        </a:rPr>
                        <a:t>(</a:t>
                      </a:r>
                      <a:r>
                        <a:rPr lang="en-US" sz="2400" dirty="0" err="1">
                          <a:effectLst/>
                        </a:rPr>
                        <a:t>ΔH</a:t>
                      </a:r>
                      <a:r>
                        <a:rPr lang="en-US" sz="1400" dirty="0" err="1">
                          <a:effectLst/>
                        </a:rPr>
                        <a:t>f</a:t>
                      </a:r>
                      <a:r>
                        <a:rPr lang="en-US" sz="2400" dirty="0">
                          <a:effectLst/>
                        </a:rPr>
                        <a:t>)</a:t>
                      </a:r>
                      <a:endParaRPr lang="en-US" sz="2000" dirty="0">
                        <a:effectLst/>
                      </a:endParaRPr>
                    </a:p>
                    <a:p>
                      <a:pPr marL="342900" marR="0" lvl="0" indent="-342900">
                        <a:spcBef>
                          <a:spcPts val="435"/>
                        </a:spcBef>
                        <a:spcAft>
                          <a:spcPts val="0"/>
                        </a:spcAft>
                        <a:buFont typeface="+mj-lt"/>
                        <a:buAutoNum type="arabicPeriod"/>
                        <a:tabLst>
                          <a:tab pos="297180" algn="l"/>
                        </a:tabLst>
                      </a:pPr>
                      <a:r>
                        <a:rPr lang="en-US" sz="2000" dirty="0">
                          <a:effectLst/>
                        </a:rPr>
                        <a:t>A</a:t>
                      </a:r>
                      <a:r>
                        <a:rPr lang="en-US" sz="2000" spc="5" dirty="0">
                          <a:effectLst/>
                        </a:rPr>
                        <a:t> </a:t>
                      </a:r>
                      <a:r>
                        <a:rPr lang="en-US" sz="2000" dirty="0">
                          <a:effectLst/>
                        </a:rPr>
                        <a:t>reaction</a:t>
                      </a:r>
                      <a:r>
                        <a:rPr lang="en-US" sz="2000" spc="-5" dirty="0">
                          <a:effectLst/>
                        </a:rPr>
                        <a:t> </a:t>
                      </a:r>
                      <a:r>
                        <a:rPr lang="en-US" sz="2000" u="sng" dirty="0">
                          <a:effectLst/>
                        </a:rPr>
                        <a:t>without</a:t>
                      </a:r>
                      <a:r>
                        <a:rPr lang="en-US" sz="2000" spc="20" dirty="0">
                          <a:effectLst/>
                        </a:rPr>
                        <a:t> </a:t>
                      </a:r>
                      <a:r>
                        <a:rPr lang="en-US" sz="2000" dirty="0" err="1">
                          <a:effectLst/>
                        </a:rPr>
                        <a:t>ΔH</a:t>
                      </a:r>
                      <a:r>
                        <a:rPr lang="en-US" sz="12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117475" marR="114300" algn="ctr">
                        <a:spcBef>
                          <a:spcPts val="1180"/>
                        </a:spcBef>
                        <a:spcAft>
                          <a:spcPts val="0"/>
                        </a:spcAft>
                      </a:pPr>
                      <a:r>
                        <a:rPr lang="en-US" sz="2800" dirty="0" err="1">
                          <a:effectLst/>
                        </a:rPr>
                        <a:t>ΔH</a:t>
                      </a:r>
                      <a:r>
                        <a:rPr lang="en-US" sz="14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0" marR="0">
                        <a:spcBef>
                          <a:spcPts val="50"/>
                        </a:spcBef>
                        <a:spcAft>
                          <a:spcPts val="0"/>
                        </a:spcAft>
                      </a:pPr>
                      <a:r>
                        <a:rPr lang="en-US" sz="2000" dirty="0">
                          <a:effectLst/>
                        </a:rPr>
                        <a:t> Big MAMA:</a:t>
                      </a:r>
                    </a:p>
                    <a:p>
                      <a:pPr marL="209550" marR="205105" algn="ctr">
                        <a:spcBef>
                          <a:spcPts val="0"/>
                        </a:spcBef>
                        <a:spcAft>
                          <a:spcPts val="0"/>
                        </a:spcAft>
                      </a:pPr>
                      <a:r>
                        <a:rPr lang="en-US" sz="2000" dirty="0" err="1">
                          <a:effectLst/>
                        </a:rPr>
                        <a:t>ΔH</a:t>
                      </a:r>
                      <a:r>
                        <a:rPr lang="en-US" sz="1200" dirty="0" err="1">
                          <a:effectLst/>
                        </a:rPr>
                        <a:t>rxn</a:t>
                      </a:r>
                      <a:r>
                        <a:rPr lang="en-US" sz="1200" spc="140" dirty="0">
                          <a:effectLst/>
                        </a:rPr>
                        <a:t> </a:t>
                      </a:r>
                      <a:r>
                        <a:rPr lang="en-US" sz="2000" dirty="0">
                          <a:effectLst/>
                        </a:rPr>
                        <a:t>=</a:t>
                      </a:r>
                      <a:r>
                        <a:rPr lang="en-US" sz="2000" spc="20" dirty="0">
                          <a:effectLst/>
                        </a:rPr>
                        <a:t> </a:t>
                      </a:r>
                      <a:r>
                        <a:rPr lang="en-US" sz="2000" dirty="0" err="1">
                          <a:effectLst/>
                        </a:rPr>
                        <a:t>ΣΔH</a:t>
                      </a:r>
                      <a:r>
                        <a:rPr lang="en-US" sz="1200" dirty="0" err="1">
                          <a:effectLst/>
                        </a:rPr>
                        <a:t>f</a:t>
                      </a:r>
                      <a:r>
                        <a:rPr lang="en-US" sz="1200" spc="65" dirty="0">
                          <a:effectLst/>
                        </a:rPr>
                        <a:t> </a:t>
                      </a:r>
                      <a:r>
                        <a:rPr lang="en-US" sz="2000" dirty="0">
                          <a:effectLst/>
                        </a:rPr>
                        <a:t>(</a:t>
                      </a:r>
                      <a:r>
                        <a:rPr lang="en-US" sz="1600" dirty="0">
                          <a:effectLst/>
                        </a:rPr>
                        <a:t>products</a:t>
                      </a:r>
                      <a:r>
                        <a:rPr lang="en-US" sz="2000" dirty="0">
                          <a:effectLst/>
                        </a:rPr>
                        <a:t>)−</a:t>
                      </a:r>
                      <a:r>
                        <a:rPr lang="en-US" sz="2000" spc="20" dirty="0">
                          <a:effectLst/>
                        </a:rPr>
                        <a:t> </a:t>
                      </a:r>
                      <a:r>
                        <a:rPr lang="en-US" sz="2000" dirty="0" err="1">
                          <a:effectLst/>
                        </a:rPr>
                        <a:t>ΣΔH</a:t>
                      </a:r>
                      <a:r>
                        <a:rPr lang="en-US" sz="1200" dirty="0" err="1">
                          <a:effectLst/>
                        </a:rPr>
                        <a:t>f</a:t>
                      </a:r>
                      <a:r>
                        <a:rPr lang="en-US" sz="1200" spc="65" dirty="0">
                          <a:effectLst/>
                        </a:rPr>
                        <a:t> </a:t>
                      </a:r>
                      <a:r>
                        <a:rPr lang="en-US" sz="2000" dirty="0">
                          <a:effectLst/>
                        </a:rPr>
                        <a:t>(</a:t>
                      </a:r>
                      <a:r>
                        <a:rPr lang="en-US" sz="1600" dirty="0">
                          <a:effectLst/>
                        </a:rPr>
                        <a:t>reactants</a:t>
                      </a:r>
                      <a:r>
                        <a:rPr lang="en-US" sz="2000" dirty="0">
                          <a:effectLst/>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extLst>
                  <a:ext uri="{0D108BD9-81ED-4DB2-BD59-A6C34878D82A}">
                    <a16:rowId xmlns:a16="http://schemas.microsoft.com/office/drawing/2014/main" val="2743057216"/>
                  </a:ext>
                </a:extLst>
              </a:tr>
              <a:tr h="1008343">
                <a:tc>
                  <a:txBody>
                    <a:bodyPr/>
                    <a:lstStyle/>
                    <a:p>
                      <a:pPr marL="0" marR="0">
                        <a:spcBef>
                          <a:spcPts val="20"/>
                        </a:spcBef>
                        <a:spcAft>
                          <a:spcPts val="0"/>
                        </a:spcAft>
                      </a:pPr>
                      <a:r>
                        <a:rPr lang="en-US" sz="2000" dirty="0">
                          <a:effectLst/>
                        </a:rPr>
                        <a:t> </a:t>
                      </a:r>
                    </a:p>
                    <a:p>
                      <a:pPr marL="342900" marR="0" lvl="0" indent="-342900">
                        <a:spcBef>
                          <a:spcPts val="0"/>
                        </a:spcBef>
                        <a:spcAft>
                          <a:spcPts val="0"/>
                        </a:spcAft>
                        <a:buFont typeface="+mj-lt"/>
                        <a:buAutoNum type="arabicPeriod"/>
                        <a:tabLst>
                          <a:tab pos="297180" algn="l"/>
                        </a:tabLst>
                      </a:pPr>
                      <a:r>
                        <a:rPr lang="en-US" sz="2400" dirty="0">
                          <a:effectLst/>
                        </a:rPr>
                        <a:t>Multiple</a:t>
                      </a:r>
                      <a:r>
                        <a:rPr lang="en-US" sz="2400" spc="-15" dirty="0">
                          <a:effectLst/>
                        </a:rPr>
                        <a:t> </a:t>
                      </a:r>
                      <a:r>
                        <a:rPr lang="en-US" sz="2400" dirty="0">
                          <a:effectLst/>
                        </a:rPr>
                        <a:t>reactions</a:t>
                      </a:r>
                      <a:r>
                        <a:rPr lang="en-US" sz="2400" spc="-20" dirty="0">
                          <a:effectLst/>
                        </a:rPr>
                        <a:t> </a:t>
                      </a:r>
                      <a:r>
                        <a:rPr lang="en-US" sz="2400" dirty="0">
                          <a:effectLst/>
                        </a:rPr>
                        <a:t>with</a:t>
                      </a:r>
                      <a:r>
                        <a:rPr lang="en-US" sz="2400" spc="240" dirty="0">
                          <a:effectLst/>
                        </a:rPr>
                        <a:t> </a:t>
                      </a:r>
                      <a:r>
                        <a:rPr lang="en-US" sz="2400" dirty="0">
                          <a:effectLst/>
                        </a:rPr>
                        <a:t>ΔH</a:t>
                      </a:r>
                      <a:endParaRPr lang="en-US" sz="2000" dirty="0">
                        <a:effectLst/>
                      </a:endParaRPr>
                    </a:p>
                    <a:p>
                      <a:pPr marL="342900" marR="0" lvl="0" indent="-342900">
                        <a:spcBef>
                          <a:spcPts val="390"/>
                        </a:spcBef>
                        <a:spcAft>
                          <a:spcPts val="0"/>
                        </a:spcAft>
                        <a:buFont typeface="+mj-lt"/>
                        <a:buAutoNum type="arabicPeriod"/>
                        <a:tabLst>
                          <a:tab pos="297180" algn="l"/>
                        </a:tabLst>
                      </a:pPr>
                      <a:r>
                        <a:rPr lang="en-US" sz="2000" dirty="0">
                          <a:effectLst/>
                        </a:rPr>
                        <a:t>A</a:t>
                      </a:r>
                      <a:r>
                        <a:rPr lang="en-US" sz="2000" spc="5" dirty="0">
                          <a:effectLst/>
                        </a:rPr>
                        <a:t> </a:t>
                      </a:r>
                      <a:r>
                        <a:rPr lang="en-US" sz="2000" dirty="0">
                          <a:effectLst/>
                        </a:rPr>
                        <a:t>goal</a:t>
                      </a:r>
                      <a:r>
                        <a:rPr lang="en-US" sz="2000" spc="5" dirty="0">
                          <a:effectLst/>
                        </a:rPr>
                        <a:t> </a:t>
                      </a:r>
                      <a:r>
                        <a:rPr lang="en-US" sz="2000" dirty="0">
                          <a:effectLst/>
                        </a:rPr>
                        <a:t>reaction</a:t>
                      </a:r>
                      <a:r>
                        <a:rPr lang="en-US" sz="2000" spc="-10" dirty="0">
                          <a:effectLst/>
                        </a:rPr>
                        <a:t> </a:t>
                      </a:r>
                      <a:r>
                        <a:rPr lang="en-US" sz="2000" u="sng" dirty="0">
                          <a:effectLst/>
                        </a:rPr>
                        <a:t>without</a:t>
                      </a:r>
                      <a:r>
                        <a:rPr lang="en-US" sz="2000" spc="250" dirty="0">
                          <a:effectLst/>
                        </a:rPr>
                        <a:t> </a:t>
                      </a:r>
                      <a:r>
                        <a:rPr lang="en-US" sz="2000" dirty="0" err="1">
                          <a:effectLst/>
                        </a:rPr>
                        <a:t>ΔH</a:t>
                      </a:r>
                      <a:r>
                        <a:rPr lang="en-US" sz="12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0" marR="0">
                        <a:spcBef>
                          <a:spcPts val="40"/>
                        </a:spcBef>
                        <a:spcAft>
                          <a:spcPts val="0"/>
                        </a:spcAft>
                      </a:pPr>
                      <a:r>
                        <a:rPr lang="en-US" sz="3200" dirty="0">
                          <a:effectLst/>
                        </a:rPr>
                        <a:t> </a:t>
                      </a:r>
                      <a:endParaRPr lang="en-US" sz="2000" dirty="0">
                        <a:effectLst/>
                      </a:endParaRPr>
                    </a:p>
                    <a:p>
                      <a:pPr marL="117475" marR="114300" algn="ctr">
                        <a:spcBef>
                          <a:spcPts val="0"/>
                        </a:spcBef>
                        <a:spcAft>
                          <a:spcPts val="0"/>
                        </a:spcAft>
                      </a:pPr>
                      <a:r>
                        <a:rPr lang="en-US" sz="2800" dirty="0" err="1">
                          <a:effectLst/>
                        </a:rPr>
                        <a:t>ΔH</a:t>
                      </a:r>
                      <a:r>
                        <a:rPr lang="en-US" sz="14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67945" marR="114935">
                        <a:spcBef>
                          <a:spcPts val="295"/>
                        </a:spcBef>
                        <a:spcAft>
                          <a:spcPts val="0"/>
                        </a:spcAft>
                      </a:pPr>
                      <a:r>
                        <a:rPr lang="en-US" sz="2000" dirty="0">
                          <a:effectLst/>
                        </a:rPr>
                        <a:t>Hess’s Law! Rearrange the equations to</a:t>
                      </a:r>
                      <a:r>
                        <a:rPr lang="en-US" sz="2000" spc="5" dirty="0">
                          <a:effectLst/>
                        </a:rPr>
                        <a:t> </a:t>
                      </a:r>
                      <a:r>
                        <a:rPr lang="en-US" sz="2000" dirty="0">
                          <a:effectLst/>
                        </a:rPr>
                        <a:t>make the goal equation, then combine your</a:t>
                      </a:r>
                      <a:r>
                        <a:rPr lang="en-US" sz="2000" spc="-235" dirty="0">
                          <a:effectLst/>
                        </a:rPr>
                        <a:t> </a:t>
                      </a:r>
                      <a:r>
                        <a:rPr lang="en-US" sz="2000" dirty="0">
                          <a:effectLst/>
                        </a:rPr>
                        <a:t>new ΔH’s (remember, what you do to an</a:t>
                      </a:r>
                      <a:r>
                        <a:rPr lang="en-US" sz="2000" spc="5" dirty="0">
                          <a:effectLst/>
                        </a:rPr>
                        <a:t> </a:t>
                      </a:r>
                      <a:r>
                        <a:rPr lang="en-US" sz="2000" dirty="0">
                          <a:effectLst/>
                        </a:rPr>
                        <a:t>equation</a:t>
                      </a:r>
                      <a:r>
                        <a:rPr lang="en-US" sz="2000" spc="-15" dirty="0">
                          <a:effectLst/>
                        </a:rPr>
                        <a:t> </a:t>
                      </a:r>
                      <a:r>
                        <a:rPr lang="en-US" sz="2000" dirty="0">
                          <a:effectLst/>
                        </a:rPr>
                        <a:t>you</a:t>
                      </a:r>
                      <a:r>
                        <a:rPr lang="en-US" sz="2000" spc="-15" dirty="0">
                          <a:effectLst/>
                        </a:rPr>
                        <a:t> </a:t>
                      </a:r>
                      <a:r>
                        <a:rPr lang="en-US" sz="2000" dirty="0">
                          <a:effectLst/>
                        </a:rPr>
                        <a:t>must</a:t>
                      </a:r>
                      <a:r>
                        <a:rPr lang="en-US" sz="2000" spc="-10" dirty="0">
                          <a:effectLst/>
                        </a:rPr>
                        <a:t> </a:t>
                      </a:r>
                      <a:r>
                        <a:rPr lang="en-US" sz="2000" dirty="0">
                          <a:effectLst/>
                        </a:rPr>
                        <a:t>do</a:t>
                      </a:r>
                      <a:r>
                        <a:rPr lang="en-US" sz="2000" spc="-5" dirty="0">
                          <a:effectLst/>
                        </a:rPr>
                        <a:t> </a:t>
                      </a:r>
                      <a:r>
                        <a:rPr lang="en-US" sz="2000" dirty="0">
                          <a:effectLst/>
                        </a:rPr>
                        <a:t>to</a:t>
                      </a:r>
                      <a:r>
                        <a:rPr lang="en-US" sz="2000" spc="-5" dirty="0">
                          <a:effectLst/>
                        </a:rPr>
                        <a:t> </a:t>
                      </a:r>
                      <a:r>
                        <a:rPr lang="en-US" sz="2000" dirty="0">
                          <a:effectLst/>
                        </a:rPr>
                        <a:t>ΔH!)</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extLst>
                  <a:ext uri="{0D108BD9-81ED-4DB2-BD59-A6C34878D82A}">
                    <a16:rowId xmlns:a16="http://schemas.microsoft.com/office/drawing/2014/main" val="4091914749"/>
                  </a:ext>
                </a:extLst>
              </a:tr>
              <a:tr h="896681">
                <a:tc>
                  <a:txBody>
                    <a:bodyPr/>
                    <a:lstStyle/>
                    <a:p>
                      <a:pPr marL="342900" marR="217805" lvl="0" indent="-342900">
                        <a:spcBef>
                          <a:spcPts val="305"/>
                        </a:spcBef>
                        <a:spcAft>
                          <a:spcPts val="0"/>
                        </a:spcAft>
                        <a:buSzPct val="100000"/>
                        <a:buFont typeface="Calibri" panose="020F0502020204030204" pitchFamily="34" charset="0"/>
                        <a:buAutoNum type="arabicPeriod"/>
                        <a:tabLst>
                          <a:tab pos="268605" algn="l"/>
                        </a:tabLst>
                      </a:pPr>
                      <a:r>
                        <a:rPr lang="en-US" sz="2000" dirty="0">
                          <a:effectLst/>
                        </a:rPr>
                        <a:t>info to calculate q (using </a:t>
                      </a:r>
                      <a:r>
                        <a:rPr lang="en-US" sz="2000" dirty="0" err="1">
                          <a:effectLst/>
                        </a:rPr>
                        <a:t>mC∆T</a:t>
                      </a:r>
                      <a:r>
                        <a:rPr lang="en-US" sz="2000" dirty="0">
                          <a:effectLst/>
                        </a:rPr>
                        <a:t>)</a:t>
                      </a:r>
                      <a:endParaRPr lang="en-US" sz="1800" dirty="0">
                        <a:effectLst/>
                      </a:endParaRPr>
                    </a:p>
                    <a:p>
                      <a:pPr marL="342900" marR="0" lvl="0" indent="-342900">
                        <a:spcBef>
                          <a:spcPts val="300"/>
                        </a:spcBef>
                        <a:spcAft>
                          <a:spcPts val="0"/>
                        </a:spcAft>
                        <a:buSzPct val="100000"/>
                        <a:buFont typeface="Calibri" panose="020F0502020204030204" pitchFamily="34" charset="0"/>
                        <a:buAutoNum type="arabicPeriod"/>
                        <a:tabLst>
                          <a:tab pos="268605" algn="l"/>
                        </a:tabLst>
                      </a:pPr>
                      <a:r>
                        <a:rPr lang="en-US" sz="2000" dirty="0">
                          <a:effectLst/>
                        </a:rPr>
                        <a:t>Moles/grams</a:t>
                      </a:r>
                      <a:r>
                        <a:rPr lang="en-US" sz="2000" spc="-15" dirty="0">
                          <a:effectLst/>
                        </a:rPr>
                        <a:t> </a:t>
                      </a:r>
                      <a:r>
                        <a:rPr lang="en-US" sz="2000" dirty="0">
                          <a:effectLst/>
                        </a:rPr>
                        <a:t>of</a:t>
                      </a:r>
                      <a:r>
                        <a:rPr lang="en-US" sz="2000" spc="-5" dirty="0">
                          <a:effectLst/>
                        </a:rPr>
                        <a:t> </a:t>
                      </a:r>
                      <a:r>
                        <a:rPr lang="en-US" sz="2000" dirty="0">
                          <a:effectLst/>
                        </a:rPr>
                        <a:t>a</a:t>
                      </a:r>
                      <a:r>
                        <a:rPr lang="en-US" sz="2000" spc="-10" dirty="0">
                          <a:effectLst/>
                        </a:rPr>
                        <a:t> </a:t>
                      </a:r>
                      <a:r>
                        <a:rPr lang="en-US" sz="2000" dirty="0">
                          <a:effectLst/>
                        </a:rPr>
                        <a:t>chemical</a:t>
                      </a:r>
                    </a:p>
                    <a:p>
                      <a:pPr marL="342900" marR="0" lvl="0" indent="-342900">
                        <a:spcBef>
                          <a:spcPts val="300"/>
                        </a:spcBef>
                        <a:spcAft>
                          <a:spcPts val="0"/>
                        </a:spcAft>
                        <a:buSzPct val="100000"/>
                        <a:buFont typeface="Calibri" panose="020F0502020204030204" pitchFamily="34" charset="0"/>
                        <a:buAutoNum type="arabicPeriod"/>
                        <a:tabLst>
                          <a:tab pos="268605" algn="l"/>
                        </a:tabLst>
                      </a:pPr>
                      <a:r>
                        <a:rPr lang="en-US" sz="2000" dirty="0">
                          <a:effectLst/>
                          <a:latin typeface="+mn-lt"/>
                          <a:ea typeface="Calibri" panose="020F0502020204030204" pitchFamily="34" charset="0"/>
                          <a:cs typeface="Times New Roman" panose="02020603050405020304" pitchFamily="18" charset="0"/>
                        </a:rPr>
                        <a:t>A CALORIMETER!!!!!!</a:t>
                      </a:r>
                      <a:endParaRPr lang="en-US" sz="1800" dirty="0">
                        <a:effectLst/>
                        <a:latin typeface="+mn-lt"/>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0" marR="0">
                        <a:spcBef>
                          <a:spcPts val="20"/>
                        </a:spcBef>
                        <a:spcAft>
                          <a:spcPts val="0"/>
                        </a:spcAft>
                      </a:pPr>
                      <a:r>
                        <a:rPr lang="en-US" sz="2800">
                          <a:effectLst/>
                        </a:rPr>
                        <a:t> </a:t>
                      </a:r>
                      <a:endParaRPr lang="en-US" sz="2000">
                        <a:effectLst/>
                      </a:endParaRPr>
                    </a:p>
                    <a:p>
                      <a:pPr marL="117475" marR="114300" algn="ctr">
                        <a:spcBef>
                          <a:spcPts val="0"/>
                        </a:spcBef>
                        <a:spcAft>
                          <a:spcPts val="0"/>
                        </a:spcAft>
                      </a:pPr>
                      <a:r>
                        <a:rPr lang="en-US" sz="2800">
                          <a:effectLst/>
                        </a:rPr>
                        <a:t>ΔH</a:t>
                      </a:r>
                      <a:r>
                        <a:rPr lang="en-US" sz="1400">
                          <a:effectLst/>
                        </a:rPr>
                        <a:t>rxn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tc>
                  <a:txBody>
                    <a:bodyPr/>
                    <a:lstStyle/>
                    <a:p>
                      <a:pPr marL="0" marR="0">
                        <a:spcBef>
                          <a:spcPts val="50"/>
                        </a:spcBef>
                        <a:spcAft>
                          <a:spcPts val="0"/>
                        </a:spcAft>
                      </a:pPr>
                      <a:r>
                        <a:rPr lang="en-US" sz="1200" dirty="0">
                          <a:effectLst/>
                        </a:rPr>
                        <a:t> </a:t>
                      </a:r>
                      <a:endParaRPr lang="en-US" sz="2000" dirty="0">
                        <a:effectLst/>
                      </a:endParaRPr>
                    </a:p>
                    <a:p>
                      <a:pPr marL="0" marR="0">
                        <a:spcBef>
                          <a:spcPts val="50"/>
                        </a:spcBef>
                        <a:spcAft>
                          <a:spcPts val="0"/>
                        </a:spcAft>
                      </a:pPr>
                      <a:endParaRPr lang="en-US" sz="2000" dirty="0">
                        <a:effectLst/>
                      </a:endParaRPr>
                    </a:p>
                    <a:p>
                      <a:pPr marL="876300" marR="0">
                        <a:lnSpc>
                          <a:spcPct val="60000"/>
                        </a:lnSpc>
                        <a:spcBef>
                          <a:spcPts val="0"/>
                        </a:spcBef>
                        <a:spcAft>
                          <a:spcPts val="0"/>
                        </a:spcAft>
                      </a:pPr>
                      <a:r>
                        <a:rPr lang="en-US" sz="2000" dirty="0">
                          <a:effectLst/>
                        </a:rPr>
                        <a:t>∆</a:t>
                      </a:r>
                      <a:r>
                        <a:rPr lang="en-US" sz="2000" dirty="0" err="1">
                          <a:effectLst/>
                        </a:rPr>
                        <a:t>H</a:t>
                      </a:r>
                      <a:r>
                        <a:rPr lang="en-US" sz="1800" baseline="-25000" dirty="0" err="1">
                          <a:effectLst/>
                        </a:rPr>
                        <a:t>rxn</a:t>
                      </a:r>
                      <a:r>
                        <a:rPr lang="en-US" sz="1200" spc="115" dirty="0">
                          <a:effectLst/>
                        </a:rPr>
                        <a:t> </a:t>
                      </a:r>
                      <a:r>
                        <a:rPr lang="en-US" sz="2000" dirty="0">
                          <a:effectLst/>
                        </a:rPr>
                        <a:t>=</a:t>
                      </a:r>
                      <a:r>
                        <a:rPr lang="en-US" sz="2000" spc="25" dirty="0">
                          <a:effectLst/>
                        </a:rPr>
                        <a:t> q/</a:t>
                      </a:r>
                      <a:r>
                        <a:rPr lang="en-US" sz="2000" dirty="0" err="1">
                          <a:effectLst/>
                        </a:rPr>
                        <a:t>mol</a:t>
                      </a:r>
                      <a:r>
                        <a:rPr lang="en-US" sz="2000" baseline="-25000" dirty="0" err="1">
                          <a:effectLst/>
                        </a:rPr>
                        <a:t>rxn</a:t>
                      </a:r>
                      <a:endParaRPr lang="en-US" sz="2000" baseline="-25000" dirty="0">
                        <a:effectLst/>
                      </a:endParaRPr>
                    </a:p>
                    <a:p>
                      <a:pPr marL="1640840" marR="0">
                        <a:lnSpc>
                          <a:spcPts val="545"/>
                        </a:lnSpc>
                        <a:spcBef>
                          <a:spcPts val="0"/>
                        </a:spcBef>
                        <a:spcAft>
                          <a:spcPts val="0"/>
                        </a:spcAft>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1">
                        <a:lumMod val="20000"/>
                        <a:lumOff val="80000"/>
                      </a:schemeClr>
                    </a:solidFill>
                  </a:tcPr>
                </a:tc>
                <a:extLst>
                  <a:ext uri="{0D108BD9-81ED-4DB2-BD59-A6C34878D82A}">
                    <a16:rowId xmlns:a16="http://schemas.microsoft.com/office/drawing/2014/main" val="1468697802"/>
                  </a:ext>
                </a:extLst>
              </a:tr>
            </a:tbl>
          </a:graphicData>
        </a:graphic>
      </p:graphicFrame>
    </p:spTree>
    <p:extLst>
      <p:ext uri="{BB962C8B-B14F-4D97-AF65-F5344CB8AC3E}">
        <p14:creationId xmlns:p14="http://schemas.microsoft.com/office/powerpoint/2010/main" val="13731223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3584-762F-44D1-B6E0-17A200B35CB0}"/>
              </a:ext>
            </a:extLst>
          </p:cNvPr>
          <p:cNvSpPr>
            <a:spLocks noGrp="1"/>
          </p:cNvSpPr>
          <p:nvPr>
            <p:ph type="title"/>
          </p:nvPr>
        </p:nvSpPr>
        <p:spPr>
          <a:xfrm>
            <a:off x="914400" y="304800"/>
            <a:ext cx="10363200" cy="1447800"/>
          </a:xfrm>
        </p:spPr>
        <p:txBody>
          <a:bodyPr/>
          <a:lstStyle/>
          <a:p>
            <a:r>
              <a:rPr lang="en-US" dirty="0"/>
              <a:t>What if it’s not </a:t>
            </a:r>
            <a:r>
              <a:rPr lang="en-US" dirty="0" err="1"/>
              <a:t>ΔH</a:t>
            </a:r>
            <a:r>
              <a:rPr lang="en-US" baseline="-25000" dirty="0" err="1"/>
              <a:t>rxn</a:t>
            </a:r>
            <a:r>
              <a:rPr lang="en-US" dirty="0"/>
              <a:t>? What if it is something else?</a:t>
            </a:r>
            <a:endParaRPr lang="en-US" baseline="-25000" dirty="0"/>
          </a:p>
        </p:txBody>
      </p:sp>
      <p:graphicFrame>
        <p:nvGraphicFramePr>
          <p:cNvPr id="4" name="Content Placeholder 3">
            <a:extLst>
              <a:ext uri="{FF2B5EF4-FFF2-40B4-BE49-F238E27FC236}">
                <a16:creationId xmlns:a16="http://schemas.microsoft.com/office/drawing/2014/main" id="{1BCF3B33-8E6E-4ED3-BEAC-AEEE69A31E28}"/>
              </a:ext>
            </a:extLst>
          </p:cNvPr>
          <p:cNvGraphicFramePr>
            <a:graphicFrameLocks noGrp="1"/>
          </p:cNvGraphicFramePr>
          <p:nvPr>
            <p:ph idx="1"/>
            <p:extLst>
              <p:ext uri="{D42A27DB-BD31-4B8C-83A1-F6EECF244321}">
                <p14:modId xmlns:p14="http://schemas.microsoft.com/office/powerpoint/2010/main" val="1078760897"/>
              </p:ext>
            </p:extLst>
          </p:nvPr>
        </p:nvGraphicFramePr>
        <p:xfrm>
          <a:off x="304800" y="1676400"/>
          <a:ext cx="11582400" cy="4468544"/>
        </p:xfrm>
        <a:graphic>
          <a:graphicData uri="http://schemas.openxmlformats.org/drawingml/2006/table">
            <a:tbl>
              <a:tblPr firstRow="1" firstCol="1" lastRow="1" lastCol="1" bandRow="1" bandCol="1">
                <a:tableStyleId>{72833802-FEF1-4C79-8D5D-14CF1EAF98D9}</a:tableStyleId>
              </a:tblPr>
              <a:tblGrid>
                <a:gridCol w="3946832">
                  <a:extLst>
                    <a:ext uri="{9D8B030D-6E8A-4147-A177-3AD203B41FA5}">
                      <a16:colId xmlns:a16="http://schemas.microsoft.com/office/drawing/2014/main" val="1534359025"/>
                    </a:ext>
                  </a:extLst>
                </a:gridCol>
                <a:gridCol w="3420359">
                  <a:extLst>
                    <a:ext uri="{9D8B030D-6E8A-4147-A177-3AD203B41FA5}">
                      <a16:colId xmlns:a16="http://schemas.microsoft.com/office/drawing/2014/main" val="1612374284"/>
                    </a:ext>
                  </a:extLst>
                </a:gridCol>
                <a:gridCol w="4215209">
                  <a:extLst>
                    <a:ext uri="{9D8B030D-6E8A-4147-A177-3AD203B41FA5}">
                      <a16:colId xmlns:a16="http://schemas.microsoft.com/office/drawing/2014/main" val="1786841349"/>
                    </a:ext>
                  </a:extLst>
                </a:gridCol>
              </a:tblGrid>
              <a:tr h="421106">
                <a:tc>
                  <a:txBody>
                    <a:bodyPr/>
                    <a:lstStyle/>
                    <a:p>
                      <a:pPr marL="866140" marR="859790" algn="ctr">
                        <a:spcBef>
                          <a:spcPts val="295"/>
                        </a:spcBef>
                        <a:spcAft>
                          <a:spcPts val="0"/>
                        </a:spcAft>
                      </a:pPr>
                      <a:r>
                        <a:rPr lang="en-US" sz="2400" dirty="0">
                          <a:effectLst/>
                        </a:rPr>
                        <a:t>Given?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496570" marR="0">
                        <a:spcBef>
                          <a:spcPts val="295"/>
                        </a:spcBef>
                        <a:spcAft>
                          <a:spcPts val="0"/>
                        </a:spcAft>
                      </a:pPr>
                      <a:r>
                        <a:rPr lang="en-US" sz="2400" dirty="0">
                          <a:effectLst/>
                        </a:rPr>
                        <a:t>Asked to</a:t>
                      </a:r>
                      <a:r>
                        <a:rPr lang="en-US" sz="2400" spc="-10" dirty="0">
                          <a:effectLst/>
                        </a:rPr>
                        <a:t> </a:t>
                      </a:r>
                      <a:r>
                        <a:rPr lang="en-US" sz="2400" dirty="0">
                          <a:effectLst/>
                        </a:rPr>
                        <a:t>find?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tc>
                  <a:txBody>
                    <a:bodyPr/>
                    <a:lstStyle/>
                    <a:p>
                      <a:pPr marL="828040" marR="824230" algn="ctr">
                        <a:spcBef>
                          <a:spcPts val="295"/>
                        </a:spcBef>
                        <a:spcAft>
                          <a:spcPts val="0"/>
                        </a:spcAft>
                      </a:pPr>
                      <a:r>
                        <a:rPr lang="en-US" sz="2400">
                          <a:effectLst/>
                        </a:rPr>
                        <a:t>Use: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794854907"/>
                  </a:ext>
                </a:extLst>
              </a:tr>
              <a:tr h="1407694">
                <a:tc>
                  <a:txBody>
                    <a:bodyPr/>
                    <a:lstStyle/>
                    <a:p>
                      <a:pPr marL="342900" marR="0" lvl="0" indent="-342900">
                        <a:spcBef>
                          <a:spcPts val="385"/>
                        </a:spcBef>
                        <a:spcAft>
                          <a:spcPts val="0"/>
                        </a:spcAft>
                        <a:buSzPct val="100000"/>
                        <a:buFont typeface="Calibri" panose="020F0502020204030204" pitchFamily="34" charset="0"/>
                        <a:buAutoNum type="arabicPeriod"/>
                        <a:tabLst>
                          <a:tab pos="297180" algn="l"/>
                        </a:tabLst>
                      </a:pPr>
                      <a:r>
                        <a:rPr lang="en-US" sz="2000" dirty="0">
                          <a:effectLst/>
                        </a:rPr>
                        <a:t>A</a:t>
                      </a:r>
                      <a:r>
                        <a:rPr lang="en-US" sz="2000" spc="10" dirty="0">
                          <a:effectLst/>
                        </a:rPr>
                        <a:t> </a:t>
                      </a:r>
                      <a:r>
                        <a:rPr lang="en-US" sz="2000" dirty="0">
                          <a:effectLst/>
                        </a:rPr>
                        <a:t>reaction</a:t>
                      </a:r>
                      <a:r>
                        <a:rPr lang="en-US" sz="2000" spc="-5" dirty="0">
                          <a:effectLst/>
                        </a:rPr>
                        <a:t> </a:t>
                      </a:r>
                      <a:r>
                        <a:rPr lang="en-US" sz="2000" dirty="0">
                          <a:effectLst/>
                        </a:rPr>
                        <a:t>with</a:t>
                      </a:r>
                      <a:r>
                        <a:rPr lang="en-US" sz="2000" spc="15" dirty="0">
                          <a:effectLst/>
                        </a:rPr>
                        <a:t> </a:t>
                      </a:r>
                      <a:r>
                        <a:rPr lang="en-US" sz="2000" dirty="0" err="1">
                          <a:effectLst/>
                        </a:rPr>
                        <a:t>ΔH</a:t>
                      </a:r>
                      <a:r>
                        <a:rPr lang="en-US" sz="1200" dirty="0" err="1">
                          <a:effectLst/>
                        </a:rPr>
                        <a:t>rxn</a:t>
                      </a:r>
                      <a:endParaRPr lang="en-US" sz="2000" dirty="0">
                        <a:effectLst/>
                      </a:endParaRPr>
                    </a:p>
                    <a:p>
                      <a:pPr marL="342900" marR="0" lvl="0" indent="-342900">
                        <a:spcBef>
                          <a:spcPts val="310"/>
                        </a:spcBef>
                        <a:spcAft>
                          <a:spcPts val="0"/>
                        </a:spcAft>
                        <a:buSzPct val="100000"/>
                        <a:buFont typeface="Calibri" panose="020F0502020204030204" pitchFamily="34" charset="0"/>
                        <a:buAutoNum type="arabicPeriod"/>
                        <a:tabLst>
                          <a:tab pos="297180" algn="l"/>
                        </a:tabLst>
                      </a:pPr>
                      <a:r>
                        <a:rPr lang="en-US" sz="2000" dirty="0">
                          <a:effectLst/>
                        </a:rPr>
                        <a:t>Either:</a:t>
                      </a:r>
                    </a:p>
                    <a:p>
                      <a:pPr marL="742950" marR="0" lvl="1" indent="-285750">
                        <a:spcBef>
                          <a:spcPts val="300"/>
                        </a:spcBef>
                        <a:spcAft>
                          <a:spcPts val="0"/>
                        </a:spcAft>
                        <a:buSzPct val="100000"/>
                        <a:buFont typeface="Calibri" panose="020F0502020204030204" pitchFamily="34" charset="0"/>
                        <a:buAutoNum type="alphaLcPeriod"/>
                        <a:tabLst>
                          <a:tab pos="525780" algn="l"/>
                        </a:tabLst>
                      </a:pPr>
                      <a:r>
                        <a:rPr lang="en-US" sz="2000" spc="-5" dirty="0">
                          <a:effectLst/>
                        </a:rPr>
                        <a:t>g or</a:t>
                      </a:r>
                      <a:r>
                        <a:rPr lang="en-US" sz="2000" spc="-10" dirty="0">
                          <a:effectLst/>
                        </a:rPr>
                        <a:t> </a:t>
                      </a:r>
                      <a:r>
                        <a:rPr lang="en-US" sz="2000" spc="-5" dirty="0">
                          <a:effectLst/>
                        </a:rPr>
                        <a:t>mol of</a:t>
                      </a:r>
                      <a:r>
                        <a:rPr lang="en-US" sz="2000" spc="-10" dirty="0">
                          <a:effectLst/>
                        </a:rPr>
                        <a:t> </a:t>
                      </a:r>
                      <a:r>
                        <a:rPr lang="en-US" sz="2000" spc="-5" dirty="0">
                          <a:effectLst/>
                        </a:rPr>
                        <a:t>a substance</a:t>
                      </a:r>
                    </a:p>
                    <a:p>
                      <a:pPr marL="742950" marR="0" lvl="1" indent="-285750">
                        <a:spcBef>
                          <a:spcPts val="305"/>
                        </a:spcBef>
                        <a:spcAft>
                          <a:spcPts val="0"/>
                        </a:spcAft>
                        <a:buSzPct val="100000"/>
                        <a:buFont typeface="Calibri" panose="020F0502020204030204" pitchFamily="34" charset="0"/>
                        <a:buAutoNum type="alphaLcPeriod"/>
                        <a:tabLst>
                          <a:tab pos="525780" algn="l"/>
                        </a:tabLst>
                      </a:pPr>
                      <a:r>
                        <a:rPr lang="en-US" sz="2000" spc="-5" dirty="0">
                          <a:effectLst/>
                        </a:rPr>
                        <a:t>energy</a:t>
                      </a:r>
                      <a:r>
                        <a:rPr lang="en-US" sz="2000" spc="-10" dirty="0">
                          <a:effectLst/>
                        </a:rPr>
                        <a:t> </a:t>
                      </a:r>
                      <a:r>
                        <a:rPr lang="en-US" sz="2000" spc="-5" dirty="0">
                          <a:effectLst/>
                        </a:rPr>
                        <a:t>change</a:t>
                      </a:r>
                      <a:r>
                        <a:rPr lang="en-US" sz="2000" spc="5" dirty="0">
                          <a:effectLst/>
                        </a:rPr>
                        <a:t> </a:t>
                      </a:r>
                      <a:r>
                        <a:rPr lang="en-US" sz="2000" spc="-5" dirty="0">
                          <a:effectLst/>
                        </a:rPr>
                        <a:t>(J</a:t>
                      </a:r>
                      <a:r>
                        <a:rPr lang="en-US" sz="2000" spc="-15" dirty="0">
                          <a:effectLst/>
                        </a:rPr>
                        <a:t> </a:t>
                      </a:r>
                      <a:r>
                        <a:rPr lang="en-US" sz="2000" spc="-5" dirty="0">
                          <a:effectLst/>
                        </a:rPr>
                        <a:t>or kJ)</a:t>
                      </a:r>
                      <a:endParaRPr lang="en-US" sz="2000" spc="-5"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tc>
                  <a:txBody>
                    <a:bodyPr/>
                    <a:lstStyle/>
                    <a:p>
                      <a:pPr marL="342900" marR="0" lvl="0" indent="-342900">
                        <a:spcBef>
                          <a:spcPts val="810"/>
                        </a:spcBef>
                        <a:spcAft>
                          <a:spcPts val="0"/>
                        </a:spcAft>
                        <a:buSzPct val="100000"/>
                        <a:buFont typeface="Calibri" panose="020F0502020204030204" pitchFamily="34" charset="0"/>
                        <a:buAutoNum type="arabicPeriod"/>
                        <a:tabLst>
                          <a:tab pos="317500" algn="l"/>
                        </a:tabLst>
                      </a:pPr>
                      <a:r>
                        <a:rPr lang="en-US" sz="2000" dirty="0">
                          <a:effectLst/>
                        </a:rPr>
                        <a:t>Either:</a:t>
                      </a:r>
                    </a:p>
                    <a:p>
                      <a:pPr marL="742950" marR="652145" lvl="1" indent="-285750">
                        <a:lnSpc>
                          <a:spcPct val="98000"/>
                        </a:lnSpc>
                        <a:spcBef>
                          <a:spcPts val="10"/>
                        </a:spcBef>
                        <a:spcAft>
                          <a:spcPts val="0"/>
                        </a:spcAft>
                        <a:buSzPct val="100000"/>
                        <a:buFont typeface="Calibri" panose="020F0502020204030204" pitchFamily="34" charset="0"/>
                        <a:buAutoNum type="alphaLcPeriod"/>
                        <a:tabLst>
                          <a:tab pos="525780" algn="l"/>
                        </a:tabLst>
                      </a:pPr>
                      <a:r>
                        <a:rPr lang="en-US" sz="2000" spc="-5" dirty="0">
                          <a:effectLst/>
                        </a:rPr>
                        <a:t>g or mol of a</a:t>
                      </a:r>
                      <a:r>
                        <a:rPr lang="en-US" sz="2000" spc="-235" dirty="0">
                          <a:effectLst/>
                        </a:rPr>
                        <a:t> </a:t>
                      </a:r>
                      <a:r>
                        <a:rPr lang="en-US" sz="2000" spc="-5" dirty="0">
                          <a:effectLst/>
                        </a:rPr>
                        <a:t>substance</a:t>
                      </a:r>
                    </a:p>
                    <a:p>
                      <a:pPr marL="742950" marR="0" lvl="1" indent="-285750">
                        <a:spcBef>
                          <a:spcPts val="10"/>
                        </a:spcBef>
                        <a:spcAft>
                          <a:spcPts val="0"/>
                        </a:spcAft>
                        <a:buSzPct val="100000"/>
                        <a:buFont typeface="Calibri" panose="020F0502020204030204" pitchFamily="34" charset="0"/>
                        <a:buAutoNum type="alphaLcPeriod"/>
                        <a:tabLst>
                          <a:tab pos="525780" algn="l"/>
                        </a:tabLst>
                      </a:pPr>
                      <a:r>
                        <a:rPr lang="en-US" sz="2000" spc="-5" dirty="0">
                          <a:effectLst/>
                        </a:rPr>
                        <a:t>energy</a:t>
                      </a:r>
                      <a:r>
                        <a:rPr lang="en-US" sz="2000" spc="-10" dirty="0">
                          <a:effectLst/>
                        </a:rPr>
                        <a:t> </a:t>
                      </a:r>
                      <a:r>
                        <a:rPr lang="en-US" sz="2000" spc="-5" dirty="0">
                          <a:effectLst/>
                        </a:rPr>
                        <a:t>change</a:t>
                      </a:r>
                      <a:r>
                        <a:rPr lang="en-US" sz="2000" spc="5" dirty="0">
                          <a:effectLst/>
                        </a:rPr>
                        <a:t> </a:t>
                      </a:r>
                      <a:r>
                        <a:rPr lang="en-US" sz="2000" spc="-5" dirty="0">
                          <a:effectLst/>
                        </a:rPr>
                        <a:t>(J</a:t>
                      </a:r>
                      <a:r>
                        <a:rPr lang="en-US" sz="2000" spc="-15" dirty="0">
                          <a:effectLst/>
                        </a:rPr>
                        <a:t> </a:t>
                      </a:r>
                      <a:r>
                        <a:rPr lang="en-US" sz="2000" spc="-5" dirty="0">
                          <a:effectLst/>
                        </a:rPr>
                        <a:t>or kJ)</a:t>
                      </a:r>
                      <a:endParaRPr lang="en-US" sz="2000" spc="-5"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tc>
                  <a:txBody>
                    <a:bodyPr/>
                    <a:lstStyle/>
                    <a:p>
                      <a:pPr marL="0" marR="0">
                        <a:spcBef>
                          <a:spcPts val="5"/>
                        </a:spcBef>
                        <a:spcAft>
                          <a:spcPts val="0"/>
                        </a:spcAft>
                      </a:pPr>
                      <a:r>
                        <a:rPr lang="en-US" sz="2000" dirty="0">
                          <a:effectLst/>
                        </a:rPr>
                        <a:t> </a:t>
                      </a:r>
                    </a:p>
                    <a:p>
                      <a:pPr marL="67945" marR="94615">
                        <a:lnSpc>
                          <a:spcPct val="103000"/>
                        </a:lnSpc>
                        <a:spcBef>
                          <a:spcPts val="0"/>
                        </a:spcBef>
                        <a:spcAft>
                          <a:spcPts val="0"/>
                        </a:spcAft>
                      </a:pPr>
                      <a:r>
                        <a:rPr lang="en-US" sz="2000" dirty="0" err="1">
                          <a:effectLst/>
                        </a:rPr>
                        <a:t>Stoich</a:t>
                      </a:r>
                      <a:r>
                        <a:rPr lang="en-US" sz="2000" dirty="0">
                          <a:effectLst/>
                        </a:rPr>
                        <a:t>! Don’t forget to convert</a:t>
                      </a:r>
                      <a:r>
                        <a:rPr lang="en-US" sz="2000" spc="5" dirty="0">
                          <a:effectLst/>
                        </a:rPr>
                        <a:t> </a:t>
                      </a:r>
                      <a:r>
                        <a:rPr lang="en-US" sz="2000" dirty="0">
                          <a:effectLst/>
                        </a:rPr>
                        <a:t>between moles of your substance and</a:t>
                      </a:r>
                      <a:r>
                        <a:rPr lang="en-US" sz="2000" spc="-235" dirty="0">
                          <a:effectLst/>
                        </a:rPr>
                        <a:t> </a:t>
                      </a:r>
                      <a:r>
                        <a:rPr lang="en-US" sz="2000" dirty="0" err="1">
                          <a:effectLst/>
                        </a:rPr>
                        <a:t>moles</a:t>
                      </a:r>
                      <a:r>
                        <a:rPr lang="en-US" sz="1200" dirty="0" err="1">
                          <a:effectLst/>
                        </a:rPr>
                        <a:t>rxn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extLst>
                  <a:ext uri="{0D108BD9-81ED-4DB2-BD59-A6C34878D82A}">
                    <a16:rowId xmlns:a16="http://schemas.microsoft.com/office/drawing/2014/main" val="375903756"/>
                  </a:ext>
                </a:extLst>
              </a:tr>
              <a:tr h="1306244">
                <a:tc>
                  <a:txBody>
                    <a:bodyPr/>
                    <a:lstStyle/>
                    <a:p>
                      <a:pPr marL="342900" marR="306705" lvl="0" indent="-342900">
                        <a:spcBef>
                          <a:spcPts val="295"/>
                        </a:spcBef>
                        <a:spcAft>
                          <a:spcPts val="0"/>
                        </a:spcAft>
                        <a:buSzPct val="100000"/>
                        <a:buFont typeface="Calibri" panose="020F0502020204030204" pitchFamily="34" charset="0"/>
                        <a:buAutoNum type="arabicPeriod"/>
                        <a:tabLst>
                          <a:tab pos="297180" algn="l"/>
                        </a:tabLst>
                      </a:pPr>
                      <a:r>
                        <a:rPr lang="en-US" sz="2000" dirty="0">
                          <a:effectLst/>
                        </a:rPr>
                        <a:t>A phase change (vaporizing,</a:t>
                      </a:r>
                      <a:r>
                        <a:rPr lang="en-US" sz="2000" spc="-235" dirty="0">
                          <a:effectLst/>
                        </a:rPr>
                        <a:t> </a:t>
                      </a:r>
                      <a:r>
                        <a:rPr lang="en-US" sz="2000" dirty="0">
                          <a:effectLst/>
                        </a:rPr>
                        <a:t>condensing, freezing or</a:t>
                      </a:r>
                      <a:r>
                        <a:rPr lang="en-US" sz="2000" spc="5" dirty="0">
                          <a:effectLst/>
                        </a:rPr>
                        <a:t> </a:t>
                      </a:r>
                      <a:r>
                        <a:rPr lang="en-US" sz="2000" dirty="0">
                          <a:effectLst/>
                        </a:rPr>
                        <a:t>melting)</a:t>
                      </a:r>
                    </a:p>
                    <a:p>
                      <a:pPr marL="342900" marR="0" lvl="0" indent="-342900">
                        <a:spcBef>
                          <a:spcPts val="395"/>
                        </a:spcBef>
                        <a:spcAft>
                          <a:spcPts val="0"/>
                        </a:spcAft>
                        <a:buSzPct val="100000"/>
                        <a:buFont typeface="Calibri" panose="020F0502020204030204" pitchFamily="34" charset="0"/>
                        <a:buAutoNum type="arabicPeriod"/>
                        <a:tabLst>
                          <a:tab pos="297180" algn="l"/>
                        </a:tabLst>
                      </a:pPr>
                      <a:r>
                        <a:rPr lang="en-US" sz="2000" dirty="0" err="1">
                          <a:effectLst/>
                        </a:rPr>
                        <a:t>ΔH</a:t>
                      </a:r>
                      <a:r>
                        <a:rPr lang="en-US" sz="1200" dirty="0" err="1">
                          <a:effectLst/>
                        </a:rPr>
                        <a:t>vap</a:t>
                      </a:r>
                      <a:r>
                        <a:rPr lang="en-US" sz="1200" spc="185" dirty="0">
                          <a:effectLst/>
                        </a:rPr>
                        <a:t> </a:t>
                      </a:r>
                      <a:r>
                        <a:rPr lang="en-US" sz="2000" dirty="0">
                          <a:effectLst/>
                        </a:rPr>
                        <a:t>or</a:t>
                      </a:r>
                      <a:r>
                        <a:rPr lang="en-US" sz="2000" spc="75" dirty="0">
                          <a:effectLst/>
                        </a:rPr>
                        <a:t> </a:t>
                      </a:r>
                      <a:r>
                        <a:rPr lang="en-US" sz="2000" dirty="0" err="1">
                          <a:effectLst/>
                        </a:rPr>
                        <a:t>ΔH</a:t>
                      </a:r>
                      <a:r>
                        <a:rPr lang="en-US" sz="1200" dirty="0" err="1">
                          <a:effectLst/>
                        </a:rPr>
                        <a:t>fus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tc>
                  <a:txBody>
                    <a:bodyPr/>
                    <a:lstStyle/>
                    <a:p>
                      <a:pPr marL="0" marR="0">
                        <a:spcBef>
                          <a:spcPts val="10"/>
                        </a:spcBef>
                        <a:spcAft>
                          <a:spcPts val="0"/>
                        </a:spcAft>
                      </a:pPr>
                      <a:r>
                        <a:rPr lang="en-US" sz="2800" dirty="0">
                          <a:effectLst/>
                        </a:rPr>
                        <a:t> </a:t>
                      </a:r>
                      <a:endParaRPr lang="en-US" sz="2000" dirty="0">
                        <a:effectLst/>
                      </a:endParaRPr>
                    </a:p>
                    <a:p>
                      <a:pPr marL="151130" marR="144780" algn="ctr">
                        <a:spcBef>
                          <a:spcPts val="0"/>
                        </a:spcBef>
                        <a:spcAft>
                          <a:spcPts val="0"/>
                        </a:spcAft>
                      </a:pPr>
                      <a:r>
                        <a:rPr lang="en-US" sz="2000" dirty="0">
                          <a:effectLst/>
                        </a:rPr>
                        <a:t>Energy</a:t>
                      </a:r>
                      <a:r>
                        <a:rPr lang="en-US" sz="2000" spc="-5" dirty="0">
                          <a:effectLst/>
                        </a:rPr>
                        <a:t> </a:t>
                      </a:r>
                      <a:r>
                        <a:rPr lang="en-US" sz="2000" dirty="0">
                          <a:effectLst/>
                        </a:rPr>
                        <a:t>change</a:t>
                      </a:r>
                    </a:p>
                    <a:p>
                      <a:pPr marL="151130" marR="146685" algn="ctr">
                        <a:spcBef>
                          <a:spcPts val="0"/>
                        </a:spcBef>
                        <a:spcAft>
                          <a:spcPts val="0"/>
                        </a:spcAft>
                      </a:pPr>
                      <a:r>
                        <a:rPr lang="en-US" sz="2000" dirty="0">
                          <a:effectLst/>
                        </a:rPr>
                        <a:t>(heat</a:t>
                      </a:r>
                      <a:r>
                        <a:rPr lang="en-US" sz="2000" spc="-5" dirty="0">
                          <a:effectLst/>
                        </a:rPr>
                        <a:t> </a:t>
                      </a:r>
                      <a:r>
                        <a:rPr lang="en-US" sz="2000" dirty="0">
                          <a:effectLst/>
                        </a:rPr>
                        <a:t>absorbed</a:t>
                      </a:r>
                      <a:r>
                        <a:rPr lang="en-US" sz="2000" spc="-25" dirty="0">
                          <a:effectLst/>
                        </a:rPr>
                        <a:t> </a:t>
                      </a:r>
                      <a:r>
                        <a:rPr lang="en-US" sz="2000" dirty="0">
                          <a:effectLst/>
                        </a:rPr>
                        <a:t>or</a:t>
                      </a:r>
                      <a:r>
                        <a:rPr lang="en-US" sz="2000" spc="-10" dirty="0">
                          <a:effectLst/>
                        </a:rPr>
                        <a:t> </a:t>
                      </a:r>
                      <a:r>
                        <a:rPr lang="en-US" sz="2000" dirty="0">
                          <a:effectLst/>
                        </a:rPr>
                        <a:t>released)</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tc>
                  <a:txBody>
                    <a:bodyPr/>
                    <a:lstStyle/>
                    <a:p>
                      <a:pPr marL="0" marR="0">
                        <a:spcBef>
                          <a:spcPts val="55"/>
                        </a:spcBef>
                        <a:spcAft>
                          <a:spcPts val="0"/>
                        </a:spcAft>
                      </a:pPr>
                      <a:r>
                        <a:rPr lang="en-US" sz="3600" dirty="0">
                          <a:effectLst/>
                        </a:rPr>
                        <a:t> </a:t>
                      </a:r>
                      <a:endParaRPr lang="en-US" sz="2000" dirty="0">
                        <a:effectLst/>
                      </a:endParaRPr>
                    </a:p>
                    <a:p>
                      <a:pPr marL="829945" marR="824230" algn="ctr">
                        <a:spcBef>
                          <a:spcPts val="0"/>
                        </a:spcBef>
                        <a:spcAft>
                          <a:spcPts val="0"/>
                        </a:spcAft>
                      </a:pPr>
                      <a:r>
                        <a:rPr lang="en-US" sz="2800" dirty="0">
                          <a:effectLst/>
                        </a:rPr>
                        <a:t>q</a:t>
                      </a:r>
                      <a:r>
                        <a:rPr lang="en-US" sz="2800" spc="-5" dirty="0">
                          <a:effectLst/>
                        </a:rPr>
                        <a:t> </a:t>
                      </a:r>
                      <a:r>
                        <a:rPr lang="en-US" sz="2800" dirty="0">
                          <a:effectLst/>
                        </a:rPr>
                        <a:t>=</a:t>
                      </a:r>
                      <a:r>
                        <a:rPr lang="en-US" sz="2800" spc="5" dirty="0">
                          <a:effectLst/>
                        </a:rPr>
                        <a:t> </a:t>
                      </a:r>
                      <a:r>
                        <a:rPr lang="en-US" sz="2800" dirty="0" err="1">
                          <a:effectLst/>
                        </a:rPr>
                        <a:t>nΔH</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extLst>
                  <a:ext uri="{0D108BD9-81ED-4DB2-BD59-A6C34878D82A}">
                    <a16:rowId xmlns:a16="http://schemas.microsoft.com/office/drawing/2014/main" val="71897514"/>
                  </a:ext>
                </a:extLst>
              </a:tr>
              <a:tr h="1206078">
                <a:tc>
                  <a:txBody>
                    <a:bodyPr/>
                    <a:lstStyle/>
                    <a:p>
                      <a:pPr marL="342900" marR="0" lvl="0" indent="-342900">
                        <a:spcBef>
                          <a:spcPts val="295"/>
                        </a:spcBef>
                        <a:spcAft>
                          <a:spcPts val="0"/>
                        </a:spcAft>
                        <a:buSzPct val="100000"/>
                        <a:buFont typeface="Calibri" panose="020F0502020204030204" pitchFamily="34" charset="0"/>
                        <a:buAutoNum type="arabicPeriod"/>
                        <a:tabLst>
                          <a:tab pos="287020" algn="l"/>
                        </a:tabLst>
                      </a:pPr>
                      <a:r>
                        <a:rPr lang="en-US" sz="2000" dirty="0">
                          <a:effectLst/>
                        </a:rPr>
                        <a:t>A</a:t>
                      </a:r>
                      <a:r>
                        <a:rPr lang="en-US" sz="2000" spc="-10" dirty="0">
                          <a:effectLst/>
                        </a:rPr>
                        <a:t> </a:t>
                      </a:r>
                      <a:r>
                        <a:rPr lang="en-US" sz="2000" dirty="0">
                          <a:effectLst/>
                        </a:rPr>
                        <a:t>temperature</a:t>
                      </a:r>
                      <a:r>
                        <a:rPr lang="en-US" sz="2000" spc="-5" dirty="0">
                          <a:effectLst/>
                        </a:rPr>
                        <a:t> </a:t>
                      </a:r>
                      <a:r>
                        <a:rPr lang="en-US" sz="2000" dirty="0">
                          <a:effectLst/>
                        </a:rPr>
                        <a:t>change</a:t>
                      </a:r>
                    </a:p>
                    <a:p>
                      <a:pPr marL="342900" marR="0" lvl="0" indent="-342900">
                        <a:spcBef>
                          <a:spcPts val="300"/>
                        </a:spcBef>
                        <a:spcAft>
                          <a:spcPts val="0"/>
                        </a:spcAft>
                        <a:buSzPct val="100000"/>
                        <a:buFont typeface="Calibri" panose="020F0502020204030204" pitchFamily="34" charset="0"/>
                        <a:buAutoNum type="arabicPeriod"/>
                        <a:tabLst>
                          <a:tab pos="287020" algn="l"/>
                        </a:tabLst>
                      </a:pPr>
                      <a:r>
                        <a:rPr lang="en-US" sz="2000" dirty="0">
                          <a:effectLst/>
                        </a:rPr>
                        <a:t>Mass</a:t>
                      </a:r>
                      <a:r>
                        <a:rPr lang="en-US" sz="2000" spc="-10" dirty="0">
                          <a:effectLst/>
                        </a:rPr>
                        <a:t> </a:t>
                      </a:r>
                      <a:r>
                        <a:rPr lang="en-US" sz="2000" dirty="0">
                          <a:effectLst/>
                        </a:rPr>
                        <a:t>or</a:t>
                      </a:r>
                      <a:r>
                        <a:rPr lang="en-US" sz="2000" spc="-10" dirty="0">
                          <a:effectLst/>
                        </a:rPr>
                        <a:t> </a:t>
                      </a:r>
                      <a:r>
                        <a:rPr lang="en-US" sz="2000" dirty="0">
                          <a:effectLst/>
                        </a:rPr>
                        <a:t>moles</a:t>
                      </a:r>
                      <a:r>
                        <a:rPr lang="en-US" sz="2000" spc="-10" dirty="0">
                          <a:effectLst/>
                        </a:rPr>
                        <a:t> </a:t>
                      </a:r>
                      <a:r>
                        <a:rPr lang="en-US" sz="2000" dirty="0">
                          <a:effectLst/>
                        </a:rPr>
                        <a:t>of a</a:t>
                      </a:r>
                      <a:r>
                        <a:rPr lang="en-US" sz="2000" spc="-10" dirty="0">
                          <a:effectLst/>
                        </a:rPr>
                        <a:t> </a:t>
                      </a:r>
                      <a:r>
                        <a:rPr lang="en-US" sz="2000" dirty="0">
                          <a:effectLst/>
                        </a:rPr>
                        <a:t>substance</a:t>
                      </a:r>
                    </a:p>
                    <a:p>
                      <a:pPr marL="342900" marR="0" lvl="0" indent="-342900" algn="l" defTabSz="914400" rtl="0" eaLnBrk="1" fontAlgn="auto" latinLnBrk="0" hangingPunct="1">
                        <a:lnSpc>
                          <a:spcPct val="100000"/>
                        </a:lnSpc>
                        <a:spcBef>
                          <a:spcPts val="300"/>
                        </a:spcBef>
                        <a:spcAft>
                          <a:spcPts val="0"/>
                        </a:spcAft>
                        <a:buClrTx/>
                        <a:buSzPct val="100000"/>
                        <a:buFont typeface="Calibri" panose="020F0502020204030204" pitchFamily="34" charset="0"/>
                        <a:buAutoNum type="arabicPeriod"/>
                        <a:tabLst>
                          <a:tab pos="287020" algn="l"/>
                        </a:tabLst>
                        <a:defRPr/>
                      </a:pPr>
                      <a:r>
                        <a:rPr lang="en-US" sz="2000" dirty="0">
                          <a:effectLst/>
                        </a:rPr>
                        <a:t>Heat capacity</a:t>
                      </a:r>
                      <a:r>
                        <a:rPr lang="en-US" sz="2000" spc="-10" dirty="0">
                          <a:effectLst/>
                        </a:rPr>
                        <a:t> (J/</a:t>
                      </a:r>
                      <a:r>
                        <a:rPr lang="en-US" sz="2000" spc="-10" dirty="0" err="1">
                          <a:effectLst/>
                        </a:rPr>
                        <a:t>gK</a:t>
                      </a:r>
                      <a:r>
                        <a:rPr lang="en-US" sz="2000" spc="-10" dirty="0">
                          <a:effectLst/>
                        </a:rPr>
                        <a: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spcBef>
                          <a:spcPts val="300"/>
                        </a:spcBef>
                        <a:spcAft>
                          <a:spcPts val="0"/>
                        </a:spcAft>
                        <a:buSzPct val="100000"/>
                        <a:buFont typeface="Calibri" panose="020F0502020204030204" pitchFamily="34" charset="0"/>
                        <a:buNone/>
                        <a:tabLst>
                          <a:tab pos="287020" algn="l"/>
                        </a:tabLst>
                      </a:pPr>
                      <a:endParaRPr lang="en-US" sz="2000" dirty="0">
                        <a:effectLst/>
                      </a:endParaRPr>
                    </a:p>
                  </a:txBody>
                  <a:tcPr marL="0" marR="0" marT="0" marB="0">
                    <a:solidFill>
                      <a:schemeClr val="accent2">
                        <a:lumMod val="20000"/>
                        <a:lumOff val="80000"/>
                      </a:schemeClr>
                    </a:solidFill>
                  </a:tcPr>
                </a:tc>
                <a:tc>
                  <a:txBody>
                    <a:bodyPr/>
                    <a:lstStyle/>
                    <a:p>
                      <a:pPr marL="0" marR="0">
                        <a:spcBef>
                          <a:spcPts val="15"/>
                        </a:spcBef>
                        <a:spcAft>
                          <a:spcPts val="0"/>
                        </a:spcAft>
                      </a:pPr>
                      <a:r>
                        <a:rPr lang="en-US" sz="2400">
                          <a:effectLst/>
                        </a:rPr>
                        <a:t> </a:t>
                      </a:r>
                      <a:endParaRPr lang="en-US" sz="2000">
                        <a:effectLst/>
                      </a:endParaRPr>
                    </a:p>
                    <a:p>
                      <a:pPr marL="151130" marR="144780" algn="ctr">
                        <a:spcBef>
                          <a:spcPts val="0"/>
                        </a:spcBef>
                        <a:spcAft>
                          <a:spcPts val="0"/>
                        </a:spcAft>
                      </a:pPr>
                      <a:r>
                        <a:rPr lang="en-US" sz="2000">
                          <a:effectLst/>
                        </a:rPr>
                        <a:t>Energy</a:t>
                      </a:r>
                      <a:r>
                        <a:rPr lang="en-US" sz="2000" spc="-5">
                          <a:effectLst/>
                        </a:rPr>
                        <a:t> </a:t>
                      </a:r>
                      <a:r>
                        <a:rPr lang="en-US" sz="2000">
                          <a:effectLst/>
                        </a:rPr>
                        <a:t>change</a:t>
                      </a:r>
                    </a:p>
                    <a:p>
                      <a:pPr marL="151130" marR="146685" algn="ctr">
                        <a:spcBef>
                          <a:spcPts val="0"/>
                        </a:spcBef>
                        <a:spcAft>
                          <a:spcPts val="0"/>
                        </a:spcAft>
                      </a:pPr>
                      <a:r>
                        <a:rPr lang="en-US" sz="2000">
                          <a:effectLst/>
                        </a:rPr>
                        <a:t>(heat</a:t>
                      </a:r>
                      <a:r>
                        <a:rPr lang="en-US" sz="2000" spc="-5">
                          <a:effectLst/>
                        </a:rPr>
                        <a:t> </a:t>
                      </a:r>
                      <a:r>
                        <a:rPr lang="en-US" sz="2000">
                          <a:effectLst/>
                        </a:rPr>
                        <a:t>absorbed</a:t>
                      </a:r>
                      <a:r>
                        <a:rPr lang="en-US" sz="2000" spc="-25">
                          <a:effectLst/>
                        </a:rPr>
                        <a:t> </a:t>
                      </a:r>
                      <a:r>
                        <a:rPr lang="en-US" sz="2000">
                          <a:effectLst/>
                        </a:rPr>
                        <a:t>or</a:t>
                      </a:r>
                      <a:r>
                        <a:rPr lang="en-US" sz="2000" spc="-10">
                          <a:effectLst/>
                        </a:rPr>
                        <a:t> </a:t>
                      </a:r>
                      <a:r>
                        <a:rPr lang="en-US" sz="2000">
                          <a:effectLst/>
                        </a:rPr>
                        <a:t>released)</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tc>
                  <a:txBody>
                    <a:bodyPr/>
                    <a:lstStyle/>
                    <a:p>
                      <a:pPr marL="0" marR="0">
                        <a:spcBef>
                          <a:spcPts val="5"/>
                        </a:spcBef>
                        <a:spcAft>
                          <a:spcPts val="0"/>
                        </a:spcAft>
                      </a:pPr>
                      <a:r>
                        <a:rPr lang="en-US" sz="2800" dirty="0">
                          <a:effectLst/>
                        </a:rPr>
                        <a:t> </a:t>
                      </a:r>
                      <a:endParaRPr lang="en-US" sz="2000" dirty="0">
                        <a:effectLst/>
                      </a:endParaRPr>
                    </a:p>
                    <a:p>
                      <a:pPr marL="832485" marR="824230" algn="ctr">
                        <a:spcBef>
                          <a:spcPts val="0"/>
                        </a:spcBef>
                        <a:spcAft>
                          <a:spcPts val="0"/>
                        </a:spcAft>
                      </a:pPr>
                      <a:r>
                        <a:rPr lang="en-US" sz="2800" dirty="0">
                          <a:effectLst/>
                        </a:rPr>
                        <a:t>q=</a:t>
                      </a:r>
                      <a:r>
                        <a:rPr lang="en-US" sz="2800" dirty="0" err="1">
                          <a:effectLst/>
                        </a:rPr>
                        <a:t>mCΔT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solidFill>
                      <a:schemeClr val="accent2">
                        <a:lumMod val="20000"/>
                        <a:lumOff val="80000"/>
                      </a:schemeClr>
                    </a:solidFill>
                  </a:tcPr>
                </a:tc>
                <a:extLst>
                  <a:ext uri="{0D108BD9-81ED-4DB2-BD59-A6C34878D82A}">
                    <a16:rowId xmlns:a16="http://schemas.microsoft.com/office/drawing/2014/main" val="2679461033"/>
                  </a:ext>
                </a:extLst>
              </a:tr>
            </a:tbl>
          </a:graphicData>
        </a:graphic>
      </p:graphicFrame>
    </p:spTree>
    <p:extLst>
      <p:ext uri="{BB962C8B-B14F-4D97-AF65-F5344CB8AC3E}">
        <p14:creationId xmlns:p14="http://schemas.microsoft.com/office/powerpoint/2010/main" val="276485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7086600" y="3962400"/>
            <a:ext cx="5105400" cy="2895600"/>
          </a:xfrm>
          <a:noFill/>
        </p:spPr>
        <p:txBody>
          <a:bodyPr>
            <a:normAutofit fontScale="90000"/>
          </a:bodyPr>
          <a:lstStyle/>
          <a:p>
            <a:pPr algn="r"/>
            <a: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9.1 Intro to Entropy</a:t>
            </a:r>
            <a:b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9.2 Absolute Entropy and Entropy Change</a:t>
            </a:r>
            <a:b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9.3 Gibbs Free Energy and Thermodynamic Favorability</a:t>
            </a:r>
            <a:b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3200" b="1"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9.4 Thermodynamic and Kinetic Control</a:t>
            </a:r>
            <a:endParaRPr lang="en-US" sz="5400" b="1" u="sng"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Rectangle 2"/>
          <p:cNvSpPr txBox="1">
            <a:spLocks noChangeArrowheads="1"/>
          </p:cNvSpPr>
          <p:nvPr/>
        </p:nvSpPr>
        <p:spPr bwMode="auto">
          <a:xfrm>
            <a:off x="-17417" y="0"/>
            <a:ext cx="8458200" cy="24384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r>
              <a:rPr lang="en-US" sz="5400" b="1" kern="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 </a:t>
            </a:r>
            <a:r>
              <a:rPr lang="en-US" sz="5400" b="1" kern="0" dirty="0" err="1">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Chem</a:t>
            </a:r>
            <a:r>
              <a:rPr lang="en-US" sz="5400" b="1" kern="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Unit 6</a:t>
            </a:r>
          </a:p>
          <a:p>
            <a:pPr algn="l"/>
            <a:r>
              <a:rPr lang="en-US" sz="5400" b="1" u="sng" kern="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THERMOCHEMISTRY</a:t>
            </a:r>
          </a:p>
          <a:p>
            <a:pPr algn="l"/>
            <a:r>
              <a:rPr lang="en-US" sz="5400" b="1" u="sng" kern="0" dirty="0">
                <a:solidFill>
                  <a:srgbClr val="00B0F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Chapter 17</a:t>
            </a:r>
            <a:endParaRPr lang="en-US" sz="6000" b="1" u="sng" kern="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88048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10744200" cy="4114800"/>
          </a:xfrm>
        </p:spPr>
        <p:txBody>
          <a:bodyPr>
            <a:normAutofit fontScale="90000"/>
          </a:bodyPr>
          <a:lstStyle/>
          <a:p>
            <a:r>
              <a:rPr lang="en-US" dirty="0">
                <a:latin typeface="Times New Roman" panose="02020603050405020304" pitchFamily="18" charset="0"/>
                <a:cs typeface="Times New Roman" panose="02020603050405020304" pitchFamily="18" charset="0"/>
              </a:rPr>
              <a:t>Question…..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Are all exothermic processes favorable?</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Are all</a:t>
            </a:r>
            <a:r>
              <a:rPr lang="en-US" dirty="0">
                <a:solidFill>
                  <a:schemeClr val="tx1"/>
                </a:solidFill>
                <a:latin typeface="Times New Roman" panose="02020603050405020304" pitchFamily="18" charset="0"/>
                <a:cs typeface="Times New Roman" panose="02020603050405020304" pitchFamily="18" charset="0"/>
              </a:rPr>
              <a:t> </a:t>
            </a:r>
            <a:r>
              <a:rPr lang="en-US" dirty="0">
                <a:solidFill>
                  <a:srgbClr val="100717"/>
                </a:solidFill>
                <a:effectLst>
                  <a:glow rad="101600">
                    <a:schemeClr val="accent6">
                      <a:satMod val="175000"/>
                      <a:alpha val="40000"/>
                    </a:schemeClr>
                  </a:glow>
                  <a:outerShdw blurRad="50800" dist="50800" dir="5400000" algn="ctr" rotWithShape="0">
                    <a:schemeClr val="accent6">
                      <a:lumMod val="50000"/>
                    </a:schemeClr>
                  </a:outerShdw>
                </a:effectLst>
                <a:latin typeface="Times New Roman" panose="02020603050405020304" pitchFamily="18" charset="0"/>
                <a:cs typeface="Times New Roman" panose="02020603050405020304" pitchFamily="18" charset="0"/>
                <a:hlinkClick r:id="rId2"/>
              </a:rPr>
              <a:t>endothermic processes </a:t>
            </a:r>
            <a:r>
              <a:rPr lang="en-US" dirty="0">
                <a:latin typeface="Times New Roman" panose="02020603050405020304" pitchFamily="18" charset="0"/>
                <a:cs typeface="Times New Roman" panose="02020603050405020304" pitchFamily="18" charset="0"/>
              </a:rPr>
              <a:t>unfavorable?</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Why do some processes naturally occur while others don’t?</a:t>
            </a:r>
          </a:p>
        </p:txBody>
      </p:sp>
    </p:spTree>
    <p:extLst>
      <p:ext uri="{BB962C8B-B14F-4D97-AF65-F5344CB8AC3E}">
        <p14:creationId xmlns:p14="http://schemas.microsoft.com/office/powerpoint/2010/main" val="20639446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838200" y="381000"/>
            <a:ext cx="10744200" cy="777875"/>
          </a:xfrm>
        </p:spPr>
        <p:txBody>
          <a:bodyPr>
            <a:normAutofit/>
          </a:bodyPr>
          <a:lstStyle/>
          <a:p>
            <a:pPr algn="l"/>
            <a:r>
              <a:rPr lang="en-US" dirty="0">
                <a:solidFill>
                  <a:schemeClr val="tx1"/>
                </a:solidFill>
                <a:latin typeface="Times New Roman" panose="02020603050405020304" pitchFamily="18" charset="0"/>
                <a:cs typeface="Times New Roman" panose="02020603050405020304" pitchFamily="18" charset="0"/>
              </a:rPr>
              <a:t>Thermodynamic Favorability or “Spontaneity”</a:t>
            </a:r>
          </a:p>
        </p:txBody>
      </p:sp>
      <p:sp>
        <p:nvSpPr>
          <p:cNvPr id="2" name="Content Placeholder 1"/>
          <p:cNvSpPr>
            <a:spLocks noGrp="1"/>
          </p:cNvSpPr>
          <p:nvPr>
            <p:ph idx="1"/>
          </p:nvPr>
        </p:nvSpPr>
        <p:spPr>
          <a:xfrm>
            <a:off x="838200" y="1447800"/>
            <a:ext cx="10515600" cy="4729163"/>
          </a:xfrm>
        </p:spPr>
        <p:txBody>
          <a:bodyPr>
            <a:normAutofit/>
          </a:bodyPr>
          <a:lstStyle/>
          <a:p>
            <a:r>
              <a:rPr lang="en-US" sz="3600" dirty="0">
                <a:latin typeface="Times New Roman" panose="02020603050405020304" pitchFamily="18" charset="0"/>
                <a:cs typeface="Times New Roman" panose="02020603050405020304" pitchFamily="18" charset="0"/>
              </a:rPr>
              <a:t>Processes are determined to be “thermodynamically favorable” (spontaneous) if they occur without outside intervention (such as being coupled to an outside energy source)</a:t>
            </a:r>
            <a:br>
              <a:rPr lang="en-US" sz="3600" dirty="0">
                <a:solidFill>
                  <a:schemeClr val="tx1"/>
                </a:solidFill>
                <a:latin typeface="Times New Roman" panose="02020603050405020304" pitchFamily="18" charset="0"/>
                <a:cs typeface="Times New Roman" panose="02020603050405020304" pitchFamily="18" charset="0"/>
              </a:rPr>
            </a:br>
            <a:br>
              <a:rPr lang="en-US" sz="3600" dirty="0">
                <a:solidFill>
                  <a:schemeClr val="tx1"/>
                </a:solidFill>
                <a:latin typeface="Times New Roman" panose="02020603050405020304" pitchFamily="18" charset="0"/>
                <a:cs typeface="Times New Roman" panose="02020603050405020304" pitchFamily="18" charset="0"/>
              </a:rPr>
            </a:br>
            <a:r>
              <a:rPr lang="en-US" sz="3600" dirty="0">
                <a:solidFill>
                  <a:schemeClr val="tx1"/>
                </a:solidFill>
                <a:latin typeface="Times New Roman" panose="02020603050405020304" pitchFamily="18" charset="0"/>
                <a:cs typeface="Times New Roman" panose="02020603050405020304" pitchFamily="18" charset="0"/>
              </a:rPr>
              <a:t>-may be fast or slow- NOT determined by </a:t>
            </a:r>
            <a:r>
              <a:rPr lang="en-US" sz="3600" dirty="0">
                <a:solidFill>
                  <a:srgbClr val="FF0000"/>
                </a:solidFill>
                <a:latin typeface="Times New Roman" panose="02020603050405020304" pitchFamily="18" charset="0"/>
                <a:cs typeface="Times New Roman" panose="02020603050405020304" pitchFamily="18" charset="0"/>
              </a:rPr>
              <a:t>rate</a:t>
            </a:r>
            <a:br>
              <a:rPr lang="en-US" sz="3600" dirty="0">
                <a:solidFill>
                  <a:schemeClr val="tx1"/>
                </a:solidFill>
                <a:latin typeface="Times New Roman" panose="02020603050405020304" pitchFamily="18" charset="0"/>
                <a:cs typeface="Times New Roman" panose="02020603050405020304" pitchFamily="18" charset="0"/>
              </a:rPr>
            </a:br>
            <a:r>
              <a:rPr lang="en-US" sz="3600" dirty="0">
                <a:solidFill>
                  <a:schemeClr val="tx1"/>
                </a:solidFill>
                <a:latin typeface="Times New Roman" panose="02020603050405020304" pitchFamily="18" charset="0"/>
                <a:cs typeface="Times New Roman" panose="02020603050405020304" pitchFamily="18" charset="0"/>
              </a:rPr>
              <a:t>-depends on two factors- </a:t>
            </a:r>
            <a:r>
              <a:rPr lang="en-US" sz="3600" dirty="0">
                <a:solidFill>
                  <a:srgbClr val="FF0000"/>
                </a:solidFill>
                <a:latin typeface="Times New Roman" panose="02020603050405020304" pitchFamily="18" charset="0"/>
                <a:cs typeface="Times New Roman" panose="02020603050405020304" pitchFamily="18" charset="0"/>
              </a:rPr>
              <a:t>enthalpy</a:t>
            </a:r>
            <a:r>
              <a:rPr lang="en-US" sz="3600" dirty="0">
                <a:solidFill>
                  <a:schemeClr val="tx1"/>
                </a:solidFill>
                <a:latin typeface="Times New Roman" panose="02020603050405020304" pitchFamily="18" charset="0"/>
                <a:cs typeface="Times New Roman" panose="02020603050405020304" pitchFamily="18" charset="0"/>
              </a:rPr>
              <a:t> (</a:t>
            </a:r>
            <a:r>
              <a:rPr lang="en-US" sz="3600" dirty="0">
                <a:solidFill>
                  <a:schemeClr val="tx1"/>
                </a:solidFill>
                <a:latin typeface="Symbol" panose="05050102010706020507" pitchFamily="18" charset="2"/>
                <a:cs typeface="Times New Roman" panose="02020603050405020304" pitchFamily="18" charset="0"/>
              </a:rPr>
              <a:t>D</a:t>
            </a:r>
            <a:r>
              <a:rPr lang="en-US" sz="3600" dirty="0">
                <a:solidFill>
                  <a:schemeClr val="tx1"/>
                </a:solidFill>
                <a:latin typeface="Times New Roman" panose="02020603050405020304" pitchFamily="18" charset="0"/>
                <a:cs typeface="Times New Roman" panose="02020603050405020304" pitchFamily="18" charset="0"/>
              </a:rPr>
              <a:t>H) and </a:t>
            </a:r>
            <a:r>
              <a:rPr lang="en-US" sz="3600" dirty="0">
                <a:solidFill>
                  <a:srgbClr val="FF0000"/>
                </a:solidFill>
                <a:latin typeface="Times New Roman" panose="02020603050405020304" pitchFamily="18" charset="0"/>
                <a:cs typeface="Times New Roman" panose="02020603050405020304" pitchFamily="18" charset="0"/>
              </a:rPr>
              <a:t>entropy</a:t>
            </a:r>
            <a:r>
              <a:rPr lang="en-US" sz="3600" dirty="0">
                <a:solidFill>
                  <a:schemeClr val="tx1"/>
                </a:solidFill>
                <a:latin typeface="Times New Roman" panose="02020603050405020304" pitchFamily="18" charset="0"/>
                <a:cs typeface="Times New Roman" panose="02020603050405020304" pitchFamily="18" charset="0"/>
              </a:rPr>
              <a:t> (</a:t>
            </a:r>
            <a:r>
              <a:rPr lang="en-US" sz="3600" dirty="0">
                <a:solidFill>
                  <a:schemeClr val="tx1"/>
                </a:solidFill>
                <a:latin typeface="Symbol" panose="05050102010706020507" pitchFamily="18" charset="2"/>
                <a:cs typeface="Times New Roman" panose="02020603050405020304" pitchFamily="18" charset="0"/>
              </a:rPr>
              <a:t>D</a:t>
            </a:r>
            <a:r>
              <a:rPr lang="en-US" sz="3600" dirty="0">
                <a:solidFill>
                  <a:schemeClr val="tx1"/>
                </a:solidFill>
                <a:latin typeface="Times New Roman" panose="02020603050405020304" pitchFamily="18" charset="0"/>
                <a:cs typeface="Times New Roman" panose="02020603050405020304" pitchFamily="18" charset="0"/>
              </a:rPr>
              <a:t>S)</a:t>
            </a:r>
            <a:endParaRPr lang="en-US" sz="3600" dirty="0"/>
          </a:p>
        </p:txBody>
      </p:sp>
    </p:spTree>
    <p:extLst>
      <p:ext uri="{BB962C8B-B14F-4D97-AF65-F5344CB8AC3E}">
        <p14:creationId xmlns:p14="http://schemas.microsoft.com/office/powerpoint/2010/main" val="25159019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838200" y="4762"/>
            <a:ext cx="10515600" cy="833437"/>
          </a:xfrm>
        </p:spPr>
        <p:txBody>
          <a:bodyPr>
            <a:normAutofit/>
          </a:bodyPr>
          <a:lstStyle/>
          <a:p>
            <a:pPr algn="ctr"/>
            <a:r>
              <a:rPr lang="en-US" sz="4000" b="1" dirty="0">
                <a:latin typeface="Times New Roman" panose="02020603050405020304" pitchFamily="18" charset="0"/>
                <a:cs typeface="Times New Roman" panose="02020603050405020304" pitchFamily="18" charset="0"/>
              </a:rPr>
              <a:t>Entropy, </a:t>
            </a:r>
            <a:r>
              <a:rPr lang="en-US" sz="4000" b="1" i="1" dirty="0">
                <a:latin typeface="Times New Roman" panose="02020603050405020304" pitchFamily="18" charset="0"/>
                <a:cs typeface="Times New Roman" panose="02020603050405020304" pitchFamily="18" charset="0"/>
              </a:rPr>
              <a:t>S</a:t>
            </a:r>
            <a:r>
              <a:rPr lang="en-US" sz="4000" b="1" dirty="0">
                <a:latin typeface="Times New Roman" panose="02020603050405020304" pitchFamily="18" charset="0"/>
                <a:cs typeface="Times New Roman" panose="02020603050405020304" pitchFamily="18" charset="0"/>
              </a:rPr>
              <a:t> </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304800" y="838199"/>
            <a:ext cx="8001000" cy="5562601"/>
          </a:xfrm>
        </p:spPr>
        <p:txBody>
          <a:bodyPr>
            <a:normAutofit/>
          </a:bodyPr>
          <a:lstStyle/>
          <a:p>
            <a:r>
              <a:rPr lang="en-US" sz="2800" dirty="0">
                <a:latin typeface="Times New Roman" panose="02020603050405020304" pitchFamily="18" charset="0"/>
                <a:cs typeface="Times New Roman" panose="02020603050405020304" pitchFamily="18" charset="0"/>
              </a:rPr>
              <a:t>the number of “</a:t>
            </a:r>
            <a:r>
              <a:rPr lang="en-US" sz="2800" dirty="0">
                <a:solidFill>
                  <a:srgbClr val="FF0000"/>
                </a:solidFill>
                <a:latin typeface="Times New Roman" panose="02020603050405020304" pitchFamily="18" charset="0"/>
                <a:cs typeface="Times New Roman" panose="02020603050405020304" pitchFamily="18" charset="0"/>
              </a:rPr>
              <a:t>microstates</a:t>
            </a:r>
            <a:r>
              <a:rPr lang="en-US" sz="2800" dirty="0">
                <a:latin typeface="Times New Roman" panose="02020603050405020304" pitchFamily="18" charset="0"/>
                <a:cs typeface="Times New Roman" panose="02020603050405020304" pitchFamily="18" charset="0"/>
              </a:rPr>
              <a:t>” in which a system can transfer energy</a:t>
            </a:r>
          </a:p>
          <a:p>
            <a:r>
              <a:rPr lang="en-US" sz="2800" dirty="0">
                <a:latin typeface="Times New Roman" panose="02020603050405020304" pitchFamily="18" charset="0"/>
                <a:cs typeface="Times New Roman" panose="02020603050405020304" pitchFamily="18" charset="0"/>
              </a:rPr>
              <a:t>(kind of) measure of randomness or disorder</a:t>
            </a:r>
          </a:p>
          <a:p>
            <a:r>
              <a:rPr lang="en-US" sz="2800" dirty="0">
                <a:latin typeface="Times New Roman" panose="02020603050405020304" pitchFamily="18" charset="0"/>
                <a:cs typeface="Times New Roman" panose="02020603050405020304" pitchFamily="18" charset="0"/>
              </a:rPr>
              <a:t>associated with probability  (There are more ways for something to be disorganized than organized).</a:t>
            </a:r>
          </a:p>
          <a:p>
            <a:r>
              <a:rPr lang="en-US" sz="2800" dirty="0">
                <a:latin typeface="Times New Roman" panose="02020603050405020304" pitchFamily="18" charset="0"/>
                <a:cs typeface="Times New Roman" panose="02020603050405020304" pitchFamily="18" charset="0"/>
              </a:rPr>
              <a:t>for a reaction, the </a:t>
            </a:r>
            <a:r>
              <a:rPr lang="en-US" sz="2800" dirty="0">
                <a:solidFill>
                  <a:srgbClr val="FF0000"/>
                </a:solidFill>
                <a:latin typeface="Times New Roman" panose="02020603050405020304" pitchFamily="18" charset="0"/>
                <a:cs typeface="Times New Roman" panose="02020603050405020304" pitchFamily="18" charset="0"/>
              </a:rPr>
              <a:t>CHANGE</a:t>
            </a:r>
            <a:r>
              <a:rPr lang="en-US" sz="2800" dirty="0">
                <a:latin typeface="Times New Roman" panose="02020603050405020304" pitchFamily="18" charset="0"/>
                <a:cs typeface="Times New Roman" panose="02020603050405020304" pitchFamily="18" charset="0"/>
              </a:rPr>
              <a:t> in entropy (</a:t>
            </a:r>
            <a:r>
              <a:rPr lang="en-US" sz="2800" i="1" dirty="0">
                <a:latin typeface="Symbol" panose="05050102010706020507" pitchFamily="18" charset="2"/>
                <a:cs typeface="Times New Roman" panose="02020603050405020304" pitchFamily="18" charset="0"/>
              </a:rPr>
              <a:t>D</a:t>
            </a:r>
            <a:r>
              <a:rPr lang="en-US" sz="2800" i="1" dirty="0">
                <a:latin typeface="Times New Roman" panose="02020603050405020304" pitchFamily="18" charset="0"/>
                <a:cs typeface="Times New Roman" panose="02020603050405020304" pitchFamily="18" charset="0"/>
              </a:rPr>
              <a:t>S</a:t>
            </a:r>
            <a:r>
              <a:rPr lang="en-US" sz="2800" dirty="0">
                <a:latin typeface="Times New Roman" panose="02020603050405020304" pitchFamily="18" charset="0"/>
                <a:cs typeface="Times New Roman" panose="02020603050405020304" pitchFamily="18" charset="0"/>
              </a:rPr>
              <a:t>) from products to reactants is very important.</a:t>
            </a:r>
          </a:p>
          <a:p>
            <a:r>
              <a:rPr lang="en-US" sz="2800" dirty="0">
                <a:latin typeface="Times New Roman" panose="02020603050405020304" pitchFamily="18" charset="0"/>
                <a:cs typeface="Times New Roman" panose="02020603050405020304" pitchFamily="18" charset="0"/>
              </a:rPr>
              <a:t>an </a:t>
            </a:r>
            <a:r>
              <a:rPr lang="en-US" sz="2800" b="1" dirty="0">
                <a:solidFill>
                  <a:srgbClr val="FF0000"/>
                </a:solidFill>
                <a:latin typeface="Times New Roman" panose="02020603050405020304" pitchFamily="18" charset="0"/>
                <a:cs typeface="Times New Roman" panose="02020603050405020304" pitchFamily="18" charset="0"/>
              </a:rPr>
              <a:t>increase</a:t>
            </a:r>
            <a:r>
              <a:rPr lang="en-US" sz="2800" dirty="0">
                <a:latin typeface="Times New Roman" panose="02020603050405020304" pitchFamily="18" charset="0"/>
                <a:cs typeface="Times New Roman" panose="02020603050405020304" pitchFamily="18" charset="0"/>
              </a:rPr>
              <a:t> in entropy is thermodynamically </a:t>
            </a:r>
            <a:r>
              <a:rPr lang="en-US" sz="2800" dirty="0">
                <a:solidFill>
                  <a:srgbClr val="FF0000"/>
                </a:solidFill>
                <a:latin typeface="Times New Roman" panose="02020603050405020304" pitchFamily="18" charset="0"/>
                <a:cs typeface="Times New Roman" panose="02020603050405020304" pitchFamily="18" charset="0"/>
              </a:rPr>
              <a:t>favorable</a:t>
            </a:r>
            <a:r>
              <a:rPr lang="en-US" sz="2800" i="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for a reaction</a:t>
            </a:r>
          </a:p>
        </p:txBody>
      </p:sp>
      <p:pic>
        <p:nvPicPr>
          <p:cNvPr id="3" name="Picture 2"/>
          <p:cNvPicPr>
            <a:picLocks noChangeAspect="1"/>
          </p:cNvPicPr>
          <p:nvPr/>
        </p:nvPicPr>
        <p:blipFill>
          <a:blip r:embed="rId2"/>
          <a:stretch>
            <a:fillRect/>
          </a:stretch>
        </p:blipFill>
        <p:spPr>
          <a:xfrm>
            <a:off x="7999250" y="2590800"/>
            <a:ext cx="4192749" cy="4267200"/>
          </a:xfrm>
          <a:prstGeom prst="rect">
            <a:avLst/>
          </a:prstGeom>
        </p:spPr>
      </p:pic>
    </p:spTree>
    <p:extLst>
      <p:ext uri="{BB962C8B-B14F-4D97-AF65-F5344CB8AC3E}">
        <p14:creationId xmlns:p14="http://schemas.microsoft.com/office/powerpoint/2010/main" val="21176210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54075"/>
          </a:xfrm>
        </p:spPr>
        <p:txBody>
          <a:bodyPr/>
          <a:lstStyle/>
          <a:p>
            <a:pPr algn="ctr"/>
            <a:r>
              <a:rPr lang="en-US" b="1" dirty="0">
                <a:solidFill>
                  <a:schemeClr val="tx1"/>
                </a:solidFill>
                <a:latin typeface="Times New Roman" panose="02020603050405020304" pitchFamily="18" charset="0"/>
                <a:cs typeface="Times New Roman" panose="02020603050405020304" pitchFamily="18" charset="0"/>
              </a:rPr>
              <a:t>2nd Law of Thermodynamics</a:t>
            </a:r>
            <a:r>
              <a:rPr lang="en-US" dirty="0">
                <a:solidFill>
                  <a:schemeClr val="tx1"/>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54075"/>
            <a:ext cx="10515600" cy="3352800"/>
          </a:xfrm>
        </p:spPr>
        <p:txBody>
          <a:bodyPr>
            <a:normAutofit lnSpcReduction="10000"/>
          </a:bodyPr>
          <a:lstStyle/>
          <a:p>
            <a:r>
              <a:rPr lang="en-US" sz="3600" dirty="0">
                <a:latin typeface="Times New Roman" panose="02020603050405020304" pitchFamily="18" charset="0"/>
                <a:ea typeface="+mj-ea"/>
                <a:cs typeface="Times New Roman" panose="02020603050405020304" pitchFamily="18" charset="0"/>
              </a:rPr>
              <a:t>In any spontaneous process there is always an </a:t>
            </a:r>
            <a:r>
              <a:rPr lang="en-US" sz="3600" b="1" i="1" dirty="0">
                <a:latin typeface="Times New Roman" panose="02020603050405020304" pitchFamily="18" charset="0"/>
                <a:ea typeface="+mj-ea"/>
                <a:cs typeface="Times New Roman" panose="02020603050405020304" pitchFamily="18" charset="0"/>
              </a:rPr>
              <a:t>increase</a:t>
            </a:r>
            <a:r>
              <a:rPr lang="en-US" sz="3600" dirty="0">
                <a:latin typeface="Times New Roman" panose="02020603050405020304" pitchFamily="18" charset="0"/>
                <a:ea typeface="+mj-ea"/>
                <a:cs typeface="Times New Roman" panose="02020603050405020304" pitchFamily="18" charset="0"/>
              </a:rPr>
              <a:t> in the entropy of the universe.  </a:t>
            </a:r>
          </a:p>
          <a:p>
            <a:r>
              <a:rPr lang="en-US" sz="3600" dirty="0">
                <a:latin typeface="Times New Roman" panose="02020603050405020304" pitchFamily="18" charset="0"/>
                <a:ea typeface="+mj-ea"/>
                <a:cs typeface="Times New Roman" panose="02020603050405020304" pitchFamily="18" charset="0"/>
              </a:rPr>
              <a:t>The energy of the universe is </a:t>
            </a:r>
            <a:r>
              <a:rPr lang="en-US" sz="3600" dirty="0">
                <a:solidFill>
                  <a:srgbClr val="FF0000"/>
                </a:solidFill>
                <a:latin typeface="Times New Roman" panose="02020603050405020304" pitchFamily="18" charset="0"/>
                <a:ea typeface="+mj-ea"/>
                <a:cs typeface="Times New Roman" panose="02020603050405020304" pitchFamily="18" charset="0"/>
              </a:rPr>
              <a:t>constant</a:t>
            </a:r>
            <a:r>
              <a:rPr lang="en-US" sz="3600" dirty="0">
                <a:latin typeface="Times New Roman" panose="02020603050405020304" pitchFamily="18" charset="0"/>
                <a:ea typeface="+mj-ea"/>
                <a:cs typeface="Times New Roman" panose="02020603050405020304" pitchFamily="18" charset="0"/>
              </a:rPr>
              <a:t> but the entropy of the universe is </a:t>
            </a:r>
            <a:r>
              <a:rPr lang="en-US" sz="3600" dirty="0">
                <a:solidFill>
                  <a:srgbClr val="FF0000"/>
                </a:solidFill>
                <a:latin typeface="Times New Roman" panose="02020603050405020304" pitchFamily="18" charset="0"/>
                <a:ea typeface="+mj-ea"/>
                <a:cs typeface="Times New Roman" panose="02020603050405020304" pitchFamily="18" charset="0"/>
              </a:rPr>
              <a:t>increasing</a:t>
            </a:r>
            <a:r>
              <a:rPr lang="en-US" sz="3600" dirty="0">
                <a:latin typeface="Times New Roman" panose="02020603050405020304" pitchFamily="18" charset="0"/>
                <a:ea typeface="+mj-ea"/>
                <a:cs typeface="Times New Roman" panose="02020603050405020304" pitchFamily="18" charset="0"/>
              </a:rPr>
              <a:t>.</a:t>
            </a:r>
          </a:p>
          <a:p>
            <a:r>
              <a:rPr lang="en-US" sz="3600" dirty="0">
                <a:latin typeface="Times New Roman" panose="02020603050405020304" pitchFamily="18" charset="0"/>
                <a:ea typeface="+mj-ea"/>
                <a:cs typeface="Times New Roman" panose="02020603050405020304" pitchFamily="18" charset="0"/>
              </a:rPr>
              <a:t>Therefore a process that shows an INCREASE in entropy (</a:t>
            </a:r>
            <a:r>
              <a:rPr lang="en-US" sz="3600" dirty="0">
                <a:latin typeface="Symbol" panose="05050102010706020507" pitchFamily="18" charset="2"/>
                <a:ea typeface="+mj-ea"/>
                <a:cs typeface="Times New Roman" panose="02020603050405020304" pitchFamily="18" charset="0"/>
              </a:rPr>
              <a:t>D</a:t>
            </a:r>
            <a:r>
              <a:rPr lang="en-US" sz="3600" dirty="0">
                <a:latin typeface="Times New Roman" panose="02020603050405020304" pitchFamily="18" charset="0"/>
                <a:ea typeface="+mj-ea"/>
                <a:cs typeface="Times New Roman" panose="02020603050405020304" pitchFamily="18" charset="0"/>
              </a:rPr>
              <a:t>S&gt;0) is favored by nature.</a:t>
            </a:r>
            <a:endParaRPr lang="en-US" sz="3600" b="1" dirty="0">
              <a:latin typeface="Times New Roman" panose="02020603050405020304" pitchFamily="18" charset="0"/>
              <a:ea typeface="+mj-ea"/>
              <a:cs typeface="Times New Roman" panose="02020603050405020304" pitchFamily="18" charset="0"/>
            </a:endParaRPr>
          </a:p>
        </p:txBody>
      </p:sp>
      <p:sp>
        <p:nvSpPr>
          <p:cNvPr id="5" name="Title 1"/>
          <p:cNvSpPr txBox="1">
            <a:spLocks/>
          </p:cNvSpPr>
          <p:nvPr/>
        </p:nvSpPr>
        <p:spPr>
          <a:xfrm>
            <a:off x="304800" y="4183062"/>
            <a:ext cx="10515600" cy="8540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atin typeface="Times New Roman" panose="02020603050405020304" pitchFamily="18" charset="0"/>
                <a:cs typeface="Times New Roman" panose="02020603050405020304" pitchFamily="18" charset="0"/>
              </a:rPr>
              <a:t>3rd Law of Thermodynamics</a:t>
            </a:r>
            <a:r>
              <a:rPr lang="en-US" dirty="0">
                <a:latin typeface="Times New Roman" panose="02020603050405020304" pitchFamily="18" charset="0"/>
                <a:cs typeface="Times New Roman" panose="02020603050405020304" pitchFamily="18" charset="0"/>
              </a:rPr>
              <a:t> </a:t>
            </a:r>
          </a:p>
        </p:txBody>
      </p:sp>
      <p:sp>
        <p:nvSpPr>
          <p:cNvPr id="6" name="Content Placeholder 2"/>
          <p:cNvSpPr txBox="1">
            <a:spLocks/>
          </p:cNvSpPr>
          <p:nvPr/>
        </p:nvSpPr>
        <p:spPr>
          <a:xfrm>
            <a:off x="838200" y="5004480"/>
            <a:ext cx="10515600" cy="175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latin typeface="Times New Roman" panose="02020603050405020304" pitchFamily="18" charset="0"/>
                <a:ea typeface="+mj-ea"/>
                <a:cs typeface="Times New Roman" panose="02020603050405020304" pitchFamily="18" charset="0"/>
              </a:rPr>
              <a:t>As a system approaches 0 Kelvin (absolute zero), the entropy of that system approaches zero. </a:t>
            </a:r>
            <a:endParaRPr lang="en-US" sz="3600" b="1"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175865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Image result for absolute zero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152400"/>
            <a:ext cx="6439614" cy="670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6150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074" name="Picture 2" descr="Image result for absolute zero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43349"/>
            <a:ext cx="4538663" cy="6814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12017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e is so cool absolute zero gets jealous. - He is so cool absolute zero gets jealous.  Neil deGrasse Ty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52400"/>
            <a:ext cx="4343400" cy="6524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79225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098" name="Picture 2" descr="Image result for absolute zero mem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0"/>
            <a:ext cx="5424678"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83560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09625" y="-19594"/>
            <a:ext cx="10515600" cy="838200"/>
          </a:xfrm>
        </p:spPr>
        <p:txBody>
          <a:bodyPr>
            <a:normAutofit/>
          </a:bodyPr>
          <a:lstStyle/>
          <a:p>
            <a:pPr algn="ctr"/>
            <a:r>
              <a:rPr lang="en-US" sz="4000" b="1" dirty="0">
                <a:solidFill>
                  <a:schemeClr val="tx1"/>
                </a:solidFill>
                <a:latin typeface="Times New Roman" panose="02020603050405020304" pitchFamily="18" charset="0"/>
                <a:cs typeface="Times New Roman" panose="02020603050405020304" pitchFamily="18" charset="0"/>
              </a:rPr>
              <a:t>Change in Entropy, </a:t>
            </a:r>
            <a:r>
              <a:rPr lang="en-US" sz="4000" b="1" i="1" dirty="0">
                <a:solidFill>
                  <a:schemeClr val="tx1"/>
                </a:solidFill>
                <a:latin typeface="Symbol" panose="05050102010706020507" pitchFamily="18" charset="2"/>
                <a:cs typeface="Times New Roman" panose="02020603050405020304" pitchFamily="18" charset="0"/>
              </a:rPr>
              <a:t>D</a:t>
            </a:r>
            <a:r>
              <a:rPr lang="en-US" sz="4000" b="1" i="1" dirty="0">
                <a:solidFill>
                  <a:schemeClr val="tx1"/>
                </a:solidFill>
                <a:latin typeface="Times New Roman" panose="02020603050405020304" pitchFamily="18" charset="0"/>
                <a:cs typeface="Times New Roman" panose="02020603050405020304" pitchFamily="18" charset="0"/>
              </a:rPr>
              <a:t>S</a:t>
            </a:r>
          </a:p>
        </p:txBody>
      </p:sp>
      <p:sp>
        <p:nvSpPr>
          <p:cNvPr id="2" name="Content Placeholder 1"/>
          <p:cNvSpPr>
            <a:spLocks noGrp="1"/>
          </p:cNvSpPr>
          <p:nvPr>
            <p:ph idx="1"/>
          </p:nvPr>
        </p:nvSpPr>
        <p:spPr>
          <a:xfrm>
            <a:off x="809625" y="818606"/>
            <a:ext cx="11049000" cy="5721894"/>
          </a:xfrm>
        </p:spPr>
        <p:txBody>
          <a:bodyPr>
            <a:normAutofit lnSpcReduction="10000"/>
          </a:bodyPr>
          <a:lstStyle/>
          <a:p>
            <a:r>
              <a:rPr lang="en-US" dirty="0">
                <a:latin typeface="Times New Roman" panose="02020603050405020304" pitchFamily="18" charset="0"/>
                <a:cs typeface="Times New Roman" panose="02020603050405020304" pitchFamily="18" charset="0"/>
              </a:rPr>
              <a:t>For a process: </a:t>
            </a:r>
          </a:p>
          <a:p>
            <a:r>
              <a:rPr lang="en-US" dirty="0">
                <a:solidFill>
                  <a:srgbClr val="FF0000"/>
                </a:solidFill>
                <a:latin typeface="Times New Roman" panose="02020603050405020304" pitchFamily="18" charset="0"/>
                <a:cs typeface="Times New Roman" panose="02020603050405020304" pitchFamily="18" charset="0"/>
              </a:rPr>
              <a:t>INCREASE</a:t>
            </a:r>
            <a:r>
              <a:rPr lang="en-US" dirty="0">
                <a:latin typeface="Times New Roman" panose="02020603050405020304" pitchFamily="18" charset="0"/>
                <a:cs typeface="Times New Roman" panose="02020603050405020304" pitchFamily="18" charset="0"/>
              </a:rPr>
              <a:t> in entropy is thermodynamically </a:t>
            </a:r>
            <a:r>
              <a:rPr lang="en-US" dirty="0">
                <a:solidFill>
                  <a:srgbClr val="FF0000"/>
                </a:solidFill>
                <a:latin typeface="Times New Roman" panose="02020603050405020304" pitchFamily="18" charset="0"/>
                <a:cs typeface="Times New Roman" panose="02020603050405020304" pitchFamily="18" charset="0"/>
              </a:rPr>
              <a:t>favorable</a:t>
            </a:r>
            <a:r>
              <a:rPr lang="en-US" dirty="0">
                <a:latin typeface="Times New Roman" panose="02020603050405020304" pitchFamily="18" charset="0"/>
                <a:cs typeface="Times New Roman" panose="02020603050405020304" pitchFamily="18" charset="0"/>
              </a:rPr>
              <a:t> and</a:t>
            </a:r>
          </a:p>
          <a:p>
            <a:r>
              <a:rPr lang="en-US" dirty="0">
                <a:solidFill>
                  <a:srgbClr val="FF0000"/>
                </a:solidFill>
                <a:latin typeface="Times New Roman" panose="02020603050405020304" pitchFamily="18" charset="0"/>
                <a:cs typeface="Times New Roman" panose="02020603050405020304" pitchFamily="18" charset="0"/>
              </a:rPr>
              <a:t>DECREASE</a:t>
            </a:r>
            <a:r>
              <a:rPr lang="en-US" dirty="0">
                <a:latin typeface="Times New Roman" panose="02020603050405020304" pitchFamily="18" charset="0"/>
                <a:cs typeface="Times New Roman" panose="02020603050405020304" pitchFamily="18" charset="0"/>
              </a:rPr>
              <a:t> in entropy is thermodynamically </a:t>
            </a:r>
            <a:r>
              <a:rPr lang="en-US" dirty="0">
                <a:solidFill>
                  <a:srgbClr val="FF0000"/>
                </a:solidFill>
                <a:latin typeface="Times New Roman" panose="02020603050405020304" pitchFamily="18" charset="0"/>
                <a:cs typeface="Times New Roman" panose="02020603050405020304" pitchFamily="18" charset="0"/>
              </a:rPr>
              <a:t>unfavorable</a:t>
            </a:r>
            <a:r>
              <a:rPr lang="en-US"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 </a:t>
            </a:r>
            <a:r>
              <a:rPr lang="en-US" i="1" dirty="0">
                <a:solidFill>
                  <a:schemeClr val="tx1"/>
                </a:solidFill>
                <a:latin typeface="Symbol" panose="05050102010706020507" pitchFamily="18" charset="2"/>
                <a:cs typeface="Times New Roman" panose="02020603050405020304" pitchFamily="18" charset="0"/>
              </a:rPr>
              <a:t>D</a:t>
            </a:r>
            <a:r>
              <a:rPr lang="en-US" i="1" dirty="0">
                <a:solidFill>
                  <a:schemeClr val="tx1"/>
                </a:solidFill>
                <a:latin typeface="Times New Roman" panose="02020603050405020304" pitchFamily="18" charset="0"/>
                <a:cs typeface="Times New Roman" panose="02020603050405020304" pitchFamily="18" charset="0"/>
              </a:rPr>
              <a:t>S </a:t>
            </a:r>
            <a:r>
              <a:rPr lang="en-US" dirty="0">
                <a:latin typeface="Times New Roman" panose="02020603050405020304" pitchFamily="18" charset="0"/>
                <a:cs typeface="Times New Roman" panose="02020603050405020304" pitchFamily="18" charset="0"/>
              </a:rPr>
              <a:t>&gt; 0, FAVORABLE (+ </a:t>
            </a:r>
            <a:r>
              <a:rPr lang="en-US" dirty="0">
                <a:solidFill>
                  <a:srgbClr val="FF0000"/>
                </a:solidFill>
                <a:latin typeface="Times New Roman" panose="02020603050405020304" pitchFamily="18" charset="0"/>
                <a:cs typeface="Times New Roman" panose="02020603050405020304" pitchFamily="18" charset="0"/>
              </a:rPr>
              <a:t>good</a:t>
            </a:r>
            <a:r>
              <a:rPr lang="en-US" dirty="0">
                <a:latin typeface="Times New Roman" panose="02020603050405020304" pitchFamily="18" charset="0"/>
                <a:cs typeface="Times New Roman" panose="02020603050405020304" pitchFamily="18" charset="0"/>
              </a:rPr>
              <a:t>!)</a:t>
            </a:r>
          </a:p>
          <a:p>
            <a:pPr marL="0" indent="0" algn="ctr">
              <a:buNone/>
            </a:pPr>
            <a:endParaRPr lang="en-US" dirty="0">
              <a:latin typeface="Times New Roman" panose="02020603050405020304" pitchFamily="18" charset="0"/>
              <a:cs typeface="Times New Roman" panose="02020603050405020304" pitchFamily="18" charset="0"/>
            </a:endParaRPr>
          </a:p>
          <a:p>
            <a:pPr marL="0" indent="0" algn="ctr">
              <a:buNone/>
            </a:pPr>
            <a:r>
              <a:rPr lang="en-US" dirty="0">
                <a:latin typeface="Times New Roman" panose="02020603050405020304" pitchFamily="18" charset="0"/>
                <a:cs typeface="Times New Roman" panose="02020603050405020304" pitchFamily="18" charset="0"/>
              </a:rPr>
              <a:t> </a:t>
            </a:r>
            <a:r>
              <a:rPr lang="en-US" i="1" dirty="0">
                <a:solidFill>
                  <a:schemeClr val="tx1"/>
                </a:solidFill>
                <a:latin typeface="Symbol" panose="05050102010706020507" pitchFamily="18" charset="2"/>
                <a:cs typeface="Times New Roman" panose="02020603050405020304" pitchFamily="18" charset="0"/>
              </a:rPr>
              <a:t>D</a:t>
            </a:r>
            <a:r>
              <a:rPr lang="en-US" i="1" dirty="0">
                <a:solidFill>
                  <a:schemeClr val="tx1"/>
                </a:solidFill>
                <a:latin typeface="Times New Roman" panose="02020603050405020304" pitchFamily="18" charset="0"/>
                <a:cs typeface="Times New Roman" panose="02020603050405020304" pitchFamily="18" charset="0"/>
              </a:rPr>
              <a:t>S </a:t>
            </a:r>
            <a:r>
              <a:rPr lang="en-US" dirty="0">
                <a:latin typeface="Times New Roman" panose="02020603050405020304" pitchFamily="18" charset="0"/>
                <a:cs typeface="Times New Roman" panose="02020603050405020304" pitchFamily="18" charset="0"/>
              </a:rPr>
              <a:t>&lt; 0, UNFAVORABLE(- </a:t>
            </a:r>
            <a:r>
              <a:rPr lang="en-US" dirty="0">
                <a:solidFill>
                  <a:srgbClr val="FF0000"/>
                </a:solidFill>
                <a:latin typeface="Times New Roman" panose="02020603050405020304" pitchFamily="18" charset="0"/>
                <a:cs typeface="Times New Roman" panose="02020603050405020304" pitchFamily="18" charset="0"/>
              </a:rPr>
              <a:t>bad</a:t>
            </a:r>
            <a:r>
              <a:rPr lang="en-US" dirty="0">
                <a:latin typeface="Times New Roman" panose="02020603050405020304" pitchFamily="18" charset="0"/>
                <a:cs typeface="Times New Roman" panose="02020603050405020304" pitchFamily="18" charset="0"/>
              </a:rPr>
              <a:t>!)</a:t>
            </a:r>
          </a:p>
          <a:p>
            <a:pPr marL="0" indent="0" algn="ct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Notice that this is </a:t>
            </a:r>
            <a:r>
              <a:rPr lang="en-US" dirty="0">
                <a:solidFill>
                  <a:srgbClr val="FF0000"/>
                </a:solidFill>
                <a:latin typeface="Times New Roman" panose="02020603050405020304" pitchFamily="18" charset="0"/>
                <a:cs typeface="Times New Roman" panose="02020603050405020304" pitchFamily="18" charset="0"/>
              </a:rPr>
              <a:t>opposite</a:t>
            </a:r>
            <a:r>
              <a:rPr lang="en-US" dirty="0">
                <a:latin typeface="Times New Roman" panose="02020603050405020304" pitchFamily="18" charset="0"/>
                <a:cs typeface="Times New Roman" panose="02020603050405020304" pitchFamily="18" charset="0"/>
              </a:rPr>
              <a:t> sign convention from </a:t>
            </a:r>
            <a:r>
              <a:rPr lang="en-US" i="1" dirty="0">
                <a:latin typeface="Symbol" panose="05050102010706020507" pitchFamily="18" charset="2"/>
                <a:cs typeface="Times New Roman" panose="02020603050405020304" pitchFamily="18" charset="0"/>
              </a:rPr>
              <a:t>D</a:t>
            </a:r>
            <a:r>
              <a:rPr lang="en-US" i="1" dirty="0">
                <a:latin typeface="Times New Roman" panose="02020603050405020304" pitchFamily="18" charset="0"/>
                <a:cs typeface="Times New Roman" panose="02020603050405020304" pitchFamily="18" charset="0"/>
              </a:rPr>
              <a:t>H  </a:t>
            </a:r>
          </a:p>
          <a:p>
            <a:pPr marL="0" indent="0">
              <a:buNone/>
            </a:pPr>
            <a:r>
              <a:rPr lang="en-US" dirty="0">
                <a:latin typeface="Times New Roman" panose="02020603050405020304" pitchFamily="18" charset="0"/>
                <a:cs typeface="Times New Roman" panose="02020603050405020304" pitchFamily="18" charset="0"/>
              </a:rPr>
              <a:t>	(-</a:t>
            </a:r>
            <a:r>
              <a:rPr lang="en-US" i="1" dirty="0">
                <a:latin typeface="Symbol" panose="05050102010706020507" pitchFamily="18" charset="2"/>
                <a:cs typeface="Times New Roman" panose="02020603050405020304" pitchFamily="18" charset="0"/>
              </a:rPr>
              <a:t>D</a:t>
            </a:r>
            <a:r>
              <a:rPr lang="en-US" i="1" dirty="0">
                <a:latin typeface="Times New Roman" panose="02020603050405020304" pitchFamily="18" charset="0"/>
                <a:cs typeface="Times New Roman" panose="02020603050405020304" pitchFamily="18" charset="0"/>
              </a:rPr>
              <a:t>H </a:t>
            </a:r>
            <a:r>
              <a:rPr lang="en-US" dirty="0">
                <a:solidFill>
                  <a:srgbClr val="FF0000"/>
                </a:solidFill>
                <a:latin typeface="Times New Roman" panose="02020603050405020304" pitchFamily="18" charset="0"/>
                <a:cs typeface="Times New Roman" panose="02020603050405020304" pitchFamily="18" charset="0"/>
              </a:rPr>
              <a:t>good</a:t>
            </a:r>
            <a:r>
              <a:rPr lang="en-US" dirty="0">
                <a:latin typeface="Times New Roman" panose="02020603050405020304" pitchFamily="18" charset="0"/>
                <a:cs typeface="Times New Roman" panose="02020603050405020304" pitchFamily="18" charset="0"/>
              </a:rPr>
              <a:t> and +</a:t>
            </a:r>
            <a:r>
              <a:rPr lang="en-US" i="1" dirty="0">
                <a:latin typeface="Symbol" panose="05050102010706020507" pitchFamily="18" charset="2"/>
                <a:cs typeface="Times New Roman" panose="02020603050405020304" pitchFamily="18" charset="0"/>
              </a:rPr>
              <a:t>D</a:t>
            </a:r>
            <a:r>
              <a:rPr lang="en-US" i="1" dirty="0">
                <a:latin typeface="Times New Roman" panose="02020603050405020304" pitchFamily="18" charset="0"/>
                <a:cs typeface="Times New Roman" panose="02020603050405020304" pitchFamily="18" charset="0"/>
              </a:rPr>
              <a:t>H  </a:t>
            </a:r>
            <a:r>
              <a:rPr lang="en-US" dirty="0">
                <a:solidFill>
                  <a:srgbClr val="FF0000"/>
                </a:solidFill>
                <a:latin typeface="Times New Roman" panose="02020603050405020304" pitchFamily="18" charset="0"/>
                <a:cs typeface="Times New Roman" panose="02020603050405020304" pitchFamily="18" charset="0"/>
              </a:rPr>
              <a:t>bad</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4598313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838200" y="-34834"/>
            <a:ext cx="10515600" cy="777875"/>
          </a:xfrm>
        </p:spPr>
        <p:txBody>
          <a:bodyPr>
            <a:noAutofit/>
          </a:bodyPr>
          <a:lstStyle/>
          <a:p>
            <a:pPr algn="ctr"/>
            <a:r>
              <a:rPr lang="en-US" sz="4000" b="1" dirty="0">
                <a:solidFill>
                  <a:schemeClr val="tx1"/>
                </a:solidFill>
                <a:latin typeface="Times New Roman" panose="02020603050405020304" pitchFamily="18" charset="0"/>
                <a:cs typeface="Times New Roman" panose="02020603050405020304" pitchFamily="18" charset="0"/>
              </a:rPr>
              <a:t>Predicting Change in Entropy, </a:t>
            </a:r>
            <a:r>
              <a:rPr lang="en-US" sz="4000" b="1" i="1" dirty="0">
                <a:solidFill>
                  <a:schemeClr val="tx1"/>
                </a:solidFill>
                <a:latin typeface="Symbol" panose="05050102010706020507" pitchFamily="18" charset="2"/>
                <a:cs typeface="Times New Roman" panose="02020603050405020304" pitchFamily="18" charset="0"/>
              </a:rPr>
              <a:t>D</a:t>
            </a:r>
            <a:r>
              <a:rPr lang="en-US" sz="4000" b="1" i="1" dirty="0">
                <a:solidFill>
                  <a:schemeClr val="tx1"/>
                </a:solidFill>
                <a:latin typeface="Times New Roman" panose="02020603050405020304" pitchFamily="18" charset="0"/>
                <a:cs typeface="Times New Roman" panose="02020603050405020304" pitchFamily="18" charset="0"/>
              </a:rPr>
              <a:t>S</a:t>
            </a:r>
          </a:p>
        </p:txBody>
      </p:sp>
      <p:sp>
        <p:nvSpPr>
          <p:cNvPr id="2" name="Content Placeholder 1"/>
          <p:cNvSpPr>
            <a:spLocks noGrp="1"/>
          </p:cNvSpPr>
          <p:nvPr>
            <p:ph sz="half" idx="1"/>
          </p:nvPr>
        </p:nvSpPr>
        <p:spPr>
          <a:xfrm>
            <a:off x="304800" y="2133600"/>
            <a:ext cx="6235045" cy="4730931"/>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A (s) </a:t>
            </a:r>
            <a:r>
              <a:rPr lang="en-US" sz="3200" dirty="0">
                <a:latin typeface="Times New Roman" panose="02020603050405020304" pitchFamily="18" charset="0"/>
                <a:ea typeface="Cambria Math" panose="02040503050406030204" pitchFamily="18" charset="0"/>
                <a:cs typeface="Times New Roman" panose="02020603050405020304" pitchFamily="18" charset="0"/>
              </a:rPr>
              <a:t>→ A (l)</a:t>
            </a:r>
          </a:p>
          <a:p>
            <a:pPr marL="0" indent="0">
              <a:buNone/>
            </a:pPr>
            <a:endParaRPr lang="en-US" sz="32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sz="3200" dirty="0">
                <a:latin typeface="Times New Roman" panose="02020603050405020304" pitchFamily="18" charset="0"/>
                <a:ea typeface="Cambria Math" panose="02040503050406030204" pitchFamily="18" charset="0"/>
                <a:cs typeface="Times New Roman" panose="02020603050405020304" pitchFamily="18" charset="0"/>
              </a:rPr>
              <a:t>MX (s) → MX (</a:t>
            </a:r>
            <a:r>
              <a:rPr lang="en-US" sz="3200" dirty="0" err="1">
                <a:latin typeface="Times New Roman" panose="02020603050405020304" pitchFamily="18" charset="0"/>
                <a:ea typeface="Cambria Math" panose="02040503050406030204" pitchFamily="18" charset="0"/>
                <a:cs typeface="Times New Roman" panose="02020603050405020304" pitchFamily="18" charset="0"/>
              </a:rPr>
              <a:t>aq</a:t>
            </a:r>
            <a:r>
              <a:rPr lang="en-US" sz="3200" dirty="0">
                <a:latin typeface="Times New Roman" panose="02020603050405020304" pitchFamily="18" charset="0"/>
                <a:ea typeface="Cambria Math" panose="02040503050406030204" pitchFamily="18" charset="0"/>
                <a:cs typeface="Times New Roman" panose="02020603050405020304" pitchFamily="18" charset="0"/>
              </a:rPr>
              <a:t>)</a:t>
            </a:r>
          </a:p>
          <a:p>
            <a:pPr marL="0" indent="0">
              <a:buNone/>
            </a:pPr>
            <a:endParaRPr lang="en-US" sz="32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sz="3200" dirty="0">
                <a:latin typeface="Times New Roman" panose="02020603050405020304" pitchFamily="18" charset="0"/>
                <a:ea typeface="Cambria Math" panose="02040503050406030204" pitchFamily="18" charset="0"/>
                <a:cs typeface="Times New Roman" panose="02020603050405020304" pitchFamily="18" charset="0"/>
              </a:rPr>
              <a:t>Q (290 K) → Q (350 K) </a:t>
            </a:r>
          </a:p>
          <a:p>
            <a:pPr marL="0" indent="0">
              <a:buNone/>
            </a:pPr>
            <a:endParaRPr lang="en-US" sz="32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sz="3200" dirty="0">
                <a:latin typeface="Times New Roman" panose="02020603050405020304" pitchFamily="18" charset="0"/>
                <a:ea typeface="Cambria Math" panose="02040503050406030204" pitchFamily="18" charset="0"/>
                <a:cs typeface="Times New Roman" panose="02020603050405020304" pitchFamily="18" charset="0"/>
              </a:rPr>
              <a:t>2H</a:t>
            </a:r>
            <a:r>
              <a:rPr lang="en-US" sz="3200" baseline="-25000" dirty="0">
                <a:latin typeface="Times New Roman" panose="02020603050405020304" pitchFamily="18" charset="0"/>
                <a:ea typeface="Cambria Math" panose="02040503050406030204" pitchFamily="18" charset="0"/>
                <a:cs typeface="Times New Roman" panose="02020603050405020304" pitchFamily="18" charset="0"/>
              </a:rPr>
              <a:t>2</a:t>
            </a:r>
            <a:r>
              <a:rPr lang="en-US" sz="3200" dirty="0">
                <a:latin typeface="Times New Roman" panose="02020603050405020304" pitchFamily="18" charset="0"/>
                <a:ea typeface="Cambria Math" panose="02040503050406030204" pitchFamily="18" charset="0"/>
                <a:cs typeface="Times New Roman" panose="02020603050405020304" pitchFamily="18" charset="0"/>
              </a:rPr>
              <a:t>O (g) → 2H</a:t>
            </a:r>
            <a:r>
              <a:rPr lang="en-US" sz="3200" baseline="-25000" dirty="0">
                <a:latin typeface="Times New Roman" panose="02020603050405020304" pitchFamily="18" charset="0"/>
                <a:ea typeface="Cambria Math" panose="02040503050406030204" pitchFamily="18" charset="0"/>
                <a:cs typeface="Times New Roman" panose="02020603050405020304" pitchFamily="18" charset="0"/>
              </a:rPr>
              <a:t>2</a:t>
            </a:r>
            <a:r>
              <a:rPr lang="en-US" sz="3200" dirty="0">
                <a:latin typeface="Times New Roman" panose="02020603050405020304" pitchFamily="18" charset="0"/>
                <a:ea typeface="Cambria Math" panose="02040503050406030204" pitchFamily="18" charset="0"/>
                <a:cs typeface="Times New Roman" panose="02020603050405020304" pitchFamily="18" charset="0"/>
              </a:rPr>
              <a:t> (g) + O</a:t>
            </a:r>
            <a:r>
              <a:rPr lang="en-US" sz="3200" baseline="-25000" dirty="0">
                <a:latin typeface="Times New Roman" panose="02020603050405020304" pitchFamily="18" charset="0"/>
                <a:ea typeface="Cambria Math" panose="02040503050406030204" pitchFamily="18" charset="0"/>
                <a:cs typeface="Times New Roman" panose="02020603050405020304" pitchFamily="18" charset="0"/>
              </a:rPr>
              <a:t>2</a:t>
            </a:r>
            <a:r>
              <a:rPr lang="en-US" sz="3200" dirty="0">
                <a:latin typeface="Times New Roman" panose="02020603050405020304" pitchFamily="18" charset="0"/>
                <a:ea typeface="Cambria Math" panose="02040503050406030204" pitchFamily="18" charset="0"/>
                <a:cs typeface="Times New Roman" panose="02020603050405020304" pitchFamily="18" charset="0"/>
              </a:rPr>
              <a:t> (g) </a:t>
            </a:r>
          </a:p>
          <a:p>
            <a:pPr marL="0" indent="0">
              <a:buNone/>
            </a:pPr>
            <a:endParaRPr lang="en-US" sz="40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2"/>
          </p:nvPr>
        </p:nvSpPr>
        <p:spPr>
          <a:xfrm>
            <a:off x="6324600" y="1981200"/>
            <a:ext cx="5638800" cy="4883331"/>
          </a:xfrm>
        </p:spPr>
        <p:txBody>
          <a:bodyPr>
            <a:noAutofit/>
          </a:bodyPr>
          <a:lstStyle/>
          <a:p>
            <a:r>
              <a:rPr lang="en-US" dirty="0">
                <a:latin typeface="Times New Roman" panose="02020603050405020304" pitchFamily="18" charset="0"/>
                <a:cs typeface="Times New Roman" panose="02020603050405020304" pitchFamily="18" charset="0"/>
              </a:rPr>
              <a:t>Entropy </a:t>
            </a:r>
            <a:r>
              <a:rPr lang="en-US" dirty="0"/>
              <a:t>_______________ </a:t>
            </a:r>
            <a:r>
              <a:rPr lang="en-US" dirty="0">
                <a:latin typeface="Times New Roman" panose="02020603050405020304" pitchFamily="18" charset="0"/>
                <a:cs typeface="Times New Roman" panose="02020603050405020304" pitchFamily="18" charset="0"/>
              </a:rPr>
              <a:t> going from a solid to a liquid to a gas.</a:t>
            </a:r>
          </a:p>
          <a:p>
            <a:pPr marL="0" indent="0">
              <a:buNone/>
            </a:pPr>
            <a:endParaRPr lang="en-US" sz="1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Entropy </a:t>
            </a:r>
            <a:r>
              <a:rPr lang="en-US" dirty="0"/>
              <a:t>_______________ </a:t>
            </a:r>
            <a:r>
              <a:rPr lang="en-US" dirty="0">
                <a:latin typeface="Times New Roman" panose="02020603050405020304" pitchFamily="18" charset="0"/>
                <a:cs typeface="Times New Roman" panose="02020603050405020304" pitchFamily="18" charset="0"/>
              </a:rPr>
              <a:t>when solutions are formed.</a:t>
            </a:r>
          </a:p>
          <a:p>
            <a:pPr marL="0" indent="0">
              <a:buNone/>
            </a:pPr>
            <a:endParaRPr lang="en-US" sz="8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Entropy </a:t>
            </a:r>
            <a:r>
              <a:rPr lang="en-US" dirty="0"/>
              <a:t>_______________ </a:t>
            </a:r>
            <a:r>
              <a:rPr lang="en-US" dirty="0">
                <a:latin typeface="Times New Roman" panose="02020603050405020304" pitchFamily="18" charset="0"/>
                <a:cs typeface="Times New Roman" panose="02020603050405020304" pitchFamily="18" charset="0"/>
              </a:rPr>
              <a:t>with increasing temperature</a:t>
            </a:r>
          </a:p>
          <a:p>
            <a:pPr marL="0" indent="0">
              <a:buNone/>
            </a:pPr>
            <a:endParaRPr lang="en-US" sz="10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Entropy usually </a:t>
            </a:r>
            <a:r>
              <a:rPr lang="en-US" dirty="0"/>
              <a:t>_______________  </a:t>
            </a:r>
            <a:r>
              <a:rPr lang="en-US" dirty="0">
                <a:latin typeface="Times New Roman" panose="02020603050405020304" pitchFamily="18" charset="0"/>
                <a:cs typeface="Times New Roman" panose="02020603050405020304" pitchFamily="18" charset="0"/>
              </a:rPr>
              <a:t>in a reactions when more moles of product are formed. Exception?</a:t>
            </a:r>
            <a:endParaRPr lang="en-US" dirty="0"/>
          </a:p>
        </p:txBody>
      </p:sp>
      <p:sp>
        <p:nvSpPr>
          <p:cNvPr id="5" name="Rectangle 2"/>
          <p:cNvSpPr txBox="1">
            <a:spLocks noChangeArrowheads="1"/>
          </p:cNvSpPr>
          <p:nvPr/>
        </p:nvSpPr>
        <p:spPr bwMode="auto">
          <a:xfrm>
            <a:off x="838200" y="743041"/>
            <a:ext cx="10515600" cy="7778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eaLnBrk="0" fontAlgn="base" hangingPunct="0">
              <a:spcBef>
                <a:spcPct val="0"/>
              </a:spcBef>
              <a:spcAft>
                <a:spcPct val="0"/>
              </a:spcAft>
              <a:defRPr sz="4400">
                <a:solidFill>
                  <a:schemeClr val="tx2"/>
                </a:solidFill>
                <a:latin typeface="Times New Roman" charset="0"/>
              </a:defRPr>
            </a:lvl6pPr>
            <a:lvl7pPr marL="914400" algn="ctr" rtl="0" eaLnBrk="0" fontAlgn="base" hangingPunct="0">
              <a:spcBef>
                <a:spcPct val="0"/>
              </a:spcBef>
              <a:spcAft>
                <a:spcPct val="0"/>
              </a:spcAft>
              <a:defRPr sz="4400">
                <a:solidFill>
                  <a:schemeClr val="tx2"/>
                </a:solidFill>
                <a:latin typeface="Times New Roman" charset="0"/>
              </a:defRPr>
            </a:lvl7pPr>
            <a:lvl8pPr marL="1371600" algn="ctr" rtl="0" eaLnBrk="0" fontAlgn="base" hangingPunct="0">
              <a:spcBef>
                <a:spcPct val="0"/>
              </a:spcBef>
              <a:spcAft>
                <a:spcPct val="0"/>
              </a:spcAft>
              <a:defRPr sz="4400">
                <a:solidFill>
                  <a:schemeClr val="tx2"/>
                </a:solidFill>
                <a:latin typeface="Times New Roman" charset="0"/>
              </a:defRPr>
            </a:lvl8pPr>
            <a:lvl9pPr marL="1828800" algn="ctr" rtl="0" eaLnBrk="0" fontAlgn="base" hangingPunct="0">
              <a:spcBef>
                <a:spcPct val="0"/>
              </a:spcBef>
              <a:spcAft>
                <a:spcPct val="0"/>
              </a:spcAft>
              <a:defRPr sz="4400">
                <a:solidFill>
                  <a:schemeClr val="tx2"/>
                </a:solidFill>
                <a:latin typeface="Times New Roman" charset="0"/>
              </a:defRPr>
            </a:lvl9pPr>
          </a:lstStyle>
          <a:p>
            <a:pPr algn="l"/>
            <a:r>
              <a:rPr lang="en-US" sz="3200" kern="0" dirty="0">
                <a:solidFill>
                  <a:schemeClr val="tx1"/>
                </a:solidFill>
                <a:latin typeface="Times New Roman" panose="02020603050405020304" pitchFamily="18" charset="0"/>
                <a:cs typeface="Times New Roman" panose="02020603050405020304" pitchFamily="18" charset="0"/>
              </a:rPr>
              <a:t>Phase: Gases have FAR more entropy than liquids, liquids have more entropy than solids</a:t>
            </a:r>
            <a:endParaRPr lang="en-US" sz="3200" i="1" kern="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017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anim calcmode="lin" valueType="num">
                                      <p:cBhvr additive="base">
                                        <p:cTn id="13"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anim calcmode="lin" valueType="num">
                                      <p:cBhvr additive="base">
                                        <p:cTn id="3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additive="base">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 calcmode="lin" valueType="num">
                                      <p:cBhvr additive="base">
                                        <p:cTn id="49"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 calcmode="lin" valueType="num">
                                      <p:cBhvr additive="base">
                                        <p:cTn id="5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fill="hold"/>
                                        <p:tgtEl>
                                          <p:spTgt spid="5"/>
                                        </p:tgtEl>
                                        <p:attrNameLst>
                                          <p:attrName>ppt_x</p:attrName>
                                        </p:attrNameLst>
                                      </p:cBhvr>
                                      <p:tavLst>
                                        <p:tav tm="0">
                                          <p:val>
                                            <p:strVal val="#ppt_x"/>
                                          </p:val>
                                        </p:tav>
                                        <p:tav tm="100000">
                                          <p:val>
                                            <p:strVal val="#ppt_x"/>
                                          </p:val>
                                        </p:tav>
                                      </p:tavLst>
                                    </p:anim>
                                    <p:anim calcmode="lin" valueType="num">
                                      <p:cBhvr additive="base">
                                        <p:cTn id="6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P spid="2" grpId="0" uiExpand="1" build="p"/>
      <p:bldP spid="3" grpId="0" uiExpand="1" build="p"/>
      <p:bldP spid="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986" y="32208"/>
            <a:ext cx="10515600" cy="625475"/>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Calculating </a:t>
            </a:r>
            <a:r>
              <a:rPr lang="en-US" b="1" dirty="0">
                <a:latin typeface="Times New Roman" panose="02020603050405020304" pitchFamily="18" charset="0"/>
                <a:cs typeface="Times New Roman" panose="02020603050405020304" pitchFamily="18" charset="0"/>
                <a:sym typeface="Symbol" pitchFamily="18" charset="2"/>
              </a:rPr>
              <a:t></a:t>
            </a:r>
            <a:r>
              <a:rPr lang="en-US" b="1" i="1" dirty="0">
                <a:latin typeface="Times New Roman" panose="02020603050405020304" pitchFamily="18" charset="0"/>
                <a:cs typeface="Times New Roman" panose="02020603050405020304" pitchFamily="18" charset="0"/>
              </a:rPr>
              <a: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14400"/>
            <a:ext cx="10744986" cy="5262563"/>
          </a:xfrm>
        </p:spPr>
        <p:txBody>
          <a:bodyPr/>
          <a:lstStyle/>
          <a:p>
            <a:pPr marL="0" indent="0">
              <a:buNone/>
            </a:pPr>
            <a:r>
              <a:rPr lang="en-US" sz="3200" b="1" dirty="0">
                <a:sym typeface="Symbol" pitchFamily="18" charset="2"/>
              </a:rPr>
              <a:t></a:t>
            </a:r>
            <a:r>
              <a:rPr lang="en-US" sz="3200" b="1" i="1" dirty="0"/>
              <a:t>S </a:t>
            </a:r>
            <a:r>
              <a:rPr lang="en-US" sz="3200" dirty="0"/>
              <a:t>can be calculated using a formation equation much like “Big Mama”</a:t>
            </a:r>
          </a:p>
          <a:p>
            <a:pPr marL="0" indent="0">
              <a:buNone/>
            </a:pPr>
            <a:r>
              <a:rPr lang="en-US" sz="3200" b="1" dirty="0">
                <a:sym typeface="Symbol" pitchFamily="18" charset="2"/>
              </a:rPr>
              <a:t>				</a:t>
            </a:r>
            <a:r>
              <a:rPr lang="en-US" sz="3200" b="1" i="1" dirty="0" err="1"/>
              <a:t>S</a:t>
            </a:r>
            <a:r>
              <a:rPr lang="en-US" sz="3200" b="1" baseline="30000" dirty="0" err="1"/>
              <a:t>o</a:t>
            </a:r>
            <a:r>
              <a:rPr lang="en-US" sz="3200" b="1" baseline="-25000" dirty="0" err="1"/>
              <a:t>reaction</a:t>
            </a:r>
            <a:r>
              <a:rPr lang="en-US" sz="3200" b="1" dirty="0"/>
              <a:t> =  </a:t>
            </a:r>
            <a:r>
              <a:rPr lang="en-US" sz="3200" b="1" dirty="0">
                <a:sym typeface="Symbol" pitchFamily="18" charset="2"/>
              </a:rPr>
              <a:t></a:t>
            </a:r>
            <a:r>
              <a:rPr lang="en-US" sz="3200" b="1" i="1" dirty="0" err="1"/>
              <a:t>S</a:t>
            </a:r>
            <a:r>
              <a:rPr lang="en-US" sz="3200" b="1" baseline="30000" dirty="0" err="1"/>
              <a:t>o</a:t>
            </a:r>
            <a:r>
              <a:rPr lang="en-US" sz="3200" b="1" baseline="-25000" dirty="0" err="1"/>
              <a:t>prod</a:t>
            </a:r>
            <a:r>
              <a:rPr lang="en-US" sz="3200" b="1" dirty="0"/>
              <a:t>-  </a:t>
            </a:r>
            <a:r>
              <a:rPr lang="en-US" sz="3200" b="1" dirty="0">
                <a:sym typeface="Symbol" pitchFamily="18" charset="2"/>
              </a:rPr>
              <a:t></a:t>
            </a:r>
            <a:r>
              <a:rPr lang="en-US" sz="3200" b="1" i="1" dirty="0" err="1"/>
              <a:t>S</a:t>
            </a:r>
            <a:r>
              <a:rPr lang="en-US" sz="3200" b="1" baseline="30000" dirty="0" err="1"/>
              <a:t>o</a:t>
            </a:r>
            <a:r>
              <a:rPr lang="en-US" sz="3200" b="1" baseline="-25000" dirty="0" err="1"/>
              <a:t>react</a:t>
            </a:r>
            <a:br>
              <a:rPr lang="en-US" sz="3200" dirty="0"/>
            </a:br>
            <a:endParaRPr lang="en-US" sz="3200" dirty="0"/>
          </a:p>
          <a:p>
            <a:r>
              <a:rPr lang="en-US" sz="3200" dirty="0"/>
              <a:t>Important: </a:t>
            </a:r>
            <a:r>
              <a:rPr lang="en-US" sz="3200" b="1" dirty="0">
                <a:sym typeface="Symbol" pitchFamily="18" charset="2"/>
              </a:rPr>
              <a:t></a:t>
            </a:r>
            <a:r>
              <a:rPr lang="en-US" sz="3200" b="1" i="1" dirty="0"/>
              <a:t>S </a:t>
            </a:r>
            <a:r>
              <a:rPr lang="en-US" sz="3200" dirty="0"/>
              <a:t>is NOT zero for elements</a:t>
            </a:r>
          </a:p>
          <a:p>
            <a:r>
              <a:rPr lang="en-US" sz="3200" b="1" dirty="0">
                <a:sym typeface="Symbol" pitchFamily="18" charset="2"/>
              </a:rPr>
              <a:t></a:t>
            </a:r>
            <a:r>
              <a:rPr lang="en-US" sz="3200" b="1" i="1" dirty="0"/>
              <a:t>S </a:t>
            </a:r>
            <a:r>
              <a:rPr lang="en-US" sz="3200" dirty="0"/>
              <a:t>values are much smaller than </a:t>
            </a:r>
            <a:r>
              <a:rPr lang="en-US" sz="3200" dirty="0">
                <a:sym typeface="Symbol" pitchFamily="18" charset="2"/>
              </a:rPr>
              <a:t></a:t>
            </a:r>
            <a:r>
              <a:rPr lang="en-US" sz="3200" dirty="0"/>
              <a:t>S values and are tabulated in Joules/</a:t>
            </a:r>
            <a:r>
              <a:rPr lang="en-US" sz="3200" dirty="0" err="1"/>
              <a:t>mol</a:t>
            </a:r>
            <a:r>
              <a:rPr lang="en-US" sz="3200" dirty="0"/>
              <a:t> K instead of kilojoules/</a:t>
            </a:r>
            <a:r>
              <a:rPr lang="en-US" sz="3200" dirty="0" err="1"/>
              <a:t>mol</a:t>
            </a:r>
            <a:r>
              <a:rPr lang="en-US" sz="3200" dirty="0"/>
              <a:t> K. This will be important later!</a:t>
            </a:r>
            <a:br>
              <a:rPr lang="en-US" dirty="0"/>
            </a:br>
            <a:r>
              <a:rPr lang="en-US" dirty="0"/>
              <a:t>	</a:t>
            </a:r>
            <a:br>
              <a:rPr lang="en-US" dirty="0"/>
            </a:br>
            <a:endParaRPr lang="en-US" dirty="0"/>
          </a:p>
        </p:txBody>
      </p:sp>
    </p:spTree>
    <p:extLst>
      <p:ext uri="{BB962C8B-B14F-4D97-AF65-F5344CB8AC3E}">
        <p14:creationId xmlns:p14="http://schemas.microsoft.com/office/powerpoint/2010/main" val="20736159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4"/>
          <p:cNvSpPr>
            <a:spLocks noGrp="1" noChangeArrowheads="1"/>
          </p:cNvSpPr>
          <p:nvPr>
            <p:ph type="title"/>
          </p:nvPr>
        </p:nvSpPr>
        <p:spPr>
          <a:xfrm>
            <a:off x="838200" y="0"/>
            <a:ext cx="10515600" cy="701675"/>
          </a:xfrm>
        </p:spPr>
        <p:txBody>
          <a:bodyPr>
            <a:normAutofit fontScale="90000"/>
          </a:bodyPr>
          <a:lstStyle/>
          <a:p>
            <a:pPr algn="ctr"/>
            <a:br>
              <a:rPr lang="en-US" sz="3600" dirty="0"/>
            </a:br>
            <a:br>
              <a:rPr lang="en-US" dirty="0"/>
            </a:br>
            <a:br>
              <a:rPr lang="en-US" dirty="0"/>
            </a:br>
            <a:r>
              <a:rPr lang="en-US" dirty="0"/>
              <a:t> </a:t>
            </a:r>
            <a:r>
              <a:rPr lang="en-US" sz="3200" dirty="0"/>
              <a:t> </a:t>
            </a:r>
            <a:r>
              <a:rPr lang="en-US" sz="3700" dirty="0">
                <a:latin typeface="Times New Roman" panose="02020603050405020304" pitchFamily="18" charset="0"/>
                <a:ea typeface="+mn-ea"/>
                <a:cs typeface="Times New Roman" panose="02020603050405020304" pitchFamily="18" charset="0"/>
              </a:rPr>
              <a:t>Sample Problem</a:t>
            </a:r>
            <a:br>
              <a:rPr lang="en-US" dirty="0"/>
            </a:br>
            <a:br>
              <a:rPr lang="en-US" dirty="0"/>
            </a:br>
            <a:br>
              <a:rPr lang="en-US" dirty="0"/>
            </a:br>
            <a:endParaRPr lang="en-US" dirty="0"/>
          </a:p>
        </p:txBody>
      </p:sp>
      <p:sp>
        <p:nvSpPr>
          <p:cNvPr id="11269" name="Rectangle 5"/>
          <p:cNvSpPr>
            <a:spLocks noGrp="1" noChangeArrowheads="1"/>
          </p:cNvSpPr>
          <p:nvPr>
            <p:ph idx="1"/>
          </p:nvPr>
        </p:nvSpPr>
        <p:spPr>
          <a:xfrm>
            <a:off x="533400" y="838200"/>
            <a:ext cx="11125200" cy="5867400"/>
          </a:xfrm>
        </p:spPr>
        <p:txBody>
          <a:bodyPr>
            <a:normAutofit lnSpcReduction="10000"/>
          </a:bodyPr>
          <a:lstStyle/>
          <a:p>
            <a:pPr>
              <a:buFontTx/>
              <a:buNone/>
            </a:pPr>
            <a:r>
              <a:rPr lang="en-US" dirty="0">
                <a:latin typeface="Times New Roman" panose="02020603050405020304" pitchFamily="18" charset="0"/>
                <a:cs typeface="Times New Roman" panose="02020603050405020304" pitchFamily="18" charset="0"/>
              </a:rPr>
              <a:t>Ex.  Given the following standard molar entropies, calculate </a:t>
            </a: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S</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for the reaction:  </a:t>
            </a:r>
            <a:br>
              <a:rPr lang="en-US"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2Al(</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+ 3MgO(</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a:t>
            </a:r>
            <a:r>
              <a:rPr lang="en-US" sz="2400" noProof="1">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3Mg(</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Al</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O</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a:t>
            </a:r>
          </a:p>
          <a:p>
            <a:pPr>
              <a:buFontTx/>
              <a:buNone/>
            </a:pPr>
            <a:r>
              <a:rPr lang="en-US" sz="2400" u="sng" dirty="0">
                <a:latin typeface="Times New Roman" panose="02020603050405020304" pitchFamily="18" charset="0"/>
                <a:cs typeface="Times New Roman" panose="02020603050405020304" pitchFamily="18" charset="0"/>
              </a:rPr>
              <a:t>Substance					</a:t>
            </a:r>
            <a:r>
              <a:rPr lang="en-US" sz="2400" u="sng" dirty="0">
                <a:latin typeface="Times New Roman" panose="02020603050405020304" pitchFamily="18" charset="0"/>
                <a:cs typeface="Times New Roman" panose="02020603050405020304" pitchFamily="18" charset="0"/>
                <a:sym typeface="Symbol" pitchFamily="18" charset="2"/>
              </a:rPr>
              <a:t> </a:t>
            </a:r>
            <a:r>
              <a:rPr lang="en-US" sz="2400" i="1" u="sng" dirty="0">
                <a:latin typeface="Times New Roman" panose="02020603050405020304" pitchFamily="18" charset="0"/>
                <a:cs typeface="Times New Roman" panose="02020603050405020304" pitchFamily="18" charset="0"/>
              </a:rPr>
              <a:t>S</a:t>
            </a:r>
            <a:r>
              <a:rPr lang="en-US" sz="2400" u="sng" baseline="30000" dirty="0">
                <a:latin typeface="Times New Roman" panose="02020603050405020304" pitchFamily="18" charset="0"/>
                <a:cs typeface="Times New Roman" panose="02020603050405020304" pitchFamily="18" charset="0"/>
              </a:rPr>
              <a:t>o</a:t>
            </a:r>
            <a:r>
              <a:rPr lang="en-US" sz="2400" u="sng" dirty="0">
                <a:latin typeface="Times New Roman" panose="02020603050405020304" pitchFamily="18" charset="0"/>
                <a:cs typeface="Times New Roman" panose="02020603050405020304" pitchFamily="18" charset="0"/>
              </a:rPr>
              <a:t> value (J/</a:t>
            </a:r>
            <a:r>
              <a:rPr lang="en-US" sz="2400" u="sng" dirty="0" err="1">
                <a:latin typeface="Times New Roman" panose="02020603050405020304" pitchFamily="18" charset="0"/>
                <a:cs typeface="Times New Roman" panose="02020603050405020304" pitchFamily="18" charset="0"/>
              </a:rPr>
              <a:t>mol</a:t>
            </a:r>
            <a:r>
              <a:rPr lang="en-US" sz="2400" u="sng" dirty="0">
                <a:latin typeface="Times New Roman" panose="02020603050405020304" pitchFamily="18" charset="0"/>
                <a:cs typeface="Times New Roman" panose="02020603050405020304" pitchFamily="18" charset="0"/>
              </a:rPr>
              <a:t> K)</a:t>
            </a:r>
            <a:endParaRPr lang="en-US" sz="2400" dirty="0">
              <a:latin typeface="Times New Roman" panose="02020603050405020304" pitchFamily="18" charset="0"/>
              <a:cs typeface="Times New Roman" panose="02020603050405020304" pitchFamily="18" charset="0"/>
            </a:endParaRPr>
          </a:p>
          <a:p>
            <a:pPr>
              <a:lnSpc>
                <a:spcPct val="100000"/>
              </a:lnSpc>
              <a:buFontTx/>
              <a:buNone/>
            </a:pPr>
            <a:r>
              <a:rPr lang="en-US" sz="2400" dirty="0">
                <a:latin typeface="Times New Roman" panose="02020603050405020304" pitchFamily="18" charset="0"/>
                <a:cs typeface="Times New Roman" panose="02020603050405020304" pitchFamily="18" charset="0"/>
              </a:rPr>
              <a:t>	Al(</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28.0 J/</a:t>
            </a:r>
            <a:r>
              <a:rPr lang="en-US" sz="2400" dirty="0" err="1">
                <a:latin typeface="Times New Roman" panose="02020603050405020304" pitchFamily="18" charset="0"/>
                <a:cs typeface="Times New Roman" panose="02020603050405020304" pitchFamily="18" charset="0"/>
              </a:rPr>
              <a:t>mol</a:t>
            </a:r>
            <a:r>
              <a:rPr lang="en-US" sz="2400" dirty="0">
                <a:latin typeface="Times New Roman" panose="02020603050405020304" pitchFamily="18" charset="0"/>
                <a:cs typeface="Times New Roman" panose="02020603050405020304" pitchFamily="18" charset="0"/>
              </a:rPr>
              <a:t> K 	</a:t>
            </a:r>
          </a:p>
          <a:p>
            <a:pPr>
              <a:lnSpc>
                <a:spcPct val="100000"/>
              </a:lnSpc>
              <a:buFontTx/>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MgO</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27.0 J/</a:t>
            </a:r>
            <a:r>
              <a:rPr lang="en-US" sz="2400" dirty="0" err="1">
                <a:latin typeface="Times New Roman" panose="02020603050405020304" pitchFamily="18" charset="0"/>
                <a:cs typeface="Times New Roman" panose="02020603050405020304" pitchFamily="18" charset="0"/>
              </a:rPr>
              <a:t>mol</a:t>
            </a:r>
            <a:r>
              <a:rPr lang="en-US" sz="2400" dirty="0">
                <a:latin typeface="Times New Roman" panose="02020603050405020304" pitchFamily="18" charset="0"/>
                <a:cs typeface="Times New Roman" panose="02020603050405020304" pitchFamily="18" charset="0"/>
              </a:rPr>
              <a:t> </a:t>
            </a:r>
          </a:p>
          <a:p>
            <a:pPr>
              <a:lnSpc>
                <a:spcPct val="100000"/>
              </a:lnSpc>
              <a:buFontTx/>
              <a:buNone/>
            </a:pPr>
            <a:r>
              <a:rPr lang="en-US" sz="2400" dirty="0">
                <a:latin typeface="Times New Roman" panose="02020603050405020304" pitchFamily="18" charset="0"/>
                <a:cs typeface="Times New Roman" panose="02020603050405020304" pitchFamily="18" charset="0"/>
              </a:rPr>
              <a:t>	Mg(</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33.0 J/</a:t>
            </a:r>
            <a:r>
              <a:rPr lang="en-US" sz="2400" dirty="0" err="1">
                <a:latin typeface="Times New Roman" panose="02020603050405020304" pitchFamily="18" charset="0"/>
                <a:cs typeface="Times New Roman" panose="02020603050405020304" pitchFamily="18" charset="0"/>
              </a:rPr>
              <a:t>mol</a:t>
            </a:r>
            <a:r>
              <a:rPr lang="en-US" sz="2400" dirty="0">
                <a:latin typeface="Times New Roman" panose="02020603050405020304" pitchFamily="18" charset="0"/>
                <a:cs typeface="Times New Roman" panose="02020603050405020304" pitchFamily="18" charset="0"/>
              </a:rPr>
              <a:t> K </a:t>
            </a:r>
          </a:p>
          <a:p>
            <a:pPr>
              <a:lnSpc>
                <a:spcPct val="100000"/>
              </a:lnSpc>
              <a:buFontTx/>
              <a:buNone/>
            </a:pPr>
            <a:r>
              <a:rPr lang="en-US" sz="2400" dirty="0">
                <a:latin typeface="Times New Roman" panose="02020603050405020304" pitchFamily="18" charset="0"/>
                <a:cs typeface="Times New Roman" panose="02020603050405020304" pitchFamily="18" charset="0"/>
              </a:rPr>
              <a:t>	Al</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O</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51.0 J/K</a:t>
            </a:r>
            <a:endParaRPr lang="en-US" sz="2400" dirty="0">
              <a:solidFill>
                <a:schemeClr val="accent2"/>
              </a:solidFill>
              <a:sym typeface="Symbol" pitchFamily="18" charset="2"/>
            </a:endParaRPr>
          </a:p>
          <a:p>
            <a:pPr>
              <a:buFontTx/>
              <a:buNone/>
            </a:pPr>
            <a:endParaRPr lang="en-US" sz="3600" dirty="0">
              <a:solidFill>
                <a:schemeClr val="accent2"/>
              </a:solidFill>
              <a:sym typeface="Symbol" pitchFamily="18" charset="2"/>
            </a:endParaRPr>
          </a:p>
          <a:p>
            <a:pPr>
              <a:buFontTx/>
              <a:buNone/>
            </a:pPr>
            <a:endParaRPr lang="en-US" sz="3600" dirty="0">
              <a:solidFill>
                <a:schemeClr val="accent2"/>
              </a:solidFill>
              <a:sym typeface="Symbol" pitchFamily="18" charset="2"/>
            </a:endParaRPr>
          </a:p>
          <a:p>
            <a:pPr>
              <a:buFontTx/>
              <a:buNone/>
            </a:pPr>
            <a:endParaRPr lang="en-US" sz="3600" dirty="0">
              <a:solidFill>
                <a:schemeClr val="accent2"/>
              </a:solidFill>
              <a:sym typeface="Symbol" pitchFamily="18" charset="2"/>
            </a:endParaRPr>
          </a:p>
          <a:p>
            <a:pPr>
              <a:buFontTx/>
              <a:buNone/>
            </a:pPr>
            <a:r>
              <a:rPr lang="en-US" dirty="0">
                <a:solidFill>
                  <a:schemeClr val="accent2"/>
                </a:solidFill>
                <a:latin typeface="Times New Roman" panose="02020603050405020304" pitchFamily="18" charset="0"/>
                <a:cs typeface="Times New Roman" panose="02020603050405020304" pitchFamily="18" charset="0"/>
                <a:sym typeface="Symbol" pitchFamily="18" charset="2"/>
              </a:rPr>
              <a:t></a:t>
            </a:r>
            <a:r>
              <a:rPr lang="en-US" dirty="0">
                <a:solidFill>
                  <a:schemeClr val="accent2"/>
                </a:solidFill>
                <a:latin typeface="Times New Roman" panose="02020603050405020304" pitchFamily="18" charset="0"/>
                <a:cs typeface="Times New Roman" panose="02020603050405020304" pitchFamily="18" charset="0"/>
              </a:rPr>
              <a:t>S</a:t>
            </a:r>
            <a:r>
              <a:rPr lang="en-US" baseline="30000" dirty="0">
                <a:solidFill>
                  <a:schemeClr val="accent2"/>
                </a:solidFill>
                <a:latin typeface="Times New Roman" panose="02020603050405020304" pitchFamily="18" charset="0"/>
                <a:cs typeface="Times New Roman" panose="02020603050405020304" pitchFamily="18" charset="0"/>
              </a:rPr>
              <a:t>o </a:t>
            </a:r>
            <a:r>
              <a:rPr lang="en-US" dirty="0">
                <a:solidFill>
                  <a:schemeClr val="accent2"/>
                </a:solidFill>
                <a:latin typeface="Times New Roman" panose="02020603050405020304" pitchFamily="18" charset="0"/>
                <a:cs typeface="Times New Roman" panose="02020603050405020304" pitchFamily="18" charset="0"/>
              </a:rPr>
              <a:t>= [3(33.0)+51.0] –[2(28.0) + 3(27.0)] = 13.0 J/</a:t>
            </a:r>
            <a:r>
              <a:rPr lang="en-US" dirty="0" err="1">
                <a:solidFill>
                  <a:schemeClr val="accent2"/>
                </a:solidFill>
                <a:latin typeface="Times New Roman" panose="02020603050405020304" pitchFamily="18" charset="0"/>
                <a:cs typeface="Times New Roman" panose="02020603050405020304" pitchFamily="18" charset="0"/>
              </a:rPr>
              <a:t>K</a:t>
            </a:r>
            <a:r>
              <a:rPr lang="en-US" baseline="30000" dirty="0" err="1">
                <a:solidFill>
                  <a:schemeClr val="accent2"/>
                </a:solidFill>
                <a:latin typeface="Times New Roman" panose="02020603050405020304" pitchFamily="18" charset="0"/>
                <a:cs typeface="Times New Roman" panose="02020603050405020304" pitchFamily="18" charset="0"/>
              </a:rPr>
              <a:t>.</a:t>
            </a:r>
            <a:r>
              <a:rPr lang="en-US" dirty="0" err="1">
                <a:solidFill>
                  <a:schemeClr val="accent2"/>
                </a:solidFill>
                <a:latin typeface="Times New Roman" panose="02020603050405020304" pitchFamily="18" charset="0"/>
                <a:cs typeface="Times New Roman" panose="02020603050405020304" pitchFamily="18" charset="0"/>
              </a:rPr>
              <a:t>mol</a:t>
            </a:r>
            <a:r>
              <a:rPr lang="en-US" baseline="-25000" dirty="0" err="1">
                <a:solidFill>
                  <a:schemeClr val="accent2"/>
                </a:solidFill>
                <a:latin typeface="Times New Roman" panose="02020603050405020304" pitchFamily="18" charset="0"/>
                <a:cs typeface="Times New Roman" panose="02020603050405020304" pitchFamily="18" charset="0"/>
              </a:rPr>
              <a:t>rxn</a:t>
            </a:r>
            <a:endParaRPr lang="en-US" baseline="-25000"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3169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animEffect transition="in" filter="fade">
                                      <p:cBhvr>
                                        <p:cTn id="7" dur="1000"/>
                                        <p:tgtEl>
                                          <p:spTgt spid="11269">
                                            <p:txEl>
                                              <p:pRg st="0" end="0"/>
                                            </p:txEl>
                                          </p:spTgt>
                                        </p:tgtEl>
                                      </p:cBhvr>
                                    </p:animEffect>
                                    <p:anim calcmode="lin" valueType="num">
                                      <p:cBhvr>
                                        <p:cTn id="8" dur="1000" fill="hold"/>
                                        <p:tgtEl>
                                          <p:spTgt spid="1126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26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269">
                                            <p:txEl>
                                              <p:pRg st="1" end="1"/>
                                            </p:txEl>
                                          </p:spTgt>
                                        </p:tgtEl>
                                        <p:attrNameLst>
                                          <p:attrName>style.visibility</p:attrName>
                                        </p:attrNameLst>
                                      </p:cBhvr>
                                      <p:to>
                                        <p:strVal val="visible"/>
                                      </p:to>
                                    </p:set>
                                    <p:animEffect transition="in" filter="fade">
                                      <p:cBhvr>
                                        <p:cTn id="12" dur="1000"/>
                                        <p:tgtEl>
                                          <p:spTgt spid="11269">
                                            <p:txEl>
                                              <p:pRg st="1" end="1"/>
                                            </p:txEl>
                                          </p:spTgt>
                                        </p:tgtEl>
                                      </p:cBhvr>
                                    </p:animEffect>
                                    <p:anim calcmode="lin" valueType="num">
                                      <p:cBhvr>
                                        <p:cTn id="13" dur="1000" fill="hold"/>
                                        <p:tgtEl>
                                          <p:spTgt spid="1126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126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269">
                                            <p:txEl>
                                              <p:pRg st="2" end="2"/>
                                            </p:txEl>
                                          </p:spTgt>
                                        </p:tgtEl>
                                        <p:attrNameLst>
                                          <p:attrName>style.visibility</p:attrName>
                                        </p:attrNameLst>
                                      </p:cBhvr>
                                      <p:to>
                                        <p:strVal val="visible"/>
                                      </p:to>
                                    </p:set>
                                    <p:animEffect transition="in" filter="fade">
                                      <p:cBhvr>
                                        <p:cTn id="17" dur="1000"/>
                                        <p:tgtEl>
                                          <p:spTgt spid="11269">
                                            <p:txEl>
                                              <p:pRg st="2" end="2"/>
                                            </p:txEl>
                                          </p:spTgt>
                                        </p:tgtEl>
                                      </p:cBhvr>
                                    </p:animEffect>
                                    <p:anim calcmode="lin" valueType="num">
                                      <p:cBhvr>
                                        <p:cTn id="18" dur="1000" fill="hold"/>
                                        <p:tgtEl>
                                          <p:spTgt spid="1126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126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1269">
                                            <p:txEl>
                                              <p:pRg st="3" end="3"/>
                                            </p:txEl>
                                          </p:spTgt>
                                        </p:tgtEl>
                                        <p:attrNameLst>
                                          <p:attrName>style.visibility</p:attrName>
                                        </p:attrNameLst>
                                      </p:cBhvr>
                                      <p:to>
                                        <p:strVal val="visible"/>
                                      </p:to>
                                    </p:set>
                                    <p:animEffect transition="in" filter="fade">
                                      <p:cBhvr>
                                        <p:cTn id="22" dur="1000"/>
                                        <p:tgtEl>
                                          <p:spTgt spid="11269">
                                            <p:txEl>
                                              <p:pRg st="3" end="3"/>
                                            </p:txEl>
                                          </p:spTgt>
                                        </p:tgtEl>
                                      </p:cBhvr>
                                    </p:animEffect>
                                    <p:anim calcmode="lin" valueType="num">
                                      <p:cBhvr>
                                        <p:cTn id="23" dur="1000" fill="hold"/>
                                        <p:tgtEl>
                                          <p:spTgt spid="1126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1269">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1269">
                                            <p:txEl>
                                              <p:pRg st="4" end="4"/>
                                            </p:txEl>
                                          </p:spTgt>
                                        </p:tgtEl>
                                        <p:attrNameLst>
                                          <p:attrName>style.visibility</p:attrName>
                                        </p:attrNameLst>
                                      </p:cBhvr>
                                      <p:to>
                                        <p:strVal val="visible"/>
                                      </p:to>
                                    </p:set>
                                    <p:animEffect transition="in" filter="fade">
                                      <p:cBhvr>
                                        <p:cTn id="27" dur="1000"/>
                                        <p:tgtEl>
                                          <p:spTgt spid="11269">
                                            <p:txEl>
                                              <p:pRg st="4" end="4"/>
                                            </p:txEl>
                                          </p:spTgt>
                                        </p:tgtEl>
                                      </p:cBhvr>
                                    </p:animEffect>
                                    <p:anim calcmode="lin" valueType="num">
                                      <p:cBhvr>
                                        <p:cTn id="28" dur="1000" fill="hold"/>
                                        <p:tgtEl>
                                          <p:spTgt spid="11269">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1269">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1269">
                                            <p:txEl>
                                              <p:pRg st="5" end="5"/>
                                            </p:txEl>
                                          </p:spTgt>
                                        </p:tgtEl>
                                        <p:attrNameLst>
                                          <p:attrName>style.visibility</p:attrName>
                                        </p:attrNameLst>
                                      </p:cBhvr>
                                      <p:to>
                                        <p:strVal val="visible"/>
                                      </p:to>
                                    </p:set>
                                    <p:animEffect transition="in" filter="fade">
                                      <p:cBhvr>
                                        <p:cTn id="32" dur="1000"/>
                                        <p:tgtEl>
                                          <p:spTgt spid="11269">
                                            <p:txEl>
                                              <p:pRg st="5" end="5"/>
                                            </p:txEl>
                                          </p:spTgt>
                                        </p:tgtEl>
                                      </p:cBhvr>
                                    </p:animEffect>
                                    <p:anim calcmode="lin" valueType="num">
                                      <p:cBhvr>
                                        <p:cTn id="33" dur="1000" fill="hold"/>
                                        <p:tgtEl>
                                          <p:spTgt spid="11269">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1126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11269">
                                            <p:txEl>
                                              <p:pRg st="9" end="9"/>
                                            </p:txEl>
                                          </p:spTgt>
                                        </p:tgtEl>
                                        <p:attrNameLst>
                                          <p:attrName>style.visibility</p:attrName>
                                        </p:attrNameLst>
                                      </p:cBhvr>
                                      <p:to>
                                        <p:strVal val="visible"/>
                                      </p:to>
                                    </p:set>
                                    <p:animEffect transition="in" filter="fade">
                                      <p:cBhvr>
                                        <p:cTn id="39" dur="1000"/>
                                        <p:tgtEl>
                                          <p:spTgt spid="11269">
                                            <p:txEl>
                                              <p:pRg st="9" end="9"/>
                                            </p:txEl>
                                          </p:spTgt>
                                        </p:tgtEl>
                                      </p:cBhvr>
                                    </p:animEffect>
                                    <p:anim calcmode="lin" valueType="num">
                                      <p:cBhvr>
                                        <p:cTn id="40" dur="1000" fill="hold"/>
                                        <p:tgtEl>
                                          <p:spTgt spid="11269">
                                            <p:txEl>
                                              <p:pRg st="9" end="9"/>
                                            </p:txEl>
                                          </p:spTgt>
                                        </p:tgtEl>
                                        <p:attrNameLst>
                                          <p:attrName>ppt_x</p:attrName>
                                        </p:attrNameLst>
                                      </p:cBhvr>
                                      <p:tavLst>
                                        <p:tav tm="0">
                                          <p:val>
                                            <p:strVal val="#ppt_x"/>
                                          </p:val>
                                        </p:tav>
                                        <p:tav tm="100000">
                                          <p:val>
                                            <p:strVal val="#ppt_x"/>
                                          </p:val>
                                        </p:tav>
                                      </p:tavLst>
                                    </p:anim>
                                    <p:anim calcmode="lin" valueType="num">
                                      <p:cBhvr>
                                        <p:cTn id="41" dur="1000" fill="hold"/>
                                        <p:tgtEl>
                                          <p:spTgt spid="11269">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838200" y="11784"/>
            <a:ext cx="10515600" cy="777875"/>
          </a:xfrm>
        </p:spPr>
        <p:txBody>
          <a:bodyPr>
            <a:normAutofit/>
          </a:bodyPr>
          <a:lstStyle/>
          <a:p>
            <a:pPr algn="l"/>
            <a:r>
              <a:rPr lang="en-US" sz="3600" b="1" dirty="0">
                <a:solidFill>
                  <a:schemeClr val="tx1"/>
                </a:solidFill>
                <a:latin typeface="Times New Roman" panose="02020603050405020304" pitchFamily="18" charset="0"/>
                <a:cs typeface="Times New Roman" panose="02020603050405020304" pitchFamily="18" charset="0"/>
              </a:rPr>
              <a:t>Thermodynamic </a:t>
            </a:r>
            <a:r>
              <a:rPr lang="en-US" sz="3600" b="1" dirty="0">
                <a:latin typeface="Times New Roman" panose="02020603050405020304" pitchFamily="18" charset="0"/>
                <a:cs typeface="Times New Roman" panose="02020603050405020304" pitchFamily="18" charset="0"/>
              </a:rPr>
              <a:t>Favorability and </a:t>
            </a:r>
            <a:r>
              <a:rPr lang="en-US" sz="3600" b="1" dirty="0">
                <a:solidFill>
                  <a:schemeClr val="tx1"/>
                </a:solidFill>
                <a:latin typeface="Times New Roman" panose="02020603050405020304" pitchFamily="18" charset="0"/>
                <a:cs typeface="Times New Roman" panose="02020603050405020304" pitchFamily="18" charset="0"/>
              </a:rPr>
              <a:t>Free energy, </a:t>
            </a:r>
            <a:r>
              <a:rPr lang="en-US" sz="3600" b="1" dirty="0">
                <a:solidFill>
                  <a:schemeClr val="tx1"/>
                </a:solidFill>
                <a:latin typeface="Symbol" panose="05050102010706020507" pitchFamily="18" charset="2"/>
                <a:cs typeface="Times New Roman" panose="02020603050405020304" pitchFamily="18" charset="0"/>
              </a:rPr>
              <a:t>D</a:t>
            </a:r>
            <a:r>
              <a:rPr lang="en-US" sz="3600" b="1" i="1" dirty="0">
                <a:solidFill>
                  <a:schemeClr val="tx1"/>
                </a:solidFill>
                <a:latin typeface="Times New Roman" panose="02020603050405020304" pitchFamily="18" charset="0"/>
                <a:cs typeface="Times New Roman" panose="02020603050405020304" pitchFamily="18" charset="0"/>
              </a:rPr>
              <a:t>G</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idx="1"/>
          </p:nvPr>
        </p:nvSpPr>
        <p:spPr>
          <a:xfrm>
            <a:off x="304800" y="838200"/>
            <a:ext cx="11582400" cy="5338763"/>
          </a:xfrm>
        </p:spPr>
        <p:txBody>
          <a:bodyPr>
            <a:normAutofit fontScale="92500" lnSpcReduction="10000"/>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Thermodynamic Favorability is the combination of TWO factors:</a:t>
            </a:r>
          </a:p>
          <a:p>
            <a:pPr marL="0" indent="0">
              <a:buNone/>
            </a:pPr>
            <a:r>
              <a:rPr lang="en-US" dirty="0">
                <a:latin typeface="Times New Roman" panose="02020603050405020304" pitchFamily="18" charset="0"/>
                <a:cs typeface="Times New Roman" panose="02020603050405020304" pitchFamily="18" charset="0"/>
              </a:rPr>
              <a:t>	Enthalpy (</a:t>
            </a:r>
            <a:r>
              <a:rPr lang="en-US"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i="1" dirty="0">
                <a:solidFill>
                  <a:schemeClr val="tx1"/>
                </a:solidFill>
                <a:latin typeface="Times New Roman" panose="02020603050405020304" pitchFamily="18" charset="0"/>
                <a:cs typeface="Times New Roman" panose="02020603050405020304" pitchFamily="18" charset="0"/>
              </a:rPr>
              <a:t>H</a:t>
            </a:r>
            <a:r>
              <a:rPr lang="en-US" dirty="0">
                <a:solidFill>
                  <a:schemeClr val="tx1"/>
                </a:solidFill>
                <a:latin typeface="Times New Roman" panose="02020603050405020304" pitchFamily="18" charset="0"/>
                <a:cs typeface="Times New Roman" panose="02020603050405020304" pitchFamily="18" charset="0"/>
              </a:rPr>
              <a:t> &lt; 0 is favorable)</a:t>
            </a:r>
            <a:r>
              <a:rPr lang="en-US" dirty="0">
                <a:latin typeface="Times New Roman" panose="02020603050405020304" pitchFamily="18" charset="0"/>
                <a:cs typeface="Times New Roman" panose="02020603050405020304" pitchFamily="18" charset="0"/>
              </a:rPr>
              <a:t>   and   </a:t>
            </a:r>
          </a:p>
          <a:p>
            <a:pPr marL="0" indent="0">
              <a:buNone/>
            </a:pPr>
            <a:r>
              <a:rPr lang="en-US" dirty="0">
                <a:latin typeface="Times New Roman" panose="02020603050405020304" pitchFamily="18" charset="0"/>
                <a:cs typeface="Times New Roman" panose="02020603050405020304" pitchFamily="18" charset="0"/>
              </a:rPr>
              <a:t>	Entropy (</a:t>
            </a:r>
            <a:r>
              <a:rPr lang="en-US"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i="1" dirty="0">
                <a:solidFill>
                  <a:schemeClr val="tx1"/>
                </a:solidFill>
                <a:latin typeface="Times New Roman" panose="02020603050405020304" pitchFamily="18" charset="0"/>
                <a:cs typeface="Times New Roman" panose="02020603050405020304" pitchFamily="18" charset="0"/>
              </a:rPr>
              <a:t>S </a:t>
            </a:r>
            <a:r>
              <a:rPr lang="en-US" dirty="0">
                <a:solidFill>
                  <a:schemeClr val="tx1"/>
                </a:solidFill>
                <a:latin typeface="Times New Roman" panose="02020603050405020304" pitchFamily="18" charset="0"/>
                <a:cs typeface="Times New Roman" panose="02020603050405020304" pitchFamily="18" charset="0"/>
              </a:rPr>
              <a:t>&gt; 0 is favorable)</a:t>
            </a:r>
          </a:p>
          <a:p>
            <a:pPr marL="0" indent="0">
              <a:buNone/>
            </a:pPr>
            <a:r>
              <a:rPr lang="en-US" b="1" dirty="0">
                <a:solidFill>
                  <a:schemeClr val="tx1"/>
                </a:solidFill>
                <a:latin typeface="Times New Roman" panose="02020603050405020304" pitchFamily="18" charset="0"/>
                <a:cs typeface="Times New Roman" panose="02020603050405020304" pitchFamily="18" charset="0"/>
                <a:sym typeface="Symbol" pitchFamily="18" charset="2"/>
              </a:rPr>
              <a:t>					</a:t>
            </a:r>
            <a:r>
              <a:rPr lang="en-US" b="1" i="1" dirty="0">
                <a:solidFill>
                  <a:schemeClr val="tx1"/>
                </a:solidFill>
                <a:latin typeface="Times New Roman" panose="02020603050405020304" pitchFamily="18" charset="0"/>
                <a:cs typeface="Times New Roman" panose="02020603050405020304" pitchFamily="18" charset="0"/>
              </a:rPr>
              <a:t>G</a:t>
            </a:r>
            <a:r>
              <a:rPr lang="en-US" b="1" dirty="0">
                <a:solidFill>
                  <a:schemeClr val="tx1"/>
                </a:solidFill>
                <a:latin typeface="Times New Roman" panose="02020603050405020304" pitchFamily="18" charset="0"/>
                <a:cs typeface="Times New Roman" panose="02020603050405020304" pitchFamily="18" charset="0"/>
              </a:rPr>
              <a:t> =  </a:t>
            </a:r>
            <a:r>
              <a:rPr lang="en-US"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b="1" i="1" dirty="0">
                <a:solidFill>
                  <a:schemeClr val="tx1"/>
                </a:solidFill>
                <a:latin typeface="Times New Roman" panose="02020603050405020304" pitchFamily="18" charset="0"/>
                <a:cs typeface="Times New Roman" panose="02020603050405020304" pitchFamily="18" charset="0"/>
              </a:rPr>
              <a:t>H</a:t>
            </a:r>
            <a:r>
              <a:rPr lang="en-US" b="1" dirty="0">
                <a:solidFill>
                  <a:schemeClr val="tx1"/>
                </a:solidFill>
                <a:latin typeface="Times New Roman" panose="02020603050405020304" pitchFamily="18" charset="0"/>
                <a:cs typeface="Times New Roman" panose="02020603050405020304" pitchFamily="18" charset="0"/>
              </a:rPr>
              <a:t>  -  </a:t>
            </a:r>
            <a:r>
              <a:rPr lang="en-US" b="1" i="1" dirty="0">
                <a:solidFill>
                  <a:schemeClr val="tx1"/>
                </a:solidFill>
                <a:latin typeface="Times New Roman" panose="02020603050405020304" pitchFamily="18" charset="0"/>
                <a:cs typeface="Times New Roman" panose="02020603050405020304" pitchFamily="18" charset="0"/>
              </a:rPr>
              <a:t>T</a:t>
            </a:r>
            <a:r>
              <a:rPr lang="en-US"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b="1" i="1" dirty="0">
                <a:solidFill>
                  <a:schemeClr val="tx1"/>
                </a:solidFill>
                <a:latin typeface="Times New Roman" panose="02020603050405020304" pitchFamily="18" charset="0"/>
                <a:cs typeface="Times New Roman" panose="02020603050405020304" pitchFamily="18" charset="0"/>
              </a:rPr>
              <a:t>S</a:t>
            </a:r>
          </a:p>
          <a:p>
            <a:r>
              <a:rPr lang="en-US"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b="1" i="1" dirty="0">
                <a:solidFill>
                  <a:schemeClr val="tx1"/>
                </a:solidFill>
                <a:latin typeface="Times New Roman" panose="02020603050405020304" pitchFamily="18" charset="0"/>
                <a:cs typeface="Times New Roman" panose="02020603050405020304" pitchFamily="18" charset="0"/>
              </a:rPr>
              <a:t>G</a:t>
            </a:r>
            <a:r>
              <a:rPr lang="en-US" b="1" dirty="0">
                <a:latin typeface="Times New Roman" panose="02020603050405020304" pitchFamily="18" charset="0"/>
                <a:cs typeface="Times New Roman" panose="02020603050405020304" pitchFamily="18" charset="0"/>
              </a:rPr>
              <a:t>, or </a:t>
            </a:r>
            <a:r>
              <a:rPr lang="en-US" b="1" dirty="0">
                <a:solidFill>
                  <a:srgbClr val="FF0000"/>
                </a:solidFill>
                <a:latin typeface="Times New Roman" panose="02020603050405020304" pitchFamily="18" charset="0"/>
                <a:cs typeface="Times New Roman" panose="02020603050405020304" pitchFamily="18" charset="0"/>
              </a:rPr>
              <a:t>Gibbs Free Energy- </a:t>
            </a:r>
            <a:r>
              <a:rPr lang="en-US" dirty="0">
                <a:solidFill>
                  <a:schemeClr val="tx1"/>
                </a:solidFill>
                <a:latin typeface="Times New Roman" panose="02020603050405020304" pitchFamily="18" charset="0"/>
                <a:cs typeface="Times New Roman" panose="02020603050405020304" pitchFamily="18" charset="0"/>
              </a:rPr>
              <a:t>Free energy change is a measure of the thermodynamic favorability (spontaneity) of a reaction.  It is the maximum </a:t>
            </a:r>
            <a:r>
              <a:rPr lang="en-US" dirty="0">
                <a:solidFill>
                  <a:srgbClr val="FF0000"/>
                </a:solidFill>
                <a:latin typeface="Times New Roman" panose="02020603050405020304" pitchFamily="18" charset="0"/>
                <a:cs typeface="Times New Roman" panose="02020603050405020304" pitchFamily="18" charset="0"/>
              </a:rPr>
              <a:t>work</a:t>
            </a:r>
            <a:r>
              <a:rPr lang="en-US" dirty="0">
                <a:solidFill>
                  <a:schemeClr val="tx1"/>
                </a:solidFill>
                <a:latin typeface="Times New Roman" panose="02020603050405020304" pitchFamily="18" charset="0"/>
                <a:cs typeface="Times New Roman" panose="02020603050405020304" pitchFamily="18" charset="0"/>
              </a:rPr>
              <a:t> available from the system.</a:t>
            </a:r>
          </a:p>
          <a:p>
            <a:r>
              <a:rPr lang="en-US" dirty="0">
                <a:latin typeface="Times New Roman" panose="02020603050405020304" pitchFamily="18" charset="0"/>
                <a:cs typeface="Times New Roman" panose="02020603050405020304" pitchFamily="18" charset="0"/>
              </a:rPr>
              <a:t>Determining the thermodynamic favorability of a reaction considers both enthalpy and entropy</a:t>
            </a:r>
          </a:p>
          <a:p>
            <a:r>
              <a:rPr lang="en-US" dirty="0">
                <a:latin typeface="Times New Roman" panose="02020603050405020304" pitchFamily="18" charset="0"/>
                <a:cs typeface="Times New Roman" panose="02020603050405020304" pitchFamily="18" charset="0"/>
              </a:rPr>
              <a:t>This is called the Gibbs-Helmholtz equation… or the Big Grampa </a:t>
            </a:r>
            <a:r>
              <a:rPr lang="en-US" dirty="0" err="1">
                <a:latin typeface="Times New Roman" panose="02020603050405020304" pitchFamily="18" charset="0"/>
                <a:cs typeface="Times New Roman" panose="02020603050405020304" pitchFamily="18" charset="0"/>
              </a:rPr>
              <a:t>Eqn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***When working this, change </a:t>
            </a:r>
            <a:r>
              <a:rPr lang="en-US"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S from J to kJ***</a:t>
            </a:r>
          </a:p>
        </p:txBody>
      </p:sp>
    </p:spTree>
    <p:extLst>
      <p:ext uri="{BB962C8B-B14F-4D97-AF65-F5344CB8AC3E}">
        <p14:creationId xmlns:p14="http://schemas.microsoft.com/office/powerpoint/2010/main" val="67618116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81639" y="1"/>
            <a:ext cx="10515600" cy="990600"/>
          </a:xfrm>
        </p:spPr>
        <p:txBody>
          <a:bodyPr/>
          <a:lstStyle/>
          <a:p>
            <a:pPr algn="ctr">
              <a:lnSpc>
                <a:spcPct val="70000"/>
              </a:lnSpc>
            </a:pPr>
            <a:r>
              <a:rPr lang="en-US" sz="3600" b="1" dirty="0">
                <a:latin typeface="Times New Roman" panose="02020603050405020304" pitchFamily="18" charset="0"/>
                <a:cs typeface="Times New Roman" panose="02020603050405020304" pitchFamily="18" charset="0"/>
              </a:rPr>
              <a:t>Thermodynamic Favorability (Spontaneity) </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is determined by the SIGN of </a:t>
            </a:r>
            <a:r>
              <a:rPr lang="en-US" b="1" dirty="0">
                <a:sym typeface="Symbol" pitchFamily="18" charset="2"/>
              </a:rPr>
              <a:t></a:t>
            </a:r>
            <a:r>
              <a:rPr lang="en-US" sz="3600" b="1" dirty="0">
                <a:latin typeface="Times New Roman" panose="02020603050405020304" pitchFamily="18" charset="0"/>
                <a:cs typeface="Times New Roman" panose="02020603050405020304" pitchFamily="18" charset="0"/>
              </a:rPr>
              <a:t>G</a:t>
            </a:r>
          </a:p>
        </p:txBody>
      </p:sp>
      <p:sp>
        <p:nvSpPr>
          <p:cNvPr id="2" name="Content Placeholder 1"/>
          <p:cNvSpPr>
            <a:spLocks noGrp="1"/>
          </p:cNvSpPr>
          <p:nvPr>
            <p:ph idx="1"/>
          </p:nvPr>
        </p:nvSpPr>
        <p:spPr>
          <a:xfrm>
            <a:off x="914400" y="1143000"/>
            <a:ext cx="10363200" cy="5486400"/>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A spontaneous (thermodynamically favored) reaction has a </a:t>
            </a:r>
            <a:r>
              <a:rPr lang="en-US" dirty="0">
                <a:solidFill>
                  <a:srgbClr val="FF0000"/>
                </a:solidFill>
                <a:latin typeface="Times New Roman" panose="02020603050405020304" pitchFamily="18" charset="0"/>
                <a:cs typeface="Times New Roman" panose="02020603050405020304" pitchFamily="18" charset="0"/>
              </a:rPr>
              <a:t>negative</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G&lt;0).  </a:t>
            </a:r>
          </a:p>
          <a:p>
            <a:r>
              <a:rPr lang="en-US" dirty="0">
                <a:latin typeface="Times New Roman" panose="02020603050405020304" pitchFamily="18" charset="0"/>
                <a:cs typeface="Times New Roman" panose="02020603050405020304" pitchFamily="18" charset="0"/>
              </a:rPr>
              <a:t>A nonspontaneous (thermodynamically NOT favored) reaction has a </a:t>
            </a:r>
            <a:r>
              <a:rPr lang="en-US" dirty="0">
                <a:solidFill>
                  <a:srgbClr val="FF0000"/>
                </a:solidFill>
                <a:latin typeface="Times New Roman" panose="02020603050405020304" pitchFamily="18" charset="0"/>
                <a:cs typeface="Times New Roman" panose="02020603050405020304" pitchFamily="18" charset="0"/>
              </a:rPr>
              <a:t>positive</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G&gt;0).</a:t>
            </a:r>
          </a:p>
          <a:p>
            <a:r>
              <a:rPr lang="en-US" dirty="0">
                <a:latin typeface="Times New Roman" panose="02020603050405020304" pitchFamily="18" charset="0"/>
                <a:cs typeface="Times New Roman" panose="02020603050405020304" pitchFamily="18" charset="0"/>
              </a:rPr>
              <a:t>A reaction </a:t>
            </a:r>
            <a:r>
              <a:rPr lang="en-US" dirty="0">
                <a:solidFill>
                  <a:srgbClr val="FF0000"/>
                </a:solidFill>
                <a:latin typeface="Times New Roman" panose="02020603050405020304" pitchFamily="18" charset="0"/>
                <a:cs typeface="Times New Roman" panose="02020603050405020304" pitchFamily="18" charset="0"/>
              </a:rPr>
              <a:t>at equilibrium </a:t>
            </a:r>
            <a:r>
              <a:rPr lang="en-US" dirty="0">
                <a:latin typeface="Times New Roman" panose="02020603050405020304" pitchFamily="18" charset="0"/>
                <a:cs typeface="Times New Roman" panose="02020603050405020304" pitchFamily="18" charset="0"/>
              </a:rPr>
              <a:t>(forward and backward </a:t>
            </a:r>
            <a:r>
              <a:rPr lang="en-US" dirty="0">
                <a:solidFill>
                  <a:srgbClr val="FF0000"/>
                </a:solidFill>
                <a:latin typeface="Times New Roman" panose="02020603050405020304" pitchFamily="18" charset="0"/>
                <a:cs typeface="Times New Roman" panose="02020603050405020304" pitchFamily="18" charset="0"/>
              </a:rPr>
              <a:t>equally</a:t>
            </a:r>
            <a:r>
              <a:rPr lang="en-US" dirty="0">
                <a:latin typeface="Times New Roman" panose="02020603050405020304" pitchFamily="18" charset="0"/>
                <a:cs typeface="Times New Roman" panose="02020603050405020304" pitchFamily="18" charset="0"/>
              </a:rPr>
              <a:t> favored) has a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G=0.</a:t>
            </a:r>
          </a:p>
          <a:p>
            <a:r>
              <a:rPr lang="en-US" dirty="0">
                <a:solidFill>
                  <a:srgbClr val="FF0000"/>
                </a:solidFill>
                <a:latin typeface="Times New Roman" panose="02020603050405020304" pitchFamily="18" charset="0"/>
                <a:cs typeface="Times New Roman" panose="02020603050405020304" pitchFamily="18" charset="0"/>
              </a:rPr>
              <a:t>Phase change </a:t>
            </a:r>
            <a:r>
              <a:rPr lang="en-US" dirty="0">
                <a:latin typeface="Times New Roman" panose="02020603050405020304" pitchFamily="18" charset="0"/>
                <a:cs typeface="Times New Roman" panose="02020603050405020304" pitchFamily="18" charset="0"/>
              </a:rPr>
              <a:t>is an example of a system at equilibrium- For example, when ice melts,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H &gt; 0 (endothermic),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S &gt; 0 and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 = 0 at 0°C.</a:t>
            </a:r>
          </a:p>
          <a:p>
            <a:endParaRPr lang="en-US" dirty="0">
              <a:latin typeface="Times New Roman" panose="02020603050405020304" pitchFamily="18" charset="0"/>
              <a:cs typeface="Times New Roman" panose="02020603050405020304" pitchFamily="18" charset="0"/>
            </a:endParaRPr>
          </a:p>
          <a:p>
            <a:r>
              <a:rPr lang="en-US" dirty="0">
                <a:solidFill>
                  <a:srgbClr val="FF0000"/>
                </a:solidFill>
                <a:latin typeface="Times New Roman" panose="02020603050405020304" pitchFamily="18" charset="0"/>
                <a:cs typeface="Times New Roman" panose="02020603050405020304" pitchFamily="18" charset="0"/>
              </a:rPr>
              <a:t>Kinetic Control- </a:t>
            </a:r>
            <a:r>
              <a:rPr lang="en-US" dirty="0">
                <a:latin typeface="Times New Roman" panose="02020603050405020304" pitchFamily="18" charset="0"/>
                <a:cs typeface="Times New Roman" panose="02020603050405020304" pitchFamily="18" charset="0"/>
              </a:rPr>
              <a:t>a reaction that has a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G&lt;0 is thermodynamically favorable, but the </a:t>
            </a:r>
            <a:r>
              <a:rPr lang="en-US" dirty="0">
                <a:solidFill>
                  <a:srgbClr val="FF0000"/>
                </a:solidFill>
                <a:latin typeface="Times New Roman" panose="02020603050405020304" pitchFamily="18" charset="0"/>
                <a:cs typeface="Times New Roman" panose="02020603050405020304" pitchFamily="18" charset="0"/>
              </a:rPr>
              <a:t>rate</a:t>
            </a:r>
            <a:r>
              <a:rPr lang="en-US" dirty="0">
                <a:latin typeface="Times New Roman" panose="02020603050405020304" pitchFamily="18" charset="0"/>
                <a:cs typeface="Times New Roman" panose="02020603050405020304" pitchFamily="18" charset="0"/>
              </a:rPr>
              <a:t> is not determined by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 This means that it may proceed very slowly, like rusting of metal, or some radioactive decay. Both are spontaneous, but slow because they are under ‘kinetic control’</a:t>
            </a:r>
            <a:endParaRPr lang="en-US" dirty="0"/>
          </a:p>
        </p:txBody>
      </p:sp>
    </p:spTree>
    <p:extLst>
      <p:ext uri="{BB962C8B-B14F-4D97-AF65-F5344CB8AC3E}">
        <p14:creationId xmlns:p14="http://schemas.microsoft.com/office/powerpoint/2010/main" val="42253445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1637929021"/>
              </p:ext>
            </p:extLst>
          </p:nvPr>
        </p:nvGraphicFramePr>
        <p:xfrm>
          <a:off x="1304925" y="1169126"/>
          <a:ext cx="10267950" cy="2863393"/>
        </p:xfrm>
        <a:graphic>
          <a:graphicData uri="http://schemas.openxmlformats.org/presentationml/2006/ole">
            <mc:AlternateContent xmlns:mc="http://schemas.openxmlformats.org/markup-compatibility/2006">
              <mc:Choice xmlns:v="urn:schemas-microsoft-com:vml" Requires="v">
                <p:oleObj spid="_x0000_s1051" name="Image" r:id="rId3" imgW="7639827" imgH="2130556" progId="">
                  <p:embed/>
                </p:oleObj>
              </mc:Choice>
              <mc:Fallback>
                <p:oleObj name="Image" r:id="rId3" imgW="7639827" imgH="2130556" progId="">
                  <p:embed/>
                  <p:pic>
                    <p:nvPicPr>
                      <p:cNvPr id="2"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4925" y="1169126"/>
                        <a:ext cx="10267950" cy="2863393"/>
                      </a:xfrm>
                      <a:prstGeom prst="rect">
                        <a:avLst/>
                      </a:prstGeom>
                      <a:noFill/>
                      <a:ln>
                        <a:noFill/>
                      </a:ln>
                      <a:extLst/>
                    </p:spPr>
                  </p:pic>
                </p:oleObj>
              </mc:Fallback>
            </mc:AlternateContent>
          </a:graphicData>
        </a:graphic>
      </p:graphicFrame>
      <p:sp>
        <p:nvSpPr>
          <p:cNvPr id="3" name="Title 2"/>
          <p:cNvSpPr>
            <a:spLocks noGrp="1"/>
          </p:cNvSpPr>
          <p:nvPr>
            <p:ph type="title"/>
          </p:nvPr>
        </p:nvSpPr>
        <p:spPr>
          <a:xfrm>
            <a:off x="914400" y="2177"/>
            <a:ext cx="10363200" cy="1143000"/>
          </a:xfrm>
        </p:spPr>
        <p:txBody>
          <a:bodyPr/>
          <a:lstStyle/>
          <a:p>
            <a:pPr algn="ctr"/>
            <a:r>
              <a:rPr lang="en-US" sz="4000" b="1" dirty="0">
                <a:solidFill>
                  <a:schemeClr val="tx1"/>
                </a:solidFill>
                <a:latin typeface="Times New Roman" panose="02020603050405020304" pitchFamily="18" charset="0"/>
                <a:cs typeface="Times New Roman" panose="02020603050405020304" pitchFamily="18" charset="0"/>
                <a:sym typeface="Symbol" pitchFamily="18" charset="2"/>
              </a:rPr>
              <a:t>Predicting thermodynamic favorability using </a:t>
            </a:r>
            <a:r>
              <a:rPr lang="en-US" sz="4000" b="1" i="1" dirty="0">
                <a:solidFill>
                  <a:schemeClr val="tx1"/>
                </a:solidFill>
                <a:latin typeface="Times New Roman" panose="02020603050405020304" pitchFamily="18" charset="0"/>
                <a:cs typeface="Times New Roman" panose="02020603050405020304" pitchFamily="18" charset="0"/>
              </a:rPr>
              <a:t>G</a:t>
            </a:r>
            <a:r>
              <a:rPr lang="en-US" sz="4000" b="1" dirty="0">
                <a:solidFill>
                  <a:schemeClr val="tx1"/>
                </a:solidFill>
                <a:latin typeface="Times New Roman" panose="02020603050405020304" pitchFamily="18" charset="0"/>
                <a:cs typeface="Times New Roman" panose="02020603050405020304" pitchFamily="18" charset="0"/>
              </a:rPr>
              <a:t> = </a:t>
            </a:r>
            <a:r>
              <a:rPr lang="en-US" sz="4000"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sz="4000" b="1" i="1" dirty="0">
                <a:solidFill>
                  <a:schemeClr val="tx1"/>
                </a:solidFill>
                <a:latin typeface="Times New Roman" panose="02020603050405020304" pitchFamily="18" charset="0"/>
                <a:cs typeface="Times New Roman" panose="02020603050405020304" pitchFamily="18" charset="0"/>
              </a:rPr>
              <a:t>H</a:t>
            </a:r>
            <a:r>
              <a:rPr lang="en-US" sz="4000" b="1" dirty="0">
                <a:solidFill>
                  <a:schemeClr val="tx1"/>
                </a:solidFill>
                <a:latin typeface="Times New Roman" panose="02020603050405020304" pitchFamily="18" charset="0"/>
                <a:cs typeface="Times New Roman" panose="02020603050405020304" pitchFamily="18" charset="0"/>
              </a:rPr>
              <a:t> -</a:t>
            </a:r>
            <a:r>
              <a:rPr lang="en-US" sz="4000" b="1" i="1" dirty="0">
                <a:solidFill>
                  <a:schemeClr val="tx1"/>
                </a:solidFill>
                <a:latin typeface="Times New Roman" panose="02020603050405020304" pitchFamily="18" charset="0"/>
                <a:cs typeface="Times New Roman" panose="02020603050405020304" pitchFamily="18" charset="0"/>
              </a:rPr>
              <a:t>T</a:t>
            </a:r>
            <a:r>
              <a:rPr lang="en-US" sz="4000"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sz="4000" b="1" i="1" dirty="0">
                <a:solidFill>
                  <a:schemeClr val="tx1"/>
                </a:solidFill>
                <a:latin typeface="Times New Roman" panose="02020603050405020304" pitchFamily="18" charset="0"/>
                <a:cs typeface="Times New Roman" panose="02020603050405020304" pitchFamily="18" charset="0"/>
              </a:rPr>
              <a:t>S</a:t>
            </a:r>
            <a:endParaRPr lang="en-US" sz="40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266700" y="4267200"/>
            <a:ext cx="11658600" cy="2308324"/>
          </a:xfrm>
          <a:prstGeom prst="rect">
            <a:avLst/>
          </a:prstGeom>
          <a:noFill/>
        </p:spPr>
        <p:txBody>
          <a:bodyPr wrap="square" rtlCol="0">
            <a:spAutoFit/>
          </a:bodyPr>
          <a:lstStyle/>
          <a:p>
            <a:pPr>
              <a:lnSpc>
                <a:spcPct val="150000"/>
              </a:lnSpc>
            </a:pPr>
            <a:r>
              <a:rPr lang="en-US" b="1" dirty="0"/>
              <a:t>What does spontaneous at all temperatures mean?		</a:t>
            </a:r>
          </a:p>
          <a:p>
            <a:pPr>
              <a:lnSpc>
                <a:spcPct val="150000"/>
              </a:lnSpc>
            </a:pPr>
            <a:r>
              <a:rPr lang="en-US" b="1" dirty="0"/>
              <a:t>What does spontaneous at no temperatures mean?</a:t>
            </a:r>
            <a:endParaRPr lang="en-US" dirty="0"/>
          </a:p>
          <a:p>
            <a:pPr>
              <a:lnSpc>
                <a:spcPct val="150000"/>
              </a:lnSpc>
            </a:pPr>
            <a:r>
              <a:rPr lang="en-US" b="1" dirty="0"/>
              <a:t>What does spontaneous at high temperatures mean?		</a:t>
            </a:r>
          </a:p>
          <a:p>
            <a:pPr>
              <a:lnSpc>
                <a:spcPct val="150000"/>
              </a:lnSpc>
            </a:pPr>
            <a:r>
              <a:rPr lang="en-US" b="1" dirty="0"/>
              <a:t>What does spontaneous at low temperatures mean?</a:t>
            </a:r>
            <a:endParaRPr lang="en-US" dirty="0"/>
          </a:p>
        </p:txBody>
      </p:sp>
    </p:spTree>
    <p:extLst>
      <p:ext uri="{BB962C8B-B14F-4D97-AF65-F5344CB8AC3E}">
        <p14:creationId xmlns:p14="http://schemas.microsoft.com/office/powerpoint/2010/main" val="21126107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a:xfrm>
            <a:off x="914400" y="-9427"/>
            <a:ext cx="10515600" cy="695227"/>
          </a:xfrm>
        </p:spPr>
        <p:txBody>
          <a:bodyPr>
            <a:normAutofit/>
          </a:bodyPr>
          <a:lstStyle/>
          <a:p>
            <a:pPr algn="ctr"/>
            <a:r>
              <a:rPr lang="en-US" sz="3200" b="1" dirty="0">
                <a:solidFill>
                  <a:schemeClr val="tx1"/>
                </a:solidFill>
                <a:latin typeface="Times New Roman" panose="02020603050405020304" pitchFamily="18" charset="0"/>
                <a:cs typeface="Times New Roman" panose="02020603050405020304" pitchFamily="18" charset="0"/>
                <a:sym typeface="Symbol" pitchFamily="18" charset="2"/>
              </a:rPr>
              <a:t>Calculating using </a:t>
            </a:r>
            <a:r>
              <a:rPr lang="en-US" sz="3200" b="1" i="1" dirty="0">
                <a:solidFill>
                  <a:schemeClr val="tx1"/>
                </a:solidFill>
                <a:latin typeface="Times New Roman" panose="02020603050405020304" pitchFamily="18" charset="0"/>
                <a:cs typeface="Times New Roman" panose="02020603050405020304" pitchFamily="18" charset="0"/>
              </a:rPr>
              <a:t>G</a:t>
            </a:r>
            <a:r>
              <a:rPr lang="en-US" sz="3200" b="1" dirty="0">
                <a:solidFill>
                  <a:schemeClr val="tx1"/>
                </a:solidFill>
                <a:latin typeface="Times New Roman" panose="02020603050405020304" pitchFamily="18" charset="0"/>
                <a:cs typeface="Times New Roman" panose="02020603050405020304" pitchFamily="18" charset="0"/>
              </a:rPr>
              <a:t> = </a:t>
            </a:r>
            <a:r>
              <a:rPr lang="en-US" sz="3200"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sz="3200" b="1" i="1" dirty="0">
                <a:solidFill>
                  <a:schemeClr val="tx1"/>
                </a:solidFill>
                <a:latin typeface="Times New Roman" panose="02020603050405020304" pitchFamily="18" charset="0"/>
                <a:cs typeface="Times New Roman" panose="02020603050405020304" pitchFamily="18" charset="0"/>
              </a:rPr>
              <a:t>H</a:t>
            </a:r>
            <a:r>
              <a:rPr lang="en-US" sz="3200" b="1" dirty="0">
                <a:solidFill>
                  <a:schemeClr val="tx1"/>
                </a:solidFill>
                <a:latin typeface="Times New Roman" panose="02020603050405020304" pitchFamily="18" charset="0"/>
                <a:cs typeface="Times New Roman" panose="02020603050405020304" pitchFamily="18" charset="0"/>
              </a:rPr>
              <a:t> -</a:t>
            </a:r>
            <a:r>
              <a:rPr lang="en-US" sz="3200" b="1" i="1" dirty="0">
                <a:solidFill>
                  <a:schemeClr val="tx1"/>
                </a:solidFill>
                <a:latin typeface="Times New Roman" panose="02020603050405020304" pitchFamily="18" charset="0"/>
                <a:cs typeface="Times New Roman" panose="02020603050405020304" pitchFamily="18" charset="0"/>
              </a:rPr>
              <a:t>T</a:t>
            </a:r>
            <a:r>
              <a:rPr lang="en-US" sz="3200"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sz="3200" b="1" i="1" dirty="0">
                <a:solidFill>
                  <a:schemeClr val="tx1"/>
                </a:solidFill>
                <a:latin typeface="Times New Roman" panose="02020603050405020304" pitchFamily="18" charset="0"/>
                <a:cs typeface="Times New Roman" panose="02020603050405020304" pitchFamily="18" charset="0"/>
              </a:rPr>
              <a:t>S</a:t>
            </a:r>
            <a:endParaRPr lang="en-US" sz="3200" dirty="0"/>
          </a:p>
        </p:txBody>
      </p:sp>
      <p:sp>
        <p:nvSpPr>
          <p:cNvPr id="15365" name="Rectangle 5"/>
          <p:cNvSpPr>
            <a:spLocks noGrp="1" noChangeArrowheads="1"/>
          </p:cNvSpPr>
          <p:nvPr>
            <p:ph idx="1"/>
          </p:nvPr>
        </p:nvSpPr>
        <p:spPr>
          <a:xfrm>
            <a:off x="228600" y="762000"/>
            <a:ext cx="11811000" cy="5867400"/>
          </a:xfrm>
        </p:spPr>
        <p:txBody>
          <a:bodyPr>
            <a:normAutofit fontScale="92500" lnSpcReduction="10000"/>
          </a:bodyPr>
          <a:lstStyle/>
          <a:p>
            <a:pPr>
              <a:buNone/>
            </a:pPr>
            <a:r>
              <a:rPr lang="en-US" sz="2400" dirty="0">
                <a:latin typeface="Times New Roman" panose="02020603050405020304" pitchFamily="18" charset="0"/>
                <a:cs typeface="Times New Roman" panose="02020603050405020304" pitchFamily="18" charset="0"/>
              </a:rPr>
              <a:t>Ex.  For the given reaction and the following information, calculate </a:t>
            </a:r>
            <a:r>
              <a:rPr lang="en-US" sz="2400" dirty="0">
                <a:latin typeface="Times New Roman" panose="02020603050405020304" pitchFamily="18" charset="0"/>
                <a:cs typeface="Times New Roman" panose="02020603050405020304" pitchFamily="18" charset="0"/>
                <a:sym typeface="Symbol" pitchFamily="18" charset="2"/>
              </a:rPr>
              <a:t></a:t>
            </a:r>
            <a:r>
              <a:rPr lang="en-US" sz="2400" i="1" dirty="0">
                <a:latin typeface="Times New Roman" panose="02020603050405020304" pitchFamily="18" charset="0"/>
                <a:cs typeface="Times New Roman" panose="02020603050405020304" pitchFamily="18" charset="0"/>
              </a:rPr>
              <a:t>G</a:t>
            </a:r>
            <a:r>
              <a:rPr lang="en-US" sz="2400" baseline="30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 at 25</a:t>
            </a:r>
            <a:r>
              <a:rPr lang="en-US" sz="2400" baseline="30000" dirty="0">
                <a:latin typeface="Times New Roman" panose="02020603050405020304" pitchFamily="18" charset="0"/>
                <a:cs typeface="Times New Roman" panose="02020603050405020304" pitchFamily="18" charset="0"/>
              </a:rPr>
              <a:t>o</a:t>
            </a:r>
            <a:r>
              <a:rPr lang="en-US" sz="2400" dirty="0">
                <a:latin typeface="Times New Roman" panose="02020603050405020304" pitchFamily="18" charset="0"/>
                <a:cs typeface="Times New Roman" panose="02020603050405020304" pitchFamily="18" charset="0"/>
              </a:rPr>
              <a:t>C.</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2PbO(</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+ 2SO</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 </a:t>
            </a:r>
            <a:r>
              <a:rPr lang="en-US" sz="2400" noProof="1">
                <a:latin typeface="Times New Roman" panose="02020603050405020304" pitchFamily="18" charset="0"/>
                <a:cs typeface="Times New Roman" panose="02020603050405020304" pitchFamily="18" charset="0"/>
                <a:sym typeface="Wingdings" pitchFamily="2" charset="2"/>
              </a:rPr>
              <a:t></a:t>
            </a:r>
            <a:r>
              <a:rPr lang="en-US" sz="2400" dirty="0">
                <a:latin typeface="Times New Roman" panose="02020603050405020304" pitchFamily="18" charset="0"/>
                <a:cs typeface="Times New Roman" panose="02020603050405020304" pitchFamily="18" charset="0"/>
              </a:rPr>
              <a:t> 2PbS(</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+ 3O</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a:t>
            </a:r>
          </a:p>
          <a:p>
            <a:pPr>
              <a:buNone/>
            </a:pP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sym typeface="Symbol" pitchFamily="18" charset="2"/>
              </a:rPr>
              <a:t></a:t>
            </a:r>
            <a:r>
              <a:rPr lang="en-US" sz="2400" i="1" u="sng" dirty="0">
                <a:latin typeface="Times New Roman" panose="02020603050405020304" pitchFamily="18" charset="0"/>
                <a:cs typeface="Times New Roman" panose="02020603050405020304" pitchFamily="18" charset="0"/>
              </a:rPr>
              <a:t>H</a:t>
            </a:r>
            <a:r>
              <a:rPr lang="en-US" sz="2400" u="sng" baseline="30000" dirty="0">
                <a:latin typeface="Times New Roman" panose="02020603050405020304" pitchFamily="18" charset="0"/>
                <a:cs typeface="Times New Roman" panose="02020603050405020304" pitchFamily="18" charset="0"/>
              </a:rPr>
              <a:t>o</a:t>
            </a:r>
            <a:r>
              <a:rPr lang="en-US" sz="2400" u="sng" dirty="0">
                <a:latin typeface="Times New Roman" panose="02020603050405020304" pitchFamily="18" charset="0"/>
                <a:cs typeface="Times New Roman" panose="02020603050405020304" pitchFamily="18" charset="0"/>
              </a:rPr>
              <a:t> (kJ/</a:t>
            </a:r>
            <a:r>
              <a:rPr lang="en-US" sz="2400" u="sng" dirty="0" err="1">
                <a:latin typeface="Times New Roman" panose="02020603050405020304" pitchFamily="18" charset="0"/>
                <a:cs typeface="Times New Roman" panose="02020603050405020304" pitchFamily="18" charset="0"/>
              </a:rPr>
              <a:t>mol</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a:t>
            </a:r>
            <a:r>
              <a:rPr lang="en-US" sz="2400" u="sng" dirty="0">
                <a:latin typeface="Times New Roman" panose="02020603050405020304" pitchFamily="18" charset="0"/>
                <a:cs typeface="Times New Roman" panose="02020603050405020304" pitchFamily="18" charset="0"/>
                <a:sym typeface="Symbol" pitchFamily="18" charset="2"/>
              </a:rPr>
              <a:t></a:t>
            </a:r>
            <a:r>
              <a:rPr lang="en-US" sz="2400" i="1" u="sng" dirty="0">
                <a:latin typeface="Times New Roman" panose="02020603050405020304" pitchFamily="18" charset="0"/>
                <a:cs typeface="Times New Roman" panose="02020603050405020304" pitchFamily="18" charset="0"/>
              </a:rPr>
              <a:t>S</a:t>
            </a:r>
            <a:r>
              <a:rPr lang="en-US" sz="2400" u="sng" baseline="30000" dirty="0">
                <a:latin typeface="Times New Roman" panose="02020603050405020304" pitchFamily="18" charset="0"/>
                <a:cs typeface="Times New Roman" panose="02020603050405020304" pitchFamily="18" charset="0"/>
              </a:rPr>
              <a:t>o</a:t>
            </a:r>
            <a:r>
              <a:rPr lang="en-US" sz="2400" u="sng" dirty="0">
                <a:latin typeface="Times New Roman" panose="02020603050405020304" pitchFamily="18" charset="0"/>
                <a:cs typeface="Times New Roman" panose="02020603050405020304" pitchFamily="18" charset="0"/>
              </a:rPr>
              <a:t> (J/</a:t>
            </a:r>
            <a:r>
              <a:rPr lang="en-US" sz="2400" u="sng" dirty="0" err="1">
                <a:latin typeface="Times New Roman" panose="02020603050405020304" pitchFamily="18" charset="0"/>
                <a:cs typeface="Times New Roman" panose="02020603050405020304" pitchFamily="18" charset="0"/>
              </a:rPr>
              <a:t>molK</a:t>
            </a:r>
            <a:r>
              <a:rPr lang="en-US" sz="2400" u="sng"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PbO</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sym typeface="Symbol" pitchFamily="18" charset="2"/>
              </a:rPr>
              <a:t></a:t>
            </a:r>
            <a:r>
              <a:rPr lang="en-US" sz="2400" dirty="0">
                <a:latin typeface="Times New Roman" panose="02020603050405020304" pitchFamily="18" charset="0"/>
                <a:cs typeface="Times New Roman" panose="02020603050405020304" pitchFamily="18" charset="0"/>
              </a:rPr>
              <a:t>218.0                        70.0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SO</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sym typeface="Symbol" pitchFamily="18" charset="2"/>
              </a:rPr>
              <a:t></a:t>
            </a:r>
            <a:r>
              <a:rPr lang="en-US" sz="2400" dirty="0">
                <a:latin typeface="Times New Roman" panose="02020603050405020304" pitchFamily="18" charset="0"/>
                <a:cs typeface="Times New Roman" panose="02020603050405020304" pitchFamily="18" charset="0"/>
              </a:rPr>
              <a:t>297.0                      248.0</a:t>
            </a:r>
            <a:br>
              <a:rPr lang="en-US" sz="2400" dirty="0">
                <a:latin typeface="Times New Roman" panose="02020603050405020304" pitchFamily="18" charset="0"/>
                <a:cs typeface="Times New Roman" panose="02020603050405020304" pitchFamily="18" charset="0"/>
              </a:rPr>
            </a:br>
            <a:r>
              <a:rPr lang="en-US" sz="2400" dirty="0" err="1">
                <a:latin typeface="Times New Roman" panose="02020603050405020304" pitchFamily="18" charset="0"/>
                <a:cs typeface="Times New Roman" panose="02020603050405020304" pitchFamily="18" charset="0"/>
              </a:rPr>
              <a:t>PbS</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s</a:t>
            </a:r>
            <a:r>
              <a:rPr lang="en-US"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sym typeface="Symbol" pitchFamily="18" charset="2"/>
              </a:rPr>
              <a:t></a:t>
            </a:r>
            <a:r>
              <a:rPr lang="en-US" sz="2400" dirty="0">
                <a:latin typeface="Times New Roman" panose="02020603050405020304" pitchFamily="18" charset="0"/>
                <a:cs typeface="Times New Roman" panose="02020603050405020304" pitchFamily="18" charset="0"/>
              </a:rPr>
              <a:t>100.0                       91.0</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O</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a:t>
            </a:r>
            <a:r>
              <a:rPr lang="en-US" sz="2400" i="1" dirty="0">
                <a:latin typeface="Times New Roman" panose="02020603050405020304" pitchFamily="18" charset="0"/>
                <a:cs typeface="Times New Roman" panose="02020603050405020304" pitchFamily="18" charset="0"/>
              </a:rPr>
              <a:t>g</a:t>
            </a:r>
            <a:r>
              <a:rPr lang="en-US" sz="2400" dirty="0">
                <a:latin typeface="Times New Roman" panose="02020603050405020304" pitchFamily="18" charset="0"/>
                <a:cs typeface="Times New Roman" panose="02020603050405020304" pitchFamily="18" charset="0"/>
              </a:rPr>
              <a:t>)              -----                          205.0</a:t>
            </a:r>
          </a:p>
          <a:p>
            <a:pPr>
              <a:buFontTx/>
              <a:buNone/>
            </a:pPr>
            <a:endParaRPr lang="en-US" sz="1800" dirty="0">
              <a:latin typeface="Times New Roman" panose="02020603050405020304" pitchFamily="18" charset="0"/>
              <a:cs typeface="Times New Roman" panose="02020603050405020304" pitchFamily="18" charset="0"/>
              <a:sym typeface="Symbol" pitchFamily="18" charset="2"/>
            </a:endParaRPr>
          </a:p>
          <a:p>
            <a:pPr>
              <a:buNone/>
            </a:pPr>
            <a:r>
              <a:rPr lang="en-US" sz="2400" dirty="0">
                <a:solidFill>
                  <a:schemeClr val="accent2"/>
                </a:solidFill>
                <a:latin typeface="Times New Roman" panose="02020603050405020304" pitchFamily="18" charset="0"/>
                <a:cs typeface="Times New Roman" panose="02020603050405020304" pitchFamily="18" charset="0"/>
                <a:sym typeface="Symbol" pitchFamily="18" charset="2"/>
              </a:rPr>
              <a:t></a:t>
            </a:r>
            <a:r>
              <a:rPr lang="en-US" sz="2400" dirty="0">
                <a:solidFill>
                  <a:schemeClr val="accent2"/>
                </a:solidFill>
                <a:latin typeface="Times New Roman" panose="02020603050405020304" pitchFamily="18" charset="0"/>
                <a:cs typeface="Times New Roman" panose="02020603050405020304" pitchFamily="18" charset="0"/>
              </a:rPr>
              <a:t>H</a:t>
            </a:r>
            <a:r>
              <a:rPr lang="en-US" sz="2400" baseline="30000" dirty="0">
                <a:solidFill>
                  <a:schemeClr val="accent2"/>
                </a:solidFill>
                <a:latin typeface="Times New Roman" panose="02020603050405020304" pitchFamily="18" charset="0"/>
                <a:cs typeface="Times New Roman" panose="02020603050405020304" pitchFamily="18" charset="0"/>
              </a:rPr>
              <a:t>o </a:t>
            </a:r>
            <a:r>
              <a:rPr lang="en-US" sz="2400" dirty="0">
                <a:solidFill>
                  <a:schemeClr val="accent2"/>
                </a:solidFill>
                <a:latin typeface="Times New Roman" panose="02020603050405020304" pitchFamily="18" charset="0"/>
                <a:cs typeface="Times New Roman" panose="02020603050405020304" pitchFamily="18" charset="0"/>
              </a:rPr>
              <a:t>= [2(-100.0)+3(0.0)] –[2(-218.0) + 2(-297.0)] = 830.0 kJ/</a:t>
            </a:r>
            <a:r>
              <a:rPr lang="en-US" sz="2400" dirty="0" err="1">
                <a:solidFill>
                  <a:schemeClr val="accent2"/>
                </a:solidFill>
                <a:latin typeface="Times New Roman" panose="02020603050405020304" pitchFamily="18" charset="0"/>
                <a:cs typeface="Times New Roman" panose="02020603050405020304" pitchFamily="18" charset="0"/>
              </a:rPr>
              <a:t>mol</a:t>
            </a:r>
            <a:r>
              <a:rPr lang="en-US" sz="2400" baseline="-25000" dirty="0" err="1">
                <a:solidFill>
                  <a:schemeClr val="accent2"/>
                </a:solidFill>
                <a:latin typeface="Times New Roman" panose="02020603050405020304" pitchFamily="18" charset="0"/>
                <a:cs typeface="Times New Roman" panose="02020603050405020304" pitchFamily="18" charset="0"/>
              </a:rPr>
              <a:t>rxn</a:t>
            </a:r>
            <a:endParaRPr lang="en-US" sz="2400" baseline="-25000" dirty="0">
              <a:solidFill>
                <a:schemeClr val="accent2"/>
              </a:solidFill>
              <a:latin typeface="Times New Roman" panose="02020603050405020304" pitchFamily="18" charset="0"/>
              <a:cs typeface="Times New Roman" panose="02020603050405020304" pitchFamily="18" charset="0"/>
            </a:endParaRPr>
          </a:p>
          <a:p>
            <a:pPr>
              <a:buNone/>
            </a:pPr>
            <a:r>
              <a:rPr lang="en-US" sz="2400" dirty="0">
                <a:solidFill>
                  <a:schemeClr val="accent2"/>
                </a:solidFill>
                <a:latin typeface="Times New Roman" panose="02020603050405020304" pitchFamily="18" charset="0"/>
                <a:cs typeface="Times New Roman" panose="02020603050405020304" pitchFamily="18" charset="0"/>
                <a:sym typeface="Symbol" pitchFamily="18" charset="2"/>
              </a:rPr>
              <a:t></a:t>
            </a:r>
            <a:r>
              <a:rPr lang="en-US" sz="2400" dirty="0">
                <a:solidFill>
                  <a:schemeClr val="accent2"/>
                </a:solidFill>
                <a:latin typeface="Times New Roman" panose="02020603050405020304" pitchFamily="18" charset="0"/>
                <a:cs typeface="Times New Roman" panose="02020603050405020304" pitchFamily="18" charset="0"/>
              </a:rPr>
              <a:t>S</a:t>
            </a:r>
            <a:r>
              <a:rPr lang="en-US" sz="2400" baseline="30000" dirty="0">
                <a:solidFill>
                  <a:schemeClr val="accent2"/>
                </a:solidFill>
                <a:latin typeface="Times New Roman" panose="02020603050405020304" pitchFamily="18" charset="0"/>
                <a:cs typeface="Times New Roman" panose="02020603050405020304" pitchFamily="18" charset="0"/>
              </a:rPr>
              <a:t>o </a:t>
            </a:r>
            <a:r>
              <a:rPr lang="en-US" sz="2400" dirty="0">
                <a:solidFill>
                  <a:schemeClr val="accent2"/>
                </a:solidFill>
                <a:latin typeface="Times New Roman" panose="02020603050405020304" pitchFamily="18" charset="0"/>
                <a:cs typeface="Times New Roman" panose="02020603050405020304" pitchFamily="18" charset="0"/>
              </a:rPr>
              <a:t>= [2(91.0)+3(205.0)] –[2(70.0) + 2(248.0)]=161.0 J/</a:t>
            </a:r>
            <a:r>
              <a:rPr lang="en-US" sz="2400" dirty="0" err="1">
                <a:solidFill>
                  <a:schemeClr val="accent2"/>
                </a:solidFill>
                <a:latin typeface="Times New Roman" panose="02020603050405020304" pitchFamily="18" charset="0"/>
                <a:cs typeface="Times New Roman" panose="02020603050405020304" pitchFamily="18" charset="0"/>
              </a:rPr>
              <a:t>K</a:t>
            </a:r>
            <a:r>
              <a:rPr lang="en-US" sz="2400" baseline="30000" dirty="0" err="1">
                <a:solidFill>
                  <a:schemeClr val="accent2"/>
                </a:solidFill>
                <a:latin typeface="Times New Roman" panose="02020603050405020304" pitchFamily="18" charset="0"/>
                <a:cs typeface="Times New Roman" panose="02020603050405020304" pitchFamily="18" charset="0"/>
              </a:rPr>
              <a:t>.</a:t>
            </a:r>
            <a:r>
              <a:rPr lang="en-US" sz="2400" dirty="0" err="1">
                <a:solidFill>
                  <a:schemeClr val="accent2"/>
                </a:solidFill>
                <a:latin typeface="Times New Roman" panose="02020603050405020304" pitchFamily="18" charset="0"/>
                <a:cs typeface="Times New Roman" panose="02020603050405020304" pitchFamily="18" charset="0"/>
              </a:rPr>
              <a:t>mol</a:t>
            </a:r>
            <a:r>
              <a:rPr lang="en-US" sz="2400" baseline="-25000" dirty="0" err="1">
                <a:solidFill>
                  <a:schemeClr val="accent2"/>
                </a:solidFill>
                <a:latin typeface="Times New Roman" panose="02020603050405020304" pitchFamily="18" charset="0"/>
                <a:cs typeface="Times New Roman" panose="02020603050405020304" pitchFamily="18" charset="0"/>
              </a:rPr>
              <a:t>rxn</a:t>
            </a:r>
            <a:r>
              <a:rPr lang="en-US" sz="2400" dirty="0">
                <a:solidFill>
                  <a:schemeClr val="accent2"/>
                </a:solidFill>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0.161 kJ/</a:t>
            </a:r>
            <a:r>
              <a:rPr lang="en-US" sz="2400" dirty="0" err="1">
                <a:solidFill>
                  <a:srgbClr val="FF0000"/>
                </a:solidFill>
                <a:latin typeface="Times New Roman" panose="02020603050405020304" pitchFamily="18" charset="0"/>
                <a:cs typeface="Times New Roman" panose="02020603050405020304" pitchFamily="18" charset="0"/>
              </a:rPr>
              <a:t>K</a:t>
            </a:r>
            <a:r>
              <a:rPr lang="en-US" sz="2400" baseline="30000" dirty="0" err="1">
                <a:solidFill>
                  <a:srgbClr val="FF0000"/>
                </a:solidFill>
                <a:latin typeface="Times New Roman" panose="02020603050405020304" pitchFamily="18" charset="0"/>
                <a:cs typeface="Times New Roman" panose="02020603050405020304" pitchFamily="18" charset="0"/>
              </a:rPr>
              <a:t>.</a:t>
            </a:r>
            <a:r>
              <a:rPr lang="en-US" sz="2400" dirty="0" err="1">
                <a:solidFill>
                  <a:srgbClr val="FF0000"/>
                </a:solidFill>
                <a:latin typeface="Times New Roman" panose="02020603050405020304" pitchFamily="18" charset="0"/>
                <a:cs typeface="Times New Roman" panose="02020603050405020304" pitchFamily="18" charset="0"/>
              </a:rPr>
              <a:t>mol</a:t>
            </a:r>
            <a:r>
              <a:rPr lang="en-US" sz="2400" baseline="-25000" dirty="0" err="1">
                <a:solidFill>
                  <a:srgbClr val="FF0000"/>
                </a:solidFill>
                <a:latin typeface="Times New Roman" panose="02020603050405020304" pitchFamily="18" charset="0"/>
                <a:cs typeface="Times New Roman" panose="02020603050405020304" pitchFamily="18" charset="0"/>
              </a:rPr>
              <a:t>rxn</a:t>
            </a:r>
            <a:endParaRPr lang="en-US" sz="2400" baseline="-25000" dirty="0">
              <a:solidFill>
                <a:srgbClr val="FF0000"/>
              </a:solidFill>
              <a:latin typeface="Times New Roman" panose="02020603050405020304" pitchFamily="18" charset="0"/>
              <a:cs typeface="Times New Roman" panose="02020603050405020304" pitchFamily="18" charset="0"/>
            </a:endParaRPr>
          </a:p>
          <a:p>
            <a:pPr>
              <a:buNone/>
            </a:pPr>
            <a:endParaRPr lang="en-US" sz="2800" baseline="-25000" dirty="0">
              <a:solidFill>
                <a:schemeClr val="accent2"/>
              </a:solidFill>
              <a:latin typeface="Times New Roman" panose="02020603050405020304" pitchFamily="18" charset="0"/>
              <a:cs typeface="Times New Roman" panose="02020603050405020304" pitchFamily="18" charset="0"/>
            </a:endParaRPr>
          </a:p>
          <a:p>
            <a:pPr>
              <a:buFontTx/>
              <a:buNone/>
            </a:pPr>
            <a:r>
              <a:rPr lang="en-US" sz="2800" b="1" dirty="0">
                <a:latin typeface="Times New Roman" panose="02020603050405020304" pitchFamily="18" charset="0"/>
                <a:cs typeface="Times New Roman" panose="02020603050405020304" pitchFamily="18" charset="0"/>
                <a:sym typeface="Symbol" pitchFamily="18" charset="2"/>
              </a:rPr>
              <a:t></a:t>
            </a:r>
            <a:r>
              <a:rPr lang="en-US" sz="2800" b="1" i="1" dirty="0">
                <a:latin typeface="Times New Roman" panose="02020603050405020304" pitchFamily="18" charset="0"/>
                <a:cs typeface="Times New Roman" panose="02020603050405020304" pitchFamily="18" charset="0"/>
              </a:rPr>
              <a:t>G</a:t>
            </a:r>
            <a:r>
              <a:rPr lang="en-US" sz="2800" b="1" dirty="0">
                <a:latin typeface="Times New Roman" panose="02020603050405020304" pitchFamily="18" charset="0"/>
                <a:cs typeface="Times New Roman" panose="02020603050405020304" pitchFamily="18" charset="0"/>
              </a:rPr>
              <a:t> = </a:t>
            </a:r>
            <a:r>
              <a:rPr lang="en-US" sz="2800" b="1" dirty="0">
                <a:latin typeface="Times New Roman" panose="02020603050405020304" pitchFamily="18" charset="0"/>
                <a:cs typeface="Times New Roman" panose="02020603050405020304" pitchFamily="18" charset="0"/>
                <a:sym typeface="Symbol" pitchFamily="18" charset="2"/>
              </a:rPr>
              <a:t></a:t>
            </a:r>
            <a:r>
              <a:rPr lang="en-US" sz="2800" b="1" i="1" dirty="0">
                <a:latin typeface="Times New Roman" panose="02020603050405020304" pitchFamily="18" charset="0"/>
                <a:cs typeface="Times New Roman" panose="02020603050405020304" pitchFamily="18" charset="0"/>
              </a:rPr>
              <a:t>H</a:t>
            </a:r>
            <a:r>
              <a:rPr lang="en-US" sz="2800" b="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T</a:t>
            </a:r>
            <a:r>
              <a:rPr lang="en-US" sz="2800" b="1" dirty="0">
                <a:latin typeface="Times New Roman" panose="02020603050405020304" pitchFamily="18" charset="0"/>
                <a:cs typeface="Times New Roman" panose="02020603050405020304" pitchFamily="18" charset="0"/>
                <a:sym typeface="Symbol" pitchFamily="18" charset="2"/>
              </a:rPr>
              <a:t></a:t>
            </a:r>
            <a:r>
              <a:rPr lang="en-US" sz="2800" b="1" i="1" dirty="0">
                <a:latin typeface="Times New Roman" panose="02020603050405020304" pitchFamily="18" charset="0"/>
                <a:cs typeface="Times New Roman" panose="02020603050405020304" pitchFamily="18" charset="0"/>
              </a:rPr>
              <a:t>S = 830.0 – (298)</a:t>
            </a:r>
            <a:r>
              <a:rPr lang="en-US" sz="2800" baseline="30000" dirty="0">
                <a:solidFill>
                  <a:srgbClr val="FF0000"/>
                </a:solidFill>
                <a:latin typeface="Times New Roman" panose="02020603050405020304" pitchFamily="18" charset="0"/>
                <a:cs typeface="Times New Roman" panose="02020603050405020304" pitchFamily="18" charset="0"/>
              </a:rPr>
              <a:t> </a:t>
            </a:r>
            <a:r>
              <a:rPr lang="en-US" sz="2800" b="1" i="1" baseline="30000" dirty="0">
                <a:latin typeface="Times New Roman" panose="02020603050405020304" pitchFamily="18" charset="0"/>
                <a:cs typeface="Times New Roman" panose="02020603050405020304" pitchFamily="18" charset="0"/>
              </a:rPr>
              <a:t>.</a:t>
            </a:r>
            <a:r>
              <a:rPr lang="en-US" sz="2800" b="1" i="1" dirty="0">
                <a:latin typeface="Times New Roman" panose="02020603050405020304" pitchFamily="18" charset="0"/>
                <a:cs typeface="Times New Roman" panose="02020603050405020304" pitchFamily="18" charset="0"/>
              </a:rPr>
              <a:t>0.161 = 782 kJ/</a:t>
            </a:r>
            <a:r>
              <a:rPr lang="en-US" sz="2800" b="1" i="1" dirty="0" err="1">
                <a:latin typeface="Times New Roman" panose="02020603050405020304" pitchFamily="18" charset="0"/>
                <a:cs typeface="Times New Roman" panose="02020603050405020304" pitchFamily="18" charset="0"/>
              </a:rPr>
              <a:t>mol</a:t>
            </a:r>
            <a:endParaRPr lang="en-US" sz="2800" b="1" i="1" dirty="0">
              <a:latin typeface="Times New Roman" panose="02020603050405020304" pitchFamily="18" charset="0"/>
              <a:cs typeface="Times New Roman" panose="02020603050405020304" pitchFamily="18" charset="0"/>
            </a:endParaRPr>
          </a:p>
          <a:p>
            <a:pPr>
              <a:buFontTx/>
              <a:buNone/>
            </a:pPr>
            <a:endParaRPr lang="en-US" sz="2800" b="1" i="1" dirty="0">
              <a:latin typeface="Times New Roman" panose="02020603050405020304" pitchFamily="18" charset="0"/>
              <a:cs typeface="Times New Roman" panose="02020603050405020304" pitchFamily="18" charset="0"/>
            </a:endParaRPr>
          </a:p>
          <a:p>
            <a:pPr>
              <a:buFontTx/>
              <a:buNone/>
            </a:pPr>
            <a:r>
              <a:rPr lang="en-US" sz="2400" b="1" i="1" dirty="0">
                <a:latin typeface="Times New Roman" panose="02020603050405020304" pitchFamily="18" charset="0"/>
                <a:cs typeface="Times New Roman" panose="02020603050405020304" pitchFamily="18" charset="0"/>
                <a:sym typeface="Symbol" pitchFamily="18" charset="2"/>
              </a:rPr>
              <a:t>Spontaneous? 		 </a:t>
            </a:r>
          </a:p>
          <a:p>
            <a:pPr>
              <a:buFontTx/>
              <a:buNone/>
            </a:pPr>
            <a:r>
              <a:rPr lang="en-US" sz="2400" b="1" i="1" dirty="0">
                <a:latin typeface="Times New Roman" panose="02020603050405020304" pitchFamily="18" charset="0"/>
                <a:cs typeface="Times New Roman" panose="02020603050405020304" pitchFamily="18" charset="0"/>
                <a:sym typeface="Symbol" pitchFamily="18" charset="2"/>
              </a:rPr>
              <a:t>Spontaneous under any conditions? </a:t>
            </a:r>
          </a:p>
        </p:txBody>
      </p:sp>
      <p:sp>
        <p:nvSpPr>
          <p:cNvPr id="2" name="TextBox 1"/>
          <p:cNvSpPr txBox="1"/>
          <p:nvPr/>
        </p:nvSpPr>
        <p:spPr>
          <a:xfrm>
            <a:off x="2209800" y="5410200"/>
            <a:ext cx="1601721" cy="461665"/>
          </a:xfrm>
          <a:prstGeom prst="rect">
            <a:avLst/>
          </a:prstGeom>
          <a:noFill/>
        </p:spPr>
        <p:txBody>
          <a:bodyPr wrap="none" rtlCol="0">
            <a:spAutoFit/>
          </a:bodyPr>
          <a:lstStyle/>
          <a:p>
            <a:r>
              <a:rPr lang="en-US" b="1" i="1" dirty="0">
                <a:cs typeface="Times New Roman" panose="02020603050405020304" pitchFamily="18" charset="0"/>
                <a:sym typeface="Symbol" pitchFamily="18" charset="2"/>
              </a:rPr>
              <a:t>NO, </a:t>
            </a:r>
            <a:r>
              <a:rPr lang="en-US" b="1" dirty="0">
                <a:cs typeface="Times New Roman" panose="02020603050405020304" pitchFamily="18" charset="0"/>
                <a:sym typeface="Symbol" pitchFamily="18" charset="2"/>
              </a:rPr>
              <a:t></a:t>
            </a:r>
            <a:r>
              <a:rPr lang="en-US" b="1" i="1" dirty="0">
                <a:cs typeface="Times New Roman" panose="02020603050405020304" pitchFamily="18" charset="0"/>
              </a:rPr>
              <a:t>G</a:t>
            </a:r>
            <a:r>
              <a:rPr lang="en-US" b="1" dirty="0">
                <a:cs typeface="Times New Roman" panose="02020603050405020304" pitchFamily="18" charset="0"/>
              </a:rPr>
              <a:t> </a:t>
            </a:r>
            <a:r>
              <a:rPr lang="en-US" b="1" i="1" dirty="0">
                <a:cs typeface="Times New Roman" panose="02020603050405020304" pitchFamily="18" charset="0"/>
                <a:sym typeface="Symbol" pitchFamily="18" charset="2"/>
              </a:rPr>
              <a:t>&gt;0</a:t>
            </a:r>
            <a:endParaRPr lang="en-US" dirty="0"/>
          </a:p>
        </p:txBody>
      </p:sp>
      <p:sp>
        <p:nvSpPr>
          <p:cNvPr id="3" name="TextBox 2"/>
          <p:cNvSpPr txBox="1"/>
          <p:nvPr/>
        </p:nvSpPr>
        <p:spPr>
          <a:xfrm>
            <a:off x="4674679" y="5791200"/>
            <a:ext cx="2162900" cy="461665"/>
          </a:xfrm>
          <a:prstGeom prst="rect">
            <a:avLst/>
          </a:prstGeom>
          <a:noFill/>
        </p:spPr>
        <p:txBody>
          <a:bodyPr wrap="none" rtlCol="0">
            <a:spAutoFit/>
          </a:bodyPr>
          <a:lstStyle/>
          <a:p>
            <a:r>
              <a:rPr lang="en-US" b="1" i="1" dirty="0">
                <a:cs typeface="Times New Roman" panose="02020603050405020304" pitchFamily="18" charset="0"/>
                <a:sym typeface="Symbol" pitchFamily="18" charset="2"/>
              </a:rPr>
              <a:t>Yes, High Temp</a:t>
            </a:r>
          </a:p>
        </p:txBody>
      </p:sp>
    </p:spTree>
    <p:extLst>
      <p:ext uri="{BB962C8B-B14F-4D97-AF65-F5344CB8AC3E}">
        <p14:creationId xmlns:p14="http://schemas.microsoft.com/office/powerpoint/2010/main" val="3758427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6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536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536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36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5365">
                                            <p:txEl>
                                              <p:pRg st="8" end="8"/>
                                            </p:txEl>
                                          </p:spTgt>
                                        </p:tgtEl>
                                        <p:attrNameLst>
                                          <p:attrName>style.visibility</p:attrName>
                                        </p:attrNameLst>
                                      </p:cBhvr>
                                      <p:to>
                                        <p:strVal val="visible"/>
                                      </p:to>
                                    </p:set>
                                    <p:animEffect transition="in" filter="fade">
                                      <p:cBhvr>
                                        <p:cTn id="25" dur="500"/>
                                        <p:tgtEl>
                                          <p:spTgt spid="15365">
                                            <p:txEl>
                                              <p:pRg st="8" end="8"/>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2"/>
                                        </p:tgtEl>
                                        <p:attrNameLst>
                                          <p:attrName>style.visibility</p:attrName>
                                        </p:attrNameLst>
                                      </p:cBhvr>
                                      <p:to>
                                        <p:strVal val="visible"/>
                                      </p:to>
                                    </p:set>
                                    <p:animEffect transition="in" filter="fade">
                                      <p:cBhvr>
                                        <p:cTn id="30" dur="500"/>
                                        <p:tgtEl>
                                          <p:spTgt spid="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365">
                                            <p:txEl>
                                              <p:pRg st="9" end="9"/>
                                            </p:txEl>
                                          </p:spTgt>
                                        </p:tgtEl>
                                        <p:attrNameLst>
                                          <p:attrName>style.visibility</p:attrName>
                                        </p:attrNameLst>
                                      </p:cBhvr>
                                      <p:to>
                                        <p:strVal val="visible"/>
                                      </p:to>
                                    </p:set>
                                    <p:animEffect transition="in" filter="fade">
                                      <p:cBhvr>
                                        <p:cTn id="35" dur="500"/>
                                        <p:tgtEl>
                                          <p:spTgt spid="1536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uiExpand="1" build="p" autoUpdateAnimBg="0"/>
      <p:bldP spid="2" grpId="0"/>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4"/>
          <p:cNvSpPr>
            <a:spLocks noGrp="1" noChangeArrowheads="1"/>
          </p:cNvSpPr>
          <p:nvPr>
            <p:ph type="title"/>
          </p:nvPr>
        </p:nvSpPr>
        <p:spPr>
          <a:xfrm>
            <a:off x="843699" y="1"/>
            <a:ext cx="10515600" cy="914399"/>
          </a:xfrm>
        </p:spPr>
        <p:txBody>
          <a:bodyPr>
            <a:normAutofit/>
          </a:bodyPr>
          <a:lstStyle/>
          <a:p>
            <a:pPr algn="ctr"/>
            <a:r>
              <a:rPr lang="en-US" sz="4000" b="1" dirty="0">
                <a:solidFill>
                  <a:schemeClr val="tx1"/>
                </a:solidFill>
                <a:latin typeface="Times New Roman" panose="02020603050405020304" pitchFamily="18" charset="0"/>
                <a:cs typeface="Times New Roman" panose="02020603050405020304" pitchFamily="18" charset="0"/>
                <a:sym typeface="Symbol" pitchFamily="18" charset="2"/>
              </a:rPr>
              <a:t>Calculating using </a:t>
            </a:r>
            <a:r>
              <a:rPr lang="en-US" sz="4000" b="1" i="1" dirty="0">
                <a:solidFill>
                  <a:schemeClr val="tx1"/>
                </a:solidFill>
                <a:latin typeface="Times New Roman" panose="02020603050405020304" pitchFamily="18" charset="0"/>
                <a:cs typeface="Times New Roman" panose="02020603050405020304" pitchFamily="18" charset="0"/>
              </a:rPr>
              <a:t>G</a:t>
            </a:r>
            <a:r>
              <a:rPr lang="en-US" sz="4000" b="1" dirty="0">
                <a:solidFill>
                  <a:schemeClr val="tx1"/>
                </a:solidFill>
                <a:latin typeface="Times New Roman" panose="02020603050405020304" pitchFamily="18" charset="0"/>
                <a:cs typeface="Times New Roman" panose="02020603050405020304" pitchFamily="18" charset="0"/>
              </a:rPr>
              <a:t> = </a:t>
            </a:r>
            <a:r>
              <a:rPr lang="en-US" sz="4000"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sz="4000" b="1" i="1" dirty="0">
                <a:solidFill>
                  <a:schemeClr val="tx1"/>
                </a:solidFill>
                <a:latin typeface="Times New Roman" panose="02020603050405020304" pitchFamily="18" charset="0"/>
                <a:cs typeface="Times New Roman" panose="02020603050405020304" pitchFamily="18" charset="0"/>
              </a:rPr>
              <a:t>H</a:t>
            </a:r>
            <a:r>
              <a:rPr lang="en-US" sz="4000" b="1" dirty="0">
                <a:solidFill>
                  <a:schemeClr val="tx1"/>
                </a:solidFill>
                <a:latin typeface="Times New Roman" panose="02020603050405020304" pitchFamily="18" charset="0"/>
                <a:cs typeface="Times New Roman" panose="02020603050405020304" pitchFamily="18" charset="0"/>
              </a:rPr>
              <a:t> -</a:t>
            </a:r>
            <a:r>
              <a:rPr lang="en-US" sz="4000" b="1" i="1" dirty="0">
                <a:solidFill>
                  <a:schemeClr val="tx1"/>
                </a:solidFill>
                <a:latin typeface="Times New Roman" panose="02020603050405020304" pitchFamily="18" charset="0"/>
                <a:cs typeface="Times New Roman" panose="02020603050405020304" pitchFamily="18" charset="0"/>
              </a:rPr>
              <a:t>T</a:t>
            </a:r>
            <a:r>
              <a:rPr lang="en-US" sz="4000" b="1"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sz="4000" b="1" i="1" dirty="0">
                <a:solidFill>
                  <a:schemeClr val="tx1"/>
                </a:solidFill>
                <a:latin typeface="Times New Roman" panose="02020603050405020304" pitchFamily="18" charset="0"/>
                <a:cs typeface="Times New Roman" panose="02020603050405020304" pitchFamily="18" charset="0"/>
              </a:rPr>
              <a:t>S</a:t>
            </a:r>
            <a:endParaRPr lang="en-US" sz="4000" dirty="0"/>
          </a:p>
        </p:txBody>
      </p:sp>
      <p:sp>
        <p:nvSpPr>
          <p:cNvPr id="15365" name="Rectangle 5"/>
          <p:cNvSpPr>
            <a:spLocks noGrp="1" noChangeArrowheads="1"/>
          </p:cNvSpPr>
          <p:nvPr>
            <p:ph idx="1"/>
          </p:nvPr>
        </p:nvSpPr>
        <p:spPr>
          <a:xfrm>
            <a:off x="457200" y="1143000"/>
            <a:ext cx="11125200" cy="5486400"/>
          </a:xfrm>
        </p:spPr>
        <p:txBody>
          <a:bodyPr>
            <a:normAutofit fontScale="85000" lnSpcReduction="20000"/>
          </a:bodyPr>
          <a:lstStyle/>
          <a:p>
            <a:pPr>
              <a:buNone/>
            </a:pPr>
            <a:r>
              <a:rPr lang="en-US" dirty="0">
                <a:latin typeface="Times New Roman" panose="02020603050405020304" pitchFamily="18" charset="0"/>
                <a:cs typeface="Times New Roman" panose="02020603050405020304" pitchFamily="18" charset="0"/>
              </a:rPr>
              <a:t>Ex.  For the given reaction and the following information, calculate </a:t>
            </a: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G</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at 25</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C.</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2PbO(</a:t>
            </a:r>
            <a:r>
              <a:rPr lang="en-US" i="1"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+ 2SO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 </a:t>
            </a:r>
            <a:r>
              <a:rPr lang="en-US" noProof="1">
                <a:latin typeface="Times New Roman" panose="02020603050405020304" pitchFamily="18" charset="0"/>
                <a:cs typeface="Times New Roman" panose="02020603050405020304" pitchFamily="18" charset="0"/>
                <a:sym typeface="Wingdings" pitchFamily="2" charset="2"/>
              </a:rPr>
              <a:t></a:t>
            </a:r>
            <a:r>
              <a:rPr lang="en-US" dirty="0">
                <a:latin typeface="Times New Roman" panose="02020603050405020304" pitchFamily="18" charset="0"/>
                <a:cs typeface="Times New Roman" panose="02020603050405020304" pitchFamily="18" charset="0"/>
              </a:rPr>
              <a:t> 2PbS(</a:t>
            </a:r>
            <a:r>
              <a:rPr lang="en-US" i="1"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+ 3O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a:t>
            </a:r>
          </a:p>
          <a:p>
            <a:pPr>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sym typeface="Symbol" pitchFamily="18" charset="2"/>
              </a:rPr>
              <a:t></a:t>
            </a:r>
            <a:r>
              <a:rPr lang="en-US" i="1" u="sng" dirty="0">
                <a:latin typeface="Times New Roman" panose="02020603050405020304" pitchFamily="18" charset="0"/>
                <a:cs typeface="Times New Roman" panose="02020603050405020304" pitchFamily="18" charset="0"/>
              </a:rPr>
              <a:t>H</a:t>
            </a:r>
            <a:r>
              <a:rPr lang="en-US" u="sng" baseline="30000" dirty="0">
                <a:latin typeface="Times New Roman" panose="02020603050405020304" pitchFamily="18" charset="0"/>
                <a:cs typeface="Times New Roman" panose="02020603050405020304" pitchFamily="18" charset="0"/>
              </a:rPr>
              <a:t>o</a:t>
            </a:r>
            <a:r>
              <a:rPr lang="en-US" u="sng" dirty="0">
                <a:latin typeface="Times New Roman" panose="02020603050405020304" pitchFamily="18" charset="0"/>
                <a:cs typeface="Times New Roman" panose="02020603050405020304" pitchFamily="18" charset="0"/>
              </a:rPr>
              <a:t> (kJ/</a:t>
            </a:r>
            <a:r>
              <a:rPr lang="en-US" u="sng" dirty="0" err="1">
                <a:latin typeface="Times New Roman" panose="02020603050405020304" pitchFamily="18" charset="0"/>
                <a:cs typeface="Times New Roman" panose="02020603050405020304" pitchFamily="18" charset="0"/>
              </a:rPr>
              <a:t>mol</a:t>
            </a:r>
            <a:r>
              <a:rPr lang="en-US" u="sng"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sym typeface="Symbol" pitchFamily="18" charset="2"/>
              </a:rPr>
              <a:t></a:t>
            </a:r>
            <a:r>
              <a:rPr lang="en-US" i="1" u="sng" dirty="0">
                <a:latin typeface="Times New Roman" panose="02020603050405020304" pitchFamily="18" charset="0"/>
                <a:cs typeface="Times New Roman" panose="02020603050405020304" pitchFamily="18" charset="0"/>
              </a:rPr>
              <a:t>S</a:t>
            </a:r>
            <a:r>
              <a:rPr lang="en-US" u="sng" baseline="30000" dirty="0">
                <a:latin typeface="Times New Roman" panose="02020603050405020304" pitchFamily="18" charset="0"/>
                <a:cs typeface="Times New Roman" panose="02020603050405020304" pitchFamily="18" charset="0"/>
              </a:rPr>
              <a:t>o</a:t>
            </a:r>
            <a:r>
              <a:rPr lang="en-US" u="sng" dirty="0">
                <a:latin typeface="Times New Roman" panose="02020603050405020304" pitchFamily="18" charset="0"/>
                <a:cs typeface="Times New Roman" panose="02020603050405020304" pitchFamily="18" charset="0"/>
              </a:rPr>
              <a:t> (J/</a:t>
            </a:r>
            <a:r>
              <a:rPr lang="en-US" u="sng" dirty="0" err="1">
                <a:latin typeface="Times New Roman" panose="02020603050405020304" pitchFamily="18" charset="0"/>
                <a:cs typeface="Times New Roman" panose="02020603050405020304" pitchFamily="18" charset="0"/>
              </a:rPr>
              <a:t>molK</a:t>
            </a:r>
            <a:r>
              <a:rPr lang="en-US" u="sng"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PbO</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218.0                        70.0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297.0                      248.0</a:t>
            </a:r>
            <a:br>
              <a:rPr lang="en-US" dirty="0">
                <a:latin typeface="Times New Roman" panose="02020603050405020304" pitchFamily="18" charset="0"/>
                <a:cs typeface="Times New Roman" panose="02020603050405020304" pitchFamily="18" charset="0"/>
              </a:rPr>
            </a:br>
            <a:r>
              <a:rPr lang="en-US" dirty="0" err="1">
                <a:latin typeface="Times New Roman" panose="02020603050405020304" pitchFamily="18" charset="0"/>
                <a:cs typeface="Times New Roman" panose="02020603050405020304" pitchFamily="18" charset="0"/>
              </a:rPr>
              <a:t>PbS</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100.0                       91.0</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a:t>
            </a:r>
            <a:r>
              <a:rPr lang="en-US" baseline="-25000" dirty="0">
                <a:latin typeface="Times New Roman" panose="02020603050405020304" pitchFamily="18" charset="0"/>
                <a:cs typeface="Times New Roman" panose="02020603050405020304" pitchFamily="18" charset="0"/>
              </a:rPr>
              <a:t>2</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              -----                          205.0</a:t>
            </a:r>
          </a:p>
          <a:p>
            <a:pPr>
              <a:buFontTx/>
              <a:buNone/>
            </a:pPr>
            <a:endParaRPr lang="en-US" sz="3600" dirty="0">
              <a:latin typeface="Times New Roman" panose="02020603050405020304" pitchFamily="18" charset="0"/>
              <a:cs typeface="Times New Roman" panose="02020603050405020304" pitchFamily="18" charset="0"/>
              <a:sym typeface="Symbol" pitchFamily="18" charset="2"/>
            </a:endParaRPr>
          </a:p>
          <a:p>
            <a:pPr>
              <a:buFontTx/>
              <a:buNone/>
            </a:pPr>
            <a:r>
              <a:rPr lang="en-US" sz="3600" dirty="0">
                <a:latin typeface="Times New Roman" panose="02020603050405020304" pitchFamily="18" charset="0"/>
                <a:cs typeface="Times New Roman" panose="02020603050405020304" pitchFamily="18" charset="0"/>
                <a:sym typeface="Symbol" pitchFamily="18" charset="2"/>
              </a:rPr>
              <a:t></a:t>
            </a:r>
            <a:r>
              <a:rPr lang="en-US" sz="2600" i="1" dirty="0">
                <a:latin typeface="Times New Roman" panose="02020603050405020304" pitchFamily="18" charset="0"/>
                <a:cs typeface="Times New Roman" panose="02020603050405020304" pitchFamily="18" charset="0"/>
              </a:rPr>
              <a:t>H</a:t>
            </a:r>
            <a:r>
              <a:rPr lang="en-US" sz="2600" baseline="30000" dirty="0">
                <a:latin typeface="Times New Roman" panose="02020603050405020304" pitchFamily="18" charset="0"/>
                <a:cs typeface="Times New Roman" panose="02020603050405020304" pitchFamily="18" charset="0"/>
              </a:rPr>
              <a:t>o </a:t>
            </a:r>
            <a:r>
              <a:rPr lang="en-US" sz="2600" dirty="0">
                <a:latin typeface="Times New Roman" panose="02020603050405020304" pitchFamily="18" charset="0"/>
                <a:cs typeface="Times New Roman" panose="02020603050405020304" pitchFamily="18" charset="0"/>
              </a:rPr>
              <a:t>= [2(</a:t>
            </a:r>
            <a:r>
              <a:rPr lang="en-US" sz="2600" dirty="0">
                <a:latin typeface="Times New Roman" panose="02020603050405020304" pitchFamily="18" charset="0"/>
                <a:cs typeface="Times New Roman" panose="02020603050405020304" pitchFamily="18" charset="0"/>
                <a:sym typeface="Symbol" pitchFamily="18" charset="2"/>
              </a:rPr>
              <a:t></a:t>
            </a:r>
            <a:r>
              <a:rPr lang="en-US" sz="2600" dirty="0">
                <a:latin typeface="Times New Roman" panose="02020603050405020304" pitchFamily="18" charset="0"/>
                <a:cs typeface="Times New Roman" panose="02020603050405020304" pitchFamily="18" charset="0"/>
              </a:rPr>
              <a:t>100.0) + 3(0)]</a:t>
            </a:r>
            <a:r>
              <a:rPr lang="en-US" sz="2600" dirty="0">
                <a:latin typeface="Times New Roman" panose="02020603050405020304" pitchFamily="18" charset="0"/>
                <a:cs typeface="Times New Roman" panose="02020603050405020304" pitchFamily="18" charset="0"/>
                <a:sym typeface="Symbol" pitchFamily="18" charset="2"/>
              </a:rPr>
              <a:t></a:t>
            </a:r>
            <a:r>
              <a:rPr lang="en-US" sz="2600" dirty="0">
                <a:latin typeface="Times New Roman" panose="02020603050405020304" pitchFamily="18" charset="0"/>
                <a:cs typeface="Times New Roman" panose="02020603050405020304" pitchFamily="18" charset="0"/>
              </a:rPr>
              <a:t> [2(</a:t>
            </a:r>
            <a:r>
              <a:rPr lang="en-US" sz="2600" dirty="0">
                <a:latin typeface="Times New Roman" panose="02020603050405020304" pitchFamily="18" charset="0"/>
                <a:cs typeface="Times New Roman" panose="02020603050405020304" pitchFamily="18" charset="0"/>
                <a:sym typeface="Symbol" pitchFamily="18" charset="2"/>
              </a:rPr>
              <a:t></a:t>
            </a:r>
            <a:r>
              <a:rPr lang="en-US" sz="2600" dirty="0">
                <a:latin typeface="Times New Roman" panose="02020603050405020304" pitchFamily="18" charset="0"/>
                <a:cs typeface="Times New Roman" panose="02020603050405020304" pitchFamily="18" charset="0"/>
              </a:rPr>
              <a:t>218.0) + 2(</a:t>
            </a:r>
            <a:r>
              <a:rPr lang="en-US" sz="2600" dirty="0">
                <a:latin typeface="Times New Roman" panose="02020603050405020304" pitchFamily="18" charset="0"/>
                <a:cs typeface="Times New Roman" panose="02020603050405020304" pitchFamily="18" charset="0"/>
                <a:sym typeface="Symbol" pitchFamily="18" charset="2"/>
              </a:rPr>
              <a:t></a:t>
            </a:r>
            <a:r>
              <a:rPr lang="en-US" sz="2600" dirty="0">
                <a:latin typeface="Times New Roman" panose="02020603050405020304" pitchFamily="18" charset="0"/>
                <a:cs typeface="Times New Roman" panose="02020603050405020304" pitchFamily="18" charset="0"/>
              </a:rPr>
              <a:t>297.0)]= 830.0 kJ/</a:t>
            </a:r>
            <a:r>
              <a:rPr lang="en-US" sz="2600" dirty="0" err="1">
                <a:latin typeface="Times New Roman" panose="02020603050405020304" pitchFamily="18" charset="0"/>
                <a:cs typeface="Times New Roman" panose="02020603050405020304" pitchFamily="18" charset="0"/>
              </a:rPr>
              <a:t>mol</a:t>
            </a:r>
            <a:r>
              <a:rPr lang="en-US" sz="2600" baseline="-25000" dirty="0" err="1">
                <a:latin typeface="Times New Roman" panose="02020603050405020304" pitchFamily="18" charset="0"/>
                <a:cs typeface="Times New Roman" panose="02020603050405020304" pitchFamily="18" charset="0"/>
              </a:rPr>
              <a:t>rxn</a:t>
            </a:r>
            <a:endParaRPr lang="en-US" sz="2600" baseline="-25000" dirty="0">
              <a:latin typeface="Times New Roman" panose="02020603050405020304" pitchFamily="18" charset="0"/>
              <a:cs typeface="Times New Roman" panose="02020603050405020304" pitchFamily="18" charset="0"/>
            </a:endParaRPr>
          </a:p>
          <a:p>
            <a:pPr>
              <a:buFontTx/>
              <a:buNone/>
            </a:pPr>
            <a:r>
              <a:rPr lang="en-US" sz="2600" dirty="0">
                <a:latin typeface="Times New Roman" panose="02020603050405020304" pitchFamily="18" charset="0"/>
                <a:cs typeface="Times New Roman" panose="02020603050405020304" pitchFamily="18" charset="0"/>
                <a:sym typeface="Symbol" pitchFamily="18" charset="2"/>
              </a:rPr>
              <a:t></a:t>
            </a:r>
            <a:r>
              <a:rPr lang="en-US" sz="2600" i="1" dirty="0">
                <a:latin typeface="Times New Roman" panose="02020603050405020304" pitchFamily="18" charset="0"/>
                <a:cs typeface="Times New Roman" panose="02020603050405020304" pitchFamily="18" charset="0"/>
              </a:rPr>
              <a:t>S</a:t>
            </a:r>
            <a:r>
              <a:rPr lang="en-US" sz="2600" baseline="30000" dirty="0">
                <a:latin typeface="Times New Roman" panose="02020603050405020304" pitchFamily="18" charset="0"/>
                <a:cs typeface="Times New Roman" panose="02020603050405020304" pitchFamily="18" charset="0"/>
              </a:rPr>
              <a:t>o  </a:t>
            </a:r>
            <a:r>
              <a:rPr lang="en-US" sz="2600" dirty="0">
                <a:latin typeface="Times New Roman" panose="02020603050405020304" pitchFamily="18" charset="0"/>
                <a:cs typeface="Times New Roman" panose="02020603050405020304" pitchFamily="18" charset="0"/>
              </a:rPr>
              <a:t>= [2(91.0) + 3(205.0)] – [2(70.0)+2(248.0)] = 161.0 J/</a:t>
            </a:r>
            <a:r>
              <a:rPr lang="en-US" sz="2600" dirty="0" err="1">
                <a:latin typeface="Times New Roman" panose="02020603050405020304" pitchFamily="18" charset="0"/>
                <a:cs typeface="Times New Roman" panose="02020603050405020304" pitchFamily="18" charset="0"/>
              </a:rPr>
              <a:t>Kmol</a:t>
            </a:r>
            <a:r>
              <a:rPr lang="en-US" sz="2600" baseline="-25000" dirty="0" err="1">
                <a:latin typeface="Times New Roman" panose="02020603050405020304" pitchFamily="18" charset="0"/>
                <a:cs typeface="Times New Roman" panose="02020603050405020304" pitchFamily="18" charset="0"/>
              </a:rPr>
              <a:t>rxn</a:t>
            </a:r>
            <a:endParaRPr lang="en-US" sz="2600" baseline="-25000" dirty="0">
              <a:latin typeface="Times New Roman" panose="02020603050405020304" pitchFamily="18" charset="0"/>
              <a:cs typeface="Times New Roman" panose="02020603050405020304" pitchFamily="18" charset="0"/>
            </a:endParaRPr>
          </a:p>
          <a:p>
            <a:pPr>
              <a:buFontTx/>
              <a:buNone/>
            </a:pPr>
            <a:r>
              <a:rPr lang="en-US" sz="2600" dirty="0">
                <a:latin typeface="Times New Roman" panose="02020603050405020304" pitchFamily="18" charset="0"/>
                <a:cs typeface="Times New Roman" panose="02020603050405020304" pitchFamily="18" charset="0"/>
                <a:sym typeface="Symbol" pitchFamily="18" charset="2"/>
              </a:rPr>
              <a:t></a:t>
            </a:r>
            <a:r>
              <a:rPr lang="en-US" sz="2600" i="1" dirty="0">
                <a:latin typeface="Times New Roman" panose="02020603050405020304" pitchFamily="18" charset="0"/>
                <a:cs typeface="Times New Roman" panose="02020603050405020304" pitchFamily="18" charset="0"/>
              </a:rPr>
              <a:t>G</a:t>
            </a:r>
            <a:r>
              <a:rPr lang="en-US" sz="2600" dirty="0">
                <a:latin typeface="Times New Roman" panose="02020603050405020304" pitchFamily="18" charset="0"/>
                <a:cs typeface="Times New Roman" panose="02020603050405020304" pitchFamily="18" charset="0"/>
              </a:rPr>
              <a:t>=</a:t>
            </a:r>
            <a:r>
              <a:rPr lang="en-US" sz="2600" baseline="300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sym typeface="Symbol" pitchFamily="18" charset="2"/>
              </a:rPr>
              <a:t></a:t>
            </a:r>
            <a:r>
              <a:rPr lang="en-US" sz="2600" i="1" dirty="0">
                <a:latin typeface="Times New Roman" panose="02020603050405020304" pitchFamily="18" charset="0"/>
                <a:cs typeface="Times New Roman" panose="02020603050405020304" pitchFamily="18" charset="0"/>
              </a:rPr>
              <a:t>H</a:t>
            </a:r>
            <a:r>
              <a:rPr lang="en-US" sz="26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sym typeface="Symbol" pitchFamily="18" charset="2"/>
              </a:rPr>
              <a:t></a:t>
            </a:r>
            <a:r>
              <a:rPr lang="en-US" sz="2600" dirty="0">
                <a:latin typeface="Times New Roman" panose="02020603050405020304" pitchFamily="18" charset="0"/>
                <a:cs typeface="Times New Roman" panose="02020603050405020304" pitchFamily="18" charset="0"/>
              </a:rPr>
              <a:t> </a:t>
            </a:r>
            <a:r>
              <a:rPr lang="en-US" sz="2600" i="1" dirty="0">
                <a:latin typeface="Times New Roman" panose="02020603050405020304" pitchFamily="18" charset="0"/>
                <a:cs typeface="Times New Roman" panose="02020603050405020304" pitchFamily="18" charset="0"/>
              </a:rPr>
              <a:t>T</a:t>
            </a:r>
            <a:r>
              <a:rPr lang="en-US" sz="2600" baseline="300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sym typeface="Symbol" pitchFamily="18" charset="2"/>
              </a:rPr>
              <a:t></a:t>
            </a:r>
            <a:r>
              <a:rPr lang="en-US" sz="2600" i="1" dirty="0">
                <a:latin typeface="Times New Roman" panose="02020603050405020304" pitchFamily="18" charset="0"/>
                <a:cs typeface="Times New Roman" panose="02020603050405020304" pitchFamily="18" charset="0"/>
              </a:rPr>
              <a:t>S</a:t>
            </a:r>
          </a:p>
          <a:p>
            <a:pPr>
              <a:buFontTx/>
              <a:buNone/>
            </a:pPr>
            <a:r>
              <a:rPr lang="en-US" sz="2600" dirty="0">
                <a:latin typeface="Times New Roman" panose="02020603050405020304" pitchFamily="18" charset="0"/>
                <a:cs typeface="Times New Roman" panose="02020603050405020304" pitchFamily="18" charset="0"/>
                <a:sym typeface="Symbol" pitchFamily="18" charset="2"/>
              </a:rPr>
              <a:t></a:t>
            </a:r>
            <a:r>
              <a:rPr lang="en-US" sz="2600" i="1" dirty="0">
                <a:latin typeface="Times New Roman" panose="02020603050405020304" pitchFamily="18" charset="0"/>
                <a:cs typeface="Times New Roman" panose="02020603050405020304" pitchFamily="18" charset="0"/>
              </a:rPr>
              <a:t>G</a:t>
            </a:r>
            <a:r>
              <a:rPr lang="en-US" sz="2600" baseline="30000" dirty="0">
                <a:latin typeface="Times New Roman" panose="02020603050405020304" pitchFamily="18" charset="0"/>
                <a:cs typeface="Times New Roman" panose="02020603050405020304" pitchFamily="18" charset="0"/>
              </a:rPr>
              <a:t>o</a:t>
            </a:r>
            <a:r>
              <a:rPr lang="en-US" sz="2600" dirty="0">
                <a:latin typeface="Times New Roman" panose="02020603050405020304" pitchFamily="18" charset="0"/>
                <a:cs typeface="Times New Roman" panose="02020603050405020304" pitchFamily="18" charset="0"/>
              </a:rPr>
              <a:t>= 830.0</a:t>
            </a:r>
            <a:r>
              <a:rPr lang="en-US" sz="2600" dirty="0">
                <a:latin typeface="Times New Roman" panose="02020603050405020304" pitchFamily="18" charset="0"/>
                <a:cs typeface="Times New Roman" panose="02020603050405020304" pitchFamily="18" charset="0"/>
                <a:sym typeface="Symbol" pitchFamily="18" charset="2"/>
              </a:rPr>
              <a:t></a:t>
            </a:r>
            <a:r>
              <a:rPr lang="en-US" sz="2600" dirty="0">
                <a:latin typeface="Times New Roman" panose="02020603050405020304" pitchFamily="18" charset="0"/>
                <a:cs typeface="Times New Roman" panose="02020603050405020304" pitchFamily="18" charset="0"/>
              </a:rPr>
              <a:t>298(0.1610) = </a:t>
            </a:r>
            <a:r>
              <a:rPr lang="en-US" sz="3600" dirty="0">
                <a:solidFill>
                  <a:schemeClr val="accent2"/>
                </a:solidFill>
                <a:latin typeface="Times New Roman" panose="02020603050405020304" pitchFamily="18" charset="0"/>
                <a:cs typeface="Times New Roman" panose="02020603050405020304" pitchFamily="18" charset="0"/>
              </a:rPr>
              <a:t>782.0 kJ/</a:t>
            </a:r>
            <a:r>
              <a:rPr lang="en-US" sz="3600" dirty="0" err="1">
                <a:solidFill>
                  <a:schemeClr val="accent2"/>
                </a:solidFill>
                <a:latin typeface="Times New Roman" panose="02020603050405020304" pitchFamily="18" charset="0"/>
                <a:cs typeface="Times New Roman" panose="02020603050405020304" pitchFamily="18" charset="0"/>
              </a:rPr>
              <a:t>mol</a:t>
            </a:r>
            <a:r>
              <a:rPr lang="en-US" sz="3600" baseline="-25000" dirty="0" err="1">
                <a:solidFill>
                  <a:schemeClr val="accent2"/>
                </a:solidFill>
                <a:latin typeface="Times New Roman" panose="02020603050405020304" pitchFamily="18" charset="0"/>
                <a:cs typeface="Times New Roman" panose="02020603050405020304" pitchFamily="18" charset="0"/>
              </a:rPr>
              <a:t>rxn</a:t>
            </a:r>
            <a:endParaRPr lang="en-US" sz="3600" baseline="-25000" dirty="0">
              <a:solidFill>
                <a:schemeClr val="accent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480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3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53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536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36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536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36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33400" y="838200"/>
            <a:ext cx="11201400" cy="5338763"/>
          </a:xfrm>
        </p:spPr>
        <p:txBody>
          <a:bodyPr/>
          <a:lstStyle/>
          <a:p>
            <a:pPr marL="0" indent="0">
              <a:buNone/>
            </a:pP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 can also be calculated using a Big Mama equation.</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f</a:t>
            </a:r>
            <a:r>
              <a:rPr lang="en-US" dirty="0">
                <a:latin typeface="Times New Roman" panose="02020603050405020304" pitchFamily="18" charset="0"/>
                <a:cs typeface="Times New Roman" panose="02020603050405020304" pitchFamily="18" charset="0"/>
              </a:rPr>
              <a:t>° (products)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f</a:t>
            </a:r>
            <a:r>
              <a:rPr lang="en-US" dirty="0">
                <a:latin typeface="Times New Roman" panose="02020603050405020304" pitchFamily="18" charset="0"/>
                <a:cs typeface="Times New Roman" panose="02020603050405020304" pitchFamily="18" charset="0"/>
              </a:rPr>
              <a:t>° (reactants) </a:t>
            </a: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Note:</a:t>
            </a:r>
          </a:p>
          <a:p>
            <a:pPr marL="0" indent="0">
              <a:buNone/>
            </a:pPr>
            <a:r>
              <a:rPr lang="en-US" dirty="0">
                <a:latin typeface="Times New Roman" panose="02020603050405020304" pitchFamily="18" charset="0"/>
                <a:cs typeface="Times New Roman" panose="02020603050405020304" pitchFamily="18" charset="0"/>
                <a:sym typeface="Symbol" pitchFamily="18" charset="2"/>
              </a:rPr>
              <a:t>	</a:t>
            </a:r>
            <a:r>
              <a:rPr lang="en-US" dirty="0">
                <a:latin typeface="Times New Roman" panose="02020603050405020304" pitchFamily="18" charset="0"/>
                <a:cs typeface="Times New Roman" panose="02020603050405020304" pitchFamily="18" charset="0"/>
              </a:rPr>
              <a:t>G</a:t>
            </a:r>
            <a:r>
              <a:rPr lang="en-US" baseline="-25000" dirty="0">
                <a:latin typeface="Times New Roman" panose="02020603050405020304" pitchFamily="18" charset="0"/>
                <a:cs typeface="Times New Roman" panose="02020603050405020304" pitchFamily="18" charset="0"/>
              </a:rPr>
              <a:t>f</a:t>
            </a:r>
            <a:r>
              <a:rPr lang="en-US" dirty="0">
                <a:latin typeface="Times New Roman" panose="02020603050405020304" pitchFamily="18" charset="0"/>
                <a:cs typeface="Times New Roman" panose="02020603050405020304" pitchFamily="18" charset="0"/>
              </a:rPr>
              <a:t>° for a free element in its standard state is </a:t>
            </a:r>
            <a:r>
              <a:rPr lang="en-US" dirty="0">
                <a:solidFill>
                  <a:srgbClr val="FF0000"/>
                </a:solidFill>
                <a:latin typeface="Times New Roman" panose="02020603050405020304" pitchFamily="18" charset="0"/>
                <a:cs typeface="Times New Roman" panose="02020603050405020304" pitchFamily="18" charset="0"/>
              </a:rPr>
              <a:t>zero</a:t>
            </a:r>
            <a:r>
              <a:rPr lang="en-US" dirty="0">
                <a:latin typeface="Times New Roman" panose="02020603050405020304" pitchFamily="18" charset="0"/>
                <a:cs typeface="Times New Roman" panose="02020603050405020304" pitchFamily="18" charset="0"/>
              </a:rPr>
              <a:t>.</a:t>
            </a:r>
          </a:p>
          <a:p>
            <a:pPr marL="0" indent="0">
              <a:buNone/>
            </a:pPr>
            <a:r>
              <a:rPr lang="en-US" sz="3200" b="1" dirty="0">
                <a:solidFill>
                  <a:schemeClr val="tx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These values are in </a:t>
            </a:r>
            <a:r>
              <a:rPr lang="en-US" dirty="0">
                <a:solidFill>
                  <a:srgbClr val="FF0000"/>
                </a:solidFill>
                <a:latin typeface="Times New Roman" panose="02020603050405020304" pitchFamily="18" charset="0"/>
                <a:cs typeface="Times New Roman" panose="02020603050405020304" pitchFamily="18" charset="0"/>
              </a:rPr>
              <a:t>kJ/</a:t>
            </a:r>
            <a:r>
              <a:rPr lang="en-US" dirty="0" err="1">
                <a:solidFill>
                  <a:srgbClr val="FF0000"/>
                </a:solidFill>
                <a:latin typeface="Times New Roman" panose="02020603050405020304" pitchFamily="18" charset="0"/>
                <a:cs typeface="Times New Roman" panose="02020603050405020304" pitchFamily="18" charset="0"/>
              </a:rPr>
              <a:t>mol</a:t>
            </a:r>
            <a:br>
              <a:rPr lang="en-US" sz="3200" b="1" dirty="0">
                <a:solidFill>
                  <a:schemeClr val="tx1"/>
                </a:solidFill>
              </a:rPr>
            </a:br>
            <a:endParaRPr lang="en-US" dirty="0"/>
          </a:p>
        </p:txBody>
      </p:sp>
      <p:sp>
        <p:nvSpPr>
          <p:cNvPr id="4" name="Title 1"/>
          <p:cNvSpPr txBox="1">
            <a:spLocks/>
          </p:cNvSpPr>
          <p:nvPr/>
        </p:nvSpPr>
        <p:spPr>
          <a:xfrm>
            <a:off x="838986" y="32208"/>
            <a:ext cx="10515600" cy="625475"/>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latin typeface="Times New Roman" panose="02020603050405020304" pitchFamily="18" charset="0"/>
                <a:cs typeface="Times New Roman" panose="02020603050405020304" pitchFamily="18" charset="0"/>
              </a:rPr>
              <a:t>Calculating </a:t>
            </a:r>
            <a:r>
              <a:rPr lang="en-US" b="1" dirty="0">
                <a:latin typeface="Times New Roman" panose="02020603050405020304" pitchFamily="18" charset="0"/>
                <a:cs typeface="Times New Roman" panose="02020603050405020304" pitchFamily="18" charset="0"/>
                <a:sym typeface="Symbol" pitchFamily="18" charset="2"/>
              </a:rPr>
              <a:t></a:t>
            </a:r>
            <a:r>
              <a:rPr lang="en-US" b="1" i="1" dirty="0">
                <a:latin typeface="Times New Roman" panose="02020603050405020304" pitchFamily="18" charset="0"/>
                <a:cs typeface="Times New Roman" panose="02020603050405020304" pitchFamily="18" charset="0"/>
              </a:rPr>
              <a:t>G</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350060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51" y="76200"/>
            <a:ext cx="10515600" cy="625475"/>
          </a:xfrm>
        </p:spPr>
        <p:txBody>
          <a:bodyPr>
            <a:normAutofit fontScale="90000"/>
          </a:bodyPr>
          <a:lstStyle/>
          <a:p>
            <a:pPr algn="ctr"/>
            <a:r>
              <a:rPr lang="en-US" dirty="0">
                <a:latin typeface="Times New Roman" panose="02020603050405020304" pitchFamily="18" charset="0"/>
                <a:ea typeface="+mn-ea"/>
                <a:cs typeface="Times New Roman" panose="02020603050405020304" pitchFamily="18" charset="0"/>
              </a:rPr>
              <a:t>Sample Problem</a:t>
            </a:r>
            <a:endParaRPr lang="en-US" dirty="0"/>
          </a:p>
        </p:txBody>
      </p:sp>
      <p:sp>
        <p:nvSpPr>
          <p:cNvPr id="13317" name="Rectangle 5"/>
          <p:cNvSpPr>
            <a:spLocks noGrp="1" noChangeArrowheads="1"/>
          </p:cNvSpPr>
          <p:nvPr>
            <p:ph idx="1"/>
          </p:nvPr>
        </p:nvSpPr>
        <p:spPr>
          <a:xfrm>
            <a:off x="838200" y="777876"/>
            <a:ext cx="10515600" cy="6003924"/>
          </a:xfrm>
        </p:spPr>
        <p:txBody>
          <a:bodyPr>
            <a:normAutofit lnSpcReduction="10000"/>
          </a:bodyPr>
          <a:lstStyle/>
          <a:p>
            <a:pPr>
              <a:buFontTx/>
              <a:buNone/>
            </a:pPr>
            <a:r>
              <a:rPr lang="en-US" sz="3200" dirty="0">
                <a:latin typeface="Times New Roman" panose="02020603050405020304" pitchFamily="18" charset="0"/>
                <a:cs typeface="Times New Roman" panose="02020603050405020304" pitchFamily="18" charset="0"/>
              </a:rPr>
              <a:t>Ex.  Given the equation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N</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O</a:t>
            </a:r>
            <a:r>
              <a:rPr lang="en-US" sz="3200" baseline="-25000" dirty="0">
                <a:latin typeface="Times New Roman" panose="02020603050405020304" pitchFamily="18" charset="0"/>
                <a:cs typeface="Times New Roman" panose="02020603050405020304" pitchFamily="18" charset="0"/>
              </a:rPr>
              <a:t>4</a:t>
            </a:r>
            <a:r>
              <a:rPr lang="en-US" sz="3200" dirty="0">
                <a:latin typeface="Times New Roman" panose="02020603050405020304" pitchFamily="18" charset="0"/>
                <a:cs typeface="Times New Roman" panose="02020603050405020304" pitchFamily="18" charset="0"/>
              </a:rPr>
              <a:t>(g) </a:t>
            </a:r>
            <a:r>
              <a:rPr lang="en-US" sz="3200" noProof="1">
                <a:latin typeface="Times New Roman" panose="02020603050405020304" pitchFamily="18" charset="0"/>
                <a:cs typeface="Times New Roman" panose="02020603050405020304" pitchFamily="18" charset="0"/>
                <a:sym typeface="Wingdings" pitchFamily="2" charset="2"/>
              </a:rPr>
              <a:t></a:t>
            </a:r>
            <a:r>
              <a:rPr lang="en-US" sz="3200" dirty="0">
                <a:latin typeface="Times New Roman" panose="02020603050405020304" pitchFamily="18" charset="0"/>
                <a:cs typeface="Times New Roman" panose="02020603050405020304" pitchFamily="18" charset="0"/>
              </a:rPr>
              <a:t> 2NO</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(g)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and the following data, calculate </a:t>
            </a:r>
            <a:r>
              <a:rPr lang="en-US" sz="3200" dirty="0">
                <a:latin typeface="Times New Roman" panose="02020603050405020304" pitchFamily="18" charset="0"/>
                <a:cs typeface="Times New Roman" panose="02020603050405020304" pitchFamily="18" charset="0"/>
                <a:sym typeface="Symbol" pitchFamily="18" charset="2"/>
              </a:rPr>
              <a:t></a:t>
            </a:r>
            <a:r>
              <a:rPr lang="en-US" sz="3200" i="1" dirty="0">
                <a:latin typeface="Times New Roman" panose="02020603050405020304" pitchFamily="18" charset="0"/>
                <a:cs typeface="Times New Roman" panose="02020603050405020304" pitchFamily="18" charset="0"/>
              </a:rPr>
              <a:t>G</a:t>
            </a:r>
            <a:r>
              <a:rPr lang="en-US" sz="3200" baseline="30000" dirty="0">
                <a:latin typeface="Times New Roman" panose="02020603050405020304" pitchFamily="18" charset="0"/>
                <a:cs typeface="Times New Roman" panose="02020603050405020304" pitchFamily="18" charset="0"/>
              </a:rPr>
              <a:t>o</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sym typeface="Symbol" pitchFamily="18" charset="2"/>
              </a:rPr>
              <a:t> </a:t>
            </a:r>
            <a:r>
              <a:rPr lang="en-US" sz="3200" i="1" dirty="0" err="1">
                <a:latin typeface="Times New Roman" panose="02020603050405020304" pitchFamily="18" charset="0"/>
                <a:cs typeface="Times New Roman" panose="02020603050405020304" pitchFamily="18" charset="0"/>
              </a:rPr>
              <a:t>G</a:t>
            </a:r>
            <a:r>
              <a:rPr lang="en-US" sz="3200" i="1" baseline="30000" dirty="0" err="1">
                <a:latin typeface="Times New Roman" panose="02020603050405020304" pitchFamily="18" charset="0"/>
                <a:cs typeface="Times New Roman" panose="02020603050405020304" pitchFamily="18" charset="0"/>
              </a:rPr>
              <a:t>o</a:t>
            </a:r>
            <a:r>
              <a:rPr lang="en-US" sz="3200" i="1" baseline="-25000" dirty="0" err="1">
                <a:latin typeface="Times New Roman" panose="02020603050405020304" pitchFamily="18" charset="0"/>
                <a:cs typeface="Times New Roman" panose="02020603050405020304" pitchFamily="18" charset="0"/>
              </a:rPr>
              <a:t>f</a:t>
            </a:r>
            <a:r>
              <a:rPr lang="en-US" sz="3200" i="1"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for N</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O</a:t>
            </a:r>
            <a:r>
              <a:rPr lang="en-US" sz="3200" baseline="-25000" dirty="0">
                <a:latin typeface="Times New Roman" panose="02020603050405020304" pitchFamily="18" charset="0"/>
                <a:cs typeface="Times New Roman" panose="02020603050405020304" pitchFamily="18" charset="0"/>
              </a:rPr>
              <a:t>4</a:t>
            </a:r>
            <a:r>
              <a:rPr lang="en-US" sz="3200" dirty="0">
                <a:latin typeface="Times New Roman" panose="02020603050405020304" pitchFamily="18" charset="0"/>
                <a:cs typeface="Times New Roman" panose="02020603050405020304" pitchFamily="18" charset="0"/>
              </a:rPr>
              <a:t>(g) = 97.82 kJ/</a:t>
            </a:r>
            <a:r>
              <a:rPr lang="en-US" sz="3200" dirty="0" err="1">
                <a:latin typeface="Times New Roman" panose="02020603050405020304" pitchFamily="18" charset="0"/>
                <a:cs typeface="Times New Roman" panose="02020603050405020304" pitchFamily="18" charset="0"/>
              </a:rPr>
              <a:t>mol</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sym typeface="Symbol" pitchFamily="18" charset="2"/>
              </a:rPr>
              <a:t> </a:t>
            </a:r>
            <a:r>
              <a:rPr lang="en-US" sz="3200" i="1" dirty="0" err="1">
                <a:latin typeface="Times New Roman" panose="02020603050405020304" pitchFamily="18" charset="0"/>
                <a:cs typeface="Times New Roman" panose="02020603050405020304" pitchFamily="18" charset="0"/>
              </a:rPr>
              <a:t>G</a:t>
            </a:r>
            <a:r>
              <a:rPr lang="en-US" sz="3200" i="1" baseline="30000" dirty="0" err="1">
                <a:latin typeface="Times New Roman" panose="02020603050405020304" pitchFamily="18" charset="0"/>
                <a:cs typeface="Times New Roman" panose="02020603050405020304" pitchFamily="18" charset="0"/>
              </a:rPr>
              <a:t>o</a:t>
            </a:r>
            <a:r>
              <a:rPr lang="en-US" sz="3200" i="1" baseline="-25000" dirty="0" err="1">
                <a:latin typeface="Times New Roman" panose="02020603050405020304" pitchFamily="18" charset="0"/>
                <a:cs typeface="Times New Roman" panose="02020603050405020304" pitchFamily="18" charset="0"/>
              </a:rPr>
              <a:t>f</a:t>
            </a:r>
            <a:r>
              <a:rPr lang="en-US" sz="3200" dirty="0">
                <a:latin typeface="Times New Roman" panose="02020603050405020304" pitchFamily="18" charset="0"/>
                <a:cs typeface="Times New Roman" panose="02020603050405020304" pitchFamily="18" charset="0"/>
              </a:rPr>
              <a:t> for NO</a:t>
            </a:r>
            <a:r>
              <a:rPr lang="en-US" sz="3200" baseline="-25000" dirty="0">
                <a:latin typeface="Times New Roman" panose="02020603050405020304" pitchFamily="18" charset="0"/>
                <a:cs typeface="Times New Roman" panose="02020603050405020304" pitchFamily="18" charset="0"/>
              </a:rPr>
              <a:t>2</a:t>
            </a:r>
            <a:r>
              <a:rPr lang="en-US" sz="3200" dirty="0">
                <a:latin typeface="Times New Roman" panose="02020603050405020304" pitchFamily="18" charset="0"/>
                <a:cs typeface="Times New Roman" panose="02020603050405020304" pitchFamily="18" charset="0"/>
              </a:rPr>
              <a:t>(g) = 51.30 kJ/</a:t>
            </a:r>
            <a:r>
              <a:rPr lang="en-US" sz="3200" dirty="0" err="1">
                <a:latin typeface="Times New Roman" panose="02020603050405020304" pitchFamily="18" charset="0"/>
                <a:cs typeface="Times New Roman" panose="02020603050405020304" pitchFamily="18" charset="0"/>
              </a:rPr>
              <a:t>mol</a:t>
            </a:r>
            <a:endParaRPr lang="en-US" sz="3200" dirty="0">
              <a:latin typeface="Times New Roman" panose="02020603050405020304" pitchFamily="18" charset="0"/>
              <a:cs typeface="Times New Roman" panose="02020603050405020304" pitchFamily="18" charset="0"/>
            </a:endParaRPr>
          </a:p>
          <a:p>
            <a:pPr>
              <a:buFontTx/>
              <a:buNone/>
            </a:pPr>
            <a:endParaRPr lang="en-US" sz="3200" i="1" dirty="0">
              <a:solidFill>
                <a:schemeClr val="accent2"/>
              </a:solidFill>
              <a:latin typeface="Times New Roman" panose="02020603050405020304" pitchFamily="18" charset="0"/>
              <a:cs typeface="Times New Roman" panose="02020603050405020304" pitchFamily="18" charset="0"/>
              <a:sym typeface="Symbol" pitchFamily="18" charset="2"/>
            </a:endParaRPr>
          </a:p>
          <a:p>
            <a:pPr>
              <a:buFontTx/>
              <a:buNone/>
            </a:pPr>
            <a:endParaRPr lang="en-US" sz="3200" i="1" dirty="0">
              <a:solidFill>
                <a:schemeClr val="accent2"/>
              </a:solidFill>
              <a:latin typeface="Times New Roman" panose="02020603050405020304" pitchFamily="18" charset="0"/>
              <a:cs typeface="Times New Roman" panose="02020603050405020304" pitchFamily="18" charset="0"/>
              <a:sym typeface="Symbol" pitchFamily="18" charset="2"/>
            </a:endParaRPr>
          </a:p>
          <a:p>
            <a:pPr>
              <a:buFontTx/>
              <a:buNone/>
            </a:pPr>
            <a:endParaRPr lang="en-US" sz="3200" i="1" dirty="0">
              <a:solidFill>
                <a:schemeClr val="accent2"/>
              </a:solidFill>
              <a:latin typeface="Times New Roman" panose="02020603050405020304" pitchFamily="18" charset="0"/>
              <a:cs typeface="Times New Roman" panose="02020603050405020304" pitchFamily="18" charset="0"/>
              <a:sym typeface="Symbol" pitchFamily="18" charset="2"/>
            </a:endParaRPr>
          </a:p>
          <a:p>
            <a:pPr>
              <a:buFontTx/>
              <a:buNone/>
            </a:pPr>
            <a:endParaRPr lang="en-US" sz="3200" i="1" dirty="0">
              <a:solidFill>
                <a:schemeClr val="accent2"/>
              </a:solidFill>
              <a:latin typeface="Times New Roman" panose="02020603050405020304" pitchFamily="18" charset="0"/>
              <a:cs typeface="Times New Roman" panose="02020603050405020304" pitchFamily="18" charset="0"/>
              <a:sym typeface="Symbol" pitchFamily="18" charset="2"/>
            </a:endParaRPr>
          </a:p>
          <a:p>
            <a:pPr>
              <a:buFontTx/>
              <a:buNone/>
            </a:pPr>
            <a:r>
              <a:rPr lang="en-US" sz="3200" i="1" dirty="0">
                <a:solidFill>
                  <a:schemeClr val="accent2"/>
                </a:solidFill>
                <a:sym typeface="Symbol" pitchFamily="18" charset="2"/>
              </a:rPr>
              <a:t></a:t>
            </a:r>
            <a:r>
              <a:rPr lang="en-US" sz="3200" i="1" dirty="0">
                <a:solidFill>
                  <a:schemeClr val="accent2"/>
                </a:solidFill>
              </a:rPr>
              <a:t>G</a:t>
            </a:r>
            <a:r>
              <a:rPr lang="en-US" sz="3200" i="1" baseline="30000" dirty="0">
                <a:solidFill>
                  <a:schemeClr val="accent2"/>
                </a:solidFill>
              </a:rPr>
              <a:t>o</a:t>
            </a:r>
            <a:r>
              <a:rPr lang="en-US" sz="3200" i="1" dirty="0">
                <a:solidFill>
                  <a:schemeClr val="accent2"/>
                </a:solidFill>
              </a:rPr>
              <a:t> </a:t>
            </a:r>
            <a:r>
              <a:rPr lang="en-US" sz="3200" dirty="0">
                <a:solidFill>
                  <a:schemeClr val="accent2"/>
                </a:solidFill>
              </a:rPr>
              <a:t>= [2(51.30)] – [ 97.82]</a:t>
            </a:r>
          </a:p>
          <a:p>
            <a:pPr>
              <a:buFontTx/>
              <a:buNone/>
            </a:pPr>
            <a:r>
              <a:rPr lang="en-US" sz="3200" dirty="0">
                <a:solidFill>
                  <a:schemeClr val="accent2"/>
                </a:solidFill>
              </a:rPr>
              <a:t>= 4.78 kJ/</a:t>
            </a:r>
            <a:r>
              <a:rPr lang="en-US" sz="3200" dirty="0" err="1">
                <a:solidFill>
                  <a:schemeClr val="accent2"/>
                </a:solidFill>
              </a:rPr>
              <a:t>mol</a:t>
            </a:r>
            <a:r>
              <a:rPr lang="en-US" sz="3200" baseline="-25000" dirty="0" err="1">
                <a:solidFill>
                  <a:schemeClr val="accent2"/>
                </a:solidFill>
              </a:rPr>
              <a:t>rxn</a:t>
            </a:r>
            <a:endParaRPr lang="en-US" sz="3200" baseline="-25000" dirty="0">
              <a:solidFill>
                <a:schemeClr val="accent2"/>
              </a:solidFill>
            </a:endParaRPr>
          </a:p>
        </p:txBody>
      </p:sp>
      <p:sp>
        <p:nvSpPr>
          <p:cNvPr id="4" name="Rectangle 4"/>
          <p:cNvSpPr txBox="1">
            <a:spLocks noChangeArrowheads="1"/>
          </p:cNvSpPr>
          <p:nvPr/>
        </p:nvSpPr>
        <p:spPr>
          <a:xfrm>
            <a:off x="838200" y="0"/>
            <a:ext cx="10515600" cy="7016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US" sz="4000" dirty="0"/>
          </a:p>
        </p:txBody>
      </p:sp>
    </p:spTree>
    <p:extLst>
      <p:ext uri="{BB962C8B-B14F-4D97-AF65-F5344CB8AC3E}">
        <p14:creationId xmlns:p14="http://schemas.microsoft.com/office/powerpoint/2010/main" val="47686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17">
                                            <p:txEl>
                                              <p:pRg st="0" end="0"/>
                                            </p:txEl>
                                          </p:spTgt>
                                        </p:tgtEl>
                                        <p:attrNameLst>
                                          <p:attrName>style.visibility</p:attrName>
                                        </p:attrNameLst>
                                      </p:cBhvr>
                                      <p:to>
                                        <p:strVal val="visible"/>
                                      </p:to>
                                    </p:set>
                                    <p:anim calcmode="lin" valueType="num">
                                      <p:cBhvr additive="base">
                                        <p:cTn id="7" dur="500" fill="hold"/>
                                        <p:tgtEl>
                                          <p:spTgt spid="1331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7">
                                            <p:txEl>
                                              <p:pRg st="5" end="5"/>
                                            </p:txEl>
                                          </p:spTgt>
                                        </p:tgtEl>
                                        <p:attrNameLst>
                                          <p:attrName>style.visibility</p:attrName>
                                        </p:attrNameLst>
                                      </p:cBhvr>
                                      <p:to>
                                        <p:strVal val="visible"/>
                                      </p:to>
                                    </p:set>
                                    <p:anim calcmode="lin" valueType="num">
                                      <p:cBhvr additive="base">
                                        <p:cTn id="13" dur="500" fill="hold"/>
                                        <p:tgtEl>
                                          <p:spTgt spid="13317">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7">
                                            <p:txEl>
                                              <p:pRg st="5" end="5"/>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3317">
                                            <p:txEl>
                                              <p:pRg st="6" end="6"/>
                                            </p:txEl>
                                          </p:spTgt>
                                        </p:tgtEl>
                                        <p:attrNameLst>
                                          <p:attrName>style.visibility</p:attrName>
                                        </p:attrNameLst>
                                      </p:cBhvr>
                                      <p:to>
                                        <p:strVal val="visible"/>
                                      </p:to>
                                    </p:set>
                                    <p:anim calcmode="lin" valueType="num">
                                      <p:cBhvr additive="base">
                                        <p:cTn id="17" dur="500" fill="hold"/>
                                        <p:tgtEl>
                                          <p:spTgt spid="13317">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31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838200" y="32208"/>
            <a:ext cx="10515600" cy="777875"/>
          </a:xfrm>
        </p:spPr>
        <p:txBody>
          <a:bodyPr>
            <a:normAutofit/>
          </a:bodyPr>
          <a:lstStyle/>
          <a:p>
            <a:pPr algn="ctr"/>
            <a:r>
              <a:rPr lang="en-US" dirty="0">
                <a:solidFill>
                  <a:schemeClr val="tx1"/>
                </a:solidFill>
                <a:latin typeface="Times New Roman" panose="02020603050405020304" pitchFamily="18" charset="0"/>
                <a:cs typeface="Times New Roman" panose="02020603050405020304" pitchFamily="18" charset="0"/>
              </a:rPr>
              <a:t>When </a:t>
            </a:r>
            <a:r>
              <a:rPr lang="en-US"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i="1" dirty="0">
                <a:solidFill>
                  <a:schemeClr val="tx1"/>
                </a:solidFill>
                <a:latin typeface="Times New Roman" panose="02020603050405020304" pitchFamily="18" charset="0"/>
                <a:cs typeface="Times New Roman" panose="02020603050405020304" pitchFamily="18" charset="0"/>
              </a:rPr>
              <a:t>G</a:t>
            </a:r>
            <a:r>
              <a:rPr lang="en-US" dirty="0">
                <a:solidFill>
                  <a:schemeClr val="tx1"/>
                </a:solidFill>
                <a:latin typeface="Times New Roman" panose="02020603050405020304" pitchFamily="18" charset="0"/>
                <a:cs typeface="Times New Roman" panose="02020603050405020304" pitchFamily="18" charset="0"/>
              </a:rPr>
              <a:t> = 0, system is a equilibrium</a:t>
            </a:r>
          </a:p>
        </p:txBody>
      </p:sp>
      <p:sp>
        <p:nvSpPr>
          <p:cNvPr id="2" name="Content Placeholder 1"/>
          <p:cNvSpPr>
            <a:spLocks noGrp="1"/>
          </p:cNvSpPr>
          <p:nvPr>
            <p:ph idx="1"/>
          </p:nvPr>
        </p:nvSpPr>
        <p:spPr>
          <a:xfrm>
            <a:off x="838200" y="1219200"/>
            <a:ext cx="10515600" cy="5638800"/>
          </a:xfrm>
        </p:spPr>
        <p:txBody>
          <a:bodyPr>
            <a:normAutofit fontScale="77500" lnSpcReduction="20000"/>
          </a:bodyPr>
          <a:lstStyle/>
          <a:p>
            <a:r>
              <a:rPr lang="en-US" dirty="0">
                <a:solidFill>
                  <a:schemeClr val="tx1"/>
                </a:solidFill>
                <a:latin typeface="Times New Roman" panose="02020603050405020304" pitchFamily="18" charset="0"/>
                <a:cs typeface="Times New Roman" panose="02020603050405020304" pitchFamily="18" charset="0"/>
              </a:rPr>
              <a:t>The equilibrium point occurs at the lowest value of free energy available to the reaction system.  </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           </a:t>
            </a:r>
            <a:r>
              <a:rPr lang="en-US" dirty="0">
                <a:solidFill>
                  <a:schemeClr val="tx1"/>
                </a:solidFill>
                <a:latin typeface="Times New Roman" panose="02020603050405020304" pitchFamily="18" charset="0"/>
                <a:cs typeface="Times New Roman" panose="02020603050405020304" pitchFamily="18" charset="0"/>
                <a:sym typeface="Symbol" pitchFamily="18" charset="2"/>
              </a:rPr>
              <a:t></a:t>
            </a:r>
            <a:r>
              <a:rPr lang="en-US" i="1" dirty="0">
                <a:solidFill>
                  <a:schemeClr val="tx1"/>
                </a:solidFill>
                <a:latin typeface="Times New Roman" panose="02020603050405020304" pitchFamily="18" charset="0"/>
                <a:cs typeface="Times New Roman" panose="02020603050405020304" pitchFamily="18" charset="0"/>
              </a:rPr>
              <a:t>G</a:t>
            </a:r>
            <a:r>
              <a:rPr lang="en-US" dirty="0">
                <a:solidFill>
                  <a:schemeClr val="tx1"/>
                </a:solidFill>
                <a:latin typeface="Times New Roman" panose="02020603050405020304" pitchFamily="18" charset="0"/>
                <a:cs typeface="Times New Roman" panose="02020603050405020304" pitchFamily="18" charset="0"/>
              </a:rPr>
              <a:t> = </a:t>
            </a:r>
            <a:r>
              <a:rPr lang="en-US" i="1" dirty="0" err="1">
                <a:solidFill>
                  <a:schemeClr val="tx1"/>
                </a:solidFill>
                <a:latin typeface="Times New Roman" panose="02020603050405020304" pitchFamily="18" charset="0"/>
                <a:cs typeface="Times New Roman" panose="02020603050405020304" pitchFamily="18" charset="0"/>
              </a:rPr>
              <a:t>G</a:t>
            </a:r>
            <a:r>
              <a:rPr lang="en-US" baseline="-25000" dirty="0" err="1">
                <a:solidFill>
                  <a:schemeClr val="tx1"/>
                </a:solidFill>
                <a:latin typeface="Times New Roman" panose="02020603050405020304" pitchFamily="18" charset="0"/>
                <a:cs typeface="Times New Roman" panose="02020603050405020304" pitchFamily="18" charset="0"/>
              </a:rPr>
              <a:t>prod</a:t>
            </a:r>
            <a:r>
              <a:rPr lang="en-US" dirty="0" err="1">
                <a:solidFill>
                  <a:schemeClr val="tx1"/>
                </a:solidFill>
                <a:latin typeface="Times New Roman" panose="02020603050405020304" pitchFamily="18" charset="0"/>
                <a:cs typeface="Times New Roman" panose="02020603050405020304" pitchFamily="18" charset="0"/>
              </a:rPr>
              <a:t>-</a:t>
            </a:r>
            <a:r>
              <a:rPr lang="en-US" i="1" dirty="0" err="1">
                <a:solidFill>
                  <a:schemeClr val="tx1"/>
                </a:solidFill>
                <a:latin typeface="Times New Roman" panose="02020603050405020304" pitchFamily="18" charset="0"/>
                <a:cs typeface="Times New Roman" panose="02020603050405020304" pitchFamily="18" charset="0"/>
              </a:rPr>
              <a:t>G</a:t>
            </a:r>
            <a:r>
              <a:rPr lang="en-US" baseline="-25000" dirty="0" err="1">
                <a:solidFill>
                  <a:schemeClr val="tx1"/>
                </a:solidFill>
                <a:latin typeface="Times New Roman" panose="02020603050405020304" pitchFamily="18" charset="0"/>
                <a:cs typeface="Times New Roman" panose="02020603050405020304" pitchFamily="18" charset="0"/>
              </a:rPr>
              <a:t>react</a:t>
            </a:r>
            <a:r>
              <a:rPr lang="en-US" dirty="0">
                <a:solidFill>
                  <a:schemeClr val="tx1"/>
                </a:solidFill>
                <a:latin typeface="Times New Roman" panose="02020603050405020304" pitchFamily="18" charset="0"/>
                <a:cs typeface="Times New Roman" panose="02020603050405020304" pitchFamily="18" charset="0"/>
              </a:rPr>
              <a:t> = 0</a:t>
            </a:r>
            <a:endParaRPr lang="en-US" dirty="0">
              <a:latin typeface="Times New Roman" panose="02020603050405020304" pitchFamily="18" charset="0"/>
              <a:cs typeface="Times New Roman" panose="02020603050405020304" pitchFamily="18" charset="0"/>
            </a:endParaRPr>
          </a:p>
          <a:p>
            <a:pPr marL="0" indent="0">
              <a:buNone/>
            </a:pPr>
            <a:r>
              <a:rPr lang="en-US" dirty="0">
                <a:solidFill>
                  <a:schemeClr val="tx1"/>
                </a:solidFill>
                <a:latin typeface="Times New Roman" panose="02020603050405020304" pitchFamily="18" charset="0"/>
                <a:cs typeface="Times New Roman" panose="02020603050405020304" pitchFamily="18" charset="0"/>
              </a:rPr>
              <a:t>***The most common example is a </a:t>
            </a:r>
            <a:r>
              <a:rPr lang="en-US" dirty="0">
                <a:solidFill>
                  <a:srgbClr val="FF0000"/>
                </a:solidFill>
                <a:latin typeface="Times New Roman" panose="02020603050405020304" pitchFamily="18" charset="0"/>
                <a:cs typeface="Times New Roman" panose="02020603050405020304" pitchFamily="18" charset="0"/>
              </a:rPr>
              <a:t>phase change</a:t>
            </a:r>
            <a:r>
              <a:rPr lang="en-US" dirty="0">
                <a:solidFill>
                  <a:schemeClr val="tx1"/>
                </a:solidFill>
                <a:latin typeface="Times New Roman" panose="02020603050405020304" pitchFamily="18" charset="0"/>
                <a:cs typeface="Times New Roman" panose="02020603050405020304" pitchFamily="18" charset="0"/>
              </a:rPr>
              <a:t>!</a:t>
            </a:r>
          </a:p>
          <a:p>
            <a:pPr marL="0" indent="0">
              <a:buNone/>
            </a:pPr>
            <a:r>
              <a:rPr lang="en-US" b="1" dirty="0">
                <a:latin typeface="Times New Roman" panose="02020603050405020304" pitchFamily="18" charset="0"/>
                <a:cs typeface="Times New Roman" panose="02020603050405020304" pitchFamily="18" charset="0"/>
              </a:rPr>
              <a:t>Ex.</a:t>
            </a:r>
            <a:r>
              <a:rPr lang="en-US" dirty="0">
                <a:latin typeface="Times New Roman" panose="02020603050405020304" pitchFamily="18" charset="0"/>
                <a:cs typeface="Times New Roman" panose="02020603050405020304" pitchFamily="18" charset="0"/>
              </a:rPr>
              <a:t>  Given for the reaction:		Hg(</a:t>
            </a:r>
            <a:r>
              <a:rPr lang="en-US"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a:t>
            </a:r>
            <a:r>
              <a:rPr lang="en-US" noProof="1">
                <a:latin typeface="Times New Roman" panose="02020603050405020304" pitchFamily="18" charset="0"/>
                <a:cs typeface="Times New Roman" panose="02020603050405020304" pitchFamily="18" charset="0"/>
                <a:sym typeface="Wingdings" pitchFamily="2" charset="2"/>
              </a:rPr>
              <a:t></a:t>
            </a:r>
            <a:r>
              <a:rPr lang="en-US" dirty="0">
                <a:latin typeface="Times New Roman" panose="02020603050405020304" pitchFamily="18" charset="0"/>
                <a:cs typeface="Times New Roman" panose="02020603050405020304" pitchFamily="18" charset="0"/>
              </a:rPr>
              <a:t> Hg(</a:t>
            </a:r>
            <a:r>
              <a:rPr lang="en-US" i="1" dirty="0">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H</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 61.3 kJ/</a:t>
            </a:r>
            <a:r>
              <a:rPr lang="en-US" dirty="0" err="1">
                <a:latin typeface="Times New Roman" panose="02020603050405020304" pitchFamily="18" charset="0"/>
                <a:cs typeface="Times New Roman" panose="02020603050405020304" pitchFamily="18" charset="0"/>
              </a:rPr>
              <a:t>mol</a:t>
            </a:r>
            <a:r>
              <a:rPr lang="en-US" dirty="0">
                <a:latin typeface="Times New Roman" panose="02020603050405020304" pitchFamily="18" charset="0"/>
                <a:cs typeface="Times New Roman" panose="02020603050405020304" pitchFamily="18" charset="0"/>
              </a:rPr>
              <a:t> and </a:t>
            </a: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S</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 100.0 J/</a:t>
            </a:r>
            <a:r>
              <a:rPr lang="en-US" dirty="0" err="1">
                <a:latin typeface="Times New Roman" panose="02020603050405020304" pitchFamily="18" charset="0"/>
                <a:cs typeface="Times New Roman" panose="02020603050405020304" pitchFamily="18" charset="0"/>
              </a:rPr>
              <a:t>molK</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calculate the normal boiling point of Hg.</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a:buFontTx/>
              <a:buNone/>
            </a:pP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G</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H</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sym typeface="Symbol" pitchFamily="18" charset="2"/>
              </a:rPr>
              <a:t></a:t>
            </a:r>
            <a:r>
              <a:rPr lang="en-US" i="1" dirty="0">
                <a:latin typeface="Times New Roman" panose="02020603050405020304" pitchFamily="18" charset="0"/>
                <a:cs typeface="Times New Roman" panose="02020603050405020304" pitchFamily="18" charset="0"/>
              </a:rPr>
              <a:t>S</a:t>
            </a:r>
            <a:r>
              <a:rPr lang="en-US" baseline="30000" dirty="0">
                <a:latin typeface="Times New Roman" panose="02020603050405020304" pitchFamily="18" charset="0"/>
                <a:cs typeface="Times New Roman" panose="02020603050405020304" pitchFamily="18" charset="0"/>
              </a:rPr>
              <a:t>o</a:t>
            </a:r>
            <a:r>
              <a:rPr lang="en-US" dirty="0">
                <a:latin typeface="Times New Roman" panose="02020603050405020304" pitchFamily="18" charset="0"/>
                <a:cs typeface="Times New Roman" panose="02020603050405020304" pitchFamily="18" charset="0"/>
              </a:rPr>
              <a:t>= 0 at phase change</a:t>
            </a:r>
          </a:p>
          <a:p>
            <a:pPr>
              <a:buFontTx/>
              <a:buNone/>
            </a:pPr>
            <a:r>
              <a:rPr lang="en-US" dirty="0">
                <a:latin typeface="Times New Roman" panose="02020603050405020304" pitchFamily="18" charset="0"/>
                <a:cs typeface="Times New Roman" panose="02020603050405020304" pitchFamily="18" charset="0"/>
                <a:sym typeface="Symbol" pitchFamily="18" charset="2"/>
              </a:rPr>
              <a:t>0</a:t>
            </a:r>
            <a:r>
              <a:rPr lang="en-US" dirty="0">
                <a:latin typeface="Times New Roman" panose="02020603050405020304" pitchFamily="18" charset="0"/>
                <a:cs typeface="Times New Roman" panose="02020603050405020304" pitchFamily="18" charset="0"/>
              </a:rPr>
              <a:t> = 61.3 –</a:t>
            </a: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(0.1000)</a:t>
            </a:r>
          </a:p>
          <a:p>
            <a:pPr>
              <a:buFontTx/>
              <a:buNone/>
            </a:pP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 613K or </a:t>
            </a:r>
            <a:r>
              <a:rPr lang="en-US" dirty="0">
                <a:solidFill>
                  <a:schemeClr val="accent2"/>
                </a:solidFill>
                <a:latin typeface="Times New Roman" panose="02020603050405020304" pitchFamily="18" charset="0"/>
                <a:cs typeface="Times New Roman" panose="02020603050405020304" pitchFamily="18" charset="0"/>
              </a:rPr>
              <a:t>340</a:t>
            </a:r>
            <a:r>
              <a:rPr lang="en-US" baseline="30000" dirty="0">
                <a:solidFill>
                  <a:schemeClr val="accent2"/>
                </a:solidFill>
                <a:latin typeface="Times New Roman" panose="02020603050405020304" pitchFamily="18" charset="0"/>
                <a:cs typeface="Times New Roman" panose="02020603050405020304" pitchFamily="18" charset="0"/>
              </a:rPr>
              <a:t>o</a:t>
            </a:r>
            <a:r>
              <a:rPr lang="en-US" dirty="0">
                <a:solidFill>
                  <a:schemeClr val="accent2"/>
                </a:solidFill>
                <a:latin typeface="Times New Roman" panose="02020603050405020304" pitchFamily="18" charset="0"/>
                <a:cs typeface="Times New Roman" panose="02020603050405020304" pitchFamily="18" charset="0"/>
              </a:rPr>
              <a:t>C</a:t>
            </a:r>
          </a:p>
        </p:txBody>
      </p:sp>
    </p:spTree>
    <p:extLst>
      <p:ext uri="{BB962C8B-B14F-4D97-AF65-F5344CB8AC3E}">
        <p14:creationId xmlns:p14="http://schemas.microsoft.com/office/powerpoint/2010/main" val="381777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anim calcmode="lin" valueType="num">
                                      <p:cBhvr additive="base">
                                        <p:cTn id="7"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0" end="1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11" end="11"/>
                                            </p:txEl>
                                          </p:spTgt>
                                        </p:tgtEl>
                                        <p:attrNameLst>
                                          <p:attrName>style.visibility</p:attrName>
                                        </p:attrNameLst>
                                      </p:cBhvr>
                                      <p:to>
                                        <p:strVal val="visible"/>
                                      </p:to>
                                    </p:set>
                                    <p:anim calcmode="lin" valueType="num">
                                      <p:cBhvr additive="base">
                                        <p:cTn id="11"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1" end="1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12" end="12"/>
                                            </p:txEl>
                                          </p:spTgt>
                                        </p:tgtEl>
                                        <p:attrNameLst>
                                          <p:attrName>style.visibility</p:attrName>
                                        </p:attrNameLst>
                                      </p:cBhvr>
                                      <p:to>
                                        <p:strVal val="visible"/>
                                      </p:to>
                                    </p:set>
                                    <p:anim calcmode="lin" valueType="num">
                                      <p:cBhvr additive="base">
                                        <p:cTn id="15"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10212"/>
            <a:ext cx="10896600" cy="751788"/>
          </a:xfrm>
        </p:spPr>
        <p:txBody>
          <a:bodyPr>
            <a:normAutofit/>
          </a:bodyPr>
          <a:lstStyle/>
          <a:p>
            <a:r>
              <a:rPr lang="en-US" sz="4000" b="1" dirty="0">
                <a:solidFill>
                  <a:schemeClr val="tx1"/>
                </a:solidFill>
                <a:latin typeface="Times New Roman" panose="02020603050405020304" pitchFamily="18" charset="0"/>
                <a:cs typeface="Times New Roman" panose="02020603050405020304" pitchFamily="18" charset="0"/>
              </a:rPr>
              <a:t>When ∆G is positive……</a:t>
            </a:r>
            <a:endParaRPr lang="en-US" dirty="0">
              <a:latin typeface="Times New Roman" panose="02020603050405020304" pitchFamily="18" charset="0"/>
              <a:cs typeface="Times New Roman" panose="02020603050405020304" pitchFamily="18" charset="0"/>
            </a:endParaRPr>
          </a:p>
        </p:txBody>
      </p:sp>
      <p:sp>
        <p:nvSpPr>
          <p:cNvPr id="25603" name="Content Placeholder 2"/>
          <p:cNvSpPr>
            <a:spLocks noGrp="1"/>
          </p:cNvSpPr>
          <p:nvPr>
            <p:ph idx="1"/>
          </p:nvPr>
        </p:nvSpPr>
        <p:spPr>
          <a:xfrm>
            <a:off x="685800" y="838200"/>
            <a:ext cx="10896600" cy="5181600"/>
          </a:xfrm>
        </p:spPr>
        <p:txBody>
          <a:bodyPr/>
          <a:lstStyle/>
          <a:p>
            <a:pPr>
              <a:buFontTx/>
              <a:buNone/>
            </a:pPr>
            <a:r>
              <a:rPr lang="en-US" dirty="0"/>
              <a:t>A reaction where ∆G &gt; 0 will not occur independently. External sources of energy can be used to drive reactions with positive ∆G values.  These are known as </a:t>
            </a:r>
            <a:r>
              <a:rPr lang="en-US" dirty="0">
                <a:solidFill>
                  <a:srgbClr val="FF0000"/>
                </a:solidFill>
              </a:rPr>
              <a:t>coupled</a:t>
            </a:r>
            <a:r>
              <a:rPr lang="en-US" dirty="0"/>
              <a:t> reactions</a:t>
            </a: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Electricity may be used to cause a reaction to occur through electrolysis.  We will look at this in our electrochemistry unit (</a:t>
            </a:r>
            <a:r>
              <a:rPr lang="en-US" dirty="0" err="1">
                <a:latin typeface="Times New Roman" panose="02020603050405020304" pitchFamily="18" charset="0"/>
                <a:cs typeface="Times New Roman" panose="02020603050405020304" pitchFamily="18" charset="0"/>
              </a:rPr>
              <a:t>Ch</a:t>
            </a:r>
            <a:r>
              <a:rPr lang="en-US" dirty="0">
                <a:latin typeface="Times New Roman" panose="02020603050405020304" pitchFamily="18" charset="0"/>
                <a:cs typeface="Times New Roman" panose="02020603050405020304" pitchFamily="18" charset="0"/>
              </a:rPr>
              <a:t> 18).</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Light may be used (photoionization or absorption of photons (as in photosynthesis))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The reaction may be couple with another that has a very negative ∆G value, as in the conversion of ADP to ATP</a:t>
            </a:r>
            <a:r>
              <a:rPr lang="en-US" dirty="0"/>
              <a:t>.</a:t>
            </a:r>
          </a:p>
          <a:p>
            <a:pPr marL="0" indent="0">
              <a:buNone/>
            </a:pPr>
            <a:endParaRPr lang="en-US" dirty="0"/>
          </a:p>
        </p:txBody>
      </p:sp>
    </p:spTree>
    <p:extLst>
      <p:ext uri="{BB962C8B-B14F-4D97-AF65-F5344CB8AC3E}">
        <p14:creationId xmlns:p14="http://schemas.microsoft.com/office/powerpoint/2010/main" val="3196265276"/>
      </p:ext>
    </p:extLst>
  </p:cSld>
  <p:clrMapOvr>
    <a:masterClrMapping/>
  </p:clrMapOvr>
</p:sld>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defRPr>
        </a:defPPr>
      </a:lstStyle>
    </a:ln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12509</TotalTime>
  <Words>5332</Words>
  <Application>Microsoft Office PowerPoint</Application>
  <PresentationFormat>Widescreen</PresentationFormat>
  <Paragraphs>492</Paragraphs>
  <Slides>76</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7" baseType="lpstr">
      <vt:lpstr>ＭＳ Ｐゴシック</vt:lpstr>
      <vt:lpstr>Andalus</vt:lpstr>
      <vt:lpstr>Arial</vt:lpstr>
      <vt:lpstr>Calibri</vt:lpstr>
      <vt:lpstr>Cambria Math</vt:lpstr>
      <vt:lpstr>Symbol</vt:lpstr>
      <vt:lpstr>Times New Roman</vt:lpstr>
      <vt:lpstr>Wingdings</vt:lpstr>
      <vt:lpstr>WP MathA</vt:lpstr>
      <vt:lpstr>Blank Presentation</vt:lpstr>
      <vt:lpstr>Image</vt:lpstr>
      <vt:lpstr>6.1 Endo and  Exothermic RXNs 6.2 Energy Diagrams 6.3 Heat Transfer  and Thermal Equilibrium 6.4 Heat Capacity and Calorimetry </vt:lpstr>
      <vt:lpstr>Review Time</vt:lpstr>
      <vt:lpstr>Consider the processes below. Which require energy and which free energy?</vt:lpstr>
      <vt:lpstr>Exothermic- reaction which has an overall release of energy</vt:lpstr>
      <vt:lpstr>Endothermic- reaction which overall absorbs energy</vt:lpstr>
      <vt:lpstr>PowerPoint Presentation</vt:lpstr>
      <vt:lpstr>In terms of heat, endothermic reactions  are energetically unfavorable</vt:lpstr>
      <vt:lpstr>Energy-  the capacity to do work or to produce heat  1st Law of Thermodynamics: Law of Conservation of Energy   Energy can be converted from one form to another but it can be neither created nor destroyed.  The total amount of energy in the universe is constant.</vt:lpstr>
      <vt:lpstr>PowerPoint Presentation</vt:lpstr>
      <vt:lpstr>PowerPoint Presentation</vt:lpstr>
      <vt:lpstr>PowerPoint Presentation</vt:lpstr>
      <vt:lpstr>PowerPoint Presentation</vt:lpstr>
      <vt:lpstr>The system is our reaction.  The surroundings are everything else.  Together they make up the universe.  Energy is transferred from one to another- either system to surroundings (exothermic) or surroundings to system (endothermic) </vt:lpstr>
      <vt:lpstr>The system is our reaction.  The surroundings are everything else.</vt:lpstr>
      <vt:lpstr>Heat Transfer (either Released or Absorbed)</vt:lpstr>
      <vt:lpstr>PowerPoint Presentation</vt:lpstr>
      <vt:lpstr>Practice</vt:lpstr>
      <vt:lpstr>Conservation of energy</vt:lpstr>
      <vt:lpstr>      </vt:lpstr>
      <vt:lpstr>Practice Problem</vt:lpstr>
      <vt:lpstr>6.5 Energy of Phase Change  6.6 Intro to Enthalpy of Rxn 6.9 Hess’ Law </vt:lpstr>
      <vt:lpstr>Heat Transfer and Phase Changes Label the diagram with the phase changes represented for each segment</vt:lpstr>
      <vt:lpstr>Heat Transfer and Phase Changes</vt:lpstr>
      <vt:lpstr>Practice</vt:lpstr>
      <vt:lpstr>PowerPoint Presentation</vt:lpstr>
      <vt:lpstr>PowerPoint Presentation</vt:lpstr>
      <vt:lpstr>Reaction Enthalpy</vt:lpstr>
      <vt:lpstr>Molar Enthalpy (DHmolrxn)</vt:lpstr>
      <vt:lpstr>Calorimetry Problem</vt:lpstr>
      <vt:lpstr>Practice:  For the reaction     2Na + 2H2O  2NaOH + H2 ,   H = 368 kJ/molrxn Calculate the heat change that occurs when 3.5 g of Na reacts with excess water.  </vt:lpstr>
      <vt:lpstr> Practice:  4.00g of ammonium nitrate are added to 100.0 mL of water in a polystyrene cup.  The water in the cup is initially at a temperature of 22.5°C and decreases to a temperature of 19.3°C.  Determine the heat transferred in this reaction, then determine the enthalpy of solution of ammonium nitrate in kJ/mol.  Assume that the heat absorbed or released by the calorimeter is negligible.  </vt:lpstr>
      <vt:lpstr>PowerPoint Presentation</vt:lpstr>
      <vt:lpstr>6.9 Hess’ Law 6.7 Bond Enthalpies 6.8 Energy of Formation (Big MAMA)</vt:lpstr>
      <vt:lpstr>PowerPoint Presentation</vt:lpstr>
      <vt:lpstr>PowerPoint Presentation</vt:lpstr>
      <vt:lpstr>Rules for applying Hess’ Law</vt:lpstr>
      <vt:lpstr>Example:</vt:lpstr>
      <vt:lpstr>Practice:  Given the following reactions and their respective enthalpy changes, calculate H for the reaction: 2C + H2 C2H2.  C2H2 + 5/2 O2  2CO2 + H2O       H = 1299.6 kJ/molrxn  C + O2  CO2                               H = 393.5 kJ/molrxn  H2 + ½ O2  H2O                         H = 285.9 kJ /molrxn   </vt:lpstr>
      <vt:lpstr>Tabulated Enthalpy Values are true at the Standard State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Enthalpy of Reaction from Bond Energies</vt:lpstr>
      <vt:lpstr>Using Bond Energies to Estimate DH°rxn</vt:lpstr>
      <vt:lpstr>PowerPoint Presentation</vt:lpstr>
      <vt:lpstr>PowerPoint Presentation</vt:lpstr>
      <vt:lpstr>How do you know what to solve???</vt:lpstr>
      <vt:lpstr>What if it’s not ΔHrxn? What if it is something else?</vt:lpstr>
      <vt:lpstr>9.1 Intro to Entropy 9.2 Absolute Entropy and Entropy Change 9.3 Gibbs Free Energy and Thermodynamic Favorability 9.4 Thermodynamic and Kinetic Control</vt:lpstr>
      <vt:lpstr>Question…..  Are all exothermic processes favorable?  Are all endothermic processes unfavorable?  Why do some processes naturally occur while others don’t?</vt:lpstr>
      <vt:lpstr>Thermodynamic Favorability or “Spontaneity”</vt:lpstr>
      <vt:lpstr>Entropy, S </vt:lpstr>
      <vt:lpstr>2nd Law of Thermodynamics </vt:lpstr>
      <vt:lpstr>PowerPoint Presentation</vt:lpstr>
      <vt:lpstr>PowerPoint Presentation</vt:lpstr>
      <vt:lpstr>PowerPoint Presentation</vt:lpstr>
      <vt:lpstr>PowerPoint Presentation</vt:lpstr>
      <vt:lpstr>Change in Entropy, DS</vt:lpstr>
      <vt:lpstr>Predicting Change in Entropy, DS</vt:lpstr>
      <vt:lpstr>Calculating S</vt:lpstr>
      <vt:lpstr>     Sample Problem   </vt:lpstr>
      <vt:lpstr>Thermodynamic Favorability and Free energy, DG</vt:lpstr>
      <vt:lpstr>Thermodynamic Favorability (Spontaneity)  is determined by the SIGN of G</vt:lpstr>
      <vt:lpstr>Predicting thermodynamic favorability using G = H -TS</vt:lpstr>
      <vt:lpstr>Calculating using G = H -TS</vt:lpstr>
      <vt:lpstr>Calculating using G = H -TS</vt:lpstr>
      <vt:lpstr>PowerPoint Presentation</vt:lpstr>
      <vt:lpstr>Sample Problem</vt:lpstr>
      <vt:lpstr>When G = 0, system is a equilibrium</vt:lpstr>
      <vt:lpstr>When ∆G is positive……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 CHEMISTRY       CHAPTER 6 NOTES       THERMOCHEMISTRY</dc:title>
  <dc:creator>Kristen Jones</dc:creator>
  <cp:lastModifiedBy>Nicole_White</cp:lastModifiedBy>
  <cp:revision>192</cp:revision>
  <dcterms:created xsi:type="dcterms:W3CDTF">2003-10-26T20:55:23Z</dcterms:created>
  <dcterms:modified xsi:type="dcterms:W3CDTF">2024-12-06T17:31:46Z</dcterms:modified>
</cp:coreProperties>
</file>