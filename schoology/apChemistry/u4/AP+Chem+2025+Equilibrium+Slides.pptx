
<file path=[Content_Types].xml><?xml version="1.0" encoding="utf-8"?>
<Types xmlns="http://schemas.openxmlformats.org/package/2006/content-types">
  <Default Extension="png" ContentType="image/png"/>
  <Default Extension="bin" ContentType="application/vnd.openxmlformats-officedocument.oleObject"/>
  <Default Extension="jpeg" ContentType="image/jpeg"/>
  <Default Extension="wmf" ContentType="image/x-wmf"/>
  <Default Extension="rels" ContentType="application/vnd.openxmlformats-package.relationships+xml"/>
  <Default Extension="xml" ContentType="application/xml"/>
  <Default Extension="vml" ContentType="application/vnd.openxmlformats-officedocument.vmlDrawi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7"/>
  </p:notesMasterIdLst>
  <p:handoutMasterIdLst>
    <p:handoutMasterId r:id="rId68"/>
  </p:handoutMasterIdLst>
  <p:sldIdLst>
    <p:sldId id="256" r:id="rId2"/>
    <p:sldId id="273" r:id="rId3"/>
    <p:sldId id="287" r:id="rId4"/>
    <p:sldId id="259" r:id="rId5"/>
    <p:sldId id="315" r:id="rId6"/>
    <p:sldId id="276" r:id="rId7"/>
    <p:sldId id="289" r:id="rId8"/>
    <p:sldId id="264" r:id="rId9"/>
    <p:sldId id="263" r:id="rId10"/>
    <p:sldId id="316" r:id="rId11"/>
    <p:sldId id="317" r:id="rId12"/>
    <p:sldId id="288" r:id="rId13"/>
    <p:sldId id="306" r:id="rId14"/>
    <p:sldId id="307" r:id="rId15"/>
    <p:sldId id="308" r:id="rId16"/>
    <p:sldId id="373" r:id="rId17"/>
    <p:sldId id="309" r:id="rId18"/>
    <p:sldId id="374" r:id="rId19"/>
    <p:sldId id="310" r:id="rId20"/>
    <p:sldId id="312" r:id="rId21"/>
    <p:sldId id="318" r:id="rId22"/>
    <p:sldId id="319" r:id="rId23"/>
    <p:sldId id="338" r:id="rId24"/>
    <p:sldId id="321" r:id="rId25"/>
    <p:sldId id="356" r:id="rId26"/>
    <p:sldId id="357" r:id="rId27"/>
    <p:sldId id="322" r:id="rId28"/>
    <p:sldId id="323" r:id="rId29"/>
    <p:sldId id="324" r:id="rId30"/>
    <p:sldId id="325" r:id="rId31"/>
    <p:sldId id="326" r:id="rId32"/>
    <p:sldId id="327" r:id="rId33"/>
    <p:sldId id="329" r:id="rId34"/>
    <p:sldId id="355" r:id="rId35"/>
    <p:sldId id="339" r:id="rId36"/>
    <p:sldId id="340" r:id="rId37"/>
    <p:sldId id="341" r:id="rId38"/>
    <p:sldId id="354" r:id="rId39"/>
    <p:sldId id="342" r:id="rId40"/>
    <p:sldId id="344" r:id="rId41"/>
    <p:sldId id="345" r:id="rId42"/>
    <p:sldId id="346" r:id="rId43"/>
    <p:sldId id="347" r:id="rId44"/>
    <p:sldId id="348" r:id="rId45"/>
    <p:sldId id="349" r:id="rId46"/>
    <p:sldId id="350" r:id="rId47"/>
    <p:sldId id="351" r:id="rId48"/>
    <p:sldId id="352" r:id="rId49"/>
    <p:sldId id="353" r:id="rId50"/>
    <p:sldId id="358" r:id="rId51"/>
    <p:sldId id="359" r:id="rId52"/>
    <p:sldId id="360" r:id="rId53"/>
    <p:sldId id="361" r:id="rId54"/>
    <p:sldId id="362" r:id="rId55"/>
    <p:sldId id="363" r:id="rId56"/>
    <p:sldId id="364" r:id="rId57"/>
    <p:sldId id="365" r:id="rId58"/>
    <p:sldId id="366" r:id="rId59"/>
    <p:sldId id="367" r:id="rId60"/>
    <p:sldId id="368" r:id="rId61"/>
    <p:sldId id="369" r:id="rId62"/>
    <p:sldId id="370" r:id="rId63"/>
    <p:sldId id="375" r:id="rId64"/>
    <p:sldId id="371" r:id="rId65"/>
    <p:sldId id="372" r:id="rId6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p:cViewPr varScale="1">
        <p:scale>
          <a:sx n="103" d="100"/>
          <a:sy n="103" d="100"/>
        </p:scale>
        <p:origin x="876" y="114"/>
      </p:cViewPr>
      <p:guideLst>
        <p:guide orient="horz" pos="2160"/>
        <p:guide pos="3840"/>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handoutMaster" Target="handoutMasters/handoutMaster1.xml"/><Relationship Id="rId7" Type="http://schemas.openxmlformats.org/officeDocument/2006/relationships/slide" Target="slides/slide6.xml"/><Relationship Id="rId71"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6.wmf"/></Relationships>
</file>

<file path=ppt/drawings/_rels/vmlDrawing2.vml.rels><?xml version="1.0" encoding="UTF-8" standalone="yes"?>
<Relationships xmlns="http://schemas.openxmlformats.org/package/2006/relationships"><Relationship Id="rId2" Type="http://schemas.openxmlformats.org/officeDocument/2006/relationships/image" Target="../media/image16.wmf"/><Relationship Id="rId1" Type="http://schemas.openxmlformats.org/officeDocument/2006/relationships/image" Target="../media/image15.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C4FD92B1-6ACA-41B2-B434-8AEE76F37B86}" type="datetimeFigureOut">
              <a:rPr lang="en-US" smtClean="0"/>
              <a:t>10/13/2025</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0F7D41F5-DEDB-49E1-9106-C45A463859C2}" type="slidenum">
              <a:rPr lang="en-US" smtClean="0"/>
              <a:t>‹#›</a:t>
            </a:fld>
            <a:endParaRPr lang="en-US"/>
          </a:p>
        </p:txBody>
      </p:sp>
    </p:spTree>
    <p:extLst>
      <p:ext uri="{BB962C8B-B14F-4D97-AF65-F5344CB8AC3E}">
        <p14:creationId xmlns:p14="http://schemas.microsoft.com/office/powerpoint/2010/main" val="76228134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BC430418-D5CD-4B8B-B054-A1F3F26D04B3}" type="datetimeFigureOut">
              <a:rPr lang="en-US" smtClean="0"/>
              <a:t>10/13/2025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66850F31-1729-4D05-B8A3-651D4F28F23B}" type="slidenum">
              <a:rPr lang="en-US" smtClean="0"/>
              <a:t>‹#›</a:t>
            </a:fld>
            <a:endParaRPr lang="en-US"/>
          </a:p>
        </p:txBody>
      </p:sp>
    </p:spTree>
    <p:extLst>
      <p:ext uri="{BB962C8B-B14F-4D97-AF65-F5344CB8AC3E}">
        <p14:creationId xmlns:p14="http://schemas.microsoft.com/office/powerpoint/2010/main" val="1883891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Slide Image Placeholder 1"/>
          <p:cNvSpPr>
            <a:spLocks noGrp="1" noRot="1" noChangeAspect="1" noTextEdit="1"/>
          </p:cNvSpPr>
          <p:nvPr>
            <p:ph type="sldImg"/>
          </p:nvPr>
        </p:nvSpPr>
        <p:spPr bwMode="auto">
          <a:noFill/>
          <a:ln>
            <a:solidFill>
              <a:srgbClr val="000000"/>
            </a:solidFill>
            <a:miter lim="800000"/>
            <a:headEnd/>
            <a:tailEnd/>
          </a:ln>
        </p:spPr>
      </p:sp>
      <p:sp>
        <p:nvSpPr>
          <p:cNvPr id="57347"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57348"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79052D23-E276-4165-AE23-30BC4D0B1B2A}" type="slidenum">
              <a:rPr lang="en-US" smtClean="0"/>
              <a:pPr/>
              <a:t>3</a:t>
            </a:fld>
            <a:endParaRPr lang="en-US"/>
          </a:p>
        </p:txBody>
      </p:sp>
    </p:spTree>
    <p:extLst>
      <p:ext uri="{BB962C8B-B14F-4D97-AF65-F5344CB8AC3E}">
        <p14:creationId xmlns:p14="http://schemas.microsoft.com/office/powerpoint/2010/main" val="26882048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66F8E12D-F1CE-4B84-AAD4-CCC3D7439D7E}" type="slidenum">
              <a:rPr lang="en-US"/>
              <a:pPr/>
              <a:t>4</a:t>
            </a:fld>
            <a:endParaRPr lang="en-US"/>
          </a:p>
        </p:txBody>
      </p:sp>
      <p:sp>
        <p:nvSpPr>
          <p:cNvPr id="14338" name="Rectangle 2"/>
          <p:cNvSpPr>
            <a:spLocks noGrp="1" noRot="1" noChangeAspect="1" noChangeArrowheads="1" noTextEdit="1"/>
          </p:cNvSpPr>
          <p:nvPr>
            <p:ph type="sldImg"/>
          </p:nvPr>
        </p:nvSpPr>
        <p:spPr>
          <a:xfrm>
            <a:off x="381000" y="685800"/>
            <a:ext cx="6096000" cy="3429000"/>
          </a:xfrm>
          <a:ln/>
        </p:spPr>
      </p:sp>
      <p:sp>
        <p:nvSpPr>
          <p:cNvPr id="14339" name="Rectangle 3"/>
          <p:cNvSpPr>
            <a:spLocks noGrp="1" noChangeArrowheads="1"/>
          </p:cNvSpPr>
          <p:nvPr>
            <p:ph type="body" idx="1"/>
          </p:nvPr>
        </p:nvSpPr>
        <p:spPr/>
        <p:txBody>
          <a:bodyPr/>
          <a:lstStyle/>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25C9EC78-AB96-4035-B71C-1C14408E0AB8}" type="slidenum">
              <a:rPr lang="en-US"/>
              <a:pPr/>
              <a:t>5</a:t>
            </a:fld>
            <a:endParaRPr lang="en-US"/>
          </a:p>
        </p:txBody>
      </p:sp>
      <p:sp>
        <p:nvSpPr>
          <p:cNvPr id="26626" name="Rectangle 2"/>
          <p:cNvSpPr>
            <a:spLocks noGrp="1" noRot="1" noChangeAspect="1" noChangeArrowheads="1" noTextEdit="1"/>
          </p:cNvSpPr>
          <p:nvPr>
            <p:ph type="sldImg"/>
          </p:nvPr>
        </p:nvSpPr>
        <p:spPr>
          <a:xfrm>
            <a:off x="381000" y="685800"/>
            <a:ext cx="6096000" cy="3429000"/>
          </a:xfrm>
          <a:ln/>
        </p:spPr>
      </p:sp>
      <p:sp>
        <p:nvSpPr>
          <p:cNvPr id="26627"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19991017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Slide Image Placeholder 1"/>
          <p:cNvSpPr>
            <a:spLocks noGrp="1" noRot="1" noChangeAspect="1" noTextEdit="1"/>
          </p:cNvSpPr>
          <p:nvPr>
            <p:ph type="sldImg"/>
          </p:nvPr>
        </p:nvSpPr>
        <p:spPr bwMode="auto">
          <a:noFill/>
          <a:ln>
            <a:solidFill>
              <a:srgbClr val="000000"/>
            </a:solidFill>
            <a:miter lim="800000"/>
            <a:headEnd/>
            <a:tailEnd/>
          </a:ln>
        </p:spPr>
      </p:sp>
      <p:sp>
        <p:nvSpPr>
          <p:cNvPr id="67587"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67588"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08F9AD1F-0414-4F82-879B-D7B3CBCCFBB8}" type="slidenum">
              <a:rPr lang="en-US" smtClean="0"/>
              <a:pPr/>
              <a:t>7</a:t>
            </a:fld>
            <a:endParaRPr lang="en-US"/>
          </a:p>
        </p:txBody>
      </p:sp>
    </p:spTree>
    <p:extLst>
      <p:ext uri="{BB962C8B-B14F-4D97-AF65-F5344CB8AC3E}">
        <p14:creationId xmlns:p14="http://schemas.microsoft.com/office/powerpoint/2010/main" val="40684436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D824666-77C8-421F-B93B-1C631C1CFB65}" type="slidenum">
              <a:rPr lang="en-US"/>
              <a:pPr/>
              <a:t>8</a:t>
            </a:fld>
            <a:endParaRPr lang="en-US"/>
          </a:p>
        </p:txBody>
      </p:sp>
      <p:sp>
        <p:nvSpPr>
          <p:cNvPr id="173058" name="Rectangle 2"/>
          <p:cNvSpPr>
            <a:spLocks noGrp="1" noRot="1" noChangeAspect="1" noChangeArrowheads="1" noTextEdit="1"/>
          </p:cNvSpPr>
          <p:nvPr>
            <p:ph type="sldImg"/>
          </p:nvPr>
        </p:nvSpPr>
        <p:spPr bwMode="auto">
          <a:xfrm>
            <a:off x="381000" y="685800"/>
            <a:ext cx="6096000" cy="3429000"/>
          </a:xfrm>
          <a:prstGeom prst="rect">
            <a:avLst/>
          </a:prstGeom>
          <a:solidFill>
            <a:srgbClr val="FFFFFF"/>
          </a:solidFill>
          <a:ln>
            <a:solidFill>
              <a:srgbClr val="000000"/>
            </a:solidFill>
            <a:miter lim="800000"/>
            <a:headEnd/>
            <a:tailEnd/>
          </a:ln>
        </p:spPr>
      </p:sp>
      <p:sp>
        <p:nvSpPr>
          <p:cNvPr id="173059" name="Rectangle 3"/>
          <p:cNvSpPr>
            <a:spLocks noGrp="1" noChangeArrowheads="1"/>
          </p:cNvSpPr>
          <p:nvPr>
            <p:ph type="body" idx="1"/>
          </p:nvPr>
        </p:nvSpPr>
        <p:spPr bwMode="auto">
          <a:xfrm>
            <a:off x="914400" y="4343400"/>
            <a:ext cx="5029200" cy="4114800"/>
          </a:xfrm>
          <a:prstGeom prst="rect">
            <a:avLst/>
          </a:prstGeom>
          <a:solidFill>
            <a:srgbClr val="FFFFFF"/>
          </a:solidFill>
          <a:ln>
            <a:solidFill>
              <a:srgbClr val="000000"/>
            </a:solidFill>
            <a:miter lim="800000"/>
            <a:headEnd/>
            <a:tailEnd/>
          </a:ln>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25C9EC78-AB96-4035-B71C-1C14408E0AB8}" type="slidenum">
              <a:rPr lang="en-US"/>
              <a:pPr/>
              <a:t>9</a:t>
            </a:fld>
            <a:endParaRPr lang="en-US"/>
          </a:p>
        </p:txBody>
      </p:sp>
      <p:sp>
        <p:nvSpPr>
          <p:cNvPr id="26626" name="Rectangle 2"/>
          <p:cNvSpPr>
            <a:spLocks noGrp="1" noRot="1" noChangeAspect="1" noChangeArrowheads="1" noTextEdit="1"/>
          </p:cNvSpPr>
          <p:nvPr>
            <p:ph type="sldImg"/>
          </p:nvPr>
        </p:nvSpPr>
        <p:spPr>
          <a:xfrm>
            <a:off x="381000" y="685800"/>
            <a:ext cx="6096000" cy="3429000"/>
          </a:xfrm>
          <a:ln/>
        </p:spPr>
      </p:sp>
      <p:sp>
        <p:nvSpPr>
          <p:cNvPr id="26627" name="Rectangle 3"/>
          <p:cNvSpPr>
            <a:spLocks noGrp="1" noChangeArrowheads="1"/>
          </p:cNvSpPr>
          <p:nvPr>
            <p:ph type="body" idx="1"/>
          </p:nvPr>
        </p:nvSpPr>
        <p:spPr/>
        <p:txBody>
          <a:bodyPr/>
          <a:lstStyle/>
          <a:p>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Slide Image Placeholder 1"/>
          <p:cNvSpPr>
            <a:spLocks noGrp="1" noRot="1" noChangeAspect="1" noTextEdit="1"/>
          </p:cNvSpPr>
          <p:nvPr>
            <p:ph type="sldImg"/>
          </p:nvPr>
        </p:nvSpPr>
        <p:spPr bwMode="auto">
          <a:noFill/>
          <a:ln>
            <a:solidFill>
              <a:srgbClr val="000000"/>
            </a:solidFill>
            <a:miter lim="800000"/>
            <a:headEnd/>
            <a:tailEnd/>
          </a:ln>
        </p:spPr>
      </p:sp>
      <p:sp>
        <p:nvSpPr>
          <p:cNvPr id="69635"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69636"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5B21B331-B02D-40B6-B055-35DFFE1FB6F6}" type="slidenum">
              <a:rPr lang="en-US" smtClean="0"/>
              <a:pPr/>
              <a:t>10</a:t>
            </a:fld>
            <a:endParaRPr lang="en-US"/>
          </a:p>
        </p:txBody>
      </p:sp>
    </p:spTree>
    <p:extLst>
      <p:ext uri="{BB962C8B-B14F-4D97-AF65-F5344CB8AC3E}">
        <p14:creationId xmlns:p14="http://schemas.microsoft.com/office/powerpoint/2010/main" val="30733937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Slide Image Placeholder 1"/>
          <p:cNvSpPr>
            <a:spLocks noGrp="1" noRot="1" noChangeAspect="1" noTextEdit="1"/>
          </p:cNvSpPr>
          <p:nvPr>
            <p:ph type="sldImg"/>
          </p:nvPr>
        </p:nvSpPr>
        <p:spPr bwMode="auto">
          <a:noFill/>
          <a:ln>
            <a:solidFill>
              <a:srgbClr val="000000"/>
            </a:solidFill>
            <a:miter lim="800000"/>
            <a:headEnd/>
            <a:tailEnd/>
          </a:ln>
        </p:spPr>
      </p:sp>
      <p:sp>
        <p:nvSpPr>
          <p:cNvPr id="63491"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63492"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C37E6087-3158-4EA5-8A64-AA9FFBAFEFCB}" type="slidenum">
              <a:rPr lang="en-US" smtClean="0"/>
              <a:pPr/>
              <a:t>12</a:t>
            </a:fld>
            <a:endParaRPr lang="en-US"/>
          </a:p>
        </p:txBody>
      </p:sp>
    </p:spTree>
    <p:extLst>
      <p:ext uri="{BB962C8B-B14F-4D97-AF65-F5344CB8AC3E}">
        <p14:creationId xmlns:p14="http://schemas.microsoft.com/office/powerpoint/2010/main" val="39271951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Slide Image Placeholder 1"/>
          <p:cNvSpPr>
            <a:spLocks noGrp="1" noRot="1" noChangeAspect="1" noTextEdit="1"/>
          </p:cNvSpPr>
          <p:nvPr>
            <p:ph type="sldImg"/>
          </p:nvPr>
        </p:nvSpPr>
        <p:spPr bwMode="auto">
          <a:noFill/>
          <a:ln>
            <a:solidFill>
              <a:srgbClr val="000000"/>
            </a:solidFill>
            <a:miter lim="800000"/>
            <a:headEnd/>
            <a:tailEnd/>
          </a:ln>
        </p:spPr>
      </p:sp>
      <p:sp>
        <p:nvSpPr>
          <p:cNvPr id="62467"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dirty="0"/>
          </a:p>
        </p:txBody>
      </p:sp>
      <p:sp>
        <p:nvSpPr>
          <p:cNvPr id="62468"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A335E83B-6B41-4460-AE51-EB6D2263BCC2}" type="slidenum">
              <a:rPr lang="en-US" smtClean="0"/>
              <a:pPr/>
              <a:t>13</a:t>
            </a:fld>
            <a:endParaRPr lang="en-US"/>
          </a:p>
        </p:txBody>
      </p:sp>
    </p:spTree>
    <p:extLst>
      <p:ext uri="{BB962C8B-B14F-4D97-AF65-F5344CB8AC3E}">
        <p14:creationId xmlns:p14="http://schemas.microsoft.com/office/powerpoint/2010/main" val="24566492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Slide Image Placeholder 1"/>
          <p:cNvSpPr>
            <a:spLocks noGrp="1" noRot="1" noChangeAspect="1" noTextEdit="1"/>
          </p:cNvSpPr>
          <p:nvPr>
            <p:ph type="sldImg"/>
          </p:nvPr>
        </p:nvSpPr>
        <p:spPr bwMode="auto">
          <a:noFill/>
          <a:ln>
            <a:solidFill>
              <a:srgbClr val="000000"/>
            </a:solidFill>
            <a:miter lim="800000"/>
            <a:headEnd/>
            <a:tailEnd/>
          </a:ln>
        </p:spPr>
      </p:sp>
      <p:sp>
        <p:nvSpPr>
          <p:cNvPr id="63491"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dirty="0"/>
          </a:p>
        </p:txBody>
      </p:sp>
      <p:sp>
        <p:nvSpPr>
          <p:cNvPr id="63492"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C37E6087-3158-4EA5-8A64-AA9FFBAFEFCB}" type="slidenum">
              <a:rPr lang="en-US" smtClean="0"/>
              <a:pPr/>
              <a:t>14</a:t>
            </a:fld>
            <a:endParaRPr lang="en-US"/>
          </a:p>
        </p:txBody>
      </p:sp>
    </p:spTree>
    <p:extLst>
      <p:ext uri="{BB962C8B-B14F-4D97-AF65-F5344CB8AC3E}">
        <p14:creationId xmlns:p14="http://schemas.microsoft.com/office/powerpoint/2010/main" val="32414065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Slide Image Placeholder 1"/>
          <p:cNvSpPr>
            <a:spLocks noGrp="1" noRot="1" noChangeAspect="1" noTextEdit="1"/>
          </p:cNvSpPr>
          <p:nvPr>
            <p:ph type="sldImg"/>
          </p:nvPr>
        </p:nvSpPr>
        <p:spPr bwMode="auto">
          <a:noFill/>
          <a:ln>
            <a:solidFill>
              <a:srgbClr val="000000"/>
            </a:solidFill>
            <a:miter lim="800000"/>
            <a:headEnd/>
            <a:tailEnd/>
          </a:ln>
        </p:spPr>
      </p:sp>
      <p:sp>
        <p:nvSpPr>
          <p:cNvPr id="64515"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64516"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C7B36FCB-C30D-474C-8514-8850DCEA10B3}" type="slidenum">
              <a:rPr lang="en-US" smtClean="0"/>
              <a:pPr/>
              <a:t>15</a:t>
            </a:fld>
            <a:endParaRPr lang="en-US"/>
          </a:p>
        </p:txBody>
      </p:sp>
    </p:spTree>
    <p:extLst>
      <p:ext uri="{BB962C8B-B14F-4D97-AF65-F5344CB8AC3E}">
        <p14:creationId xmlns:p14="http://schemas.microsoft.com/office/powerpoint/2010/main" val="25323788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Slide Image Placeholder 1"/>
          <p:cNvSpPr>
            <a:spLocks noGrp="1" noRot="1" noChangeAspect="1" noTextEdit="1"/>
          </p:cNvSpPr>
          <p:nvPr>
            <p:ph type="sldImg"/>
          </p:nvPr>
        </p:nvSpPr>
        <p:spPr bwMode="auto">
          <a:noFill/>
          <a:ln>
            <a:solidFill>
              <a:srgbClr val="000000"/>
            </a:solidFill>
            <a:miter lim="800000"/>
            <a:headEnd/>
            <a:tailEnd/>
          </a:ln>
        </p:spPr>
      </p:sp>
      <p:sp>
        <p:nvSpPr>
          <p:cNvPr id="65539"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65540"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9EF8E079-BA41-4F0A-9FAB-C3F1A6AF9025}" type="slidenum">
              <a:rPr lang="en-US" smtClean="0"/>
              <a:pPr/>
              <a:t>17</a:t>
            </a:fld>
            <a:endParaRPr lang="en-US"/>
          </a:p>
        </p:txBody>
      </p:sp>
    </p:spTree>
    <p:extLst>
      <p:ext uri="{BB962C8B-B14F-4D97-AF65-F5344CB8AC3E}">
        <p14:creationId xmlns:p14="http://schemas.microsoft.com/office/powerpoint/2010/main" val="37675758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Slide Image Placeholder 1"/>
          <p:cNvSpPr>
            <a:spLocks noGrp="1" noRot="1" noChangeAspect="1" noTextEdit="1"/>
          </p:cNvSpPr>
          <p:nvPr>
            <p:ph type="sldImg"/>
          </p:nvPr>
        </p:nvSpPr>
        <p:spPr bwMode="auto">
          <a:noFill/>
          <a:ln>
            <a:solidFill>
              <a:srgbClr val="000000"/>
            </a:solidFill>
            <a:miter lim="800000"/>
            <a:headEnd/>
            <a:tailEnd/>
          </a:ln>
        </p:spPr>
      </p:sp>
      <p:sp>
        <p:nvSpPr>
          <p:cNvPr id="66563"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66564"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87256884-037E-4A18-9D15-09EFC94EAFB3}" type="slidenum">
              <a:rPr lang="en-US" smtClean="0"/>
              <a:pPr/>
              <a:t>19</a:t>
            </a:fld>
            <a:endParaRPr lang="en-US"/>
          </a:p>
        </p:txBody>
      </p:sp>
    </p:spTree>
    <p:extLst>
      <p:ext uri="{BB962C8B-B14F-4D97-AF65-F5344CB8AC3E}">
        <p14:creationId xmlns:p14="http://schemas.microsoft.com/office/powerpoint/2010/main" val="917130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Slide Image Placeholder 1"/>
          <p:cNvSpPr>
            <a:spLocks noGrp="1" noRot="1" noChangeAspect="1" noTextEdit="1"/>
          </p:cNvSpPr>
          <p:nvPr>
            <p:ph type="sldImg"/>
          </p:nvPr>
        </p:nvSpPr>
        <p:spPr bwMode="auto">
          <a:noFill/>
          <a:ln>
            <a:solidFill>
              <a:srgbClr val="000000"/>
            </a:solidFill>
            <a:miter lim="800000"/>
            <a:headEnd/>
            <a:tailEnd/>
          </a:ln>
        </p:spPr>
      </p:sp>
      <p:sp>
        <p:nvSpPr>
          <p:cNvPr id="68611"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68612"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A16AFA99-44A3-4DAC-854A-29D02D039464}" type="slidenum">
              <a:rPr lang="en-US" smtClean="0"/>
              <a:pPr/>
              <a:t>30</a:t>
            </a:fld>
            <a:endParaRPr lang="en-US"/>
          </a:p>
        </p:txBody>
      </p:sp>
    </p:spTree>
    <p:extLst>
      <p:ext uri="{BB962C8B-B14F-4D97-AF65-F5344CB8AC3E}">
        <p14:creationId xmlns:p14="http://schemas.microsoft.com/office/powerpoint/2010/main" val="388846784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Slide Image Placeholder 1"/>
          <p:cNvSpPr>
            <a:spLocks noGrp="1" noRot="1" noChangeAspect="1" noTextEdit="1"/>
          </p:cNvSpPr>
          <p:nvPr>
            <p:ph type="sldImg"/>
          </p:nvPr>
        </p:nvSpPr>
        <p:spPr bwMode="auto">
          <a:noFill/>
          <a:ln>
            <a:solidFill>
              <a:srgbClr val="000000"/>
            </a:solidFill>
            <a:miter lim="800000"/>
            <a:headEnd/>
            <a:tailEnd/>
          </a:ln>
        </p:spPr>
      </p:sp>
      <p:sp>
        <p:nvSpPr>
          <p:cNvPr id="72707"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72708"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8DA4D8A1-D2DF-4372-8019-A65757B38D3F}" type="slidenum">
              <a:rPr lang="en-US" smtClean="0"/>
              <a:pPr/>
              <a:t>31</a:t>
            </a:fld>
            <a:endParaRPr lang="en-US"/>
          </a:p>
        </p:txBody>
      </p:sp>
    </p:spTree>
    <p:extLst>
      <p:ext uri="{BB962C8B-B14F-4D97-AF65-F5344CB8AC3E}">
        <p14:creationId xmlns:p14="http://schemas.microsoft.com/office/powerpoint/2010/main" val="4241864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Slide Image Placeholder 1"/>
          <p:cNvSpPr>
            <a:spLocks noGrp="1" noRot="1" noChangeAspect="1" noTextEdit="1"/>
          </p:cNvSpPr>
          <p:nvPr>
            <p:ph type="sldImg"/>
          </p:nvPr>
        </p:nvSpPr>
        <p:spPr bwMode="auto">
          <a:noFill/>
          <a:ln>
            <a:solidFill>
              <a:srgbClr val="000000"/>
            </a:solidFill>
            <a:miter lim="800000"/>
            <a:headEnd/>
            <a:tailEnd/>
          </a:ln>
        </p:spPr>
      </p:sp>
      <p:sp>
        <p:nvSpPr>
          <p:cNvPr id="73731"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73732"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BB5C0BA0-202D-470E-9E59-38571D8FABA6}" type="slidenum">
              <a:rPr lang="en-US" smtClean="0"/>
              <a:pPr/>
              <a:t>32</a:t>
            </a:fld>
            <a:endParaRPr lang="en-US"/>
          </a:p>
        </p:txBody>
      </p:sp>
    </p:spTree>
    <p:extLst>
      <p:ext uri="{BB962C8B-B14F-4D97-AF65-F5344CB8AC3E}">
        <p14:creationId xmlns:p14="http://schemas.microsoft.com/office/powerpoint/2010/main" val="47572635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Slide Image Placeholder 1"/>
          <p:cNvSpPr>
            <a:spLocks noGrp="1" noRot="1" noChangeAspect="1" noTextEdit="1"/>
          </p:cNvSpPr>
          <p:nvPr>
            <p:ph type="sldImg"/>
          </p:nvPr>
        </p:nvSpPr>
        <p:spPr bwMode="auto">
          <a:noFill/>
          <a:ln>
            <a:solidFill>
              <a:srgbClr val="000000"/>
            </a:solidFill>
            <a:miter lim="800000"/>
            <a:headEnd/>
            <a:tailEnd/>
          </a:ln>
        </p:spPr>
      </p:sp>
      <p:sp>
        <p:nvSpPr>
          <p:cNvPr id="74755"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74756"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DCDECE88-14E5-4148-8584-9B8E92265E18}" type="slidenum">
              <a:rPr lang="en-US" smtClean="0"/>
              <a:pPr/>
              <a:t>33</a:t>
            </a:fld>
            <a:endParaRPr lang="en-US"/>
          </a:p>
        </p:txBody>
      </p:sp>
    </p:spTree>
    <p:extLst>
      <p:ext uri="{BB962C8B-B14F-4D97-AF65-F5344CB8AC3E}">
        <p14:creationId xmlns:p14="http://schemas.microsoft.com/office/powerpoint/2010/main" val="377680974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Slide Image Placeholder 1"/>
          <p:cNvSpPr>
            <a:spLocks noGrp="1" noRot="1" noChangeAspect="1" noTextEdit="1"/>
          </p:cNvSpPr>
          <p:nvPr>
            <p:ph type="sldImg"/>
          </p:nvPr>
        </p:nvSpPr>
        <p:spPr bwMode="auto">
          <a:noFill/>
          <a:ln>
            <a:solidFill>
              <a:srgbClr val="000000"/>
            </a:solidFill>
            <a:miter lim="800000"/>
            <a:headEnd/>
            <a:tailEnd/>
          </a:ln>
        </p:spPr>
      </p:sp>
      <p:sp>
        <p:nvSpPr>
          <p:cNvPr id="92163"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92164"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49C78FAC-735D-4899-A5AE-7E789DBA0CD0}" type="slidenum">
              <a:rPr lang="en-US" smtClean="0"/>
              <a:pPr/>
              <a:t>37</a:t>
            </a:fld>
            <a:endParaRPr lang="en-US"/>
          </a:p>
        </p:txBody>
      </p:sp>
    </p:spTree>
    <p:extLst>
      <p:ext uri="{BB962C8B-B14F-4D97-AF65-F5344CB8AC3E}">
        <p14:creationId xmlns:p14="http://schemas.microsoft.com/office/powerpoint/2010/main" val="34139974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Slide Image Placeholder 1"/>
          <p:cNvSpPr>
            <a:spLocks noGrp="1" noRot="1" noChangeAspect="1" noTextEdit="1"/>
          </p:cNvSpPr>
          <p:nvPr>
            <p:ph type="sldImg"/>
          </p:nvPr>
        </p:nvSpPr>
        <p:spPr bwMode="auto">
          <a:noFill/>
          <a:ln>
            <a:solidFill>
              <a:srgbClr val="000000"/>
            </a:solidFill>
            <a:miter lim="800000"/>
            <a:headEnd/>
            <a:tailEnd/>
          </a:ln>
        </p:spPr>
      </p:sp>
      <p:sp>
        <p:nvSpPr>
          <p:cNvPr id="92163"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92164"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49C78FAC-735D-4899-A5AE-7E789DBA0CD0}" type="slidenum">
              <a:rPr lang="en-US" smtClean="0"/>
              <a:pPr/>
              <a:t>38</a:t>
            </a:fld>
            <a:endParaRPr lang="en-US"/>
          </a:p>
        </p:txBody>
      </p:sp>
    </p:spTree>
    <p:extLst>
      <p:ext uri="{BB962C8B-B14F-4D97-AF65-F5344CB8AC3E}">
        <p14:creationId xmlns:p14="http://schemas.microsoft.com/office/powerpoint/2010/main" val="28124939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Slide Image Placeholder 1"/>
          <p:cNvSpPr>
            <a:spLocks noGrp="1" noRot="1" noChangeAspect="1" noTextEdit="1"/>
          </p:cNvSpPr>
          <p:nvPr>
            <p:ph type="sldImg"/>
          </p:nvPr>
        </p:nvSpPr>
        <p:spPr bwMode="auto">
          <a:noFill/>
          <a:ln>
            <a:solidFill>
              <a:srgbClr val="000000"/>
            </a:solidFill>
            <a:miter lim="800000"/>
            <a:headEnd/>
            <a:tailEnd/>
          </a:ln>
        </p:spPr>
      </p:sp>
      <p:sp>
        <p:nvSpPr>
          <p:cNvPr id="93187"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93188"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DEB40B05-63BA-414A-817D-5F6AB5EB030F}" type="slidenum">
              <a:rPr lang="en-US" smtClean="0"/>
              <a:pPr/>
              <a:t>39</a:t>
            </a:fld>
            <a:endParaRPr lang="en-US"/>
          </a:p>
        </p:txBody>
      </p:sp>
    </p:spTree>
    <p:extLst>
      <p:ext uri="{BB962C8B-B14F-4D97-AF65-F5344CB8AC3E}">
        <p14:creationId xmlns:p14="http://schemas.microsoft.com/office/powerpoint/2010/main" val="192315445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Slide Image Placeholder 1"/>
          <p:cNvSpPr>
            <a:spLocks noGrp="1" noRot="1" noChangeAspect="1" noTextEdit="1"/>
          </p:cNvSpPr>
          <p:nvPr>
            <p:ph type="sldImg"/>
          </p:nvPr>
        </p:nvSpPr>
        <p:spPr bwMode="auto">
          <a:noFill/>
          <a:ln>
            <a:solidFill>
              <a:srgbClr val="000000"/>
            </a:solidFill>
            <a:miter lim="800000"/>
            <a:headEnd/>
            <a:tailEnd/>
          </a:ln>
        </p:spPr>
      </p:sp>
      <p:sp>
        <p:nvSpPr>
          <p:cNvPr id="97283"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97284"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800C0001-5D8A-4615-89C2-54CA7D7FC9C1}" type="slidenum">
              <a:rPr lang="en-US" smtClean="0"/>
              <a:pPr/>
              <a:t>40</a:t>
            </a:fld>
            <a:endParaRPr lang="en-US"/>
          </a:p>
        </p:txBody>
      </p:sp>
    </p:spTree>
    <p:extLst>
      <p:ext uri="{BB962C8B-B14F-4D97-AF65-F5344CB8AC3E}">
        <p14:creationId xmlns:p14="http://schemas.microsoft.com/office/powerpoint/2010/main" val="89897128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Slide Image Placeholder 1"/>
          <p:cNvSpPr>
            <a:spLocks noGrp="1" noRot="1" noChangeAspect="1" noTextEdit="1"/>
          </p:cNvSpPr>
          <p:nvPr>
            <p:ph type="sldImg"/>
          </p:nvPr>
        </p:nvSpPr>
        <p:spPr bwMode="auto">
          <a:noFill/>
          <a:ln>
            <a:solidFill>
              <a:srgbClr val="000000"/>
            </a:solidFill>
            <a:miter lim="800000"/>
            <a:headEnd/>
            <a:tailEnd/>
          </a:ln>
        </p:spPr>
      </p:sp>
      <p:sp>
        <p:nvSpPr>
          <p:cNvPr id="101379"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101380"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640ADDB3-54FF-4AF0-BC85-4D67171CA302}" type="slidenum">
              <a:rPr lang="en-US" smtClean="0"/>
              <a:pPr/>
              <a:t>41</a:t>
            </a:fld>
            <a:endParaRPr lang="en-US"/>
          </a:p>
        </p:txBody>
      </p:sp>
    </p:spTree>
    <p:extLst>
      <p:ext uri="{BB962C8B-B14F-4D97-AF65-F5344CB8AC3E}">
        <p14:creationId xmlns:p14="http://schemas.microsoft.com/office/powerpoint/2010/main" val="48028404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2" name="Slide Image Placeholder 1"/>
          <p:cNvSpPr>
            <a:spLocks noGrp="1" noRot="1" noChangeAspect="1" noTextEdit="1"/>
          </p:cNvSpPr>
          <p:nvPr>
            <p:ph type="sldImg"/>
          </p:nvPr>
        </p:nvSpPr>
        <p:spPr bwMode="auto">
          <a:noFill/>
          <a:ln>
            <a:solidFill>
              <a:srgbClr val="000000"/>
            </a:solidFill>
            <a:miter lim="800000"/>
            <a:headEnd/>
            <a:tailEnd/>
          </a:ln>
        </p:spPr>
      </p:sp>
      <p:sp>
        <p:nvSpPr>
          <p:cNvPr id="102403"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102404"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91FF9078-55D0-4BFC-86C3-A804DBD37575}" type="slidenum">
              <a:rPr lang="en-US" smtClean="0"/>
              <a:pPr/>
              <a:t>42</a:t>
            </a:fld>
            <a:endParaRPr lang="en-US"/>
          </a:p>
        </p:txBody>
      </p:sp>
    </p:spTree>
    <p:extLst>
      <p:ext uri="{BB962C8B-B14F-4D97-AF65-F5344CB8AC3E}">
        <p14:creationId xmlns:p14="http://schemas.microsoft.com/office/powerpoint/2010/main" val="696024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26" name="Slide Image Placeholder 1"/>
          <p:cNvSpPr>
            <a:spLocks noGrp="1" noRot="1" noChangeAspect="1" noTextEdit="1"/>
          </p:cNvSpPr>
          <p:nvPr>
            <p:ph type="sldImg"/>
          </p:nvPr>
        </p:nvSpPr>
        <p:spPr bwMode="auto">
          <a:noFill/>
          <a:ln>
            <a:solidFill>
              <a:srgbClr val="000000"/>
            </a:solidFill>
            <a:miter lim="800000"/>
            <a:headEnd/>
            <a:tailEnd/>
          </a:ln>
        </p:spPr>
      </p:sp>
      <p:sp>
        <p:nvSpPr>
          <p:cNvPr id="103427"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103428"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7A3FFDC7-81CE-4C9E-904A-A774016D1B2E}" type="slidenum">
              <a:rPr lang="en-US" smtClean="0"/>
              <a:pPr/>
              <a:t>43</a:t>
            </a:fld>
            <a:endParaRPr lang="en-US"/>
          </a:p>
        </p:txBody>
      </p:sp>
    </p:spTree>
    <p:extLst>
      <p:ext uri="{BB962C8B-B14F-4D97-AF65-F5344CB8AC3E}">
        <p14:creationId xmlns:p14="http://schemas.microsoft.com/office/powerpoint/2010/main" val="266086290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6" name="Slide Image Placeholder 1"/>
          <p:cNvSpPr>
            <a:spLocks noGrp="1" noRot="1" noChangeAspect="1" noTextEdit="1"/>
          </p:cNvSpPr>
          <p:nvPr>
            <p:ph type="sldImg"/>
          </p:nvPr>
        </p:nvSpPr>
        <p:spPr bwMode="auto">
          <a:noFill/>
          <a:ln>
            <a:solidFill>
              <a:srgbClr val="000000"/>
            </a:solidFill>
            <a:miter lim="800000"/>
            <a:headEnd/>
            <a:tailEnd/>
          </a:ln>
        </p:spPr>
      </p:sp>
      <p:sp>
        <p:nvSpPr>
          <p:cNvPr id="98307"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98308"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23858C16-2478-42F8-B19F-B3826B645EE3}" type="slidenum">
              <a:rPr lang="en-US" smtClean="0"/>
              <a:pPr/>
              <a:t>44</a:t>
            </a:fld>
            <a:endParaRPr lang="en-US"/>
          </a:p>
        </p:txBody>
      </p:sp>
    </p:spTree>
    <p:extLst>
      <p:ext uri="{BB962C8B-B14F-4D97-AF65-F5344CB8AC3E}">
        <p14:creationId xmlns:p14="http://schemas.microsoft.com/office/powerpoint/2010/main" val="343925126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30" name="Slide Image Placeholder 1"/>
          <p:cNvSpPr>
            <a:spLocks noGrp="1" noRot="1" noChangeAspect="1" noTextEdit="1"/>
          </p:cNvSpPr>
          <p:nvPr>
            <p:ph type="sldImg"/>
          </p:nvPr>
        </p:nvSpPr>
        <p:spPr bwMode="auto">
          <a:noFill/>
          <a:ln>
            <a:solidFill>
              <a:srgbClr val="000000"/>
            </a:solidFill>
            <a:miter lim="800000"/>
            <a:headEnd/>
            <a:tailEnd/>
          </a:ln>
        </p:spPr>
      </p:sp>
      <p:sp>
        <p:nvSpPr>
          <p:cNvPr id="99331"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99332"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5D0496ED-9D15-44D7-9D33-F3063481A950}" type="slidenum">
              <a:rPr lang="en-US" smtClean="0"/>
              <a:pPr/>
              <a:t>45</a:t>
            </a:fld>
            <a:endParaRPr lang="en-US"/>
          </a:p>
        </p:txBody>
      </p:sp>
    </p:spTree>
    <p:extLst>
      <p:ext uri="{BB962C8B-B14F-4D97-AF65-F5344CB8AC3E}">
        <p14:creationId xmlns:p14="http://schemas.microsoft.com/office/powerpoint/2010/main" val="303799668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7"/>
          <p:cNvSpPr>
            <a:spLocks noGrp="1" noChangeArrowheads="1"/>
          </p:cNvSpPr>
          <p:nvPr>
            <p:ph type="sldNum" sz="quarter" idx="5"/>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a:spcBef>
                <a:spcPct val="30000"/>
              </a:spcBef>
              <a:defRPr sz="1200">
                <a:solidFill>
                  <a:schemeClr val="tx1"/>
                </a:solidFill>
                <a:latin typeface="Arial" panose="020B0604020202020204" pitchFamily="34" charset="0"/>
              </a:defRPr>
            </a:lvl1pPr>
            <a:lvl2pPr marL="742950" indent="-285750">
              <a:spcBef>
                <a:spcPct val="30000"/>
              </a:spcBef>
              <a:defRPr sz="1200">
                <a:solidFill>
                  <a:schemeClr val="tx1"/>
                </a:solidFill>
                <a:latin typeface="Arial" panose="020B0604020202020204" pitchFamily="34" charset="0"/>
              </a:defRPr>
            </a:lvl2pPr>
            <a:lvl3pPr marL="1143000" indent="-228600">
              <a:spcBef>
                <a:spcPct val="30000"/>
              </a:spcBef>
              <a:defRPr sz="1200">
                <a:solidFill>
                  <a:schemeClr val="tx1"/>
                </a:solidFill>
                <a:latin typeface="Arial" panose="020B0604020202020204" pitchFamily="34" charset="0"/>
              </a:defRPr>
            </a:lvl3pPr>
            <a:lvl4pPr marL="1600200" indent="-228600">
              <a:spcBef>
                <a:spcPct val="30000"/>
              </a:spcBef>
              <a:defRPr sz="1200">
                <a:solidFill>
                  <a:schemeClr val="tx1"/>
                </a:solidFill>
                <a:latin typeface="Arial" panose="020B0604020202020204" pitchFamily="34" charset="0"/>
              </a:defRPr>
            </a:lvl4pPr>
            <a:lvl5pPr marL="2057400" indent="-228600">
              <a:spcBef>
                <a:spcPct val="30000"/>
              </a:spcBef>
              <a:defRPr sz="1200">
                <a:solidFill>
                  <a:schemeClr val="tx1"/>
                </a:solidFill>
                <a:latin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defRPr>
            </a:lvl9pPr>
          </a:lstStyle>
          <a:p>
            <a:pPr>
              <a:spcBef>
                <a:spcPct val="0"/>
              </a:spcBef>
            </a:pPr>
            <a:fld id="{557B6B6D-ADE9-4A0C-8922-DA4B379C230B}" type="slidenum">
              <a:rPr lang="en-US" altLang="en-US">
                <a:ea typeface="ＭＳ Ｐゴシック" panose="020B0600070205080204" pitchFamily="34" charset="-128"/>
              </a:rPr>
              <a:pPr>
                <a:spcBef>
                  <a:spcPct val="0"/>
                </a:spcBef>
              </a:pPr>
              <a:t>54</a:t>
            </a:fld>
            <a:endParaRPr lang="en-US" altLang="en-US">
              <a:ea typeface="ＭＳ Ｐゴシック" panose="020B0600070205080204" pitchFamily="34" charset="-128"/>
            </a:endParaRPr>
          </a:p>
        </p:txBody>
      </p:sp>
      <p:sp>
        <p:nvSpPr>
          <p:cNvPr id="19459" name="Rectangle 2"/>
          <p:cNvSpPr>
            <a:spLocks noGrp="1" noRot="1" noChangeAspect="1" noChangeArrowheads="1" noTextEdit="1"/>
          </p:cNvSpPr>
          <p:nvPr>
            <p:ph type="sldImg"/>
          </p:nvPr>
        </p:nvSpPr>
        <p:spPr>
          <a:ln/>
        </p:spPr>
      </p:sp>
      <p:sp>
        <p:nvSpPr>
          <p:cNvPr id="45060" name="Rectangle 3"/>
          <p:cNvSpPr>
            <a:spLocks noGrp="1" noChangeArrowheads="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a:lstStyle/>
          <a:p>
            <a:pPr eaLnBrk="1" hangingPunct="1">
              <a:defRPr/>
            </a:pPr>
            <a:endParaRPr lang="en-US" dirty="0">
              <a:ea typeface="ＭＳ Ｐゴシック" charset="0"/>
            </a:endParaRPr>
          </a:p>
        </p:txBody>
      </p:sp>
    </p:spTree>
    <p:extLst>
      <p:ext uri="{BB962C8B-B14F-4D97-AF65-F5344CB8AC3E}">
        <p14:creationId xmlns:p14="http://schemas.microsoft.com/office/powerpoint/2010/main" val="362491845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Slide Image Placeholder 1"/>
          <p:cNvSpPr>
            <a:spLocks noGrp="1" noRot="1" noChangeAspect="1" noTextEdit="1"/>
          </p:cNvSpPr>
          <p:nvPr>
            <p:ph type="sldImg"/>
          </p:nvPr>
        </p:nvSpPr>
        <p:spPr bwMode="auto">
          <a:noFill/>
          <a:ln>
            <a:solidFill>
              <a:srgbClr val="000000"/>
            </a:solidFill>
            <a:miter lim="800000"/>
            <a:headEnd/>
            <a:tailEnd/>
          </a:ln>
        </p:spPr>
      </p:sp>
      <p:sp>
        <p:nvSpPr>
          <p:cNvPr id="82947"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82948"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34CC4481-DBBA-4C39-95E7-C2835B9152B4}" type="slidenum">
              <a:rPr lang="en-US" smtClean="0"/>
              <a:pPr/>
              <a:t>57</a:t>
            </a:fld>
            <a:endParaRPr lang="en-US"/>
          </a:p>
        </p:txBody>
      </p:sp>
    </p:spTree>
    <p:extLst>
      <p:ext uri="{BB962C8B-B14F-4D97-AF65-F5344CB8AC3E}">
        <p14:creationId xmlns:p14="http://schemas.microsoft.com/office/powerpoint/2010/main" val="22932668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Arial" panose="020B0604020202020204" pitchFamily="34" charset="0"/>
              </a:defRPr>
            </a:lvl1pPr>
            <a:lvl2pPr marL="742950" indent="-285750">
              <a:defRPr sz="2400">
                <a:solidFill>
                  <a:schemeClr val="tx1"/>
                </a:solidFill>
                <a:latin typeface="Arial" panose="020B0604020202020204" pitchFamily="34" charset="0"/>
              </a:defRPr>
            </a:lvl2pPr>
            <a:lvl3pPr marL="1143000" indent="-228600">
              <a:defRPr sz="2400">
                <a:solidFill>
                  <a:schemeClr val="tx1"/>
                </a:solidFill>
                <a:latin typeface="Arial" panose="020B0604020202020204" pitchFamily="34" charset="0"/>
              </a:defRPr>
            </a:lvl3pPr>
            <a:lvl4pPr marL="1600200" indent="-228600">
              <a:defRPr sz="2400">
                <a:solidFill>
                  <a:schemeClr val="tx1"/>
                </a:solidFill>
                <a:latin typeface="Arial" panose="020B0604020202020204" pitchFamily="34" charset="0"/>
              </a:defRPr>
            </a:lvl4pPr>
            <a:lvl5pPr marL="2057400" indent="-228600">
              <a:defRPr sz="2400">
                <a:solidFill>
                  <a:schemeClr val="tx1"/>
                </a:solidFill>
                <a:latin typeface="Arial" panose="020B0604020202020204" pitchFamily="34" charset="0"/>
              </a:defRPr>
            </a:lvl5pPr>
            <a:lvl6pPr marL="2514600" indent="-228600" eaLnBrk="0" fontAlgn="base" hangingPunct="0">
              <a:spcBef>
                <a:spcPct val="0"/>
              </a:spcBef>
              <a:spcAft>
                <a:spcPct val="0"/>
              </a:spcAft>
              <a:defRPr sz="2400">
                <a:solidFill>
                  <a:schemeClr val="tx1"/>
                </a:solidFill>
                <a:latin typeface="Arial" panose="020B0604020202020204" pitchFamily="34" charset="0"/>
              </a:defRPr>
            </a:lvl6pPr>
            <a:lvl7pPr marL="2971800" indent="-228600" eaLnBrk="0" fontAlgn="base" hangingPunct="0">
              <a:spcBef>
                <a:spcPct val="0"/>
              </a:spcBef>
              <a:spcAft>
                <a:spcPct val="0"/>
              </a:spcAft>
              <a:defRPr sz="2400">
                <a:solidFill>
                  <a:schemeClr val="tx1"/>
                </a:solidFill>
                <a:latin typeface="Arial" panose="020B0604020202020204" pitchFamily="34" charset="0"/>
              </a:defRPr>
            </a:lvl7pPr>
            <a:lvl8pPr marL="3429000" indent="-228600" eaLnBrk="0" fontAlgn="base" hangingPunct="0">
              <a:spcBef>
                <a:spcPct val="0"/>
              </a:spcBef>
              <a:spcAft>
                <a:spcPct val="0"/>
              </a:spcAft>
              <a:defRPr sz="2400">
                <a:solidFill>
                  <a:schemeClr val="tx1"/>
                </a:solidFill>
                <a:latin typeface="Arial" panose="020B0604020202020204" pitchFamily="34" charset="0"/>
              </a:defRPr>
            </a:lvl8pPr>
            <a:lvl9pPr marL="3886200" indent="-228600" eaLnBrk="0" fontAlgn="base" hangingPunct="0">
              <a:spcBef>
                <a:spcPct val="0"/>
              </a:spcBef>
              <a:spcAft>
                <a:spcPct val="0"/>
              </a:spcAft>
              <a:defRPr sz="2400">
                <a:solidFill>
                  <a:schemeClr val="tx1"/>
                </a:solidFill>
                <a:latin typeface="Arial" panose="020B0604020202020204" pitchFamily="34" charset="0"/>
              </a:defRPr>
            </a:lvl9pPr>
          </a:lstStyle>
          <a:p>
            <a:fld id="{FCEA6FED-8DE9-4C40-9D79-F648AEBA00E3}" type="slidenum">
              <a:rPr lang="en-US" altLang="en-US" sz="1200"/>
              <a:pPr/>
              <a:t>61</a:t>
            </a:fld>
            <a:endParaRPr lang="en-US" altLang="en-US" sz="1200"/>
          </a:p>
        </p:txBody>
      </p:sp>
      <p:sp>
        <p:nvSpPr>
          <p:cNvPr id="22531" name="Rectangle 2"/>
          <p:cNvSpPr>
            <a:spLocks noGrp="1" noRot="1" noChangeAspect="1" noChangeArrowheads="1" noTextEdit="1"/>
          </p:cNvSpPr>
          <p:nvPr>
            <p:ph type="sldImg"/>
          </p:nvPr>
        </p:nvSpPr>
        <p:spPr>
          <a:ln/>
        </p:spPr>
      </p:sp>
      <p:sp>
        <p:nvSpPr>
          <p:cNvPr id="22532"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349253379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7"/>
          <p:cNvSpPr>
            <a:spLocks noGrp="1" noChangeArrowheads="1"/>
          </p:cNvSpPr>
          <p:nvPr>
            <p:ph type="sldNum" sz="quarter" idx="5"/>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a:spcBef>
                <a:spcPct val="30000"/>
              </a:spcBef>
              <a:defRPr sz="1200">
                <a:solidFill>
                  <a:schemeClr val="tx1"/>
                </a:solidFill>
                <a:latin typeface="Arial" panose="020B0604020202020204" pitchFamily="34" charset="0"/>
              </a:defRPr>
            </a:lvl1pPr>
            <a:lvl2pPr marL="742950" indent="-285750">
              <a:spcBef>
                <a:spcPct val="30000"/>
              </a:spcBef>
              <a:defRPr sz="1200">
                <a:solidFill>
                  <a:schemeClr val="tx1"/>
                </a:solidFill>
                <a:latin typeface="Arial" panose="020B0604020202020204" pitchFamily="34" charset="0"/>
              </a:defRPr>
            </a:lvl2pPr>
            <a:lvl3pPr marL="1143000" indent="-228600">
              <a:spcBef>
                <a:spcPct val="30000"/>
              </a:spcBef>
              <a:defRPr sz="1200">
                <a:solidFill>
                  <a:schemeClr val="tx1"/>
                </a:solidFill>
                <a:latin typeface="Arial" panose="020B0604020202020204" pitchFamily="34" charset="0"/>
              </a:defRPr>
            </a:lvl3pPr>
            <a:lvl4pPr marL="1600200" indent="-228600">
              <a:spcBef>
                <a:spcPct val="30000"/>
              </a:spcBef>
              <a:defRPr sz="1200">
                <a:solidFill>
                  <a:schemeClr val="tx1"/>
                </a:solidFill>
                <a:latin typeface="Arial" panose="020B0604020202020204" pitchFamily="34" charset="0"/>
              </a:defRPr>
            </a:lvl4pPr>
            <a:lvl5pPr marL="2057400" indent="-228600">
              <a:spcBef>
                <a:spcPct val="30000"/>
              </a:spcBef>
              <a:defRPr sz="1200">
                <a:solidFill>
                  <a:schemeClr val="tx1"/>
                </a:solidFill>
                <a:latin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defRPr>
            </a:lvl9pPr>
          </a:lstStyle>
          <a:p>
            <a:pPr>
              <a:spcBef>
                <a:spcPct val="0"/>
              </a:spcBef>
            </a:pPr>
            <a:fld id="{3374E40D-41E1-4FC2-B57E-09AC83A4A0D3}" type="slidenum">
              <a:rPr lang="en-US" altLang="en-US">
                <a:ea typeface="ＭＳ Ｐゴシック" panose="020B0600070205080204" pitchFamily="34" charset="-128"/>
              </a:rPr>
              <a:pPr>
                <a:spcBef>
                  <a:spcPct val="0"/>
                </a:spcBef>
              </a:pPr>
              <a:t>62</a:t>
            </a:fld>
            <a:endParaRPr lang="en-US" altLang="en-US">
              <a:ea typeface="ＭＳ Ｐゴシック" panose="020B0600070205080204" pitchFamily="34" charset="-128"/>
            </a:endParaRPr>
          </a:p>
        </p:txBody>
      </p:sp>
      <p:sp>
        <p:nvSpPr>
          <p:cNvPr id="24579" name="Rectangle 2"/>
          <p:cNvSpPr>
            <a:spLocks noGrp="1" noRot="1" noChangeAspect="1" noChangeArrowheads="1" noTextEdit="1"/>
          </p:cNvSpPr>
          <p:nvPr>
            <p:ph type="sldImg"/>
          </p:nvPr>
        </p:nvSpPr>
        <p:spPr>
          <a:ln/>
        </p:spPr>
      </p:sp>
      <p:sp>
        <p:nvSpPr>
          <p:cNvPr id="45060" name="Rectangle 3"/>
          <p:cNvSpPr>
            <a:spLocks noGrp="1" noChangeArrowheads="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7"/>
                    </a:schemeClr>
                  </a:outerShdw>
                </a:effectLst>
              </a14:hiddenEffects>
            </a:ext>
          </a:extLst>
        </p:spPr>
        <p:txBody>
          <a:bodyPr/>
          <a:lstStyle/>
          <a:p>
            <a:pPr eaLnBrk="1" hangingPunct="1">
              <a:defRPr/>
            </a:pPr>
            <a:endParaRPr lang="en-US" dirty="0">
              <a:ea typeface="ＭＳ Ｐゴシック" charset="0"/>
            </a:endParaRPr>
          </a:p>
        </p:txBody>
      </p:sp>
    </p:spTree>
    <p:extLst>
      <p:ext uri="{BB962C8B-B14F-4D97-AF65-F5344CB8AC3E}">
        <p14:creationId xmlns:p14="http://schemas.microsoft.com/office/powerpoint/2010/main" val="24765349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6AAA150D-9E97-485A-BD9D-E2B486353AD5}" type="datetimeFigureOut">
              <a:rPr lang="en-US" smtClean="0"/>
              <a:t>10/13/2025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230F77A-9273-4449-9541-3ACD002159E1}"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AAA150D-9E97-485A-BD9D-E2B486353AD5}" type="datetimeFigureOut">
              <a:rPr lang="en-US" smtClean="0"/>
              <a:t>10/13/2025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230F77A-9273-4449-9541-3ACD002159E1}"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AAA150D-9E97-485A-BD9D-E2B486353AD5}" type="datetimeFigureOut">
              <a:rPr lang="en-US" smtClean="0"/>
              <a:t>10/13/2025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230F77A-9273-4449-9541-3ACD002159E1}"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AAA150D-9E97-485A-BD9D-E2B486353AD5}" type="datetimeFigureOut">
              <a:rPr lang="en-US" smtClean="0"/>
              <a:t>10/13/2025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230F77A-9273-4449-9541-3ACD002159E1}"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AAA150D-9E97-485A-BD9D-E2B486353AD5}" type="datetimeFigureOut">
              <a:rPr lang="en-US" smtClean="0"/>
              <a:t>10/13/2025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230F77A-9273-4449-9541-3ACD002159E1}"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AAA150D-9E97-485A-BD9D-E2B486353AD5}" type="datetimeFigureOut">
              <a:rPr lang="en-US" smtClean="0"/>
              <a:t>10/13/2025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230F77A-9273-4449-9541-3ACD002159E1}"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AAA150D-9E97-485A-BD9D-E2B486353AD5}" type="datetimeFigureOut">
              <a:rPr lang="en-US" smtClean="0"/>
              <a:t>10/13/2025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230F77A-9273-4449-9541-3ACD002159E1}"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AAA150D-9E97-485A-BD9D-E2B486353AD5}" type="datetimeFigureOut">
              <a:rPr lang="en-US" smtClean="0"/>
              <a:t>10/13/2025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230F77A-9273-4449-9541-3ACD002159E1}"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AAA150D-9E97-485A-BD9D-E2B486353AD5}" type="datetimeFigureOut">
              <a:rPr lang="en-US" smtClean="0"/>
              <a:t>10/13/2025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230F77A-9273-4449-9541-3ACD002159E1}"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AAA150D-9E97-485A-BD9D-E2B486353AD5}" type="datetimeFigureOut">
              <a:rPr lang="en-US" smtClean="0"/>
              <a:t>10/13/2025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230F77A-9273-4449-9541-3ACD002159E1}"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AAA150D-9E97-485A-BD9D-E2B486353AD5}" type="datetimeFigureOut">
              <a:rPr lang="en-US" smtClean="0"/>
              <a:t>10/13/2025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230F77A-9273-4449-9541-3ACD002159E1}" type="slidenum">
              <a:rPr lang="en-US" smtClean="0"/>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152400"/>
            <a:ext cx="12192000" cy="1143000"/>
          </a:xfrm>
        </p:spPr>
        <p:txBody>
          <a:bodyPr/>
          <a:lstStyle/>
          <a:p>
            <a:r>
              <a:rPr lang="en-US"/>
              <a:t>Click to edit Master title style</a:t>
            </a:r>
          </a:p>
        </p:txBody>
      </p:sp>
      <p:sp>
        <p:nvSpPr>
          <p:cNvPr id="3" name="Text Placeholder 2"/>
          <p:cNvSpPr>
            <a:spLocks noGrp="1"/>
          </p:cNvSpPr>
          <p:nvPr>
            <p:ph type="body" sz="half" idx="1"/>
          </p:nvPr>
        </p:nvSpPr>
        <p:spPr>
          <a:xfrm>
            <a:off x="914400" y="1981200"/>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981200"/>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914400" y="6248400"/>
            <a:ext cx="2540000" cy="457200"/>
          </a:xfrm>
        </p:spPr>
        <p:txBody>
          <a:bodyPr/>
          <a:lstStyle>
            <a:lvl1pPr>
              <a:defRPr/>
            </a:lvl1pPr>
          </a:lstStyle>
          <a:p>
            <a:endParaRPr lang="en-US"/>
          </a:p>
        </p:txBody>
      </p:sp>
      <p:sp>
        <p:nvSpPr>
          <p:cNvPr id="6" name="Footer Placeholder 5"/>
          <p:cNvSpPr>
            <a:spLocks noGrp="1"/>
          </p:cNvSpPr>
          <p:nvPr>
            <p:ph type="ftr" sz="quarter" idx="11"/>
          </p:nvPr>
        </p:nvSpPr>
        <p:spPr>
          <a:xfrm>
            <a:off x="4165600" y="6248400"/>
            <a:ext cx="3860800" cy="457200"/>
          </a:xfrm>
        </p:spPr>
        <p:txBody>
          <a:bodyPr/>
          <a:lstStyle>
            <a:lvl1pPr>
              <a:defRPr/>
            </a:lvl1pPr>
          </a:lstStyle>
          <a:p>
            <a:endParaRPr lang="en-US"/>
          </a:p>
        </p:txBody>
      </p:sp>
      <p:sp>
        <p:nvSpPr>
          <p:cNvPr id="7" name="Slide Number Placeholder 6"/>
          <p:cNvSpPr>
            <a:spLocks noGrp="1"/>
          </p:cNvSpPr>
          <p:nvPr>
            <p:ph type="sldNum" sz="quarter" idx="12"/>
          </p:nvPr>
        </p:nvSpPr>
        <p:spPr>
          <a:xfrm>
            <a:off x="8737600" y="6248400"/>
            <a:ext cx="2540000" cy="457200"/>
          </a:xfrm>
        </p:spPr>
        <p:txBody>
          <a:bodyPr/>
          <a:lstStyle>
            <a:lvl1pPr>
              <a:defRPr/>
            </a:lvl1pPr>
          </a:lstStyle>
          <a:p>
            <a:fld id="{682E9620-9A49-4BA8-B740-8716937E574A}"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4" cstate="print">
            <a:alphaModFix amt="20000"/>
            <a:lum/>
          </a:blip>
          <a:srcRect/>
          <a:stretch>
            <a:fillRect l="-11000" r="-11000"/>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AAA150D-9E97-485A-BD9D-E2B486353AD5}" type="datetimeFigureOut">
              <a:rPr lang="en-US" smtClean="0"/>
              <a:t>10/13/2025</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230F77A-9273-4449-9541-3ACD002159E1}"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2"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1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6.xml"/><Relationship Id="rId1" Type="http://schemas.openxmlformats.org/officeDocument/2006/relationships/vmlDrawing" Target="../drawings/vmlDrawing1.vml"/><Relationship Id="rId5" Type="http://schemas.openxmlformats.org/officeDocument/2006/relationships/image" Target="../media/image6.wmf"/><Relationship Id="rId4" Type="http://schemas.openxmlformats.org/officeDocument/2006/relationships/oleObject" Target="../embeddings/oleObject1.bin"/></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notesSlide" Target="../notesSlides/notesSlide17.xml"/><Relationship Id="rId7" Type="http://schemas.openxmlformats.org/officeDocument/2006/relationships/image" Target="../media/image16.wmf"/><Relationship Id="rId2" Type="http://schemas.openxmlformats.org/officeDocument/2006/relationships/slideLayout" Target="../slideLayouts/slideLayout2.xml"/><Relationship Id="rId1" Type="http://schemas.openxmlformats.org/officeDocument/2006/relationships/vmlDrawing" Target="../drawings/vmlDrawing2.vml"/><Relationship Id="rId6" Type="http://schemas.openxmlformats.org/officeDocument/2006/relationships/oleObject" Target="../embeddings/oleObject3.bin"/><Relationship Id="rId5" Type="http://schemas.openxmlformats.org/officeDocument/2006/relationships/image" Target="../media/image15.wmf"/><Relationship Id="rId4" Type="http://schemas.openxmlformats.org/officeDocument/2006/relationships/oleObject" Target="../embeddings/oleObject2.bin"/></Relationships>
</file>

<file path=ppt/slides/_rels/slide3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cstate="print">
            <a:alphaModFix amt="88000"/>
            <a:lum/>
          </a:blip>
          <a:srcRect/>
          <a:stretch>
            <a:fillRect l="-11000" r="-11000"/>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4391891" y="5791200"/>
            <a:ext cx="7772400" cy="1066800"/>
          </a:xfrm>
        </p:spPr>
        <p:txBody>
          <a:bodyPr>
            <a:normAutofit fontScale="90000"/>
          </a:bodyPr>
          <a:lstStyle/>
          <a:p>
            <a:pPr algn="r"/>
            <a:r>
              <a:rPr lang="en-US" sz="7200" dirty="0"/>
              <a:t>Unit 7: Equilibrium</a:t>
            </a:r>
          </a:p>
        </p:txBody>
      </p:sp>
      <p:sp>
        <p:nvSpPr>
          <p:cNvPr id="3" name="Subtitle 2"/>
          <p:cNvSpPr>
            <a:spLocks noGrp="1"/>
          </p:cNvSpPr>
          <p:nvPr>
            <p:ph type="subTitle" idx="1"/>
          </p:nvPr>
        </p:nvSpPr>
        <p:spPr>
          <a:xfrm>
            <a:off x="0" y="0"/>
            <a:ext cx="8077200" cy="3581400"/>
          </a:xfrm>
        </p:spPr>
        <p:txBody>
          <a:bodyPr>
            <a:normAutofit/>
          </a:bodyPr>
          <a:lstStyle/>
          <a:p>
            <a:pPr algn="l"/>
            <a:r>
              <a:rPr lang="en-US" sz="3600" dirty="0">
                <a:solidFill>
                  <a:schemeClr val="tx1"/>
                </a:solidFill>
              </a:rPr>
              <a:t>7.1 Intro to Equilibrium</a:t>
            </a:r>
          </a:p>
          <a:p>
            <a:pPr algn="l"/>
            <a:r>
              <a:rPr lang="en-US" sz="3600" dirty="0">
                <a:solidFill>
                  <a:schemeClr val="tx1"/>
                </a:solidFill>
              </a:rPr>
              <a:t>7.2 Direction of Reversible </a:t>
            </a:r>
            <a:r>
              <a:rPr lang="en-US" sz="3600" dirty="0" err="1">
                <a:solidFill>
                  <a:schemeClr val="tx1"/>
                </a:solidFill>
              </a:rPr>
              <a:t>Rxns</a:t>
            </a:r>
            <a:endParaRPr lang="en-US" sz="3600" dirty="0">
              <a:solidFill>
                <a:schemeClr val="tx1"/>
              </a:solidFill>
            </a:endParaRPr>
          </a:p>
          <a:p>
            <a:pPr algn="l"/>
            <a:r>
              <a:rPr lang="en-US" sz="3600" dirty="0">
                <a:solidFill>
                  <a:schemeClr val="tx1"/>
                </a:solidFill>
              </a:rPr>
              <a:t>7.3 </a:t>
            </a:r>
            <a:r>
              <a:rPr lang="en-US" sz="3600" dirty="0" err="1">
                <a:solidFill>
                  <a:schemeClr val="tx1"/>
                </a:solidFill>
              </a:rPr>
              <a:t>Rxn</a:t>
            </a:r>
            <a:r>
              <a:rPr lang="en-US" sz="3600" dirty="0">
                <a:solidFill>
                  <a:schemeClr val="tx1"/>
                </a:solidFill>
              </a:rPr>
              <a:t> Quotient and the EQ Constant</a:t>
            </a:r>
          </a:p>
          <a:p>
            <a:pPr algn="l"/>
            <a:r>
              <a:rPr lang="en-US" sz="3600" dirty="0">
                <a:solidFill>
                  <a:schemeClr val="tx1"/>
                </a:solidFill>
              </a:rPr>
              <a:t>7.4 Calculating the Equilibrium Constant</a:t>
            </a:r>
          </a:p>
          <a:p>
            <a:pPr algn="l"/>
            <a:r>
              <a:rPr lang="en-US" sz="3600" dirty="0">
                <a:solidFill>
                  <a:schemeClr val="tx1"/>
                </a:solidFill>
              </a:rPr>
              <a:t>7.6 Properties of the Equilibrium Constant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Reversible Reactions and the Concept of Equilibrium </a:t>
            </a:r>
          </a:p>
        </p:txBody>
      </p:sp>
      <p:sp>
        <p:nvSpPr>
          <p:cNvPr id="5" name="Content Placeholder 4"/>
          <p:cNvSpPr>
            <a:spLocks noGrp="1"/>
          </p:cNvSpPr>
          <p:nvPr>
            <p:ph idx="1"/>
          </p:nvPr>
        </p:nvSpPr>
        <p:spPr/>
        <p:txBody>
          <a:bodyPr>
            <a:normAutofit lnSpcReduction="10000"/>
          </a:bodyPr>
          <a:lstStyle/>
          <a:p>
            <a:r>
              <a:rPr lang="en-US" dirty="0"/>
              <a:t>Some reactions can go both forward or in reverse. These are called </a:t>
            </a:r>
            <a:r>
              <a:rPr lang="en-US" i="1" dirty="0"/>
              <a:t>reversible reactions.</a:t>
            </a:r>
          </a:p>
          <a:p>
            <a:r>
              <a:rPr lang="en-US" dirty="0"/>
              <a:t>A </a:t>
            </a:r>
            <a:r>
              <a:rPr lang="en-US" b="1" dirty="0">
                <a:solidFill>
                  <a:srgbClr val="FF0000"/>
                </a:solidFill>
              </a:rPr>
              <a:t>RATE</a:t>
            </a:r>
            <a:r>
              <a:rPr lang="en-US" dirty="0"/>
              <a:t> can be calculated for both the forward reaction and the reverse reaction. </a:t>
            </a:r>
          </a:p>
          <a:p>
            <a:endParaRPr lang="en-US" dirty="0"/>
          </a:p>
          <a:p>
            <a:pPr marL="0" indent="0">
              <a:buNone/>
            </a:pPr>
            <a:endParaRPr lang="en-US" dirty="0"/>
          </a:p>
          <a:p>
            <a:r>
              <a:rPr lang="en-US" dirty="0"/>
              <a:t>Chemical equilibrium occurs when a reaction and its reverse reaction proceed at the same </a:t>
            </a:r>
            <a:r>
              <a:rPr lang="en-US" b="1" dirty="0">
                <a:solidFill>
                  <a:srgbClr val="FF0000"/>
                </a:solidFill>
              </a:rPr>
              <a:t>RATE</a:t>
            </a:r>
            <a:r>
              <a:rPr lang="en-US" dirty="0"/>
              <a:t>. As many molecules are being made as broken.</a:t>
            </a:r>
          </a:p>
          <a:p>
            <a:endParaRPr lang="en-US" dirty="0"/>
          </a:p>
        </p:txBody>
      </p:sp>
      <p:pic>
        <p:nvPicPr>
          <p:cNvPr id="6" name="Picture 21" descr="image-209.tiff                                                 00313193magic_metal                    B74677AA:"/>
          <p:cNvPicPr>
            <a:picLocks noChangeAspect="1" noChangeArrowheads="1"/>
          </p:cNvPicPr>
          <p:nvPr/>
        </p:nvPicPr>
        <p:blipFill>
          <a:blip r:embed="rId2" cstate="print"/>
          <a:srcRect/>
          <a:stretch>
            <a:fillRect/>
          </a:stretch>
        </p:blipFill>
        <p:spPr bwMode="auto">
          <a:xfrm>
            <a:off x="3733800" y="3863182"/>
            <a:ext cx="4241800" cy="381000"/>
          </a:xfrm>
          <a:prstGeom prst="rect">
            <a:avLst/>
          </a:prstGeom>
          <a:noFill/>
        </p:spPr>
      </p:pic>
    </p:spTree>
    <p:extLst>
      <p:ext uri="{BB962C8B-B14F-4D97-AF65-F5344CB8AC3E}">
        <p14:creationId xmlns:p14="http://schemas.microsoft.com/office/powerpoint/2010/main" val="2713118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p:txBody>
          <a:bodyPr>
            <a:normAutofit/>
          </a:bodyPr>
          <a:lstStyle/>
          <a:p>
            <a:pPr algn="l">
              <a:defRPr/>
            </a:pPr>
            <a:r>
              <a:rPr lang="en-US" b="1" u="sng" noProof="1"/>
              <a:t>Chemical equilibrium</a:t>
            </a:r>
            <a:endParaRPr lang="en-US" noProof="1">
              <a:solidFill>
                <a:schemeClr val="tx1"/>
              </a:solidFill>
              <a:effectLst>
                <a:outerShdw blurRad="38100" dist="38100" dir="2700000" algn="tl">
                  <a:srgbClr val="FFFFFF"/>
                </a:outerShdw>
              </a:effectLst>
            </a:endParaRPr>
          </a:p>
        </p:txBody>
      </p:sp>
      <p:sp>
        <p:nvSpPr>
          <p:cNvPr id="2" name="Content Placeholder 1"/>
          <p:cNvSpPr>
            <a:spLocks noGrp="1"/>
          </p:cNvSpPr>
          <p:nvPr>
            <p:ph idx="1"/>
          </p:nvPr>
        </p:nvSpPr>
        <p:spPr/>
        <p:txBody>
          <a:bodyPr/>
          <a:lstStyle/>
          <a:p>
            <a:r>
              <a:rPr lang="en-US" noProof="1"/>
              <a:t>state where concentrations of products and  reactants remain </a:t>
            </a:r>
            <a:r>
              <a:rPr lang="en-US" noProof="1">
                <a:solidFill>
                  <a:srgbClr val="FF0000"/>
                </a:solidFill>
              </a:rPr>
              <a:t>constant</a:t>
            </a:r>
          </a:p>
          <a:p>
            <a:r>
              <a:rPr lang="en-US" noProof="1"/>
              <a:t>equilibrium is </a:t>
            </a:r>
            <a:r>
              <a:rPr lang="en-US" noProof="1">
                <a:solidFill>
                  <a:srgbClr val="FF0000"/>
                </a:solidFill>
              </a:rPr>
              <a:t>dynamic</a:t>
            </a:r>
            <a:r>
              <a:rPr lang="en-US" noProof="1"/>
              <a:t> (reaction is </a:t>
            </a:r>
            <a:r>
              <a:rPr lang="en-US" noProof="1">
                <a:solidFill>
                  <a:srgbClr val="FF0000"/>
                </a:solidFill>
              </a:rPr>
              <a:t>still happening</a:t>
            </a:r>
            <a:r>
              <a:rPr lang="en-US" noProof="1"/>
              <a:t>)</a:t>
            </a:r>
          </a:p>
          <a:p>
            <a:r>
              <a:rPr lang="en-US" noProof="1"/>
              <a:t>any chemical reaction in a closed vessel will reach equilibrium</a:t>
            </a:r>
          </a:p>
          <a:p>
            <a:r>
              <a:rPr lang="en-US" noProof="1"/>
              <a:t>at equilibrium, forward reaction rate = reverse reaction rate</a:t>
            </a:r>
          </a:p>
          <a:p>
            <a:r>
              <a:rPr lang="en-US" noProof="1">
                <a:solidFill>
                  <a:srgbClr val="FF0000"/>
                </a:solidFill>
              </a:rPr>
              <a:t>RATES</a:t>
            </a:r>
            <a:r>
              <a:rPr lang="en-US" noProof="1"/>
              <a:t> are equal, </a:t>
            </a:r>
            <a:r>
              <a:rPr lang="en-US" noProof="1">
                <a:solidFill>
                  <a:srgbClr val="FF0000"/>
                </a:solidFill>
              </a:rPr>
              <a:t>CONCENTRATIONS</a:t>
            </a:r>
            <a:r>
              <a:rPr lang="en-US" noProof="1"/>
              <a:t> are constant</a:t>
            </a:r>
            <a:endParaRPr lang="en-US" dirty="0"/>
          </a:p>
        </p:txBody>
      </p:sp>
    </p:spTree>
    <p:extLst>
      <p:ext uri="{BB962C8B-B14F-4D97-AF65-F5344CB8AC3E}">
        <p14:creationId xmlns:p14="http://schemas.microsoft.com/office/powerpoint/2010/main" val="6651855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p:txBody>
          <a:bodyPr/>
          <a:lstStyle/>
          <a:p>
            <a:r>
              <a:rPr lang="en-US"/>
              <a:t>A System at Equilibrium</a:t>
            </a:r>
          </a:p>
        </p:txBody>
      </p:sp>
      <p:sp>
        <p:nvSpPr>
          <p:cNvPr id="11267" name="Rectangle 3"/>
          <p:cNvSpPr>
            <a:spLocks noGrp="1" noChangeArrowheads="1"/>
          </p:cNvSpPr>
          <p:nvPr>
            <p:ph type="body" sz="half" idx="1"/>
          </p:nvPr>
        </p:nvSpPr>
        <p:spPr>
          <a:xfrm>
            <a:off x="609600" y="1981200"/>
            <a:ext cx="5105400" cy="4114800"/>
          </a:xfrm>
        </p:spPr>
        <p:txBody>
          <a:bodyPr/>
          <a:lstStyle/>
          <a:p>
            <a:pPr>
              <a:buFontTx/>
              <a:buNone/>
            </a:pPr>
            <a:r>
              <a:rPr lang="en-US" sz="2800" dirty="0"/>
              <a:t>	</a:t>
            </a:r>
            <a:r>
              <a:rPr lang="en-US" dirty="0"/>
              <a:t>Once equilibrium is achieved, the </a:t>
            </a:r>
            <a:r>
              <a:rPr lang="en-US" i="1" dirty="0"/>
              <a:t>amount</a:t>
            </a:r>
            <a:r>
              <a:rPr lang="en-US" dirty="0"/>
              <a:t> of each reactant and product remains constant. (Not equal, but constant.)</a:t>
            </a:r>
            <a:endParaRPr lang="en-US" sz="2800" dirty="0"/>
          </a:p>
        </p:txBody>
      </p:sp>
      <p:pic>
        <p:nvPicPr>
          <p:cNvPr id="11271" name="Picture 7" descr="15_02"/>
          <p:cNvPicPr>
            <a:picLocks noGrp="1" noChangeAspect="1" noChangeArrowheads="1"/>
          </p:cNvPicPr>
          <p:nvPr>
            <p:ph sz="half" idx="2"/>
          </p:nvPr>
        </p:nvPicPr>
        <p:blipFill>
          <a:blip r:embed="rId3" cstate="print"/>
          <a:srcRect b="59259"/>
          <a:stretch>
            <a:fillRect/>
          </a:stretch>
        </p:blipFill>
        <p:spPr>
          <a:xfrm>
            <a:off x="6477000" y="1775042"/>
            <a:ext cx="4724400" cy="3370262"/>
          </a:xfrm>
        </p:spPr>
      </p:pic>
      <p:pic>
        <p:nvPicPr>
          <p:cNvPr id="11272" name="Picture 8" descr="image-192.tiff                                                 00313193magic_metal                    B74677AA:"/>
          <p:cNvPicPr>
            <a:picLocks noChangeAspect="1" noChangeArrowheads="1"/>
          </p:cNvPicPr>
          <p:nvPr/>
        </p:nvPicPr>
        <p:blipFill>
          <a:blip r:embed="rId4" cstate="print"/>
          <a:srcRect/>
          <a:stretch>
            <a:fillRect/>
          </a:stretch>
        </p:blipFill>
        <p:spPr bwMode="auto">
          <a:xfrm>
            <a:off x="4038600" y="5638800"/>
            <a:ext cx="4216400" cy="482600"/>
          </a:xfrm>
          <a:prstGeom prst="rect">
            <a:avLst/>
          </a:prstGeom>
          <a:noFill/>
        </p:spPr>
      </p:pic>
    </p:spTree>
  </p:cSld>
  <p:clrMapOvr>
    <a:masterClrMapping/>
  </p:clrMapOvr>
  <p:transition spd="slow">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a:xfrm>
            <a:off x="609600" y="0"/>
            <a:ext cx="10972800" cy="1143000"/>
          </a:xfrm>
        </p:spPr>
        <p:txBody>
          <a:bodyPr>
            <a:normAutofit/>
          </a:bodyPr>
          <a:lstStyle/>
          <a:p>
            <a:r>
              <a:rPr lang="en-US" dirty="0"/>
              <a:t>The Reaction Quotient, Q</a:t>
            </a:r>
          </a:p>
        </p:txBody>
      </p:sp>
      <p:sp>
        <p:nvSpPr>
          <p:cNvPr id="25603" name="Rectangle 3"/>
          <p:cNvSpPr>
            <a:spLocks noGrp="1" noChangeArrowheads="1"/>
          </p:cNvSpPr>
          <p:nvPr>
            <p:ph type="body" idx="1"/>
          </p:nvPr>
        </p:nvSpPr>
        <p:spPr>
          <a:xfrm>
            <a:off x="1784350" y="856178"/>
            <a:ext cx="8851900" cy="762000"/>
          </a:xfrm>
        </p:spPr>
        <p:txBody>
          <a:bodyPr>
            <a:normAutofit/>
          </a:bodyPr>
          <a:lstStyle/>
          <a:p>
            <a:pPr algn="ctr">
              <a:buFontTx/>
              <a:buNone/>
            </a:pPr>
            <a:r>
              <a:rPr lang="en-US" dirty="0"/>
              <a:t>For the general reversible reaction:</a:t>
            </a:r>
          </a:p>
        </p:txBody>
      </p:sp>
      <p:sp>
        <p:nvSpPr>
          <p:cNvPr id="25606" name="Rectangle 6"/>
          <p:cNvSpPr>
            <a:spLocks noChangeArrowheads="1"/>
          </p:cNvSpPr>
          <p:nvPr/>
        </p:nvSpPr>
        <p:spPr bwMode="auto">
          <a:xfrm>
            <a:off x="1066800" y="1871313"/>
            <a:ext cx="10287000" cy="762000"/>
          </a:xfrm>
          <a:prstGeom prst="rect">
            <a:avLst/>
          </a:prstGeom>
          <a:noFill/>
          <a:ln w="9525">
            <a:noFill/>
            <a:miter lim="800000"/>
            <a:headEnd/>
            <a:tailEnd/>
          </a:ln>
        </p:spPr>
        <p:txBody>
          <a:bodyPr/>
          <a:lstStyle/>
          <a:p>
            <a:pPr marL="342900" indent="-342900" algn="ctr">
              <a:spcBef>
                <a:spcPct val="20000"/>
              </a:spcBef>
            </a:pPr>
            <a:r>
              <a:rPr lang="en-US" sz="3200" dirty="0">
                <a:solidFill>
                  <a:srgbClr val="C82E32"/>
                </a:solidFill>
              </a:rPr>
              <a:t>the reaction quotient is expressed as:</a:t>
            </a:r>
          </a:p>
          <a:p>
            <a:pPr marL="342900" indent="-342900" algn="ctr">
              <a:spcBef>
                <a:spcPct val="20000"/>
              </a:spcBef>
            </a:pPr>
            <a:r>
              <a:rPr lang="en-US" sz="3200" dirty="0">
                <a:solidFill>
                  <a:srgbClr val="C82E32"/>
                </a:solidFill>
              </a:rPr>
              <a:t>PRODUCTS OVER REACTANTS</a:t>
            </a:r>
          </a:p>
          <a:p>
            <a:pPr marL="342900" indent="-342900">
              <a:spcBef>
                <a:spcPct val="20000"/>
              </a:spcBef>
            </a:pPr>
            <a:endParaRPr lang="en-US" sz="3200" dirty="0">
              <a:solidFill>
                <a:srgbClr val="C82E32"/>
              </a:solidFill>
            </a:endParaRPr>
          </a:p>
          <a:p>
            <a:pPr marL="342900" indent="-342900">
              <a:spcBef>
                <a:spcPct val="20000"/>
              </a:spcBef>
            </a:pPr>
            <a:r>
              <a:rPr lang="en-US" sz="3200" dirty="0">
                <a:solidFill>
                  <a:srgbClr val="0070C0"/>
                </a:solidFill>
              </a:rPr>
              <a:t>						</a:t>
            </a:r>
            <a:r>
              <a:rPr lang="en-US" sz="4000" dirty="0">
                <a:solidFill>
                  <a:srgbClr val="0070C0"/>
                </a:solidFill>
              </a:rPr>
              <a:t>Q = </a:t>
            </a:r>
            <a:endParaRPr lang="en-US" sz="3200" dirty="0">
              <a:solidFill>
                <a:srgbClr val="0070C0"/>
              </a:solidFill>
            </a:endParaRPr>
          </a:p>
        </p:txBody>
      </p:sp>
      <p:pic>
        <p:nvPicPr>
          <p:cNvPr id="25621" name="Picture 21" descr="image-209.tiff                                                 00313193magic_metal                    B74677AA:"/>
          <p:cNvPicPr>
            <a:picLocks noChangeAspect="1" noChangeArrowheads="1"/>
          </p:cNvPicPr>
          <p:nvPr/>
        </p:nvPicPr>
        <p:blipFill>
          <a:blip r:embed="rId3" cstate="print"/>
          <a:srcRect/>
          <a:stretch>
            <a:fillRect/>
          </a:stretch>
        </p:blipFill>
        <p:spPr bwMode="auto">
          <a:xfrm>
            <a:off x="4089400" y="1477616"/>
            <a:ext cx="4241800" cy="381000"/>
          </a:xfrm>
          <a:prstGeom prst="rect">
            <a:avLst/>
          </a:prstGeom>
          <a:noFill/>
        </p:spPr>
      </p:pic>
      <p:pic>
        <p:nvPicPr>
          <p:cNvPr id="25622" name="Picture 22" descr="image-210.tiff                                                 00313193magic_metal                    B74677AA:"/>
          <p:cNvPicPr>
            <a:picLocks noChangeAspect="1" noChangeArrowheads="1"/>
          </p:cNvPicPr>
          <p:nvPr/>
        </p:nvPicPr>
        <p:blipFill rotWithShape="1">
          <a:blip r:embed="rId4" cstate="print"/>
          <a:srcRect l="34889" t="-469" r="-34889" b="469"/>
          <a:stretch/>
        </p:blipFill>
        <p:spPr bwMode="auto">
          <a:xfrm>
            <a:off x="6781800" y="3435990"/>
            <a:ext cx="2483930" cy="1059810"/>
          </a:xfrm>
          <a:prstGeom prst="rect">
            <a:avLst/>
          </a:prstGeom>
          <a:noFill/>
        </p:spPr>
      </p:pic>
      <p:sp>
        <p:nvSpPr>
          <p:cNvPr id="2" name="TextBox 1"/>
          <p:cNvSpPr txBox="1"/>
          <p:nvPr/>
        </p:nvSpPr>
        <p:spPr>
          <a:xfrm>
            <a:off x="838200" y="4495800"/>
            <a:ext cx="1051560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Q is the ratio of products to reactants and allows us to examine the </a:t>
            </a:r>
            <a:r>
              <a:rPr lang="en-US" sz="3200" i="1" dirty="0">
                <a:solidFill>
                  <a:srgbClr val="FF0000"/>
                </a:solidFill>
              </a:rPr>
              <a:t>reaction position</a:t>
            </a:r>
            <a:r>
              <a:rPr lang="en-US" sz="3200" dirty="0"/>
              <a:t>, whether nearer the products or nearer the reactant.</a:t>
            </a:r>
          </a:p>
          <a:p>
            <a:pPr marL="457200" indent="-457200">
              <a:buFont typeface="Arial" panose="020B0604020202020204" pitchFamily="34" charset="0"/>
              <a:buChar char="•"/>
            </a:pPr>
            <a:r>
              <a:rPr lang="en-US" sz="3200" dirty="0"/>
              <a:t>What Q value could indicate a position near completion?</a:t>
            </a:r>
          </a:p>
        </p:txBody>
      </p:sp>
    </p:spTree>
    <p:extLst>
      <p:ext uri="{BB962C8B-B14F-4D97-AF65-F5344CB8AC3E}">
        <p14:creationId xmlns:p14="http://schemas.microsoft.com/office/powerpoint/2010/main" val="981410058"/>
      </p:ext>
    </p:extLst>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4307712" presetClass="entr" presetSubtype="123692672" fill="hold" grpId="0" nodeType="clickEffect">
                                  <p:stCondLst>
                                    <p:cond delay="0"/>
                                  </p:stCondLst>
                                  <p:childTnLst>
                                    <p:set>
                                      <p:cBhvr>
                                        <p:cTn id="6" dur="1" fill="hold">
                                          <p:stCondLst>
                                            <p:cond delay="499"/>
                                          </p:stCondLst>
                                        </p:cTn>
                                        <p:tgtEl>
                                          <p:spTgt spid="256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606" grpId="0" autoUpdateAnimBg="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No liquids and solids allowed!</a:t>
            </a:r>
          </a:p>
        </p:txBody>
      </p:sp>
      <p:sp>
        <p:nvSpPr>
          <p:cNvPr id="3" name="Content Placeholder 2"/>
          <p:cNvSpPr>
            <a:spLocks noGrp="1"/>
          </p:cNvSpPr>
          <p:nvPr>
            <p:ph idx="1"/>
          </p:nvPr>
        </p:nvSpPr>
        <p:spPr/>
        <p:txBody>
          <a:bodyPr/>
          <a:lstStyle/>
          <a:p>
            <a:pPr marL="0" indent="0">
              <a:buNone/>
            </a:pPr>
            <a:r>
              <a:rPr lang="en-US" dirty="0"/>
              <a:t>Because equilibrium depends on rates, the collision theory tells us that it only includes particles that can actually </a:t>
            </a:r>
            <a:r>
              <a:rPr lang="en-US" i="1" dirty="0">
                <a:solidFill>
                  <a:srgbClr val="FF0000"/>
                </a:solidFill>
              </a:rPr>
              <a:t>collide</a:t>
            </a:r>
            <a:r>
              <a:rPr lang="en-US" dirty="0"/>
              <a:t>. </a:t>
            </a:r>
          </a:p>
          <a:p>
            <a:pPr marL="0" indent="0">
              <a:buNone/>
            </a:pPr>
            <a:endParaRPr lang="en-US" dirty="0"/>
          </a:p>
          <a:p>
            <a:pPr marL="0" indent="0">
              <a:buNone/>
            </a:pPr>
            <a:r>
              <a:rPr lang="en-US" dirty="0"/>
              <a:t>For this reason, the reaction quotient expressions only include </a:t>
            </a:r>
            <a:r>
              <a:rPr lang="en-US" dirty="0">
                <a:solidFill>
                  <a:srgbClr val="FF0000"/>
                </a:solidFill>
              </a:rPr>
              <a:t>gases</a:t>
            </a:r>
            <a:r>
              <a:rPr lang="en-US" dirty="0"/>
              <a:t> or </a:t>
            </a:r>
            <a:r>
              <a:rPr lang="en-US" dirty="0">
                <a:solidFill>
                  <a:srgbClr val="FF0000"/>
                </a:solidFill>
              </a:rPr>
              <a:t>dissolved particles</a:t>
            </a:r>
            <a:r>
              <a:rPr lang="en-US" dirty="0"/>
              <a:t>, and NOT </a:t>
            </a:r>
            <a:r>
              <a:rPr lang="en-US" sz="2800" dirty="0">
                <a:solidFill>
                  <a:srgbClr val="FF0000"/>
                </a:solidFill>
              </a:rPr>
              <a:t>liquids</a:t>
            </a:r>
            <a:r>
              <a:rPr lang="en-US" dirty="0"/>
              <a:t> or </a:t>
            </a:r>
            <a:r>
              <a:rPr lang="en-US" dirty="0">
                <a:solidFill>
                  <a:srgbClr val="FF0000"/>
                </a:solidFill>
              </a:rPr>
              <a:t>solids</a:t>
            </a:r>
            <a:r>
              <a:rPr lang="en-US" dirty="0"/>
              <a:t>.</a:t>
            </a:r>
          </a:p>
        </p:txBody>
      </p:sp>
    </p:spTree>
    <p:extLst>
      <p:ext uri="{BB962C8B-B14F-4D97-AF65-F5344CB8AC3E}">
        <p14:creationId xmlns:p14="http://schemas.microsoft.com/office/powerpoint/2010/main" val="10211921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p:txBody>
          <a:bodyPr>
            <a:normAutofit fontScale="90000"/>
          </a:bodyPr>
          <a:lstStyle/>
          <a:p>
            <a:pPr algn="l"/>
            <a:br>
              <a:rPr lang="en-US" noProof="1">
                <a:solidFill>
                  <a:schemeClr val="tx1"/>
                </a:solidFill>
              </a:rPr>
            </a:br>
            <a:r>
              <a:rPr lang="en-US" noProof="1">
                <a:solidFill>
                  <a:schemeClr val="tx1"/>
                </a:solidFill>
              </a:rPr>
              <a:t>Don’t worry about units….</a:t>
            </a:r>
            <a:br>
              <a:rPr lang="en-US" u="sng" noProof="1">
                <a:solidFill>
                  <a:schemeClr val="tx1"/>
                </a:solidFill>
              </a:rPr>
            </a:br>
            <a:endParaRPr lang="en-US" u="sng" noProof="1">
              <a:solidFill>
                <a:schemeClr val="tx1"/>
              </a:solidFill>
            </a:endParaRPr>
          </a:p>
        </p:txBody>
      </p:sp>
      <p:sp>
        <p:nvSpPr>
          <p:cNvPr id="2" name="Content Placeholder 1"/>
          <p:cNvSpPr>
            <a:spLocks noGrp="1"/>
          </p:cNvSpPr>
          <p:nvPr>
            <p:ph idx="1"/>
          </p:nvPr>
        </p:nvSpPr>
        <p:spPr/>
        <p:txBody>
          <a:bodyPr/>
          <a:lstStyle/>
          <a:p>
            <a:r>
              <a:rPr lang="en-US" sz="4000" noProof="1"/>
              <a:t>The </a:t>
            </a:r>
            <a:r>
              <a:rPr lang="en-US" sz="4000" noProof="1">
                <a:solidFill>
                  <a:srgbClr val="FF0000"/>
                </a:solidFill>
              </a:rPr>
              <a:t>units</a:t>
            </a:r>
            <a:r>
              <a:rPr lang="en-US" sz="4000" noProof="1"/>
              <a:t> for </a:t>
            </a:r>
            <a:r>
              <a:rPr lang="en-US" sz="4000" i="1" noProof="1"/>
              <a:t>Q (and later K)</a:t>
            </a:r>
            <a:r>
              <a:rPr lang="en-US" sz="4000" noProof="1"/>
              <a:t> depend on the reaction.  They are usually not used.</a:t>
            </a:r>
            <a:endParaRPr lang="en-US" dirty="0"/>
          </a:p>
        </p:txBody>
      </p:sp>
    </p:spTree>
    <p:extLst>
      <p:ext uri="{BB962C8B-B14F-4D97-AF65-F5344CB8AC3E}">
        <p14:creationId xmlns:p14="http://schemas.microsoft.com/office/powerpoint/2010/main" val="1407795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034" name="Text Box 2"/>
          <p:cNvSpPr txBox="1">
            <a:spLocks noChangeArrowheads="1"/>
          </p:cNvSpPr>
          <p:nvPr/>
        </p:nvSpPr>
        <p:spPr bwMode="auto">
          <a:xfrm>
            <a:off x="381000" y="88145"/>
            <a:ext cx="10820400" cy="646331"/>
          </a:xfrm>
          <a:prstGeom prst="rect">
            <a:avLst/>
          </a:prstGeom>
          <a:noFill/>
          <a:ln w="9525">
            <a:noFill/>
            <a:miter lim="800000"/>
            <a:headEnd/>
            <a:tailEnd/>
          </a:ln>
          <a:effectLst/>
        </p:spPr>
        <p:txBody>
          <a:bodyPr wrap="square">
            <a:spAutoFit/>
          </a:bodyPr>
          <a:lstStyle/>
          <a:p>
            <a:r>
              <a:rPr lang="en-US" sz="3600" dirty="0">
                <a:latin typeface="+mj-lt"/>
              </a:rPr>
              <a:t>Write the Q expression for the following reactions:</a:t>
            </a:r>
            <a:r>
              <a:rPr lang="en-US" sz="2400" dirty="0">
                <a:latin typeface="+mj-lt"/>
              </a:rPr>
              <a:t> </a:t>
            </a:r>
            <a:endParaRPr lang="en-US" sz="2400" b="1" dirty="0">
              <a:latin typeface="+mj-lt"/>
            </a:endParaRPr>
          </a:p>
        </p:txBody>
      </p:sp>
      <p:sp>
        <p:nvSpPr>
          <p:cNvPr id="3" name="Content Placeholder 2"/>
          <p:cNvSpPr>
            <a:spLocks noGrp="1"/>
          </p:cNvSpPr>
          <p:nvPr>
            <p:ph idx="1"/>
          </p:nvPr>
        </p:nvSpPr>
        <p:spPr>
          <a:xfrm>
            <a:off x="381000" y="914400"/>
            <a:ext cx="9867900" cy="5287965"/>
          </a:xfrm>
        </p:spPr>
        <p:txBody>
          <a:bodyPr>
            <a:normAutofit lnSpcReduction="10000"/>
          </a:bodyPr>
          <a:lstStyle/>
          <a:p>
            <a:pPr marL="514350" indent="-514350">
              <a:buFont typeface="+mj-lt"/>
              <a:buAutoNum type="arabicPeriod"/>
            </a:pPr>
            <a:r>
              <a:rPr lang="en-US" dirty="0"/>
              <a:t>H</a:t>
            </a:r>
            <a:r>
              <a:rPr lang="en-US" baseline="-25000" dirty="0">
                <a:cs typeface="Lucida Sans Unicode"/>
                <a:sym typeface="Wingdings" panose="05000000000000000000" pitchFamily="2" charset="2"/>
              </a:rPr>
              <a:t>2</a:t>
            </a:r>
            <a:r>
              <a:rPr lang="en-US" dirty="0"/>
              <a:t> (g) + F</a:t>
            </a:r>
            <a:r>
              <a:rPr lang="en-US" baseline="-25000" dirty="0">
                <a:cs typeface="Lucida Sans Unicode"/>
                <a:sym typeface="Wingdings" panose="05000000000000000000" pitchFamily="2" charset="2"/>
              </a:rPr>
              <a:t>2</a:t>
            </a:r>
            <a:r>
              <a:rPr lang="en-US" dirty="0"/>
              <a:t> (g)</a:t>
            </a:r>
            <a:r>
              <a:rPr lang="en-US" dirty="0">
                <a:latin typeface="Lucida Sans Unicode"/>
                <a:cs typeface="Lucida Sans Unicode"/>
                <a:sym typeface="Wingdings" panose="05000000000000000000" pitchFamily="2" charset="2"/>
              </a:rPr>
              <a:t>⇄</a:t>
            </a:r>
            <a:r>
              <a:rPr lang="en-US" dirty="0">
                <a:cs typeface="Lucida Sans Unicode"/>
                <a:sym typeface="Wingdings" panose="05000000000000000000" pitchFamily="2" charset="2"/>
              </a:rPr>
              <a:t> 2HF (g)</a:t>
            </a:r>
          </a:p>
          <a:p>
            <a:pPr marL="0" indent="0">
              <a:buNone/>
            </a:pPr>
            <a:endParaRPr lang="en-US" dirty="0"/>
          </a:p>
          <a:p>
            <a:pPr marL="0" indent="0">
              <a:buNone/>
            </a:pPr>
            <a:endParaRPr lang="en-US" dirty="0"/>
          </a:p>
          <a:p>
            <a:pPr marL="0" indent="0">
              <a:buNone/>
            </a:pPr>
            <a:r>
              <a:rPr lang="en-US" dirty="0"/>
              <a:t>2. Mg (s) + 2CuCl (</a:t>
            </a:r>
            <a:r>
              <a:rPr lang="en-US" dirty="0" err="1"/>
              <a:t>aq</a:t>
            </a:r>
            <a:r>
              <a:rPr lang="en-US" dirty="0"/>
              <a:t>) </a:t>
            </a:r>
            <a:r>
              <a:rPr lang="en-US" dirty="0">
                <a:latin typeface="Lucida Sans Unicode"/>
                <a:cs typeface="Lucida Sans Unicode"/>
                <a:sym typeface="Wingdings" panose="05000000000000000000" pitchFamily="2" charset="2"/>
              </a:rPr>
              <a:t>⇄</a:t>
            </a:r>
            <a:r>
              <a:rPr lang="en-US" dirty="0">
                <a:cs typeface="Lucida Sans Unicode"/>
                <a:sym typeface="Wingdings" panose="05000000000000000000" pitchFamily="2" charset="2"/>
              </a:rPr>
              <a:t> 2Cu (s) + MgCl</a:t>
            </a:r>
            <a:r>
              <a:rPr lang="en-US" baseline="-25000" dirty="0">
                <a:cs typeface="Lucida Sans Unicode"/>
                <a:sym typeface="Wingdings" panose="05000000000000000000" pitchFamily="2" charset="2"/>
              </a:rPr>
              <a:t>2</a:t>
            </a:r>
            <a:r>
              <a:rPr lang="en-US" dirty="0">
                <a:cs typeface="Lucida Sans Unicode"/>
                <a:sym typeface="Wingdings" panose="05000000000000000000" pitchFamily="2" charset="2"/>
              </a:rPr>
              <a:t> (</a:t>
            </a:r>
            <a:r>
              <a:rPr lang="en-US" dirty="0" err="1">
                <a:cs typeface="Lucida Sans Unicode"/>
                <a:sym typeface="Wingdings" panose="05000000000000000000" pitchFamily="2" charset="2"/>
              </a:rPr>
              <a:t>aq</a:t>
            </a:r>
            <a:r>
              <a:rPr lang="en-US" dirty="0">
                <a:cs typeface="Lucida Sans Unicode"/>
                <a:sym typeface="Wingdings" panose="05000000000000000000" pitchFamily="2" charset="2"/>
              </a:rPr>
              <a:t>)</a:t>
            </a:r>
            <a:endParaRPr lang="en-US" dirty="0"/>
          </a:p>
          <a:p>
            <a:pPr marL="514350" indent="-514350">
              <a:buFont typeface="+mj-lt"/>
              <a:buAutoNum type="arabicPeriod"/>
            </a:pPr>
            <a:endParaRPr lang="en-US" dirty="0"/>
          </a:p>
          <a:p>
            <a:pPr marL="514350" indent="-514350">
              <a:buFont typeface="+mj-lt"/>
              <a:buAutoNum type="arabicPeriod"/>
            </a:pPr>
            <a:endParaRPr lang="en-US" dirty="0"/>
          </a:p>
          <a:p>
            <a:pPr marL="0" indent="0">
              <a:buNone/>
            </a:pPr>
            <a:r>
              <a:rPr lang="en-US" dirty="0"/>
              <a:t>3. 2H</a:t>
            </a:r>
            <a:r>
              <a:rPr lang="en-US" baseline="-25000" dirty="0"/>
              <a:t>2</a:t>
            </a:r>
            <a:r>
              <a:rPr lang="en-US" dirty="0"/>
              <a:t>0 (l) </a:t>
            </a:r>
            <a:r>
              <a:rPr lang="en-US" dirty="0">
                <a:latin typeface="Lucida Sans Unicode"/>
                <a:cs typeface="Lucida Sans Unicode"/>
                <a:sym typeface="Wingdings" panose="05000000000000000000" pitchFamily="2" charset="2"/>
              </a:rPr>
              <a:t>⇄</a:t>
            </a:r>
            <a:r>
              <a:rPr lang="en-US" dirty="0">
                <a:cs typeface="Lucida Sans Unicode"/>
                <a:sym typeface="Wingdings" panose="05000000000000000000" pitchFamily="2" charset="2"/>
              </a:rPr>
              <a:t>  </a:t>
            </a:r>
            <a:r>
              <a:rPr lang="en-US" dirty="0">
                <a:sym typeface="Wingdings" panose="05000000000000000000" pitchFamily="2" charset="2"/>
              </a:rPr>
              <a:t>2H</a:t>
            </a:r>
            <a:r>
              <a:rPr lang="en-US" baseline="-25000" dirty="0">
                <a:sym typeface="Wingdings" panose="05000000000000000000" pitchFamily="2" charset="2"/>
              </a:rPr>
              <a:t>2 </a:t>
            </a:r>
            <a:r>
              <a:rPr lang="en-US" dirty="0">
                <a:sym typeface="Wingdings" panose="05000000000000000000" pitchFamily="2" charset="2"/>
              </a:rPr>
              <a:t>(g) + O</a:t>
            </a:r>
            <a:r>
              <a:rPr lang="en-US" baseline="-25000" dirty="0">
                <a:sym typeface="Wingdings" panose="05000000000000000000" pitchFamily="2" charset="2"/>
              </a:rPr>
              <a:t>2</a:t>
            </a:r>
            <a:r>
              <a:rPr lang="en-US" dirty="0">
                <a:sym typeface="Wingdings" panose="05000000000000000000" pitchFamily="2" charset="2"/>
              </a:rPr>
              <a:t> (g) </a:t>
            </a:r>
          </a:p>
          <a:p>
            <a:pPr marL="514350" indent="-514350">
              <a:buFont typeface="+mj-lt"/>
              <a:buAutoNum type="arabicPeriod"/>
            </a:pPr>
            <a:endParaRPr lang="en-US" baseline="-25000" dirty="0">
              <a:sym typeface="Wingdings" panose="05000000000000000000" pitchFamily="2" charset="2"/>
            </a:endParaRPr>
          </a:p>
          <a:p>
            <a:pPr marL="514350" indent="-514350">
              <a:buFont typeface="+mj-lt"/>
              <a:buAutoNum type="arabicPeriod"/>
            </a:pPr>
            <a:endParaRPr lang="en-US" baseline="-25000" dirty="0">
              <a:sym typeface="Wingdings" panose="05000000000000000000" pitchFamily="2" charset="2"/>
            </a:endParaRPr>
          </a:p>
          <a:p>
            <a:pPr marL="0" indent="0">
              <a:buNone/>
            </a:pPr>
            <a:r>
              <a:rPr lang="en-US" dirty="0">
                <a:sym typeface="Wingdings" panose="05000000000000000000" pitchFamily="2" charset="2"/>
              </a:rPr>
              <a:t>4. Cl</a:t>
            </a:r>
            <a:r>
              <a:rPr lang="en-US" baseline="-25000" dirty="0">
                <a:sym typeface="Wingdings" panose="05000000000000000000" pitchFamily="2" charset="2"/>
              </a:rPr>
              <a:t>2</a:t>
            </a:r>
            <a:r>
              <a:rPr lang="en-US" dirty="0">
                <a:sym typeface="Wingdings" panose="05000000000000000000" pitchFamily="2" charset="2"/>
              </a:rPr>
              <a:t> (g) + 2Na (s) </a:t>
            </a:r>
            <a:r>
              <a:rPr lang="en-US" dirty="0">
                <a:latin typeface="Lucida Sans Unicode"/>
                <a:cs typeface="Lucida Sans Unicode"/>
                <a:sym typeface="Wingdings" panose="05000000000000000000" pitchFamily="2" charset="2"/>
              </a:rPr>
              <a:t>⇄</a:t>
            </a:r>
            <a:r>
              <a:rPr lang="en-US" dirty="0">
                <a:cs typeface="Lucida Sans Unicode"/>
                <a:sym typeface="Wingdings" panose="05000000000000000000" pitchFamily="2" charset="2"/>
              </a:rPr>
              <a:t> </a:t>
            </a:r>
            <a:r>
              <a:rPr lang="en-US" dirty="0">
                <a:sym typeface="Wingdings" panose="05000000000000000000" pitchFamily="2" charset="2"/>
              </a:rPr>
              <a:t>2NaCl (s)</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a:xfrm>
            <a:off x="609600" y="0"/>
            <a:ext cx="10972800" cy="636198"/>
          </a:xfrm>
        </p:spPr>
        <p:txBody>
          <a:bodyPr>
            <a:normAutofit fontScale="90000"/>
          </a:bodyPr>
          <a:lstStyle/>
          <a:p>
            <a:r>
              <a:rPr lang="en-US" dirty="0"/>
              <a:t>The Equilibrium Expression (Law of Mass Action)</a:t>
            </a:r>
          </a:p>
        </p:txBody>
      </p:sp>
      <p:sp>
        <p:nvSpPr>
          <p:cNvPr id="25603" name="Rectangle 3"/>
          <p:cNvSpPr>
            <a:spLocks noGrp="1" noChangeArrowheads="1"/>
          </p:cNvSpPr>
          <p:nvPr>
            <p:ph type="body" idx="1"/>
          </p:nvPr>
        </p:nvSpPr>
        <p:spPr>
          <a:xfrm>
            <a:off x="2273300" y="655073"/>
            <a:ext cx="7772400" cy="965909"/>
          </a:xfrm>
        </p:spPr>
        <p:txBody>
          <a:bodyPr>
            <a:normAutofit/>
          </a:bodyPr>
          <a:lstStyle/>
          <a:p>
            <a:pPr>
              <a:buFontTx/>
              <a:buNone/>
            </a:pPr>
            <a:r>
              <a:rPr lang="en-US" dirty="0"/>
              <a:t>For the general at equilibrium reaction:</a:t>
            </a:r>
          </a:p>
        </p:txBody>
      </p:sp>
      <p:sp>
        <p:nvSpPr>
          <p:cNvPr id="25606" name="Rectangle 6"/>
          <p:cNvSpPr>
            <a:spLocks noChangeArrowheads="1"/>
          </p:cNvSpPr>
          <p:nvPr/>
        </p:nvSpPr>
        <p:spPr bwMode="auto">
          <a:xfrm>
            <a:off x="2273300" y="1640347"/>
            <a:ext cx="7772400" cy="762000"/>
          </a:xfrm>
          <a:prstGeom prst="rect">
            <a:avLst/>
          </a:prstGeom>
          <a:noFill/>
          <a:ln w="9525">
            <a:noFill/>
            <a:miter lim="800000"/>
            <a:headEnd/>
            <a:tailEnd/>
          </a:ln>
        </p:spPr>
        <p:txBody>
          <a:bodyPr/>
          <a:lstStyle/>
          <a:p>
            <a:pPr marL="342900" indent="-342900" algn="ctr">
              <a:spcBef>
                <a:spcPct val="20000"/>
              </a:spcBef>
            </a:pPr>
            <a:r>
              <a:rPr lang="en-US" sz="3200" dirty="0">
                <a:solidFill>
                  <a:srgbClr val="C82E32"/>
                </a:solidFill>
              </a:rPr>
              <a:t>the equilibrium expression is ALWAYS PRODUCTS OVER REACTANTS:</a:t>
            </a:r>
          </a:p>
          <a:p>
            <a:pPr marL="342900" indent="-342900">
              <a:spcBef>
                <a:spcPct val="20000"/>
              </a:spcBef>
            </a:pPr>
            <a:r>
              <a:rPr lang="en-US" sz="3200" i="1" dirty="0">
                <a:solidFill>
                  <a:srgbClr val="0070C0"/>
                </a:solidFill>
                <a:latin typeface="Times New Roman" panose="02020603050405020304" pitchFamily="18" charset="0"/>
                <a:cs typeface="Times New Roman" panose="02020603050405020304" pitchFamily="18" charset="0"/>
              </a:rPr>
              <a:t>	</a:t>
            </a:r>
            <a:r>
              <a:rPr lang="en-US" sz="4000" i="1" dirty="0" err="1">
                <a:solidFill>
                  <a:srgbClr val="0070C0"/>
                </a:solidFill>
                <a:latin typeface="Times New Roman" panose="02020603050405020304" pitchFamily="18" charset="0"/>
                <a:cs typeface="Times New Roman" panose="02020603050405020304" pitchFamily="18" charset="0"/>
              </a:rPr>
              <a:t>K</a:t>
            </a:r>
            <a:r>
              <a:rPr lang="en-US" sz="4000" i="1" baseline="-25000" dirty="0" err="1">
                <a:solidFill>
                  <a:srgbClr val="0070C0"/>
                </a:solidFill>
                <a:latin typeface="Times New Roman" panose="02020603050405020304" pitchFamily="18" charset="0"/>
                <a:cs typeface="Times New Roman" panose="02020603050405020304" pitchFamily="18" charset="0"/>
              </a:rPr>
              <a:t>eq</a:t>
            </a:r>
            <a:r>
              <a:rPr lang="en-US" sz="4000" i="1" dirty="0">
                <a:solidFill>
                  <a:srgbClr val="0070C0"/>
                </a:solidFill>
                <a:latin typeface="Times New Roman" panose="02020603050405020304" pitchFamily="18" charset="0"/>
                <a:cs typeface="Times New Roman" panose="02020603050405020304" pitchFamily="18" charset="0"/>
              </a:rPr>
              <a:t> = </a:t>
            </a:r>
            <a:endParaRPr lang="en-US" sz="3200" i="1" dirty="0">
              <a:solidFill>
                <a:srgbClr val="0070C0"/>
              </a:solidFill>
              <a:latin typeface="Times New Roman" panose="02020603050405020304" pitchFamily="18" charset="0"/>
              <a:cs typeface="Times New Roman" panose="02020603050405020304" pitchFamily="18" charset="0"/>
            </a:endParaRPr>
          </a:p>
        </p:txBody>
      </p:sp>
      <p:pic>
        <p:nvPicPr>
          <p:cNvPr id="25621" name="Picture 21" descr="image-209.tiff                                                 00313193magic_metal                    B74677AA:"/>
          <p:cNvPicPr>
            <a:picLocks noChangeAspect="1" noChangeArrowheads="1"/>
          </p:cNvPicPr>
          <p:nvPr/>
        </p:nvPicPr>
        <p:blipFill>
          <a:blip r:embed="rId3" cstate="print"/>
          <a:srcRect/>
          <a:stretch>
            <a:fillRect/>
          </a:stretch>
        </p:blipFill>
        <p:spPr bwMode="auto">
          <a:xfrm>
            <a:off x="3975100" y="1205707"/>
            <a:ext cx="4241800" cy="381000"/>
          </a:xfrm>
          <a:prstGeom prst="rect">
            <a:avLst/>
          </a:prstGeom>
          <a:noFill/>
        </p:spPr>
      </p:pic>
      <p:sp>
        <p:nvSpPr>
          <p:cNvPr id="2" name="TextBox 1"/>
          <p:cNvSpPr txBox="1"/>
          <p:nvPr/>
        </p:nvSpPr>
        <p:spPr>
          <a:xfrm>
            <a:off x="254000" y="3811012"/>
            <a:ext cx="1181100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err="1"/>
              <a:t>K</a:t>
            </a:r>
            <a:r>
              <a:rPr lang="en-US" sz="3200" baseline="-25000" dirty="0" err="1"/>
              <a:t>eq</a:t>
            </a:r>
            <a:r>
              <a:rPr lang="en-US" sz="3200" dirty="0"/>
              <a:t> is the </a:t>
            </a:r>
            <a:r>
              <a:rPr lang="en-US" sz="3200" dirty="0">
                <a:solidFill>
                  <a:srgbClr val="FF0000"/>
                </a:solidFill>
              </a:rPr>
              <a:t>equilibrium CONSTANT- </a:t>
            </a:r>
            <a:r>
              <a:rPr lang="en-US" sz="3200" dirty="0"/>
              <a:t>the ratio of products to reactants when the system is at </a:t>
            </a:r>
            <a:r>
              <a:rPr lang="en-US" sz="3200" dirty="0">
                <a:solidFill>
                  <a:srgbClr val="FF0000"/>
                </a:solidFill>
              </a:rPr>
              <a:t>EQUILIBRIUM</a:t>
            </a:r>
            <a:r>
              <a:rPr lang="en-US" sz="3200" dirty="0"/>
              <a:t>. </a:t>
            </a:r>
          </a:p>
          <a:p>
            <a:pPr marL="457200" indent="-457200">
              <a:buFont typeface="Arial" panose="020B0604020202020204" pitchFamily="34" charset="0"/>
              <a:buChar char="•"/>
            </a:pPr>
            <a:r>
              <a:rPr lang="en-US" sz="3200" dirty="0"/>
              <a:t>If a system IS at equilibrium, </a:t>
            </a:r>
            <a:r>
              <a:rPr lang="en-US" sz="3200" i="1" dirty="0">
                <a:solidFill>
                  <a:srgbClr val="FF0000"/>
                </a:solidFill>
              </a:rPr>
              <a:t>Q = </a:t>
            </a:r>
            <a:r>
              <a:rPr lang="en-US" sz="3200" i="1" dirty="0" err="1">
                <a:solidFill>
                  <a:srgbClr val="FF0000"/>
                </a:solidFill>
              </a:rPr>
              <a:t>K</a:t>
            </a:r>
            <a:r>
              <a:rPr lang="en-US" sz="3200" i="1" baseline="-25000" dirty="0" err="1">
                <a:solidFill>
                  <a:srgbClr val="FF0000"/>
                </a:solidFill>
              </a:rPr>
              <a:t>eq</a:t>
            </a:r>
            <a:r>
              <a:rPr lang="en-US" sz="3200" i="1" dirty="0">
                <a:solidFill>
                  <a:srgbClr val="FF0000"/>
                </a:solidFill>
              </a:rPr>
              <a:t>. </a:t>
            </a:r>
            <a:r>
              <a:rPr lang="en-US" sz="3200" dirty="0"/>
              <a:t>The forward and reverse rates are equal.</a:t>
            </a:r>
          </a:p>
          <a:p>
            <a:pPr marL="457200" indent="-457200">
              <a:buFont typeface="Arial" panose="020B0604020202020204" pitchFamily="34" charset="0"/>
              <a:buChar char="•"/>
            </a:pPr>
            <a:r>
              <a:rPr lang="en-US" sz="3200" dirty="0"/>
              <a:t>If a system is NOT at equilibrium, </a:t>
            </a:r>
            <a:r>
              <a:rPr lang="en-US" sz="3200" i="1" dirty="0">
                <a:solidFill>
                  <a:srgbClr val="FF0000"/>
                </a:solidFill>
              </a:rPr>
              <a:t>Q ≠ </a:t>
            </a:r>
            <a:r>
              <a:rPr lang="en-US" sz="3200" i="1" dirty="0" err="1">
                <a:solidFill>
                  <a:srgbClr val="FF0000"/>
                </a:solidFill>
              </a:rPr>
              <a:t>K</a:t>
            </a:r>
            <a:r>
              <a:rPr lang="en-US" sz="3200" i="1" baseline="-25000" dirty="0" err="1">
                <a:solidFill>
                  <a:srgbClr val="FF0000"/>
                </a:solidFill>
              </a:rPr>
              <a:t>eq</a:t>
            </a:r>
            <a:r>
              <a:rPr lang="en-US" sz="3200" i="1" dirty="0">
                <a:solidFill>
                  <a:srgbClr val="FF0000"/>
                </a:solidFill>
              </a:rPr>
              <a:t>.</a:t>
            </a:r>
            <a:r>
              <a:rPr lang="en-US" sz="3200" dirty="0"/>
              <a:t> The reaction will </a:t>
            </a:r>
            <a:r>
              <a:rPr lang="en-US" sz="3200" dirty="0">
                <a:solidFill>
                  <a:srgbClr val="FF0000"/>
                </a:solidFill>
              </a:rPr>
              <a:t>shift</a:t>
            </a:r>
            <a:r>
              <a:rPr lang="en-US" sz="3200" dirty="0"/>
              <a:t> until Q=</a:t>
            </a:r>
            <a:r>
              <a:rPr lang="en-US" sz="3200" dirty="0" err="1"/>
              <a:t>K</a:t>
            </a:r>
            <a:r>
              <a:rPr lang="en-US" sz="3200" baseline="-25000" dirty="0" err="1"/>
              <a:t>eq</a:t>
            </a:r>
            <a:r>
              <a:rPr lang="en-US" sz="3200" dirty="0"/>
              <a:t>.</a:t>
            </a:r>
          </a:p>
        </p:txBody>
      </p:sp>
      <p:pic>
        <p:nvPicPr>
          <p:cNvPr id="8" name="Picture 22" descr="image-210.tiff                                                 00313193magic_metal                    B74677AA:"/>
          <p:cNvPicPr>
            <a:picLocks noChangeAspect="1" noChangeArrowheads="1"/>
          </p:cNvPicPr>
          <p:nvPr/>
        </p:nvPicPr>
        <p:blipFill rotWithShape="1">
          <a:blip r:embed="rId4" cstate="print"/>
          <a:srcRect l="34889" t="-469" r="-34889" b="469"/>
          <a:stretch/>
        </p:blipFill>
        <p:spPr bwMode="auto">
          <a:xfrm>
            <a:off x="5257800" y="2649519"/>
            <a:ext cx="2483930" cy="1059810"/>
          </a:xfrm>
          <a:prstGeom prst="rect">
            <a:avLst/>
          </a:prstGeom>
          <a:noFill/>
        </p:spPr>
      </p:pic>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4307712" presetClass="entr" presetSubtype="123692672" fill="hold" grpId="0" nodeType="clickEffect">
                                  <p:stCondLst>
                                    <p:cond delay="0"/>
                                  </p:stCondLst>
                                  <p:childTnLst>
                                    <p:set>
                                      <p:cBhvr>
                                        <p:cTn id="6" dur="1" fill="hold">
                                          <p:stCondLst>
                                            <p:cond delay="499"/>
                                          </p:stCondLst>
                                        </p:cTn>
                                        <p:tgtEl>
                                          <p:spTgt spid="256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606" grpId="0" autoUpdateAnimBg="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641838" y="0"/>
            <a:ext cx="10972800" cy="715962"/>
          </a:xfrm>
        </p:spPr>
        <p:txBody>
          <a:bodyPr>
            <a:noAutofit/>
          </a:bodyPr>
          <a:lstStyle/>
          <a:p>
            <a:pPr algn="l">
              <a:defRPr/>
            </a:pPr>
            <a:r>
              <a:rPr lang="en-US" sz="4800" noProof="1">
                <a:solidFill>
                  <a:schemeClr val="tx1"/>
                </a:solidFill>
                <a:effectLst>
                  <a:outerShdw blurRad="38100" dist="38100" dir="2700000" algn="tl">
                    <a:srgbClr val="FFFFFF"/>
                  </a:outerShdw>
                </a:effectLst>
              </a:rPr>
              <a:t>Gas Systems and Pressures in K</a:t>
            </a:r>
          </a:p>
        </p:txBody>
      </p:sp>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609600" y="1219201"/>
                <a:ext cx="10972800" cy="5486400"/>
              </a:xfrm>
            </p:spPr>
            <p:txBody>
              <a:bodyPr>
                <a:normAutofit fontScale="85000" lnSpcReduction="20000"/>
              </a:bodyPr>
              <a:lstStyle/>
              <a:p>
                <a:r>
                  <a:rPr lang="en-US" sz="3600" noProof="1"/>
                  <a:t>For gas systems, </a:t>
                </a:r>
                <a:r>
                  <a:rPr lang="en-US" sz="3600" noProof="1">
                    <a:solidFill>
                      <a:srgbClr val="FF0000"/>
                    </a:solidFill>
                  </a:rPr>
                  <a:t>pressures</a:t>
                </a:r>
                <a:r>
                  <a:rPr lang="en-US" sz="3600" noProof="1"/>
                  <a:t> can be used in equilibrium expressions.  The equilibrium constant is called </a:t>
                </a:r>
                <a:r>
                  <a:rPr lang="en-US" sz="3600" i="1" noProof="1">
                    <a:solidFill>
                      <a:srgbClr val="FF0000"/>
                    </a:solidFill>
                  </a:rPr>
                  <a:t>K</a:t>
                </a:r>
                <a:r>
                  <a:rPr lang="en-US" sz="3600" i="1" baseline="-25000" noProof="1">
                    <a:solidFill>
                      <a:srgbClr val="FF0000"/>
                    </a:solidFill>
                  </a:rPr>
                  <a:t>p</a:t>
                </a:r>
                <a:r>
                  <a:rPr lang="en-US" sz="3600" noProof="1"/>
                  <a:t>.  Using the same mass action equation as above, for the reaction:</a:t>
                </a:r>
              </a:p>
              <a:p>
                <a:pPr marL="0" indent="0">
                  <a:buNone/>
                </a:pPr>
                <a:r>
                  <a:rPr lang="en-US" sz="3600" noProof="1"/>
                  <a:t> 			</a:t>
                </a:r>
                <a:r>
                  <a:rPr lang="en-US" sz="3600" i="1" noProof="1">
                    <a:latin typeface="Times New Roman" panose="02020603050405020304" pitchFamily="18" charset="0"/>
                    <a:cs typeface="Times New Roman" panose="02020603050405020304" pitchFamily="18" charset="0"/>
                  </a:rPr>
                  <a:t>aA (g) + bB (g) </a:t>
                </a:r>
                <a:r>
                  <a:rPr lang="en-US" sz="3600" i="1" noProof="1">
                    <a:latin typeface="Times New Roman" panose="02020603050405020304" pitchFamily="18" charset="0"/>
                    <a:ea typeface="Cambria Math" panose="02040503050406030204" pitchFamily="18" charset="0"/>
                    <a:cs typeface="Times New Roman" panose="02020603050405020304" pitchFamily="18" charset="0"/>
                  </a:rPr>
                  <a:t>⇌ cC</a:t>
                </a:r>
                <a:r>
                  <a:rPr lang="en-US" sz="3600" i="1" noProof="1">
                    <a:latin typeface="Times New Roman" panose="02020603050405020304" pitchFamily="18" charset="0"/>
                    <a:cs typeface="Times New Roman" panose="02020603050405020304" pitchFamily="18" charset="0"/>
                  </a:rPr>
                  <a:t> (g) dD (g) </a:t>
                </a:r>
              </a:p>
              <a:p>
                <a:pPr marL="0" indent="0">
                  <a:buNone/>
                </a:pPr>
                <a:r>
                  <a:rPr lang="en-US" sz="3600" noProof="1"/>
                  <a:t>the </a:t>
                </a:r>
                <a:r>
                  <a:rPr lang="en-US" sz="3600" i="1" noProof="1"/>
                  <a:t>K</a:t>
                </a:r>
                <a:r>
                  <a:rPr lang="en-US" sz="3600" i="1" baseline="-25000" noProof="1"/>
                  <a:t>p</a:t>
                </a:r>
                <a:r>
                  <a:rPr lang="en-US" sz="3600" noProof="1"/>
                  <a:t> expression becomes:</a:t>
                </a:r>
                <a:br>
                  <a:rPr lang="en-US" sz="4000" noProof="1"/>
                </a:br>
                <a:endParaRPr lang="en-US" sz="4000" noProof="1"/>
              </a:p>
              <a:p>
                <a:pPr marL="0" indent="0" algn="ctr">
                  <a:buNone/>
                </a:pPr>
                <a:r>
                  <a:rPr lang="en-US" sz="6500" i="1" dirty="0"/>
                  <a:t>K</a:t>
                </a:r>
                <a:r>
                  <a:rPr lang="en-US" sz="6500" i="1" baseline="-25000" dirty="0"/>
                  <a:t>P</a:t>
                </a:r>
                <a:r>
                  <a:rPr lang="en-US" sz="6500" i="1" dirty="0"/>
                  <a:t> = </a:t>
                </a:r>
                <a14:m>
                  <m:oMath xmlns:m="http://schemas.openxmlformats.org/officeDocument/2006/math">
                    <m:f>
                      <m:fPr>
                        <m:ctrlPr>
                          <a:rPr lang="en-US" sz="6500" i="1">
                            <a:latin typeface="Cambria Math" panose="02040503050406030204" pitchFamily="18" charset="0"/>
                          </a:rPr>
                        </m:ctrlPr>
                      </m:fPr>
                      <m:num>
                        <m:sSup>
                          <m:sSupPr>
                            <m:ctrlPr>
                              <a:rPr lang="en-US" sz="6500" i="1" smtClean="0">
                                <a:latin typeface="Cambria Math" panose="02040503050406030204" pitchFamily="18" charset="0"/>
                              </a:rPr>
                            </m:ctrlPr>
                          </m:sSupPr>
                          <m:e>
                            <m:sSub>
                              <m:sSubPr>
                                <m:ctrlPr>
                                  <a:rPr lang="en-US" sz="6500" i="1">
                                    <a:latin typeface="Cambria Math" panose="02040503050406030204" pitchFamily="18" charset="0"/>
                                  </a:rPr>
                                </m:ctrlPr>
                              </m:sSubPr>
                              <m:e>
                                <m:r>
                                  <a:rPr lang="en-US" sz="6500" i="1">
                                    <a:latin typeface="Cambria Math" panose="02040503050406030204" pitchFamily="18" charset="0"/>
                                  </a:rPr>
                                  <m:t>𝑃</m:t>
                                </m:r>
                              </m:e>
                              <m:sub>
                                <m:r>
                                  <a:rPr lang="en-US" sz="6500" i="1">
                                    <a:latin typeface="Cambria Math" panose="02040503050406030204" pitchFamily="18" charset="0"/>
                                  </a:rPr>
                                  <m:t>𝑐</m:t>
                                </m:r>
                              </m:sub>
                            </m:sSub>
                          </m:e>
                          <m:sup>
                            <m:r>
                              <a:rPr lang="en-US" sz="6500" b="0" i="1" smtClean="0">
                                <a:latin typeface="Cambria Math" panose="02040503050406030204" pitchFamily="18" charset="0"/>
                              </a:rPr>
                              <m:t>𝑐</m:t>
                            </m:r>
                          </m:sup>
                        </m:sSup>
                        <m:sSup>
                          <m:sSupPr>
                            <m:ctrlPr>
                              <a:rPr lang="en-US" sz="6500" i="1">
                                <a:latin typeface="Cambria Math" panose="02040503050406030204" pitchFamily="18" charset="0"/>
                              </a:rPr>
                            </m:ctrlPr>
                          </m:sSupPr>
                          <m:e>
                            <m:sSub>
                              <m:sSubPr>
                                <m:ctrlPr>
                                  <a:rPr lang="en-US" sz="6500" i="1">
                                    <a:latin typeface="Cambria Math" panose="02040503050406030204" pitchFamily="18" charset="0"/>
                                  </a:rPr>
                                </m:ctrlPr>
                              </m:sSubPr>
                              <m:e>
                                <m:r>
                                  <a:rPr lang="en-US" sz="6500" i="1">
                                    <a:latin typeface="Cambria Math" panose="02040503050406030204" pitchFamily="18" charset="0"/>
                                  </a:rPr>
                                  <m:t>𝑃</m:t>
                                </m:r>
                              </m:e>
                              <m:sub>
                                <m:r>
                                  <a:rPr lang="en-US" sz="6500" b="0" i="1" smtClean="0">
                                    <a:latin typeface="Cambria Math" panose="02040503050406030204" pitchFamily="18" charset="0"/>
                                  </a:rPr>
                                  <m:t>𝐷</m:t>
                                </m:r>
                              </m:sub>
                            </m:sSub>
                          </m:e>
                          <m:sup>
                            <m:r>
                              <a:rPr lang="en-US" sz="6500" b="0" i="1" smtClean="0">
                                <a:latin typeface="Cambria Math" panose="02040503050406030204" pitchFamily="18" charset="0"/>
                              </a:rPr>
                              <m:t>𝑑</m:t>
                            </m:r>
                          </m:sup>
                        </m:sSup>
                      </m:num>
                      <m:den>
                        <m:sSup>
                          <m:sSupPr>
                            <m:ctrlPr>
                              <a:rPr lang="en-US" sz="6500" i="1">
                                <a:latin typeface="Cambria Math" panose="02040503050406030204" pitchFamily="18" charset="0"/>
                              </a:rPr>
                            </m:ctrlPr>
                          </m:sSupPr>
                          <m:e>
                            <m:sSub>
                              <m:sSubPr>
                                <m:ctrlPr>
                                  <a:rPr lang="en-US" sz="6500" i="1">
                                    <a:latin typeface="Cambria Math" panose="02040503050406030204" pitchFamily="18" charset="0"/>
                                  </a:rPr>
                                </m:ctrlPr>
                              </m:sSubPr>
                              <m:e>
                                <m:r>
                                  <a:rPr lang="en-US" sz="6500" i="1">
                                    <a:latin typeface="Cambria Math" panose="02040503050406030204" pitchFamily="18" charset="0"/>
                                  </a:rPr>
                                  <m:t>𝑃</m:t>
                                </m:r>
                              </m:e>
                              <m:sub>
                                <m:r>
                                  <a:rPr lang="en-US" sz="6500" b="0" i="1" smtClean="0">
                                    <a:latin typeface="Cambria Math" panose="02040503050406030204" pitchFamily="18" charset="0"/>
                                  </a:rPr>
                                  <m:t>𝐴</m:t>
                                </m:r>
                              </m:sub>
                            </m:sSub>
                          </m:e>
                          <m:sup>
                            <m:r>
                              <a:rPr lang="en-US" sz="6500" b="0" i="1" smtClean="0">
                                <a:latin typeface="Cambria Math" panose="02040503050406030204" pitchFamily="18" charset="0"/>
                              </a:rPr>
                              <m:t>𝑎</m:t>
                            </m:r>
                          </m:sup>
                        </m:sSup>
                        <m:sSup>
                          <m:sSupPr>
                            <m:ctrlPr>
                              <a:rPr lang="en-US" sz="6500" i="1">
                                <a:latin typeface="Cambria Math" panose="02040503050406030204" pitchFamily="18" charset="0"/>
                              </a:rPr>
                            </m:ctrlPr>
                          </m:sSupPr>
                          <m:e>
                            <m:sSub>
                              <m:sSubPr>
                                <m:ctrlPr>
                                  <a:rPr lang="en-US" sz="6500" i="1">
                                    <a:latin typeface="Cambria Math" panose="02040503050406030204" pitchFamily="18" charset="0"/>
                                  </a:rPr>
                                </m:ctrlPr>
                              </m:sSubPr>
                              <m:e>
                                <m:r>
                                  <a:rPr lang="en-US" sz="6500" i="1">
                                    <a:latin typeface="Cambria Math" panose="02040503050406030204" pitchFamily="18" charset="0"/>
                                  </a:rPr>
                                  <m:t>𝑃</m:t>
                                </m:r>
                              </m:e>
                              <m:sub>
                                <m:r>
                                  <a:rPr lang="en-US" sz="6500" b="0" i="1" smtClean="0">
                                    <a:latin typeface="Cambria Math" panose="02040503050406030204" pitchFamily="18" charset="0"/>
                                  </a:rPr>
                                  <m:t>𝐵</m:t>
                                </m:r>
                              </m:sub>
                            </m:sSub>
                          </m:e>
                          <m:sup>
                            <m:r>
                              <a:rPr lang="en-US" sz="6500" b="0" i="1" smtClean="0">
                                <a:latin typeface="Cambria Math" panose="02040503050406030204" pitchFamily="18" charset="0"/>
                              </a:rPr>
                              <m:t>𝑏</m:t>
                            </m:r>
                          </m:sup>
                        </m:sSup>
                      </m:den>
                    </m:f>
                  </m:oMath>
                </a14:m>
                <a:endParaRPr lang="en-US" dirty="0"/>
              </a:p>
              <a:p>
                <a:pPr marL="0" indent="0">
                  <a:buNone/>
                </a:pPr>
                <a:br>
                  <a:rPr lang="en-US" sz="4000" noProof="1"/>
                </a:br>
                <a:r>
                  <a:rPr lang="en-US" sz="4000" noProof="1"/>
                  <a:t>NOTE: </a:t>
                </a:r>
                <a:r>
                  <a:rPr lang="en-US" i="1" noProof="1"/>
                  <a:t>P</a:t>
                </a:r>
                <a:r>
                  <a:rPr lang="en-US" noProof="1"/>
                  <a:t> = partial pressure at equilibrium in </a:t>
                </a:r>
                <a:r>
                  <a:rPr lang="en-US" b="1" noProof="1">
                    <a:solidFill>
                      <a:srgbClr val="FF0000"/>
                    </a:solidFill>
                  </a:rPr>
                  <a:t>atm</a:t>
                </a:r>
                <a:r>
                  <a:rPr lang="en-US" b="1" noProof="1"/>
                  <a:t> </a:t>
                </a:r>
                <a:r>
                  <a:rPr lang="en-US" sz="4000" noProof="1"/>
                  <a:t>.</a:t>
                </a:r>
              </a:p>
              <a:p>
                <a:r>
                  <a:rPr lang="en-US" sz="3300" dirty="0"/>
                  <a:t>Don’t use brackets!(you may see this without parentheses)</a:t>
                </a:r>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609600" y="1219201"/>
                <a:ext cx="10972800" cy="5486400"/>
              </a:xfrm>
              <a:blipFill>
                <a:blip r:embed="rId3"/>
                <a:stretch>
                  <a:fillRect l="-1556" t="-2889" b="-2444"/>
                </a:stretch>
              </a:blipFill>
            </p:spPr>
            <p:txBody>
              <a:bodyPr/>
              <a:lstStyle/>
              <a:p>
                <a:r>
                  <a:rPr lang="en-US">
                    <a:noFill/>
                  </a:rPr>
                  <a:t> </a:t>
                </a:r>
              </a:p>
            </p:txBody>
          </p:sp>
        </mc:Fallback>
      </mc:AlternateContent>
    </p:spTree>
    <p:extLst>
      <p:ext uri="{BB962C8B-B14F-4D97-AF65-F5344CB8AC3E}">
        <p14:creationId xmlns:p14="http://schemas.microsoft.com/office/powerpoint/2010/main" val="30647836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76200"/>
            <a:ext cx="10972800" cy="792162"/>
          </a:xfrm>
        </p:spPr>
        <p:txBody>
          <a:bodyPr/>
          <a:lstStyle/>
          <a:p>
            <a:r>
              <a:rPr lang="en-US" dirty="0"/>
              <a:t>Kc or </a:t>
            </a:r>
            <a:r>
              <a:rPr lang="en-US" dirty="0" err="1"/>
              <a:t>Kp</a:t>
            </a:r>
            <a:r>
              <a:rPr lang="en-US" dirty="0"/>
              <a: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1"/>
                <a:ext cx="10972800" cy="5059364"/>
              </a:xfrm>
            </p:spPr>
            <p:txBody>
              <a:bodyPr>
                <a:normAutofit/>
              </a:bodyPr>
              <a:lstStyle/>
              <a:p>
                <a:r>
                  <a:rPr lang="en-US" dirty="0"/>
                  <a:t>Notice that pressure is related to concentration: </a:t>
                </a:r>
                <a:r>
                  <a:rPr lang="en-US" dirty="0">
                    <a:solidFill>
                      <a:srgbClr val="FF0000"/>
                    </a:solidFill>
                  </a:rPr>
                  <a:t>P = </a:t>
                </a:r>
                <a14:m>
                  <m:oMath xmlns:m="http://schemas.openxmlformats.org/officeDocument/2006/math">
                    <m:f>
                      <m:fPr>
                        <m:ctrlPr>
                          <a:rPr lang="en-US" i="1" smtClean="0">
                            <a:solidFill>
                              <a:srgbClr val="FF0000"/>
                            </a:solidFill>
                            <a:latin typeface="Cambria Math" panose="02040503050406030204" pitchFamily="18" charset="0"/>
                          </a:rPr>
                        </m:ctrlPr>
                      </m:fPr>
                      <m:num>
                        <m:r>
                          <a:rPr lang="en-US" b="0" i="1" smtClean="0">
                            <a:solidFill>
                              <a:srgbClr val="FF0000"/>
                            </a:solidFill>
                            <a:latin typeface="Cambria Math" panose="02040503050406030204" pitchFamily="18" charset="0"/>
                          </a:rPr>
                          <m:t>𝑛</m:t>
                        </m:r>
                      </m:num>
                      <m:den>
                        <m:r>
                          <a:rPr lang="en-US" b="0" i="1" smtClean="0">
                            <a:solidFill>
                              <a:srgbClr val="FF0000"/>
                            </a:solidFill>
                            <a:latin typeface="Cambria Math" panose="02040503050406030204" pitchFamily="18" charset="0"/>
                          </a:rPr>
                          <m:t>𝑉</m:t>
                        </m:r>
                      </m:den>
                    </m:f>
                    <m:r>
                      <a:rPr lang="en-US" b="0" i="1" smtClean="0">
                        <a:solidFill>
                          <a:srgbClr val="FF0000"/>
                        </a:solidFill>
                        <a:latin typeface="Cambria Math" panose="02040503050406030204" pitchFamily="18" charset="0"/>
                      </a:rPr>
                      <m:t> </m:t>
                    </m:r>
                  </m:oMath>
                </a14:m>
                <a:r>
                  <a:rPr lang="en-US" dirty="0">
                    <a:solidFill>
                      <a:srgbClr val="FF0000"/>
                    </a:solidFill>
                  </a:rPr>
                  <a:t>RT</a:t>
                </a:r>
              </a:p>
              <a:p>
                <a:r>
                  <a:rPr lang="en-US" dirty="0"/>
                  <a:t>Kc involves concentrations while </a:t>
                </a:r>
                <a:r>
                  <a:rPr lang="en-US" dirty="0" err="1"/>
                  <a:t>Kp</a:t>
                </a:r>
                <a:r>
                  <a:rPr lang="en-US" dirty="0"/>
                  <a:t> involves pressures. Be sure to select the correct one when solving a problem. *** you will NOT have to convert from Kc to </a:t>
                </a:r>
                <a:r>
                  <a:rPr lang="en-US" dirty="0" err="1"/>
                  <a:t>Kp</a:t>
                </a:r>
                <a:r>
                  <a:rPr lang="en-US" dirty="0"/>
                  <a:t>.</a:t>
                </a:r>
              </a:p>
              <a:p>
                <a:r>
                  <a:rPr lang="en-US" dirty="0"/>
                  <a:t>Write a </a:t>
                </a:r>
                <a:r>
                  <a:rPr lang="en-US" dirty="0" err="1"/>
                  <a:t>Kp</a:t>
                </a:r>
                <a:r>
                  <a:rPr lang="en-US" dirty="0"/>
                  <a:t> for sample # 3 from the previous slide.</a:t>
                </a:r>
              </a:p>
              <a:p>
                <a:endParaRPr lang="en-US" dirty="0"/>
              </a:p>
              <a:p>
                <a:pPr marL="0" indent="0" algn="ctr">
                  <a:buNone/>
                </a:pPr>
                <a:r>
                  <a:rPr lang="en-US" dirty="0"/>
                  <a:t>2H</a:t>
                </a:r>
                <a:r>
                  <a:rPr lang="en-US" baseline="-25000" dirty="0"/>
                  <a:t>2</a:t>
                </a:r>
                <a:r>
                  <a:rPr lang="en-US" dirty="0"/>
                  <a:t>0 (l) </a:t>
                </a:r>
                <a:r>
                  <a:rPr lang="en-US" dirty="0">
                    <a:latin typeface="Lucida Sans Unicode"/>
                    <a:cs typeface="Lucida Sans Unicode"/>
                    <a:sym typeface="Wingdings" panose="05000000000000000000" pitchFamily="2" charset="2"/>
                  </a:rPr>
                  <a:t>⇄</a:t>
                </a:r>
                <a:r>
                  <a:rPr lang="en-US" dirty="0">
                    <a:cs typeface="Lucida Sans Unicode"/>
                    <a:sym typeface="Wingdings" panose="05000000000000000000" pitchFamily="2" charset="2"/>
                  </a:rPr>
                  <a:t>  </a:t>
                </a:r>
                <a:r>
                  <a:rPr lang="en-US" dirty="0">
                    <a:sym typeface="Wingdings" panose="05000000000000000000" pitchFamily="2" charset="2"/>
                  </a:rPr>
                  <a:t>2H</a:t>
                </a:r>
                <a:r>
                  <a:rPr lang="en-US" baseline="-25000" dirty="0">
                    <a:sym typeface="Wingdings" panose="05000000000000000000" pitchFamily="2" charset="2"/>
                  </a:rPr>
                  <a:t>2 </a:t>
                </a:r>
                <a:r>
                  <a:rPr lang="en-US" dirty="0">
                    <a:sym typeface="Wingdings" panose="05000000000000000000" pitchFamily="2" charset="2"/>
                  </a:rPr>
                  <a:t>(g) + O</a:t>
                </a:r>
                <a:r>
                  <a:rPr lang="en-US" baseline="-25000" dirty="0">
                    <a:sym typeface="Wingdings" panose="05000000000000000000" pitchFamily="2" charset="2"/>
                  </a:rPr>
                  <a:t>2</a:t>
                </a:r>
                <a:r>
                  <a:rPr lang="en-US" dirty="0">
                    <a:sym typeface="Wingdings" panose="05000000000000000000" pitchFamily="2" charset="2"/>
                  </a:rPr>
                  <a:t> (g) </a:t>
                </a:r>
              </a:p>
              <a:p>
                <a:pPr marL="0" indent="0">
                  <a:buNone/>
                </a:pPr>
                <a:r>
                  <a:rPr lang="en-US" dirty="0"/>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1"/>
                <a:ext cx="10972800" cy="5059364"/>
              </a:xfrm>
              <a:blipFill>
                <a:blip r:embed="rId2"/>
                <a:stretch>
                  <a:fillRect l="-1278" t="-241" r="-1389"/>
                </a:stretch>
              </a:blipFill>
            </p:spPr>
            <p:txBody>
              <a:bodyPr/>
              <a:lstStyle/>
              <a:p>
                <a:r>
                  <a:rPr lang="en-US">
                    <a:noFill/>
                  </a:rPr>
                  <a:t> </a:t>
                </a:r>
              </a:p>
            </p:txBody>
          </p:sp>
        </mc:Fallback>
      </mc:AlternateContent>
    </p:spTree>
    <p:extLst>
      <p:ext uri="{BB962C8B-B14F-4D97-AF65-F5344CB8AC3E}">
        <p14:creationId xmlns:p14="http://schemas.microsoft.com/office/powerpoint/2010/main" val="32357990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838200" y="304800"/>
            <a:ext cx="10210800" cy="6172200"/>
          </a:xfrm>
        </p:spPr>
        <p:txBody>
          <a:bodyPr>
            <a:normAutofit fontScale="90000"/>
          </a:bodyPr>
          <a:lstStyle/>
          <a:p>
            <a:pPr>
              <a:defRPr/>
            </a:pPr>
            <a:r>
              <a:rPr lang="en-US" sz="5300" b="1" i="1" noProof="1">
                <a:solidFill>
                  <a:schemeClr val="tx1"/>
                </a:solidFill>
              </a:rPr>
              <a:t>K is a CONSTANT. </a:t>
            </a:r>
            <a:br>
              <a:rPr lang="en-US" sz="5300" b="1" i="1" noProof="1">
                <a:solidFill>
                  <a:schemeClr val="tx1"/>
                </a:solidFill>
              </a:rPr>
            </a:br>
            <a:br>
              <a:rPr lang="en-US" i="1" noProof="1">
                <a:solidFill>
                  <a:schemeClr val="tx1"/>
                </a:solidFill>
              </a:rPr>
            </a:br>
            <a:r>
              <a:rPr lang="en-US" noProof="1"/>
              <a:t>This means that for a given reaction at a given temperature, the ratio of P/R at equilibrium will always be the same. </a:t>
            </a:r>
            <a:br>
              <a:rPr lang="en-US" noProof="1"/>
            </a:br>
            <a:r>
              <a:rPr lang="en-US" noProof="1"/>
              <a:t>For any reaction, </a:t>
            </a:r>
            <a:r>
              <a:rPr lang="en-US" i="1" noProof="1">
                <a:solidFill>
                  <a:schemeClr val="tx1"/>
                </a:solidFill>
              </a:rPr>
              <a:t>K</a:t>
            </a:r>
            <a:r>
              <a:rPr lang="en-US" noProof="1">
                <a:solidFill>
                  <a:schemeClr val="tx1"/>
                </a:solidFill>
              </a:rPr>
              <a:t> only changes with temperature (not with concentration or pressure).</a:t>
            </a:r>
            <a:r>
              <a:rPr lang="en-US" noProof="1">
                <a:solidFill>
                  <a:schemeClr val="tx1"/>
                </a:solidFill>
                <a:effectLst>
                  <a:outerShdw blurRad="38100" dist="38100" dir="2700000" algn="tl">
                    <a:srgbClr val="FFFFFF"/>
                  </a:outerShdw>
                </a:effectLst>
              </a:rPr>
              <a:t>  </a:t>
            </a:r>
            <a:br>
              <a:rPr lang="en-US" noProof="1">
                <a:solidFill>
                  <a:schemeClr val="tx1"/>
                </a:solidFill>
                <a:effectLst>
                  <a:outerShdw blurRad="38100" dist="38100" dir="2700000" algn="tl">
                    <a:srgbClr val="FFFFFF"/>
                  </a:outerShdw>
                </a:effectLst>
              </a:rPr>
            </a:br>
            <a:endParaRPr lang="en-US" noProof="1">
              <a:solidFill>
                <a:schemeClr val="tx1"/>
              </a:solidFill>
              <a:effectLst>
                <a:outerShdw blurRad="38100" dist="38100" dir="2700000" algn="tl">
                  <a:srgbClr val="FFFFFF"/>
                </a:outerShdw>
              </a:effectLst>
            </a:endParaRPr>
          </a:p>
        </p:txBody>
      </p:sp>
    </p:spTree>
    <p:extLst>
      <p:ext uri="{BB962C8B-B14F-4D97-AF65-F5344CB8AC3E}">
        <p14:creationId xmlns:p14="http://schemas.microsoft.com/office/powerpoint/2010/main" val="33867638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a:xfrm>
            <a:off x="1828800" y="3124200"/>
            <a:ext cx="7772400" cy="1143000"/>
          </a:xfrm>
        </p:spPr>
        <p:txBody>
          <a:bodyPr>
            <a:normAutofit fontScale="90000"/>
          </a:bodyPr>
          <a:lstStyle/>
          <a:p>
            <a:pPr algn="l">
              <a:defRPr/>
            </a:pPr>
            <a:r>
              <a:rPr lang="en-US" sz="3600" noProof="1"/>
              <a:t>Ex.  Write an Equilibrium Expression</a:t>
            </a:r>
            <a:br>
              <a:rPr lang="en-US" sz="3600" noProof="1"/>
            </a:br>
            <a:r>
              <a:rPr lang="en-US" sz="3200" noProof="1"/>
              <a:t>4 NH</a:t>
            </a:r>
            <a:r>
              <a:rPr lang="en-US" sz="3200" baseline="-25000" noProof="1"/>
              <a:t>3</a:t>
            </a:r>
            <a:r>
              <a:rPr lang="en-US" sz="3200" noProof="1"/>
              <a:t>(</a:t>
            </a:r>
            <a:r>
              <a:rPr lang="en-US" sz="3200" i="1" noProof="1"/>
              <a:t>g</a:t>
            </a:r>
            <a:r>
              <a:rPr lang="en-US" sz="3200" noProof="1"/>
              <a:t>) + 7 O</a:t>
            </a:r>
            <a:r>
              <a:rPr lang="en-US" sz="3200" baseline="-25000" noProof="1"/>
              <a:t>2</a:t>
            </a:r>
            <a:r>
              <a:rPr lang="en-US" sz="3200" noProof="1"/>
              <a:t>(</a:t>
            </a:r>
            <a:r>
              <a:rPr lang="en-US" sz="3200" i="1" noProof="1"/>
              <a:t>g</a:t>
            </a:r>
            <a:r>
              <a:rPr lang="en-US" sz="3200" noProof="1"/>
              <a:t>)  </a:t>
            </a:r>
            <a:r>
              <a:rPr lang="en-US" sz="3200" noProof="1">
                <a:sym typeface="Wingdings 3" pitchFamily="18" charset="2"/>
              </a:rPr>
              <a:t></a:t>
            </a:r>
            <a:r>
              <a:rPr lang="en-US" sz="3200" noProof="1"/>
              <a:t> 4 NO</a:t>
            </a:r>
            <a:r>
              <a:rPr lang="en-US" sz="3200" baseline="-25000" noProof="1"/>
              <a:t>2</a:t>
            </a:r>
            <a:r>
              <a:rPr lang="en-US" sz="3200" noProof="1"/>
              <a:t>(</a:t>
            </a:r>
            <a:r>
              <a:rPr lang="en-US" sz="3200" i="1" noProof="1"/>
              <a:t>g</a:t>
            </a:r>
            <a:r>
              <a:rPr lang="en-US" sz="3200" noProof="1"/>
              <a:t>)  + 6 H</a:t>
            </a:r>
            <a:r>
              <a:rPr lang="en-US" sz="3200" baseline="-25000" noProof="1"/>
              <a:t>2</a:t>
            </a:r>
            <a:r>
              <a:rPr lang="en-US" sz="3200" noProof="1"/>
              <a:t>O(</a:t>
            </a:r>
            <a:r>
              <a:rPr lang="en-US" sz="3200" i="1" noProof="1"/>
              <a:t>g</a:t>
            </a:r>
            <a:r>
              <a:rPr lang="en-US" sz="3200" noProof="1"/>
              <a:t>) </a:t>
            </a:r>
            <a:br>
              <a:rPr lang="en-US" sz="3600" noProof="1"/>
            </a:br>
            <a:br>
              <a:rPr lang="en-US" sz="3600" noProof="1"/>
            </a:br>
            <a:r>
              <a:rPr lang="en-US" sz="3600" noProof="1"/>
              <a:t> </a:t>
            </a:r>
            <a:br>
              <a:rPr lang="en-US" sz="3600" noProof="1"/>
            </a:br>
            <a:br>
              <a:rPr lang="en-US" sz="3600" noProof="1"/>
            </a:br>
            <a:br>
              <a:rPr lang="en-US" sz="3600" noProof="1"/>
            </a:br>
            <a:br>
              <a:rPr lang="en-US" sz="3600" noProof="1"/>
            </a:br>
            <a:r>
              <a:rPr lang="en-US" sz="3600" noProof="1"/>
              <a:t>If we know equilibrium concentrations, </a:t>
            </a:r>
            <a:br>
              <a:rPr lang="en-US" sz="3600" noProof="1"/>
            </a:br>
            <a:r>
              <a:rPr lang="en-US" sz="3600" noProof="1"/>
              <a:t>we can calculate the equilibrium constant, </a:t>
            </a:r>
            <a:r>
              <a:rPr lang="en-US" sz="3600" i="1" noProof="1"/>
              <a:t>K</a:t>
            </a:r>
            <a:r>
              <a:rPr lang="en-US" sz="3600" i="1" baseline="-25000" noProof="1"/>
              <a:t>c</a:t>
            </a:r>
            <a:r>
              <a:rPr lang="en-US" sz="3600" noProof="1"/>
              <a:t>.</a:t>
            </a:r>
            <a:br>
              <a:rPr lang="en-US" sz="3600" noProof="1"/>
            </a:br>
            <a:br>
              <a:rPr lang="en-US" sz="3600" noProof="1">
                <a:effectLst>
                  <a:outerShdw blurRad="38100" dist="38100" dir="2700000" algn="tl">
                    <a:srgbClr val="FFFFFF"/>
                  </a:outerShdw>
                </a:effectLst>
              </a:rPr>
            </a:br>
            <a:endParaRPr lang="en-US" sz="3600" noProof="1">
              <a:effectLst>
                <a:outerShdw blurRad="38100" dist="38100" dir="2700000" algn="tl">
                  <a:srgbClr val="FFFFFF"/>
                </a:outerShdw>
              </a:effectLst>
            </a:endParaRPr>
          </a:p>
        </p:txBody>
      </p:sp>
      <p:graphicFrame>
        <p:nvGraphicFramePr>
          <p:cNvPr id="2050" name="Object 3"/>
          <p:cNvGraphicFramePr>
            <a:graphicFrameLocks noChangeAspect="1"/>
          </p:cNvGraphicFramePr>
          <p:nvPr/>
        </p:nvGraphicFramePr>
        <p:xfrm>
          <a:off x="2909888" y="2286000"/>
          <a:ext cx="4845050" cy="2590800"/>
        </p:xfrm>
        <a:graphic>
          <a:graphicData uri="http://schemas.openxmlformats.org/presentationml/2006/ole">
            <mc:AlternateContent xmlns:mc="http://schemas.openxmlformats.org/markup-compatibility/2006">
              <mc:Choice xmlns:v="urn:schemas-microsoft-com:vml" Requires="v">
                <p:oleObj spid="_x0000_s3124" name="Equation" r:id="rId4" imgW="1282680" imgH="685800" progId="Equation.3">
                  <p:embed/>
                </p:oleObj>
              </mc:Choice>
              <mc:Fallback>
                <p:oleObj name="Equation" r:id="rId4" imgW="1282680" imgH="685800" progId="Equation.3">
                  <p:embed/>
                  <p:pic>
                    <p:nvPicPr>
                      <p:cNvPr id="2050" name="Object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909888" y="2286000"/>
                        <a:ext cx="4845050" cy="2590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38577150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14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2050"/>
                                        </p:tgtEl>
                                        <p:attrNameLst>
                                          <p:attrName>style.visibility</p:attrName>
                                        </p:attrNameLst>
                                      </p:cBhvr>
                                      <p:to>
                                        <p:strVal val="visible"/>
                                      </p:to>
                                    </p:set>
                                    <p:animEffect transition="in" filter="fade">
                                      <p:cBhvr>
                                        <p:cTn id="11" dur="500"/>
                                        <p:tgtEl>
                                          <p:spTgt spid="20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4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p:txBody>
          <a:bodyPr>
            <a:normAutofit fontScale="90000"/>
          </a:bodyPr>
          <a:lstStyle/>
          <a:p>
            <a:pPr algn="l">
              <a:defRPr/>
            </a:pPr>
            <a:br>
              <a:rPr lang="en-US" noProof="1">
                <a:solidFill>
                  <a:schemeClr val="tx1"/>
                </a:solidFill>
                <a:effectLst>
                  <a:outerShdw blurRad="38100" dist="38100" dir="2700000" algn="tl">
                    <a:srgbClr val="FFFFFF"/>
                  </a:outerShdw>
                </a:effectLst>
              </a:rPr>
            </a:br>
            <a:endParaRPr lang="en-US" noProof="1">
              <a:solidFill>
                <a:schemeClr val="tx1"/>
              </a:solidFill>
              <a:effectLst>
                <a:outerShdw blurRad="38100" dist="38100" dir="2700000" algn="tl">
                  <a:srgbClr val="FFFFFF"/>
                </a:outerShdw>
              </a:effectLst>
            </a:endParaRPr>
          </a:p>
        </p:txBody>
      </p:sp>
      <p:sp>
        <p:nvSpPr>
          <p:cNvPr id="2" name="Content Placeholder 1"/>
          <p:cNvSpPr>
            <a:spLocks noGrp="1"/>
          </p:cNvSpPr>
          <p:nvPr>
            <p:ph idx="1"/>
          </p:nvPr>
        </p:nvSpPr>
        <p:spPr>
          <a:xfrm>
            <a:off x="609600" y="609601"/>
            <a:ext cx="10972800" cy="5516564"/>
          </a:xfrm>
        </p:spPr>
        <p:txBody>
          <a:bodyPr/>
          <a:lstStyle/>
          <a:p>
            <a:r>
              <a:rPr lang="en-US" sz="4000" i="1" noProof="1"/>
              <a:t>K</a:t>
            </a:r>
            <a:r>
              <a:rPr lang="en-US" sz="4000" noProof="1"/>
              <a:t> changes with temperature (not with concentration or pressure).</a:t>
            </a:r>
          </a:p>
          <a:p>
            <a:endParaRPr lang="en-US" sz="4000" noProof="1"/>
          </a:p>
          <a:p>
            <a:r>
              <a:rPr lang="en-US" sz="4000" noProof="1"/>
              <a:t>A K value is only true for one reaction at one specific temperature. </a:t>
            </a:r>
          </a:p>
          <a:p>
            <a:endParaRPr lang="en-US" sz="4000" noProof="1"/>
          </a:p>
          <a:p>
            <a:r>
              <a:rPr lang="en-US" sz="4000" noProof="1"/>
              <a:t>Change the temperature and K will change.</a:t>
            </a:r>
            <a:r>
              <a:rPr lang="en-US" sz="4000" noProof="1">
                <a:effectLst>
                  <a:outerShdw blurRad="38100" dist="38100" dir="2700000" algn="tl">
                    <a:srgbClr val="FFFFFF"/>
                  </a:outerShdw>
                </a:effectLst>
              </a:rPr>
              <a:t>  </a:t>
            </a:r>
            <a:br>
              <a:rPr lang="en-US" noProof="1">
                <a:effectLst>
                  <a:outerShdw blurRad="38100" dist="38100" dir="2700000" algn="tl">
                    <a:srgbClr val="FFFFFF"/>
                  </a:outerShdw>
                </a:effectLst>
              </a:rPr>
            </a:br>
            <a:endParaRPr lang="en-US" dirty="0"/>
          </a:p>
        </p:txBody>
      </p:sp>
    </p:spTree>
    <p:extLst>
      <p:ext uri="{BB962C8B-B14F-4D97-AF65-F5344CB8AC3E}">
        <p14:creationId xmlns:p14="http://schemas.microsoft.com/office/powerpoint/2010/main" val="3004617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8194" name="Rectangle 2"/>
              <p:cNvSpPr>
                <a:spLocks noGrp="1" noChangeArrowheads="1"/>
              </p:cNvSpPr>
              <p:nvPr>
                <p:ph type="title"/>
              </p:nvPr>
            </p:nvSpPr>
            <p:spPr>
              <a:xfrm>
                <a:off x="1066800" y="3429000"/>
                <a:ext cx="10210800" cy="1143000"/>
              </a:xfrm>
            </p:spPr>
            <p:txBody>
              <a:bodyPr>
                <a:noAutofit/>
              </a:bodyPr>
              <a:lstStyle/>
              <a:p>
                <a:pPr marL="457200" indent="-457200" algn="l">
                  <a:buFont typeface="Arial" panose="020B0604020202020204" pitchFamily="34" charset="0"/>
                  <a:buChar char="•"/>
                  <a:defRPr/>
                </a:pPr>
                <a:r>
                  <a:rPr lang="en-US" sz="3200" noProof="1"/>
                  <a:t>Consider the rxn: </a:t>
                </a:r>
                <a:r>
                  <a:rPr lang="en-US" sz="3200" i="1" noProof="1"/>
                  <a:t>aA + bB </a:t>
                </a:r>
                <a:r>
                  <a:rPr lang="en-US" sz="3200" i="1" noProof="1">
                    <a:sym typeface="Wingdings 3" pitchFamily="18" charset="2"/>
                  </a:rPr>
                  <a:t> </a:t>
                </a:r>
                <a:r>
                  <a:rPr lang="en-US" sz="3200" i="1" noProof="1"/>
                  <a:t>cC + dD:</a:t>
                </a:r>
                <a:br>
                  <a:rPr lang="en-US" sz="3200" i="1" noProof="1"/>
                </a:br>
                <a:r>
                  <a:rPr lang="en-US" sz="3200" i="1" noProof="1"/>
                  <a:t>K</a:t>
                </a:r>
                <a:r>
                  <a:rPr lang="en-US" sz="3200" i="1" baseline="-25000" noProof="1"/>
                  <a:t>c</a:t>
                </a:r>
                <a:r>
                  <a:rPr lang="en-US" sz="3200" i="1" noProof="1"/>
                  <a:t>	=	</a:t>
                </a:r>
                <a14:m>
                  <m:oMath xmlns:m="http://schemas.openxmlformats.org/officeDocument/2006/math">
                    <m:f>
                      <m:fPr>
                        <m:ctrlPr>
                          <a:rPr lang="en-US" sz="2400" i="1" noProof="1" smtClean="0">
                            <a:latin typeface="Cambria Math" panose="02040503050406030204" pitchFamily="18" charset="0"/>
                          </a:rPr>
                        </m:ctrlPr>
                      </m:fPr>
                      <m:num>
                        <m:sSup>
                          <m:sSupPr>
                            <m:ctrlPr>
                              <a:rPr lang="en-US" sz="3600" i="1">
                                <a:latin typeface="Cambria Math" panose="02040503050406030204" pitchFamily="18" charset="0"/>
                              </a:rPr>
                            </m:ctrlPr>
                          </m:sSupPr>
                          <m:e>
                            <m:d>
                              <m:dPr>
                                <m:begChr m:val="["/>
                                <m:endChr m:val="]"/>
                                <m:ctrlPr>
                                  <a:rPr lang="en-US" sz="3600" i="1">
                                    <a:latin typeface="Cambria Math" panose="02040503050406030204" pitchFamily="18" charset="0"/>
                                  </a:rPr>
                                </m:ctrlPr>
                              </m:dPr>
                              <m:e>
                                <m:r>
                                  <a:rPr lang="en-US" sz="3600" i="1">
                                    <a:latin typeface="Cambria Math" panose="02040503050406030204" pitchFamily="18" charset="0"/>
                                  </a:rPr>
                                  <m:t>𝐶</m:t>
                                </m:r>
                              </m:e>
                            </m:d>
                          </m:e>
                          <m:sup>
                            <m:r>
                              <a:rPr lang="en-US" sz="3600" i="1">
                                <a:latin typeface="Cambria Math" panose="02040503050406030204" pitchFamily="18" charset="0"/>
                              </a:rPr>
                              <m:t>𝑐</m:t>
                            </m:r>
                          </m:sup>
                        </m:sSup>
                        <m:sSup>
                          <m:sSupPr>
                            <m:ctrlPr>
                              <a:rPr lang="en-US" sz="3600" i="1">
                                <a:latin typeface="Cambria Math" panose="02040503050406030204" pitchFamily="18" charset="0"/>
                              </a:rPr>
                            </m:ctrlPr>
                          </m:sSupPr>
                          <m:e>
                            <m:d>
                              <m:dPr>
                                <m:begChr m:val="["/>
                                <m:endChr m:val="]"/>
                                <m:ctrlPr>
                                  <a:rPr lang="en-US" sz="3600" i="1">
                                    <a:latin typeface="Cambria Math" panose="02040503050406030204" pitchFamily="18" charset="0"/>
                                  </a:rPr>
                                </m:ctrlPr>
                              </m:dPr>
                              <m:e>
                                <m:r>
                                  <a:rPr lang="en-US" sz="3600" i="1">
                                    <a:latin typeface="Cambria Math" panose="02040503050406030204" pitchFamily="18" charset="0"/>
                                  </a:rPr>
                                  <m:t>𝐷</m:t>
                                </m:r>
                              </m:e>
                            </m:d>
                          </m:e>
                          <m:sup>
                            <m:r>
                              <a:rPr lang="en-US" sz="3600" i="1">
                                <a:latin typeface="Cambria Math" panose="02040503050406030204" pitchFamily="18" charset="0"/>
                              </a:rPr>
                              <m:t>𝑑</m:t>
                            </m:r>
                          </m:sup>
                        </m:sSup>
                      </m:num>
                      <m:den>
                        <m:sSup>
                          <m:sSupPr>
                            <m:ctrlPr>
                              <a:rPr lang="en-US" sz="3600" i="1">
                                <a:latin typeface="Cambria Math" panose="02040503050406030204" pitchFamily="18" charset="0"/>
                              </a:rPr>
                            </m:ctrlPr>
                          </m:sSupPr>
                          <m:e>
                            <m:d>
                              <m:dPr>
                                <m:begChr m:val="["/>
                                <m:endChr m:val="]"/>
                                <m:ctrlPr>
                                  <a:rPr lang="en-US" sz="3600" i="1">
                                    <a:latin typeface="Cambria Math" panose="02040503050406030204" pitchFamily="18" charset="0"/>
                                  </a:rPr>
                                </m:ctrlPr>
                              </m:dPr>
                              <m:e>
                                <m:r>
                                  <a:rPr lang="en-US" sz="3600" i="1">
                                    <a:latin typeface="Cambria Math" panose="02040503050406030204" pitchFamily="18" charset="0"/>
                                  </a:rPr>
                                  <m:t>𝐴</m:t>
                                </m:r>
                              </m:e>
                            </m:d>
                          </m:e>
                          <m:sup>
                            <m:r>
                              <a:rPr lang="en-US" sz="3600" i="1">
                                <a:latin typeface="Cambria Math" panose="02040503050406030204" pitchFamily="18" charset="0"/>
                              </a:rPr>
                              <m:t>𝑎</m:t>
                            </m:r>
                          </m:sup>
                        </m:sSup>
                        <m:sSup>
                          <m:sSupPr>
                            <m:ctrlPr>
                              <a:rPr lang="en-US" sz="3600" i="1">
                                <a:latin typeface="Cambria Math" panose="02040503050406030204" pitchFamily="18" charset="0"/>
                              </a:rPr>
                            </m:ctrlPr>
                          </m:sSupPr>
                          <m:e>
                            <m:d>
                              <m:dPr>
                                <m:begChr m:val="["/>
                                <m:endChr m:val="]"/>
                                <m:ctrlPr>
                                  <a:rPr lang="en-US" sz="3600" i="1">
                                    <a:latin typeface="Cambria Math" panose="02040503050406030204" pitchFamily="18" charset="0"/>
                                  </a:rPr>
                                </m:ctrlPr>
                              </m:dPr>
                              <m:e>
                                <m:r>
                                  <a:rPr lang="en-US" sz="3600" i="1">
                                    <a:latin typeface="Cambria Math" panose="02040503050406030204" pitchFamily="18" charset="0"/>
                                  </a:rPr>
                                  <m:t>𝐵</m:t>
                                </m:r>
                              </m:e>
                            </m:d>
                          </m:e>
                          <m:sup>
                            <m:r>
                              <a:rPr lang="en-US" sz="3600" i="1">
                                <a:latin typeface="Cambria Math" panose="02040503050406030204" pitchFamily="18" charset="0"/>
                              </a:rPr>
                              <m:t>𝑏</m:t>
                            </m:r>
                          </m:sup>
                        </m:sSup>
                      </m:den>
                    </m:f>
                  </m:oMath>
                </a14:m>
                <a:br>
                  <a:rPr lang="en-US" sz="2400" i="1" noProof="1"/>
                </a:br>
                <a:br>
                  <a:rPr lang="en-US" sz="2400" i="1" noProof="1"/>
                </a:br>
                <a:r>
                  <a:rPr lang="en-US" sz="3200" noProof="1"/>
                  <a:t>For </a:t>
                </a:r>
                <a:r>
                  <a:rPr lang="en-US" sz="3200" noProof="1">
                    <a:solidFill>
                      <a:schemeClr val="tx1"/>
                    </a:solidFill>
                  </a:rPr>
                  <a:t>the reverse reaction: </a:t>
                </a:r>
                <a:r>
                  <a:rPr lang="en-US" sz="3200" i="1" noProof="1"/>
                  <a:t>cC + dD </a:t>
                </a:r>
                <a:r>
                  <a:rPr lang="en-US" sz="3200" i="1" noProof="1">
                    <a:sym typeface="Wingdings 3" pitchFamily="18" charset="2"/>
                  </a:rPr>
                  <a:t> </a:t>
                </a:r>
                <a:r>
                  <a:rPr lang="en-US" sz="3200" i="1" noProof="1"/>
                  <a:t>aA + bB</a:t>
                </a:r>
                <a:br>
                  <a:rPr lang="en-US" sz="3200" i="1" noProof="1">
                    <a:solidFill>
                      <a:schemeClr val="tx1"/>
                    </a:solidFill>
                  </a:rPr>
                </a:br>
                <a:r>
                  <a:rPr lang="en-US" sz="2800" i="1" noProof="1"/>
                  <a:t>K</a:t>
                </a:r>
                <a:r>
                  <a:rPr lang="en-US" sz="2800" i="1" baseline="-25000" noProof="1"/>
                  <a:t>c</a:t>
                </a:r>
                <a:r>
                  <a:rPr lang="en-US" sz="2800" i="1" noProof="1"/>
                  <a:t>’	=	</a:t>
                </a:r>
                <a14:m>
                  <m:oMath xmlns:m="http://schemas.openxmlformats.org/officeDocument/2006/math">
                    <m:f>
                      <m:fPr>
                        <m:ctrlPr>
                          <a:rPr lang="en-US" sz="2000" i="1" noProof="1">
                            <a:latin typeface="Cambria Math" panose="02040503050406030204" pitchFamily="18" charset="0"/>
                          </a:rPr>
                        </m:ctrlPr>
                      </m:fPr>
                      <m:num>
                        <m:sSup>
                          <m:sSupPr>
                            <m:ctrlPr>
                              <a:rPr lang="en-US" sz="3200" i="1">
                                <a:latin typeface="Cambria Math" panose="02040503050406030204" pitchFamily="18" charset="0"/>
                              </a:rPr>
                            </m:ctrlPr>
                          </m:sSupPr>
                          <m:e>
                            <m:d>
                              <m:dPr>
                                <m:begChr m:val="["/>
                                <m:endChr m:val="]"/>
                                <m:ctrlPr>
                                  <a:rPr lang="en-US" sz="3200" i="1">
                                    <a:latin typeface="Cambria Math" panose="02040503050406030204" pitchFamily="18" charset="0"/>
                                  </a:rPr>
                                </m:ctrlPr>
                              </m:dPr>
                              <m:e>
                                <m:r>
                                  <a:rPr lang="en-US" sz="3200" i="1">
                                    <a:latin typeface="Cambria Math" panose="02040503050406030204" pitchFamily="18" charset="0"/>
                                  </a:rPr>
                                  <m:t>𝐴</m:t>
                                </m:r>
                              </m:e>
                            </m:d>
                          </m:e>
                          <m:sup>
                            <m:r>
                              <a:rPr lang="en-US" sz="3200" i="1">
                                <a:latin typeface="Cambria Math" panose="02040503050406030204" pitchFamily="18" charset="0"/>
                              </a:rPr>
                              <m:t>𝑎</m:t>
                            </m:r>
                          </m:sup>
                        </m:sSup>
                        <m:sSup>
                          <m:sSupPr>
                            <m:ctrlPr>
                              <a:rPr lang="en-US" sz="3200" i="1">
                                <a:latin typeface="Cambria Math" panose="02040503050406030204" pitchFamily="18" charset="0"/>
                              </a:rPr>
                            </m:ctrlPr>
                          </m:sSupPr>
                          <m:e>
                            <m:d>
                              <m:dPr>
                                <m:begChr m:val="["/>
                                <m:endChr m:val="]"/>
                                <m:ctrlPr>
                                  <a:rPr lang="en-US" sz="3200" i="1">
                                    <a:latin typeface="Cambria Math" panose="02040503050406030204" pitchFamily="18" charset="0"/>
                                  </a:rPr>
                                </m:ctrlPr>
                              </m:dPr>
                              <m:e>
                                <m:r>
                                  <a:rPr lang="en-US" sz="3200" i="1">
                                    <a:latin typeface="Cambria Math" panose="02040503050406030204" pitchFamily="18" charset="0"/>
                                  </a:rPr>
                                  <m:t>𝐵</m:t>
                                </m:r>
                              </m:e>
                            </m:d>
                          </m:e>
                          <m:sup>
                            <m:r>
                              <a:rPr lang="en-US" sz="3200" i="1">
                                <a:latin typeface="Cambria Math" panose="02040503050406030204" pitchFamily="18" charset="0"/>
                              </a:rPr>
                              <m:t>𝑏</m:t>
                            </m:r>
                          </m:sup>
                        </m:sSup>
                      </m:num>
                      <m:den>
                        <m:sSup>
                          <m:sSupPr>
                            <m:ctrlPr>
                              <a:rPr lang="en-US" sz="3200" i="1">
                                <a:latin typeface="Cambria Math" panose="02040503050406030204" pitchFamily="18" charset="0"/>
                              </a:rPr>
                            </m:ctrlPr>
                          </m:sSupPr>
                          <m:e>
                            <m:d>
                              <m:dPr>
                                <m:begChr m:val="["/>
                                <m:endChr m:val="]"/>
                                <m:ctrlPr>
                                  <a:rPr lang="en-US" sz="3200" i="1">
                                    <a:latin typeface="Cambria Math" panose="02040503050406030204" pitchFamily="18" charset="0"/>
                                  </a:rPr>
                                </m:ctrlPr>
                              </m:dPr>
                              <m:e>
                                <m:r>
                                  <a:rPr lang="en-US" sz="3200" i="1">
                                    <a:latin typeface="Cambria Math" panose="02040503050406030204" pitchFamily="18" charset="0"/>
                                  </a:rPr>
                                  <m:t>𝐶</m:t>
                                </m:r>
                              </m:e>
                            </m:d>
                          </m:e>
                          <m:sup>
                            <m:r>
                              <a:rPr lang="en-US" sz="3200" i="1">
                                <a:latin typeface="Cambria Math" panose="02040503050406030204" pitchFamily="18" charset="0"/>
                              </a:rPr>
                              <m:t>𝑐</m:t>
                            </m:r>
                          </m:sup>
                        </m:sSup>
                        <m:sSup>
                          <m:sSupPr>
                            <m:ctrlPr>
                              <a:rPr lang="en-US" sz="3200" i="1">
                                <a:latin typeface="Cambria Math" panose="02040503050406030204" pitchFamily="18" charset="0"/>
                              </a:rPr>
                            </m:ctrlPr>
                          </m:sSupPr>
                          <m:e>
                            <m:d>
                              <m:dPr>
                                <m:begChr m:val="["/>
                                <m:endChr m:val="]"/>
                                <m:ctrlPr>
                                  <a:rPr lang="en-US" sz="3200" i="1">
                                    <a:latin typeface="Cambria Math" panose="02040503050406030204" pitchFamily="18" charset="0"/>
                                  </a:rPr>
                                </m:ctrlPr>
                              </m:dPr>
                              <m:e>
                                <m:r>
                                  <a:rPr lang="en-US" sz="3200" i="1">
                                    <a:latin typeface="Cambria Math" panose="02040503050406030204" pitchFamily="18" charset="0"/>
                                  </a:rPr>
                                  <m:t>𝐷</m:t>
                                </m:r>
                              </m:e>
                            </m:d>
                          </m:e>
                          <m:sup>
                            <m:r>
                              <a:rPr lang="en-US" sz="3200" i="1">
                                <a:latin typeface="Cambria Math" panose="02040503050406030204" pitchFamily="18" charset="0"/>
                              </a:rPr>
                              <m:t>𝑑</m:t>
                            </m:r>
                          </m:sup>
                        </m:sSup>
                      </m:den>
                    </m:f>
                  </m:oMath>
                </a14:m>
                <a:br>
                  <a:rPr lang="en-US" sz="3200" noProof="1">
                    <a:solidFill>
                      <a:schemeClr val="tx1"/>
                    </a:solidFill>
                  </a:rPr>
                </a:br>
                <a:r>
                  <a:rPr lang="en-US" sz="3200" noProof="1">
                    <a:solidFill>
                      <a:schemeClr val="tx1"/>
                    </a:solidFill>
                  </a:rPr>
                  <a:t> </a:t>
                </a:r>
                <a:br>
                  <a:rPr lang="en-US" sz="3200" noProof="1">
                    <a:solidFill>
                      <a:schemeClr val="tx1"/>
                    </a:solidFill>
                  </a:rPr>
                </a:br>
                <a:r>
                  <a:rPr lang="en-US" sz="3200" noProof="1">
                    <a:solidFill>
                      <a:schemeClr val="tx1"/>
                    </a:solidFill>
                  </a:rPr>
                  <a:t>for any reaction:  </a:t>
                </a:r>
                <a:r>
                  <a:rPr lang="en-US" sz="3200" i="1" noProof="1">
                    <a:solidFill>
                      <a:srgbClr val="FF0000"/>
                    </a:solidFill>
                  </a:rPr>
                  <a:t>K</a:t>
                </a:r>
                <a:r>
                  <a:rPr lang="en-US" sz="3200" i="1" baseline="-25000" noProof="1">
                    <a:solidFill>
                      <a:srgbClr val="FF0000"/>
                    </a:solidFill>
                  </a:rPr>
                  <a:t>c</a:t>
                </a:r>
                <a:r>
                  <a:rPr lang="en-US" sz="3200" i="1" noProof="1">
                    <a:solidFill>
                      <a:srgbClr val="FF0000"/>
                    </a:solidFill>
                  </a:rPr>
                  <a:t>'</a:t>
                </a:r>
                <a:r>
                  <a:rPr lang="en-US" sz="3200" noProof="1">
                    <a:solidFill>
                      <a:srgbClr val="FF0000"/>
                    </a:solidFill>
                  </a:rPr>
                  <a:t> = 1/ </a:t>
                </a:r>
                <a:r>
                  <a:rPr lang="en-US" sz="3200" i="1" noProof="1">
                    <a:solidFill>
                      <a:srgbClr val="FF0000"/>
                    </a:solidFill>
                  </a:rPr>
                  <a:t>K</a:t>
                </a:r>
                <a:r>
                  <a:rPr lang="en-US" sz="3200" i="1" baseline="-25000" noProof="1">
                    <a:solidFill>
                      <a:srgbClr val="FF0000"/>
                    </a:solidFill>
                  </a:rPr>
                  <a:t>c</a:t>
                </a:r>
                <a:r>
                  <a:rPr lang="en-US" sz="3200" noProof="1">
                    <a:solidFill>
                      <a:srgbClr val="FF0000"/>
                    </a:solidFill>
                    <a:effectLst>
                      <a:outerShdw blurRad="38100" dist="38100" dir="2700000" algn="tl">
                        <a:srgbClr val="FFFFFF"/>
                      </a:outerShdw>
                    </a:effectLst>
                  </a:rPr>
                  <a:t> </a:t>
                </a:r>
                <a:br>
                  <a:rPr lang="en-US" sz="3200" noProof="1">
                    <a:solidFill>
                      <a:schemeClr val="tx1"/>
                    </a:solidFill>
                    <a:effectLst>
                      <a:outerShdw blurRad="38100" dist="38100" dir="2700000" algn="tl">
                        <a:srgbClr val="FFFFFF"/>
                      </a:outerShdw>
                    </a:effectLst>
                  </a:rPr>
                </a:br>
                <a:r>
                  <a:rPr lang="en-US" sz="3600" noProof="1">
                    <a:solidFill>
                      <a:schemeClr val="tx1"/>
                    </a:solidFill>
                    <a:effectLst>
                      <a:outerShdw blurRad="38100" dist="38100" dir="2700000" algn="tl">
                        <a:srgbClr val="FFFFFF"/>
                      </a:outerShdw>
                    </a:effectLst>
                  </a:rPr>
                  <a:t>              </a:t>
                </a:r>
              </a:p>
            </p:txBody>
          </p:sp>
        </mc:Choice>
        <mc:Fallback xmlns="">
          <p:sp>
            <p:nvSpPr>
              <p:cNvPr id="8194" name="Rectangle 2"/>
              <p:cNvSpPr>
                <a:spLocks noGrp="1" noRot="1" noChangeAspect="1" noMove="1" noResize="1" noEditPoints="1" noAdjustHandles="1" noChangeArrowheads="1" noChangeShapeType="1" noTextEdit="1"/>
              </p:cNvSpPr>
              <p:nvPr>
                <p:ph type="title"/>
              </p:nvPr>
            </p:nvSpPr>
            <p:spPr>
              <a:xfrm>
                <a:off x="1066800" y="3429000"/>
                <a:ext cx="10210800" cy="1143000"/>
              </a:xfrm>
              <a:blipFill>
                <a:blip r:embed="rId3"/>
                <a:stretch>
                  <a:fillRect l="-1373" t="-194118" b="-155615"/>
                </a:stretch>
              </a:blipFill>
            </p:spPr>
            <p:txBody>
              <a:bodyPr/>
              <a:lstStyle/>
              <a:p>
                <a:r>
                  <a:rPr lang="en-US">
                    <a:noFill/>
                  </a:rPr>
                  <a:t> </a:t>
                </a:r>
              </a:p>
            </p:txBody>
          </p:sp>
        </mc:Fallback>
      </mc:AlternateContent>
      <p:sp>
        <p:nvSpPr>
          <p:cNvPr id="5" name="Rectangle 2"/>
          <p:cNvSpPr txBox="1">
            <a:spLocks noChangeArrowheads="1"/>
          </p:cNvSpPr>
          <p:nvPr/>
        </p:nvSpPr>
        <p:spPr>
          <a:xfrm>
            <a:off x="641838" y="0"/>
            <a:ext cx="10972800" cy="715962"/>
          </a:xfrm>
          <a:prstGeom prst="rect">
            <a:avLst/>
          </a:prstGeom>
        </p:spPr>
        <p:txBody>
          <a:bodyPr vert="horz"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defRPr/>
            </a:pPr>
            <a:r>
              <a:rPr lang="en-US" sz="4800" noProof="1">
                <a:effectLst>
                  <a:outerShdw blurRad="38100" dist="38100" dir="2700000" algn="tl">
                    <a:srgbClr val="FFFFFF"/>
                  </a:outerShdw>
                </a:effectLst>
              </a:rPr>
              <a:t>Properties of the Equilibrium Constant</a:t>
            </a:r>
          </a:p>
        </p:txBody>
      </p:sp>
    </p:spTree>
    <p:extLst>
      <p:ext uri="{BB962C8B-B14F-4D97-AF65-F5344CB8AC3E}">
        <p14:creationId xmlns:p14="http://schemas.microsoft.com/office/powerpoint/2010/main" val="22054191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194"/>
                                        </p:tgtEl>
                                        <p:attrNameLst>
                                          <p:attrName>style.visibility</p:attrName>
                                        </p:attrNameLst>
                                      </p:cBhvr>
                                      <p:to>
                                        <p:strVal val="visible"/>
                                      </p:to>
                                    </p:set>
                                    <p:animEffect transition="in" filter="fade">
                                      <p:cBhvr>
                                        <p:cTn id="7" dur="500"/>
                                        <p:tgtEl>
                                          <p:spTgt spid="819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194"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A7F29-C662-471D-8D2B-ED7CC1010F98}"/>
              </a:ext>
            </a:extLst>
          </p:cNvPr>
          <p:cNvSpPr>
            <a:spLocks noGrp="1"/>
          </p:cNvSpPr>
          <p:nvPr>
            <p:ph type="title"/>
          </p:nvPr>
        </p:nvSpPr>
        <p:spPr>
          <a:xfrm>
            <a:off x="609600" y="0"/>
            <a:ext cx="10972800" cy="914400"/>
          </a:xfrm>
        </p:spPr>
        <p:txBody>
          <a:bodyPr>
            <a:normAutofit/>
          </a:bodyPr>
          <a:lstStyle/>
          <a:p>
            <a:r>
              <a:rPr lang="en-US" dirty="0"/>
              <a:t>Practice</a:t>
            </a:r>
          </a:p>
        </p:txBody>
      </p:sp>
      <p:sp>
        <p:nvSpPr>
          <p:cNvPr id="3" name="Content Placeholder 2">
            <a:extLst>
              <a:ext uri="{FF2B5EF4-FFF2-40B4-BE49-F238E27FC236}">
                <a16:creationId xmlns:a16="http://schemas.microsoft.com/office/drawing/2014/main" id="{CCA656D2-E5C9-4D4C-A1EA-478D99CBBD86}"/>
              </a:ext>
            </a:extLst>
          </p:cNvPr>
          <p:cNvSpPr>
            <a:spLocks noGrp="1"/>
          </p:cNvSpPr>
          <p:nvPr>
            <p:ph idx="1"/>
          </p:nvPr>
        </p:nvSpPr>
        <p:spPr>
          <a:xfrm>
            <a:off x="609600" y="1066801"/>
            <a:ext cx="10972800" cy="5059364"/>
          </a:xfrm>
        </p:spPr>
        <p:txBody>
          <a:bodyPr/>
          <a:lstStyle/>
          <a:p>
            <a:pPr marL="0" indent="0">
              <a:buNone/>
            </a:pPr>
            <a:r>
              <a:rPr lang="en-US" dirty="0"/>
              <a:t>For the reaction: A </a:t>
            </a:r>
            <a:r>
              <a:rPr lang="en-US" i="1" dirty="0">
                <a:sym typeface="Wingdings 3" panose="05040102010807070707" pitchFamily="18" charset="2"/>
              </a:rPr>
              <a:t></a:t>
            </a:r>
            <a:r>
              <a:rPr lang="en-US" i="1" dirty="0"/>
              <a:t>  </a:t>
            </a:r>
            <a:r>
              <a:rPr lang="en-US" dirty="0"/>
              <a:t>B, </a:t>
            </a:r>
            <a:r>
              <a:rPr lang="en-US" i="1" dirty="0" err="1"/>
              <a:t>K</a:t>
            </a:r>
            <a:r>
              <a:rPr lang="en-US" baseline="-25000" dirty="0" err="1"/>
              <a:t>eq</a:t>
            </a:r>
            <a:r>
              <a:rPr lang="en-US" dirty="0"/>
              <a:t> = 3.4</a:t>
            </a:r>
          </a:p>
          <a:p>
            <a:r>
              <a:rPr lang="en-US" dirty="0"/>
              <a:t>Write the expression for </a:t>
            </a:r>
            <a:r>
              <a:rPr lang="en-US" i="1" dirty="0" err="1"/>
              <a:t>K</a:t>
            </a:r>
            <a:r>
              <a:rPr lang="en-US" i="1" baseline="-25000" dirty="0" err="1"/>
              <a:t>eq</a:t>
            </a:r>
            <a:r>
              <a:rPr lang="en-US" i="1" baseline="-25000" dirty="0"/>
              <a:t>.</a:t>
            </a:r>
            <a:r>
              <a:rPr lang="en-US" i="1" dirty="0"/>
              <a:t> </a:t>
            </a:r>
            <a:endParaRPr lang="en-US" dirty="0"/>
          </a:p>
          <a:p>
            <a:pPr marL="0" indent="0">
              <a:buNone/>
            </a:pPr>
            <a:r>
              <a:rPr lang="en-US" dirty="0"/>
              <a:t> </a:t>
            </a:r>
          </a:p>
          <a:p>
            <a:pPr marL="0" indent="0">
              <a:buNone/>
            </a:pPr>
            <a:endParaRPr lang="en-US" dirty="0"/>
          </a:p>
          <a:p>
            <a:r>
              <a:rPr lang="en-US" dirty="0"/>
              <a:t>Write the reverse reaction, the corresponding equilibrium expression, and calculate its value.</a:t>
            </a:r>
          </a:p>
          <a:p>
            <a:endParaRPr lang="en-US" dirty="0"/>
          </a:p>
        </p:txBody>
      </p:sp>
    </p:spTree>
    <p:extLst>
      <p:ext uri="{BB962C8B-B14F-4D97-AF65-F5344CB8AC3E}">
        <p14:creationId xmlns:p14="http://schemas.microsoft.com/office/powerpoint/2010/main" val="20510029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218" name="Rectangle 2"/>
              <p:cNvSpPr>
                <a:spLocks noGrp="1" noChangeArrowheads="1"/>
              </p:cNvSpPr>
              <p:nvPr>
                <p:ph type="title"/>
              </p:nvPr>
            </p:nvSpPr>
            <p:spPr>
              <a:xfrm>
                <a:off x="914400" y="2514600"/>
                <a:ext cx="10668000" cy="1143000"/>
              </a:xfrm>
            </p:spPr>
            <p:txBody>
              <a:bodyPr>
                <a:normAutofit fontScale="90000"/>
              </a:bodyPr>
              <a:lstStyle/>
              <a:p>
                <a:pPr algn="l">
                  <a:defRPr/>
                </a:pPr>
                <a:r>
                  <a:rPr lang="en-US" noProof="1">
                    <a:solidFill>
                      <a:schemeClr val="tx1"/>
                    </a:solidFill>
                  </a:rPr>
                  <a:t>If the original reaction is multiplied by some factor to give:</a:t>
                </a:r>
                <a:br>
                  <a:rPr lang="en-US" noProof="1">
                    <a:solidFill>
                      <a:schemeClr val="tx1"/>
                    </a:solidFill>
                  </a:rPr>
                </a:br>
                <a:r>
                  <a:rPr lang="en-US" noProof="1">
                    <a:solidFill>
                      <a:schemeClr val="tx1"/>
                    </a:solidFill>
                  </a:rPr>
                  <a:t>   n</a:t>
                </a:r>
                <a:r>
                  <a:rPr lang="en-US" i="1" noProof="1"/>
                  <a:t>aA + nbB </a:t>
                </a:r>
                <a:r>
                  <a:rPr lang="en-US" i="1" noProof="1">
                    <a:sym typeface="Wingdings 3" pitchFamily="18" charset="2"/>
                  </a:rPr>
                  <a:t>  n</a:t>
                </a:r>
                <a:r>
                  <a:rPr lang="en-US" i="1" noProof="1"/>
                  <a:t>cC + ndD:</a:t>
                </a:r>
                <a:br>
                  <a:rPr lang="en-US" i="1" noProof="1"/>
                </a:br>
                <a:br>
                  <a:rPr lang="en-US" i="1" noProof="1"/>
                </a:br>
                <a:r>
                  <a:rPr lang="en-US" i="1" noProof="1"/>
                  <a:t>K</a:t>
                </a:r>
                <a:r>
                  <a:rPr lang="en-US" i="1" baseline="-25000" noProof="1"/>
                  <a:t>c</a:t>
                </a:r>
                <a:r>
                  <a:rPr lang="en-US" i="1" noProof="1"/>
                  <a:t>’	=	</a:t>
                </a:r>
                <a14:m>
                  <m:oMath xmlns:m="http://schemas.openxmlformats.org/officeDocument/2006/math">
                    <m:f>
                      <m:fPr>
                        <m:ctrlPr>
                          <a:rPr lang="en-US" sz="3600" i="1" noProof="1">
                            <a:latin typeface="Cambria Math" panose="02040503050406030204" pitchFamily="18" charset="0"/>
                          </a:rPr>
                        </m:ctrlPr>
                      </m:fPr>
                      <m:num>
                        <m:sSup>
                          <m:sSupPr>
                            <m:ctrlPr>
                              <a:rPr lang="en-US" sz="4800" i="1">
                                <a:latin typeface="Cambria Math" panose="02040503050406030204" pitchFamily="18" charset="0"/>
                              </a:rPr>
                            </m:ctrlPr>
                          </m:sSupPr>
                          <m:e>
                            <m:d>
                              <m:dPr>
                                <m:begChr m:val="["/>
                                <m:endChr m:val="]"/>
                                <m:ctrlPr>
                                  <a:rPr lang="en-US" sz="4800" i="1">
                                    <a:latin typeface="Cambria Math" panose="02040503050406030204" pitchFamily="18" charset="0"/>
                                  </a:rPr>
                                </m:ctrlPr>
                              </m:dPr>
                              <m:e>
                                <m:r>
                                  <a:rPr lang="en-US" sz="4800" i="1">
                                    <a:latin typeface="Cambria Math" panose="02040503050406030204" pitchFamily="18" charset="0"/>
                                  </a:rPr>
                                  <m:t>𝐶</m:t>
                                </m:r>
                              </m:e>
                            </m:d>
                          </m:e>
                          <m:sup>
                            <m:r>
                              <a:rPr lang="en-US" sz="4800" b="0" i="1" smtClean="0">
                                <a:latin typeface="Cambria Math" panose="02040503050406030204" pitchFamily="18" charset="0"/>
                              </a:rPr>
                              <m:t>𝑛𝑐</m:t>
                            </m:r>
                          </m:sup>
                        </m:sSup>
                        <m:sSup>
                          <m:sSupPr>
                            <m:ctrlPr>
                              <a:rPr lang="en-US" sz="4800" i="1">
                                <a:latin typeface="Cambria Math" panose="02040503050406030204" pitchFamily="18" charset="0"/>
                              </a:rPr>
                            </m:ctrlPr>
                          </m:sSupPr>
                          <m:e>
                            <m:d>
                              <m:dPr>
                                <m:begChr m:val="["/>
                                <m:endChr m:val="]"/>
                                <m:ctrlPr>
                                  <a:rPr lang="en-US" sz="4800" i="1">
                                    <a:latin typeface="Cambria Math" panose="02040503050406030204" pitchFamily="18" charset="0"/>
                                  </a:rPr>
                                </m:ctrlPr>
                              </m:dPr>
                              <m:e>
                                <m:r>
                                  <a:rPr lang="en-US" sz="4800" i="1">
                                    <a:latin typeface="Cambria Math" panose="02040503050406030204" pitchFamily="18" charset="0"/>
                                  </a:rPr>
                                  <m:t>𝐷</m:t>
                                </m:r>
                              </m:e>
                            </m:d>
                          </m:e>
                          <m:sup>
                            <m:r>
                              <a:rPr lang="en-US" sz="4800" b="0" i="1" smtClean="0">
                                <a:latin typeface="Cambria Math" panose="02040503050406030204" pitchFamily="18" charset="0"/>
                              </a:rPr>
                              <m:t>𝑛𝑑</m:t>
                            </m:r>
                          </m:sup>
                        </m:sSup>
                      </m:num>
                      <m:den>
                        <m:sSup>
                          <m:sSupPr>
                            <m:ctrlPr>
                              <a:rPr lang="en-US" sz="4800" i="1">
                                <a:latin typeface="Cambria Math" panose="02040503050406030204" pitchFamily="18" charset="0"/>
                              </a:rPr>
                            </m:ctrlPr>
                          </m:sSupPr>
                          <m:e>
                            <m:d>
                              <m:dPr>
                                <m:begChr m:val="["/>
                                <m:endChr m:val="]"/>
                                <m:ctrlPr>
                                  <a:rPr lang="en-US" sz="4800" i="1">
                                    <a:latin typeface="Cambria Math" panose="02040503050406030204" pitchFamily="18" charset="0"/>
                                  </a:rPr>
                                </m:ctrlPr>
                              </m:dPr>
                              <m:e>
                                <m:r>
                                  <a:rPr lang="en-US" sz="4800" i="1">
                                    <a:latin typeface="Cambria Math" panose="02040503050406030204" pitchFamily="18" charset="0"/>
                                  </a:rPr>
                                  <m:t>𝐴</m:t>
                                </m:r>
                              </m:e>
                            </m:d>
                          </m:e>
                          <m:sup>
                            <m:r>
                              <a:rPr lang="en-US" sz="4800" b="0" i="1" smtClean="0">
                                <a:latin typeface="Cambria Math" panose="02040503050406030204" pitchFamily="18" charset="0"/>
                              </a:rPr>
                              <m:t>𝑛𝑎</m:t>
                            </m:r>
                          </m:sup>
                        </m:sSup>
                        <m:sSup>
                          <m:sSupPr>
                            <m:ctrlPr>
                              <a:rPr lang="en-US" sz="4800" i="1">
                                <a:latin typeface="Cambria Math" panose="02040503050406030204" pitchFamily="18" charset="0"/>
                              </a:rPr>
                            </m:ctrlPr>
                          </m:sSupPr>
                          <m:e>
                            <m:d>
                              <m:dPr>
                                <m:begChr m:val="["/>
                                <m:endChr m:val="]"/>
                                <m:ctrlPr>
                                  <a:rPr lang="en-US" sz="4800" i="1">
                                    <a:latin typeface="Cambria Math" panose="02040503050406030204" pitchFamily="18" charset="0"/>
                                  </a:rPr>
                                </m:ctrlPr>
                              </m:dPr>
                              <m:e>
                                <m:r>
                                  <a:rPr lang="en-US" sz="4800" i="1">
                                    <a:latin typeface="Cambria Math" panose="02040503050406030204" pitchFamily="18" charset="0"/>
                                  </a:rPr>
                                  <m:t>𝐵</m:t>
                                </m:r>
                              </m:e>
                            </m:d>
                          </m:e>
                          <m:sup>
                            <m:r>
                              <a:rPr lang="en-US" sz="4800" b="0" i="1" smtClean="0">
                                <a:latin typeface="Cambria Math" panose="02040503050406030204" pitchFamily="18" charset="0"/>
                              </a:rPr>
                              <m:t>𝑛</m:t>
                            </m:r>
                            <m:r>
                              <a:rPr lang="en-US" sz="4800" i="1">
                                <a:latin typeface="Cambria Math" panose="02040503050406030204" pitchFamily="18" charset="0"/>
                              </a:rPr>
                              <m:t>𝑏</m:t>
                            </m:r>
                          </m:sup>
                        </m:sSup>
                      </m:den>
                    </m:f>
                  </m:oMath>
                </a14:m>
                <a:br>
                  <a:rPr lang="en-US" noProof="1">
                    <a:solidFill>
                      <a:schemeClr val="tx1"/>
                    </a:solidFill>
                  </a:rPr>
                </a:br>
                <a:br>
                  <a:rPr lang="en-US" noProof="1">
                    <a:solidFill>
                      <a:schemeClr val="tx1"/>
                    </a:solidFill>
                  </a:rPr>
                </a:br>
                <a:r>
                  <a:rPr lang="en-US" noProof="1"/>
                  <a:t>for any reaction:  </a:t>
                </a:r>
                <a:r>
                  <a:rPr lang="en-US" i="1" noProof="1">
                    <a:solidFill>
                      <a:srgbClr val="FF0000"/>
                    </a:solidFill>
                  </a:rPr>
                  <a:t>K</a:t>
                </a:r>
                <a:r>
                  <a:rPr lang="en-US" i="1" baseline="-25000" noProof="1">
                    <a:solidFill>
                      <a:srgbClr val="FF0000"/>
                    </a:solidFill>
                  </a:rPr>
                  <a:t>c</a:t>
                </a:r>
                <a:r>
                  <a:rPr lang="en-US" i="1" noProof="1">
                    <a:solidFill>
                      <a:srgbClr val="FF0000"/>
                    </a:solidFill>
                  </a:rPr>
                  <a:t>'</a:t>
                </a:r>
                <a:r>
                  <a:rPr lang="en-US" noProof="1">
                    <a:solidFill>
                      <a:srgbClr val="FF0000"/>
                    </a:solidFill>
                  </a:rPr>
                  <a:t> = </a:t>
                </a:r>
                <a:r>
                  <a:rPr lang="en-US" i="1" noProof="1">
                    <a:solidFill>
                      <a:srgbClr val="FF0000"/>
                    </a:solidFill>
                  </a:rPr>
                  <a:t>K</a:t>
                </a:r>
                <a:r>
                  <a:rPr lang="en-US" i="1" baseline="-25000" noProof="1">
                    <a:solidFill>
                      <a:srgbClr val="FF0000"/>
                    </a:solidFill>
                  </a:rPr>
                  <a:t>c</a:t>
                </a:r>
                <a:r>
                  <a:rPr lang="en-US" i="1" baseline="30000" noProof="1">
                    <a:solidFill>
                      <a:srgbClr val="FF0000"/>
                    </a:solidFill>
                  </a:rPr>
                  <a:t>n</a:t>
                </a:r>
                <a:endParaRPr lang="en-US" noProof="1">
                  <a:solidFill>
                    <a:schemeClr val="tx1"/>
                  </a:solidFill>
                  <a:effectLst>
                    <a:outerShdw blurRad="38100" dist="38100" dir="2700000" algn="tl">
                      <a:srgbClr val="FFFFFF"/>
                    </a:outerShdw>
                  </a:effectLst>
                </a:endParaRPr>
              </a:p>
            </p:txBody>
          </p:sp>
        </mc:Choice>
        <mc:Fallback xmlns="">
          <p:sp>
            <p:nvSpPr>
              <p:cNvPr id="9218" name="Rectangle 2"/>
              <p:cNvSpPr>
                <a:spLocks noGrp="1" noRot="1" noChangeAspect="1" noMove="1" noResize="1" noEditPoints="1" noAdjustHandles="1" noChangeArrowheads="1" noChangeShapeType="1" noTextEdit="1"/>
              </p:cNvSpPr>
              <p:nvPr>
                <p:ph type="title"/>
              </p:nvPr>
            </p:nvSpPr>
            <p:spPr>
              <a:xfrm>
                <a:off x="914400" y="2514600"/>
                <a:ext cx="10668000" cy="1143000"/>
              </a:xfrm>
              <a:blipFill>
                <a:blip r:embed="rId3"/>
                <a:stretch>
                  <a:fillRect l="-2000" t="-181283" r="-2000" b="-194652"/>
                </a:stretch>
              </a:blipFill>
            </p:spPr>
            <p:txBody>
              <a:bodyPr/>
              <a:lstStyle/>
              <a:p>
                <a:r>
                  <a:rPr lang="en-US">
                    <a:noFill/>
                  </a:rPr>
                  <a:t> </a:t>
                </a:r>
              </a:p>
            </p:txBody>
          </p:sp>
        </mc:Fallback>
      </mc:AlternateContent>
    </p:spTree>
    <p:extLst>
      <p:ext uri="{BB962C8B-B14F-4D97-AF65-F5344CB8AC3E}">
        <p14:creationId xmlns:p14="http://schemas.microsoft.com/office/powerpoint/2010/main" val="142912926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A7F29-C662-471D-8D2B-ED7CC1010F98}"/>
              </a:ext>
            </a:extLst>
          </p:cNvPr>
          <p:cNvSpPr>
            <a:spLocks noGrp="1"/>
          </p:cNvSpPr>
          <p:nvPr>
            <p:ph type="title"/>
          </p:nvPr>
        </p:nvSpPr>
        <p:spPr>
          <a:xfrm>
            <a:off x="609600" y="0"/>
            <a:ext cx="10972800" cy="914400"/>
          </a:xfrm>
        </p:spPr>
        <p:txBody>
          <a:bodyPr>
            <a:normAutofit/>
          </a:bodyPr>
          <a:lstStyle/>
          <a:p>
            <a:r>
              <a:rPr lang="en-US" dirty="0"/>
              <a:t>Practice</a:t>
            </a:r>
          </a:p>
        </p:txBody>
      </p:sp>
      <p:sp>
        <p:nvSpPr>
          <p:cNvPr id="3" name="Content Placeholder 2">
            <a:extLst>
              <a:ext uri="{FF2B5EF4-FFF2-40B4-BE49-F238E27FC236}">
                <a16:creationId xmlns:a16="http://schemas.microsoft.com/office/drawing/2014/main" id="{CCA656D2-E5C9-4D4C-A1EA-478D99CBBD86}"/>
              </a:ext>
            </a:extLst>
          </p:cNvPr>
          <p:cNvSpPr>
            <a:spLocks noGrp="1"/>
          </p:cNvSpPr>
          <p:nvPr>
            <p:ph idx="1"/>
          </p:nvPr>
        </p:nvSpPr>
        <p:spPr>
          <a:xfrm>
            <a:off x="609600" y="1066801"/>
            <a:ext cx="10972800" cy="5059364"/>
          </a:xfrm>
        </p:spPr>
        <p:txBody>
          <a:bodyPr/>
          <a:lstStyle/>
          <a:p>
            <a:pPr marL="0" indent="0">
              <a:buNone/>
            </a:pPr>
            <a:r>
              <a:rPr lang="en-US" dirty="0"/>
              <a:t>For the reaction: A </a:t>
            </a:r>
            <a:r>
              <a:rPr lang="en-US" i="1" dirty="0">
                <a:sym typeface="Wingdings 3" panose="05040102010807070707" pitchFamily="18" charset="2"/>
              </a:rPr>
              <a:t></a:t>
            </a:r>
            <a:r>
              <a:rPr lang="en-US" i="1" dirty="0"/>
              <a:t>  </a:t>
            </a:r>
            <a:r>
              <a:rPr lang="en-US" dirty="0"/>
              <a:t>B, </a:t>
            </a:r>
            <a:r>
              <a:rPr lang="en-US" i="1" dirty="0" err="1"/>
              <a:t>K</a:t>
            </a:r>
            <a:r>
              <a:rPr lang="en-US" baseline="-25000" dirty="0" err="1"/>
              <a:t>eq</a:t>
            </a:r>
            <a:r>
              <a:rPr lang="en-US" dirty="0"/>
              <a:t> = 3.4</a:t>
            </a:r>
          </a:p>
          <a:p>
            <a:r>
              <a:rPr lang="en-US" dirty="0"/>
              <a:t>For the reaction 2A </a:t>
            </a:r>
            <a:r>
              <a:rPr lang="en-US" i="1" dirty="0">
                <a:sym typeface="Wingdings 3" panose="05040102010807070707" pitchFamily="18" charset="2"/>
              </a:rPr>
              <a:t></a:t>
            </a:r>
            <a:r>
              <a:rPr lang="en-US" i="1" dirty="0"/>
              <a:t>  </a:t>
            </a:r>
            <a:r>
              <a:rPr lang="en-US" dirty="0"/>
              <a:t>2B Write the corresponding equilibrium expression, and calculate its value.</a:t>
            </a:r>
          </a:p>
          <a:p>
            <a:endParaRPr lang="en-US" dirty="0"/>
          </a:p>
        </p:txBody>
      </p:sp>
    </p:spTree>
    <p:extLst>
      <p:ext uri="{BB962C8B-B14F-4D97-AF65-F5344CB8AC3E}">
        <p14:creationId xmlns:p14="http://schemas.microsoft.com/office/powerpoint/2010/main" val="33726207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a:xfrm>
            <a:off x="381000" y="1143000"/>
            <a:ext cx="11582400" cy="3505200"/>
          </a:xfrm>
        </p:spPr>
        <p:txBody>
          <a:bodyPr>
            <a:normAutofit fontScale="90000"/>
          </a:bodyPr>
          <a:lstStyle/>
          <a:p>
            <a:pPr marL="571500" indent="-571500" algn="l">
              <a:buFont typeface="Arial" panose="020B0604020202020204" pitchFamily="34" charset="0"/>
              <a:buChar char="•"/>
            </a:pPr>
            <a:r>
              <a:rPr lang="en-US" sz="3600" noProof="1">
                <a:solidFill>
                  <a:schemeClr val="tx1"/>
                </a:solidFill>
              </a:rPr>
              <a:t>For a 2-step reaction with </a:t>
            </a:r>
            <a:r>
              <a:rPr lang="en-US" sz="3600" i="1" noProof="1">
                <a:solidFill>
                  <a:schemeClr val="tx1"/>
                </a:solidFill>
              </a:rPr>
              <a:t>K</a:t>
            </a:r>
            <a:r>
              <a:rPr lang="en-US" sz="3600" i="1" baseline="-25000" noProof="1">
                <a:solidFill>
                  <a:schemeClr val="tx1"/>
                </a:solidFill>
              </a:rPr>
              <a:t>c1</a:t>
            </a:r>
            <a:r>
              <a:rPr lang="en-US" sz="3600" noProof="1">
                <a:solidFill>
                  <a:schemeClr val="tx1"/>
                </a:solidFill>
              </a:rPr>
              <a:t> and </a:t>
            </a:r>
            <a:r>
              <a:rPr lang="en-US" sz="3600" i="1" noProof="1">
                <a:solidFill>
                  <a:schemeClr val="tx1"/>
                </a:solidFill>
              </a:rPr>
              <a:t>K</a:t>
            </a:r>
            <a:r>
              <a:rPr lang="en-US" sz="3600" i="1" baseline="-25000" noProof="1">
                <a:solidFill>
                  <a:schemeClr val="tx1"/>
                </a:solidFill>
              </a:rPr>
              <a:t>c2</a:t>
            </a:r>
            <a:r>
              <a:rPr lang="en-US" sz="3600" noProof="1">
                <a:solidFill>
                  <a:schemeClr val="tx1"/>
                </a:solidFill>
              </a:rPr>
              <a:t> as </a:t>
            </a:r>
            <a:r>
              <a:rPr lang="en-US" sz="3600" i="1" noProof="1">
                <a:solidFill>
                  <a:schemeClr val="tx1"/>
                </a:solidFill>
              </a:rPr>
              <a:t>K</a:t>
            </a:r>
            <a:r>
              <a:rPr lang="en-US" sz="3600" i="1" baseline="-25000" noProof="1">
                <a:solidFill>
                  <a:schemeClr val="tx1"/>
                </a:solidFill>
              </a:rPr>
              <a:t>c</a:t>
            </a:r>
            <a:r>
              <a:rPr lang="en-US" sz="3600" noProof="1">
                <a:solidFill>
                  <a:schemeClr val="tx1"/>
                </a:solidFill>
              </a:rPr>
              <a:t> values for each step, the </a:t>
            </a:r>
            <a:r>
              <a:rPr lang="en-US" sz="3600" i="1" noProof="1">
                <a:solidFill>
                  <a:schemeClr val="tx1"/>
                </a:solidFill>
              </a:rPr>
              <a:t>K</a:t>
            </a:r>
            <a:r>
              <a:rPr lang="en-US" sz="3600" i="1" baseline="-25000" noProof="1">
                <a:solidFill>
                  <a:schemeClr val="tx1"/>
                </a:solidFill>
              </a:rPr>
              <a:t>c</a:t>
            </a:r>
            <a:r>
              <a:rPr lang="en-US" sz="3600" noProof="1">
                <a:solidFill>
                  <a:schemeClr val="tx1"/>
                </a:solidFill>
              </a:rPr>
              <a:t> for the overall reaction is </a:t>
            </a:r>
            <a:br>
              <a:rPr lang="en-US" sz="3600" noProof="1">
                <a:solidFill>
                  <a:schemeClr val="tx1"/>
                </a:solidFill>
              </a:rPr>
            </a:br>
            <a:r>
              <a:rPr lang="en-US" sz="3600" i="1" noProof="1">
                <a:solidFill>
                  <a:schemeClr val="tx1"/>
                </a:solidFill>
              </a:rPr>
              <a:t>K</a:t>
            </a:r>
            <a:r>
              <a:rPr lang="en-US" sz="3600" i="1" baseline="-25000" noProof="1">
                <a:solidFill>
                  <a:schemeClr val="tx1"/>
                </a:solidFill>
              </a:rPr>
              <a:t>c</a:t>
            </a:r>
            <a:r>
              <a:rPr lang="en-US" sz="3600" noProof="1">
                <a:solidFill>
                  <a:schemeClr val="tx1"/>
                </a:solidFill>
              </a:rPr>
              <a:t> = </a:t>
            </a:r>
            <a:r>
              <a:rPr lang="en-US" sz="3600" i="1" noProof="1">
                <a:solidFill>
                  <a:schemeClr val="tx1"/>
                </a:solidFill>
              </a:rPr>
              <a:t>K</a:t>
            </a:r>
            <a:r>
              <a:rPr lang="en-US" sz="3600" i="1" baseline="-25000" noProof="1">
                <a:solidFill>
                  <a:schemeClr val="tx1"/>
                </a:solidFill>
              </a:rPr>
              <a:t>c1</a:t>
            </a:r>
            <a:r>
              <a:rPr lang="en-US" sz="3600" i="1" noProof="1">
                <a:solidFill>
                  <a:schemeClr val="tx1"/>
                </a:solidFill>
              </a:rPr>
              <a:t> </a:t>
            </a:r>
            <a:r>
              <a:rPr lang="en-US" sz="3600" noProof="1">
                <a:solidFill>
                  <a:schemeClr val="tx1"/>
                </a:solidFill>
                <a:cs typeface="Times New Roman"/>
              </a:rPr>
              <a:t>×</a:t>
            </a:r>
            <a:r>
              <a:rPr lang="en-US" sz="3600" noProof="1">
                <a:solidFill>
                  <a:schemeClr val="tx1"/>
                </a:solidFill>
              </a:rPr>
              <a:t> </a:t>
            </a:r>
            <a:r>
              <a:rPr lang="en-US" sz="3600" i="1" noProof="1">
                <a:solidFill>
                  <a:schemeClr val="tx1"/>
                </a:solidFill>
              </a:rPr>
              <a:t>K</a:t>
            </a:r>
            <a:r>
              <a:rPr lang="en-US" sz="3600" i="1" baseline="-25000" noProof="1">
                <a:solidFill>
                  <a:schemeClr val="tx1"/>
                </a:solidFill>
              </a:rPr>
              <a:t>c2</a:t>
            </a:r>
            <a:r>
              <a:rPr lang="en-US" sz="3600" noProof="1">
                <a:solidFill>
                  <a:schemeClr val="tx1"/>
                </a:solidFill>
              </a:rPr>
              <a:t>.</a:t>
            </a:r>
            <a:br>
              <a:rPr lang="en-US" sz="3600" noProof="1">
                <a:solidFill>
                  <a:schemeClr val="tx1"/>
                </a:solidFill>
              </a:rPr>
            </a:br>
            <a:br>
              <a:rPr lang="en-US" sz="3600" noProof="1">
                <a:solidFill>
                  <a:schemeClr val="tx1"/>
                </a:solidFill>
              </a:rPr>
            </a:br>
            <a:r>
              <a:rPr lang="en-US" sz="3600" dirty="0"/>
              <a:t>Suppose that for reaction 1: 		A + B  ⇄ C  	K</a:t>
            </a:r>
            <a:r>
              <a:rPr lang="en-US" sz="3600" baseline="-25000" dirty="0"/>
              <a:t>1</a:t>
            </a:r>
            <a:r>
              <a:rPr lang="en-US" sz="3600" dirty="0"/>
              <a:t> = 0.10</a:t>
            </a:r>
            <a:br>
              <a:rPr lang="en-US" sz="3600" dirty="0"/>
            </a:br>
            <a:r>
              <a:rPr lang="en-US" sz="3600" dirty="0"/>
              <a:t>And that reaction 2: 		 	C + B  ⇄ D		K</a:t>
            </a:r>
            <a:r>
              <a:rPr lang="en-US" sz="3600" baseline="-25000" dirty="0"/>
              <a:t>2</a:t>
            </a:r>
            <a:r>
              <a:rPr lang="en-US" sz="3600" dirty="0"/>
              <a:t> = 4.5</a:t>
            </a:r>
            <a:br>
              <a:rPr lang="en-US" sz="3600" dirty="0"/>
            </a:br>
            <a:br>
              <a:rPr lang="en-US" sz="3600" dirty="0"/>
            </a:br>
            <a:r>
              <a:rPr lang="en-US" sz="3600" dirty="0"/>
              <a:t>What is the overall reaction? What is the value of K for the overall reaction?</a:t>
            </a:r>
            <a:endParaRPr lang="en-US" noProof="1">
              <a:solidFill>
                <a:schemeClr val="tx1"/>
              </a:solidFill>
              <a:effectLst>
                <a:outerShdw blurRad="38100" dist="38100" dir="2700000" algn="tl">
                  <a:srgbClr val="FFFFFF"/>
                </a:outerShdw>
              </a:effectLst>
            </a:endParaRPr>
          </a:p>
        </p:txBody>
      </p:sp>
    </p:spTree>
    <p:extLst>
      <p:ext uri="{BB962C8B-B14F-4D97-AF65-F5344CB8AC3E}">
        <p14:creationId xmlns:p14="http://schemas.microsoft.com/office/powerpoint/2010/main" val="35264730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p:cNvSpPr>
            <a:spLocks noGrp="1"/>
          </p:cNvSpPr>
          <p:nvPr>
            <p:ph idx="1"/>
          </p:nvPr>
        </p:nvSpPr>
        <p:spPr>
          <a:xfrm>
            <a:off x="609600" y="228600"/>
            <a:ext cx="10972800" cy="5897565"/>
          </a:xfrm>
        </p:spPr>
        <p:txBody>
          <a:bodyPr>
            <a:normAutofit lnSpcReduction="10000"/>
          </a:bodyPr>
          <a:lstStyle/>
          <a:p>
            <a:pPr marL="0" indent="0">
              <a:buNone/>
            </a:pPr>
            <a:r>
              <a:rPr lang="en-US" dirty="0"/>
              <a:t>Practice: For the reaction: </a:t>
            </a:r>
          </a:p>
          <a:p>
            <a:pPr marL="0" indent="0">
              <a:buNone/>
            </a:pPr>
            <a:r>
              <a:rPr lang="en-US" dirty="0"/>
              <a:t>	</a:t>
            </a:r>
            <a:r>
              <a:rPr lang="en-US" dirty="0" err="1"/>
              <a:t>AgCl</a:t>
            </a:r>
            <a:r>
              <a:rPr lang="en-US" dirty="0"/>
              <a:t> (</a:t>
            </a:r>
            <a:r>
              <a:rPr lang="en-US" dirty="0" err="1"/>
              <a:t>aq</a:t>
            </a:r>
            <a:r>
              <a:rPr lang="en-US" dirty="0"/>
              <a:t>)+ Na (s)  ⇄ </a:t>
            </a:r>
            <a:r>
              <a:rPr lang="en-US" dirty="0" err="1"/>
              <a:t>NaCl</a:t>
            </a:r>
            <a:r>
              <a:rPr lang="en-US" dirty="0"/>
              <a:t> (</a:t>
            </a:r>
            <a:r>
              <a:rPr lang="en-US" dirty="0" err="1"/>
              <a:t>aq</a:t>
            </a:r>
            <a:r>
              <a:rPr lang="en-US" dirty="0"/>
              <a:t>) + Ag (s) , K = 5.7 x 10</a:t>
            </a:r>
            <a:r>
              <a:rPr lang="en-US" baseline="30000" dirty="0"/>
              <a:t>11</a:t>
            </a:r>
            <a:r>
              <a:rPr lang="en-US" dirty="0"/>
              <a:t>,</a:t>
            </a:r>
          </a:p>
          <a:p>
            <a:pPr marL="0" indent="0">
              <a:buNone/>
            </a:pPr>
            <a:r>
              <a:rPr lang="en-US" dirty="0"/>
              <a:t>What is the equilibrium expression?</a:t>
            </a:r>
          </a:p>
          <a:p>
            <a:pPr marL="0" indent="0">
              <a:buNone/>
            </a:pPr>
            <a:endParaRPr lang="en-US" dirty="0"/>
          </a:p>
          <a:p>
            <a:pPr marL="0" indent="0">
              <a:buNone/>
            </a:pPr>
            <a:endParaRPr lang="en-US" dirty="0"/>
          </a:p>
          <a:p>
            <a:pPr marL="0" indent="0">
              <a:buNone/>
            </a:pPr>
            <a:r>
              <a:rPr lang="en-US" dirty="0"/>
              <a:t>Calculate K for the reaction:</a:t>
            </a:r>
          </a:p>
          <a:p>
            <a:pPr marL="0" indent="0">
              <a:buNone/>
            </a:pPr>
            <a:r>
              <a:rPr lang="en-US" dirty="0"/>
              <a:t> 		2AgCl (</a:t>
            </a:r>
            <a:r>
              <a:rPr lang="en-US" dirty="0" err="1"/>
              <a:t>aq</a:t>
            </a:r>
            <a:r>
              <a:rPr lang="en-US" dirty="0"/>
              <a:t>)+ 2Na (s)  ⇄ 2NaCl (</a:t>
            </a:r>
            <a:r>
              <a:rPr lang="en-US" dirty="0" err="1"/>
              <a:t>aq</a:t>
            </a:r>
            <a:r>
              <a:rPr lang="en-US" dirty="0"/>
              <a:t>) + 2Ag (s) </a:t>
            </a:r>
          </a:p>
          <a:p>
            <a:pPr marL="0" indent="0">
              <a:buNone/>
            </a:pPr>
            <a:endParaRPr lang="en-US" dirty="0"/>
          </a:p>
          <a:p>
            <a:pPr marL="0" indent="0">
              <a:buNone/>
            </a:pPr>
            <a:endParaRPr lang="en-US" dirty="0"/>
          </a:p>
          <a:p>
            <a:pPr marL="0" indent="0">
              <a:buNone/>
            </a:pPr>
            <a:r>
              <a:rPr lang="en-US" dirty="0"/>
              <a:t>Calculate K for the reaction:</a:t>
            </a:r>
          </a:p>
          <a:p>
            <a:pPr marL="0" indent="0">
              <a:buNone/>
            </a:pPr>
            <a:r>
              <a:rPr lang="en-US" dirty="0"/>
              <a:t> 		</a:t>
            </a:r>
            <a:r>
              <a:rPr lang="en-US" dirty="0" err="1"/>
              <a:t>NaCl</a:t>
            </a:r>
            <a:r>
              <a:rPr lang="en-US" dirty="0"/>
              <a:t> (</a:t>
            </a:r>
            <a:r>
              <a:rPr lang="en-US" dirty="0" err="1"/>
              <a:t>aq</a:t>
            </a:r>
            <a:r>
              <a:rPr lang="en-US" dirty="0"/>
              <a:t>) + Ag (s)  ⇄  </a:t>
            </a:r>
            <a:r>
              <a:rPr lang="en-US" dirty="0" err="1"/>
              <a:t>AgCl</a:t>
            </a:r>
            <a:r>
              <a:rPr lang="en-US" dirty="0"/>
              <a:t> (</a:t>
            </a:r>
            <a:r>
              <a:rPr lang="en-US" dirty="0" err="1"/>
              <a:t>aq</a:t>
            </a:r>
            <a:r>
              <a:rPr lang="en-US" dirty="0"/>
              <a:t>)+ Na (s) </a:t>
            </a:r>
          </a:p>
        </p:txBody>
      </p:sp>
    </p:spTree>
    <p:extLst>
      <p:ext uri="{BB962C8B-B14F-4D97-AF65-F5344CB8AC3E}">
        <p14:creationId xmlns:p14="http://schemas.microsoft.com/office/powerpoint/2010/main" val="409899724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dpi="0" rotWithShape="1">
          <a:blip r:embed="rId2" cstate="print">
            <a:lum/>
          </a:blip>
          <a:srcRect/>
          <a:stretch>
            <a:fillRect l="-11000" r="-11000"/>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4391891" y="5791200"/>
            <a:ext cx="7772400" cy="1066800"/>
          </a:xfrm>
        </p:spPr>
        <p:txBody>
          <a:bodyPr>
            <a:normAutofit fontScale="90000"/>
          </a:bodyPr>
          <a:lstStyle/>
          <a:p>
            <a:pPr algn="r"/>
            <a:r>
              <a:rPr lang="en-US" sz="7200" dirty="0"/>
              <a:t>Unit 7: Equilibrium</a:t>
            </a:r>
          </a:p>
        </p:txBody>
      </p:sp>
      <p:sp>
        <p:nvSpPr>
          <p:cNvPr id="3" name="Subtitle 2"/>
          <p:cNvSpPr>
            <a:spLocks noGrp="1"/>
          </p:cNvSpPr>
          <p:nvPr>
            <p:ph type="subTitle" idx="1"/>
          </p:nvPr>
        </p:nvSpPr>
        <p:spPr>
          <a:xfrm>
            <a:off x="0" y="0"/>
            <a:ext cx="8382000" cy="2667000"/>
          </a:xfrm>
        </p:spPr>
        <p:txBody>
          <a:bodyPr>
            <a:normAutofit/>
          </a:bodyPr>
          <a:lstStyle/>
          <a:p>
            <a:pPr algn="l"/>
            <a:r>
              <a:rPr lang="en-US" sz="3600" dirty="0">
                <a:solidFill>
                  <a:schemeClr val="tx1"/>
                </a:solidFill>
              </a:rPr>
              <a:t>7.5 Magnitude of the Equilibrium Constant</a:t>
            </a:r>
          </a:p>
          <a:p>
            <a:pPr algn="l"/>
            <a:r>
              <a:rPr lang="en-US" sz="3600" dirty="0">
                <a:solidFill>
                  <a:schemeClr val="tx1"/>
                </a:solidFill>
              </a:rPr>
              <a:t>7.8 Representations of Equilibrium</a:t>
            </a:r>
          </a:p>
        </p:txBody>
      </p:sp>
    </p:spTree>
    <p:extLst>
      <p:ext uri="{BB962C8B-B14F-4D97-AF65-F5344CB8AC3E}">
        <p14:creationId xmlns:p14="http://schemas.microsoft.com/office/powerpoint/2010/main" val="21668161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353800" cy="868362"/>
          </a:xfrm>
        </p:spPr>
        <p:txBody>
          <a:bodyPr>
            <a:normAutofit fontScale="90000"/>
          </a:bodyPr>
          <a:lstStyle/>
          <a:p>
            <a:r>
              <a:rPr lang="en-US" dirty="0"/>
              <a:t>Determining if a reaction is at the Equilibrium Position</a:t>
            </a:r>
          </a:p>
        </p:txBody>
      </p:sp>
      <p:sp>
        <p:nvSpPr>
          <p:cNvPr id="3" name="Content Placeholder 2"/>
          <p:cNvSpPr>
            <a:spLocks noGrp="1"/>
          </p:cNvSpPr>
          <p:nvPr>
            <p:ph idx="1"/>
          </p:nvPr>
        </p:nvSpPr>
        <p:spPr>
          <a:xfrm>
            <a:off x="533400" y="868362"/>
            <a:ext cx="11125200" cy="5684838"/>
          </a:xfrm>
        </p:spPr>
        <p:txBody>
          <a:bodyPr>
            <a:normAutofit/>
          </a:bodyPr>
          <a:lstStyle/>
          <a:p>
            <a:r>
              <a:rPr lang="en-US" dirty="0"/>
              <a:t>Every reversible reaction has an equilibrium constant, K that is temperature specific, in other words, if you change the </a:t>
            </a:r>
            <a:r>
              <a:rPr lang="en-US" dirty="0">
                <a:solidFill>
                  <a:srgbClr val="FF0000"/>
                </a:solidFill>
              </a:rPr>
              <a:t>temperature</a:t>
            </a:r>
            <a:r>
              <a:rPr lang="en-US" dirty="0"/>
              <a:t>, you change </a:t>
            </a:r>
            <a:r>
              <a:rPr lang="en-US" dirty="0">
                <a:solidFill>
                  <a:srgbClr val="FF0000"/>
                </a:solidFill>
              </a:rPr>
              <a:t>K</a:t>
            </a:r>
            <a:r>
              <a:rPr lang="en-US" dirty="0"/>
              <a:t> for that reaction</a:t>
            </a:r>
          </a:p>
          <a:p>
            <a:r>
              <a:rPr lang="en-US" dirty="0"/>
              <a:t>At equilibrium, </a:t>
            </a:r>
            <a:r>
              <a:rPr lang="en-US" dirty="0">
                <a:solidFill>
                  <a:srgbClr val="FF0000"/>
                </a:solidFill>
              </a:rPr>
              <a:t>Q = K</a:t>
            </a:r>
          </a:p>
          <a:p>
            <a:r>
              <a:rPr lang="en-US" dirty="0"/>
              <a:t>A Q value can be used to determine if a system is at equilibrium, and also what </a:t>
            </a:r>
            <a:r>
              <a:rPr lang="en-US" dirty="0">
                <a:solidFill>
                  <a:srgbClr val="FF0000"/>
                </a:solidFill>
              </a:rPr>
              <a:t>direction</a:t>
            </a:r>
            <a:r>
              <a:rPr lang="en-US" dirty="0"/>
              <a:t> (forward or reverse) it will be </a:t>
            </a:r>
            <a:r>
              <a:rPr lang="en-US" dirty="0">
                <a:solidFill>
                  <a:srgbClr val="FF0000"/>
                </a:solidFill>
              </a:rPr>
              <a:t>shifting</a:t>
            </a:r>
            <a:r>
              <a:rPr lang="en-US" dirty="0"/>
              <a:t> to reach equilibrium.</a:t>
            </a:r>
          </a:p>
          <a:p>
            <a:r>
              <a:rPr lang="en-US" dirty="0"/>
              <a:t>Q- “</a:t>
            </a:r>
            <a:r>
              <a:rPr lang="en-US" dirty="0">
                <a:solidFill>
                  <a:srgbClr val="FF0000"/>
                </a:solidFill>
              </a:rPr>
              <a:t>Questioning</a:t>
            </a:r>
            <a:r>
              <a:rPr lang="en-US" dirty="0"/>
              <a:t>” whether system is at EQ. Use given concentrations to calculate a Q value using the K expression, and compare to the K. </a:t>
            </a:r>
          </a:p>
          <a:p>
            <a:pPr marL="0" indent="0">
              <a:buNone/>
            </a:pPr>
            <a:endParaRPr lang="en-US" dirty="0"/>
          </a:p>
          <a:p>
            <a:endParaRPr lang="en-US" dirty="0"/>
          </a:p>
        </p:txBody>
      </p:sp>
    </p:spTree>
    <p:extLst>
      <p:ext uri="{BB962C8B-B14F-4D97-AF65-F5344CB8AC3E}">
        <p14:creationId xmlns:p14="http://schemas.microsoft.com/office/powerpoint/2010/main" val="15672372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txBox="1">
            <a:spLocks/>
          </p:cNvSpPr>
          <p:nvPr/>
        </p:nvSpPr>
        <p:spPr>
          <a:xfrm>
            <a:off x="685800" y="304800"/>
            <a:ext cx="10972800" cy="487362"/>
          </a:xfrm>
          <a:prstGeom prst="rect">
            <a:avLst/>
          </a:prstGeom>
        </p:spPr>
        <p:txBody>
          <a:bodyPr vert="horz"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sz="3600" dirty="0"/>
              <a:t>Which of the following systems are at equilibrium?</a:t>
            </a:r>
          </a:p>
        </p:txBody>
      </p:sp>
      <p:pic>
        <p:nvPicPr>
          <p:cNvPr id="7" name="Picture 6"/>
          <p:cNvPicPr>
            <a:picLocks noChangeAspect="1"/>
          </p:cNvPicPr>
          <p:nvPr/>
        </p:nvPicPr>
        <p:blipFill>
          <a:blip r:embed="rId2"/>
          <a:stretch>
            <a:fillRect/>
          </a:stretch>
        </p:blipFill>
        <p:spPr>
          <a:xfrm>
            <a:off x="1295400" y="990600"/>
            <a:ext cx="9601200" cy="3827678"/>
          </a:xfrm>
          <a:prstGeom prst="rect">
            <a:avLst/>
          </a:prstGeom>
        </p:spPr>
      </p:pic>
    </p:spTree>
    <p:extLst>
      <p:ext uri="{BB962C8B-B14F-4D97-AF65-F5344CB8AC3E}">
        <p14:creationId xmlns:p14="http://schemas.microsoft.com/office/powerpoint/2010/main" val="246365966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Using Q and K</a:t>
            </a:r>
          </a:p>
        </p:txBody>
      </p:sp>
      <p:sp>
        <p:nvSpPr>
          <p:cNvPr id="3" name="Content Placeholder 2"/>
          <p:cNvSpPr>
            <a:spLocks noGrp="1"/>
          </p:cNvSpPr>
          <p:nvPr>
            <p:ph idx="1"/>
          </p:nvPr>
        </p:nvSpPr>
        <p:spPr>
          <a:xfrm>
            <a:off x="381000" y="1143000"/>
            <a:ext cx="11201400" cy="4525963"/>
          </a:xfrm>
        </p:spPr>
        <p:txBody>
          <a:bodyPr/>
          <a:lstStyle/>
          <a:p>
            <a:pPr marL="0" indent="0">
              <a:buNone/>
            </a:pPr>
            <a:r>
              <a:rPr lang="en-US" dirty="0"/>
              <a:t>Practice:  For the synthesis of ammonia, the value of K is 6×10</a:t>
            </a:r>
            <a:r>
              <a:rPr lang="en-US" baseline="30000" dirty="0"/>
              <a:t>-2</a:t>
            </a:r>
            <a:r>
              <a:rPr lang="en-US" dirty="0"/>
              <a:t> at 500</a:t>
            </a:r>
            <a:r>
              <a:rPr lang="en-US" baseline="30000" dirty="0"/>
              <a:t>o</a:t>
            </a:r>
            <a:r>
              <a:rPr lang="en-US" dirty="0"/>
              <a:t>C.  In an experiment, 0.50 </a:t>
            </a:r>
            <a:r>
              <a:rPr lang="en-US" dirty="0" err="1"/>
              <a:t>mol</a:t>
            </a:r>
            <a:r>
              <a:rPr lang="en-US" dirty="0"/>
              <a:t> of N</a:t>
            </a:r>
            <a:r>
              <a:rPr lang="en-US" baseline="-25000" dirty="0"/>
              <a:t>2</a:t>
            </a:r>
            <a:r>
              <a:rPr lang="en-US" dirty="0"/>
              <a:t>(g), 1.0×10</a:t>
            </a:r>
            <a:r>
              <a:rPr lang="en-US" baseline="30000" dirty="0"/>
              <a:t>-2</a:t>
            </a:r>
            <a:r>
              <a:rPr lang="en-US" dirty="0"/>
              <a:t> </a:t>
            </a:r>
            <a:r>
              <a:rPr lang="en-US" dirty="0" err="1"/>
              <a:t>mol</a:t>
            </a:r>
            <a:r>
              <a:rPr lang="en-US" dirty="0"/>
              <a:t> of H</a:t>
            </a:r>
            <a:r>
              <a:rPr lang="en-US" baseline="-25000" dirty="0"/>
              <a:t>2</a:t>
            </a:r>
            <a:r>
              <a:rPr lang="en-US" dirty="0"/>
              <a:t>(g), and 1.0×10</a:t>
            </a:r>
            <a:r>
              <a:rPr lang="en-US" baseline="30000" dirty="0"/>
              <a:t>-4</a:t>
            </a:r>
            <a:r>
              <a:rPr lang="en-US" dirty="0"/>
              <a:t> </a:t>
            </a:r>
            <a:r>
              <a:rPr lang="en-US" dirty="0" err="1"/>
              <a:t>mol</a:t>
            </a:r>
            <a:r>
              <a:rPr lang="en-US" dirty="0"/>
              <a:t> of NH</a:t>
            </a:r>
            <a:r>
              <a:rPr lang="en-US" baseline="-25000" dirty="0"/>
              <a:t>3</a:t>
            </a:r>
            <a:r>
              <a:rPr lang="en-US" dirty="0"/>
              <a:t>(g) are mixed at 500</a:t>
            </a:r>
            <a:r>
              <a:rPr lang="en-US" baseline="30000" dirty="0"/>
              <a:t>o</a:t>
            </a:r>
            <a:r>
              <a:rPr lang="en-US" dirty="0"/>
              <a:t>C in a 1.0 L flask.  In which direction will the system proceed to reach equilibrium? </a:t>
            </a:r>
          </a:p>
        </p:txBody>
      </p:sp>
    </p:spTree>
    <p:extLst>
      <p:ext uri="{BB962C8B-B14F-4D97-AF65-F5344CB8AC3E}">
        <p14:creationId xmlns:p14="http://schemas.microsoft.com/office/powerpoint/2010/main" val="218163954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2"/>
          <a:stretch>
            <a:fillRect/>
          </a:stretch>
        </p:blipFill>
        <p:spPr>
          <a:xfrm>
            <a:off x="1752600" y="26377"/>
            <a:ext cx="8705361" cy="2895600"/>
          </a:xfrm>
          <a:prstGeom prst="rect">
            <a:avLst/>
          </a:prstGeom>
        </p:spPr>
      </p:pic>
      <p:pic>
        <p:nvPicPr>
          <p:cNvPr id="6" name="Picture 5"/>
          <p:cNvPicPr>
            <a:picLocks noChangeAspect="1"/>
          </p:cNvPicPr>
          <p:nvPr/>
        </p:nvPicPr>
        <p:blipFill>
          <a:blip r:embed="rId3"/>
          <a:stretch>
            <a:fillRect/>
          </a:stretch>
        </p:blipFill>
        <p:spPr>
          <a:xfrm>
            <a:off x="1752600" y="3200400"/>
            <a:ext cx="8668208" cy="1905000"/>
          </a:xfrm>
          <a:prstGeom prst="rect">
            <a:avLst/>
          </a:prstGeom>
        </p:spPr>
      </p:pic>
    </p:spTree>
    <p:extLst>
      <p:ext uri="{BB962C8B-B14F-4D97-AF65-F5344CB8AC3E}">
        <p14:creationId xmlns:p14="http://schemas.microsoft.com/office/powerpoint/2010/main" val="120259941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1219200" y="762000"/>
            <a:ext cx="10353255" cy="5181600"/>
          </a:xfrm>
          <a:prstGeom prst="rect">
            <a:avLst/>
          </a:prstGeom>
        </p:spPr>
      </p:pic>
    </p:spTree>
    <p:extLst>
      <p:ext uri="{BB962C8B-B14F-4D97-AF65-F5344CB8AC3E}">
        <p14:creationId xmlns:p14="http://schemas.microsoft.com/office/powerpoint/2010/main" val="34458320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
            <a:ext cx="10972800" cy="1066800"/>
          </a:xfrm>
        </p:spPr>
        <p:txBody>
          <a:bodyPr>
            <a:noAutofit/>
          </a:bodyPr>
          <a:lstStyle/>
          <a:p>
            <a:r>
              <a:rPr lang="en-US" sz="3600" dirty="0"/>
              <a:t>Consider: moles/liter must be used for aqueous systems, but they can also be used for gases</a:t>
            </a:r>
          </a:p>
        </p:txBody>
      </p:sp>
      <p:sp>
        <p:nvSpPr>
          <p:cNvPr id="3" name="Content Placeholder 2"/>
          <p:cNvSpPr>
            <a:spLocks noGrp="1"/>
          </p:cNvSpPr>
          <p:nvPr>
            <p:ph idx="1"/>
          </p:nvPr>
        </p:nvSpPr>
        <p:spPr>
          <a:xfrm>
            <a:off x="152400" y="1143000"/>
            <a:ext cx="11963400" cy="5486400"/>
          </a:xfrm>
        </p:spPr>
        <p:txBody>
          <a:bodyPr>
            <a:normAutofit/>
          </a:bodyPr>
          <a:lstStyle/>
          <a:p>
            <a:pPr marL="0" lvl="0" indent="0">
              <a:buNone/>
            </a:pPr>
            <a:r>
              <a:rPr lang="en-US" sz="2600" dirty="0"/>
              <a:t>At a 298 K, a 3.0-L flask contains 2.4 </a:t>
            </a:r>
            <a:r>
              <a:rPr lang="en-US" sz="2600" dirty="0" err="1"/>
              <a:t>mol</a:t>
            </a:r>
            <a:r>
              <a:rPr lang="en-US" sz="2600" dirty="0"/>
              <a:t> of Cl</a:t>
            </a:r>
            <a:r>
              <a:rPr lang="en-US" sz="2600" baseline="-25000" dirty="0"/>
              <a:t>2</a:t>
            </a:r>
            <a:r>
              <a:rPr lang="en-US" sz="2600" dirty="0"/>
              <a:t> , 1.0 </a:t>
            </a:r>
            <a:r>
              <a:rPr lang="en-US" sz="2600" dirty="0" err="1"/>
              <a:t>mol</a:t>
            </a:r>
            <a:r>
              <a:rPr lang="en-US" sz="2600" dirty="0"/>
              <a:t> </a:t>
            </a:r>
            <a:r>
              <a:rPr lang="en-US" sz="2600" dirty="0" err="1"/>
              <a:t>NOCl</a:t>
            </a:r>
            <a:r>
              <a:rPr lang="en-US" sz="2600" dirty="0"/>
              <a:t>, and 4.5 x 10</a:t>
            </a:r>
            <a:r>
              <a:rPr lang="en-US" sz="2600" baseline="30000" dirty="0"/>
              <a:t>-3</a:t>
            </a:r>
            <a:r>
              <a:rPr lang="en-US" sz="2600" dirty="0"/>
              <a:t> </a:t>
            </a:r>
            <a:r>
              <a:rPr lang="en-US" sz="2600" dirty="0" err="1"/>
              <a:t>mol</a:t>
            </a:r>
            <a:r>
              <a:rPr lang="en-US" sz="2600" dirty="0"/>
              <a:t> NO. Calculate </a:t>
            </a:r>
            <a:r>
              <a:rPr lang="en-US" sz="2600" dirty="0" err="1"/>
              <a:t>K</a:t>
            </a:r>
            <a:r>
              <a:rPr lang="en-US" sz="2600" baseline="-25000" dirty="0" err="1"/>
              <a:t>eq</a:t>
            </a:r>
            <a:r>
              <a:rPr lang="en-US" sz="2600" baseline="-25000" dirty="0"/>
              <a:t> </a:t>
            </a:r>
            <a:r>
              <a:rPr lang="en-US" sz="2600" dirty="0"/>
              <a:t>at this temperature for the following reaction (assuming the reaction is at equilibrium): </a:t>
            </a:r>
          </a:p>
          <a:p>
            <a:pPr marL="0" indent="0" algn="ctr">
              <a:buNone/>
            </a:pPr>
            <a:r>
              <a:rPr lang="en-US" sz="2600" dirty="0"/>
              <a:t>2 </a:t>
            </a:r>
            <a:r>
              <a:rPr lang="en-US" sz="2600" dirty="0" err="1"/>
              <a:t>NOCl</a:t>
            </a:r>
            <a:r>
              <a:rPr lang="en-US" sz="2600" dirty="0"/>
              <a:t> (g)⇄2 NO (g) + Cl</a:t>
            </a:r>
            <a:r>
              <a:rPr lang="en-US" sz="2600" baseline="-25000" dirty="0"/>
              <a:t>2</a:t>
            </a:r>
            <a:r>
              <a:rPr lang="en-US" sz="2600" dirty="0"/>
              <a:t> (g)</a:t>
            </a:r>
          </a:p>
          <a:p>
            <a:pPr marL="0" lvl="0" indent="0">
              <a:buNone/>
            </a:pPr>
            <a:r>
              <a:rPr lang="en-US" sz="2600" dirty="0"/>
              <a:t>Write an equilibrium expression for the reaction and solve for the value of K</a:t>
            </a:r>
            <a:r>
              <a:rPr lang="en-US" sz="2600" baseline="-25000" dirty="0"/>
              <a:t>c</a:t>
            </a:r>
            <a:r>
              <a:rPr lang="en-US" sz="2600" dirty="0"/>
              <a:t> at 298 K.</a:t>
            </a:r>
          </a:p>
          <a:p>
            <a:pPr marL="0" indent="0">
              <a:buNone/>
            </a:pPr>
            <a:r>
              <a:rPr lang="en-US" sz="2600" dirty="0"/>
              <a:t> </a:t>
            </a:r>
          </a:p>
          <a:p>
            <a:pPr marL="0" indent="0">
              <a:buNone/>
            </a:pPr>
            <a:r>
              <a:rPr lang="en-US" sz="2600" dirty="0"/>
              <a:t> </a:t>
            </a:r>
          </a:p>
          <a:p>
            <a:pPr marL="0" indent="0">
              <a:buNone/>
            </a:pPr>
            <a:endParaRPr lang="en-US" sz="2600" dirty="0"/>
          </a:p>
          <a:p>
            <a:pPr marL="0" indent="0">
              <a:buNone/>
            </a:pPr>
            <a:r>
              <a:rPr lang="en-US" sz="2600" dirty="0"/>
              <a:t> </a:t>
            </a:r>
          </a:p>
          <a:p>
            <a:pPr marL="0" lvl="0" indent="0">
              <a:buNone/>
            </a:pPr>
            <a:r>
              <a:rPr lang="en-US" sz="2600" dirty="0"/>
              <a:t> What does this K</a:t>
            </a:r>
            <a:r>
              <a:rPr lang="en-US" sz="2600" baseline="-25000" dirty="0"/>
              <a:t>c</a:t>
            </a:r>
            <a:r>
              <a:rPr lang="en-US" sz="2600" dirty="0"/>
              <a:t> value tell us about the system at equilibrium?</a:t>
            </a:r>
          </a:p>
          <a:p>
            <a:pPr marL="0" indent="0">
              <a:buNone/>
            </a:pPr>
            <a:endParaRPr lang="en-US" dirty="0"/>
          </a:p>
        </p:txBody>
      </p:sp>
    </p:spTree>
    <p:extLst>
      <p:ext uri="{BB962C8B-B14F-4D97-AF65-F5344CB8AC3E}">
        <p14:creationId xmlns:p14="http://schemas.microsoft.com/office/powerpoint/2010/main" val="147721279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0"/>
            <a:ext cx="8229600" cy="838200"/>
          </a:xfrm>
        </p:spPr>
        <p:txBody>
          <a:bodyPr/>
          <a:lstStyle/>
          <a:p>
            <a:r>
              <a:rPr lang="en-US" dirty="0"/>
              <a:t>Using K to find concentrations</a:t>
            </a:r>
          </a:p>
        </p:txBody>
      </p:sp>
      <p:sp>
        <p:nvSpPr>
          <p:cNvPr id="3" name="Content Placeholder 2"/>
          <p:cNvSpPr>
            <a:spLocks noGrp="1"/>
          </p:cNvSpPr>
          <p:nvPr>
            <p:ph idx="1"/>
          </p:nvPr>
        </p:nvSpPr>
        <p:spPr>
          <a:xfrm>
            <a:off x="304800" y="838200"/>
            <a:ext cx="11582400" cy="5638800"/>
          </a:xfrm>
        </p:spPr>
        <p:txBody>
          <a:bodyPr>
            <a:normAutofit/>
          </a:bodyPr>
          <a:lstStyle/>
          <a:p>
            <a:pPr marL="0" indent="0">
              <a:buNone/>
            </a:pPr>
            <a:r>
              <a:rPr lang="en-US" sz="2800" dirty="0"/>
              <a:t>The reaction: H</a:t>
            </a:r>
            <a:r>
              <a:rPr lang="en-US" sz="2800" baseline="-25000" dirty="0">
                <a:cs typeface="Lucida Sans Unicode"/>
                <a:sym typeface="Wingdings" panose="05000000000000000000" pitchFamily="2" charset="2"/>
              </a:rPr>
              <a:t>2</a:t>
            </a:r>
            <a:r>
              <a:rPr lang="en-US" sz="2800" dirty="0"/>
              <a:t> (g) + F</a:t>
            </a:r>
            <a:r>
              <a:rPr lang="en-US" sz="2800" baseline="-25000" dirty="0">
                <a:cs typeface="Lucida Sans Unicode"/>
                <a:sym typeface="Wingdings" panose="05000000000000000000" pitchFamily="2" charset="2"/>
              </a:rPr>
              <a:t>2</a:t>
            </a:r>
            <a:r>
              <a:rPr lang="en-US" sz="2800" dirty="0"/>
              <a:t> (g)</a:t>
            </a:r>
            <a:r>
              <a:rPr lang="en-US" sz="2800" dirty="0">
                <a:latin typeface="Lucida Sans Unicode"/>
                <a:cs typeface="Lucida Sans Unicode"/>
                <a:sym typeface="Wingdings" panose="05000000000000000000" pitchFamily="2" charset="2"/>
              </a:rPr>
              <a:t>⇄</a:t>
            </a:r>
            <a:r>
              <a:rPr lang="en-US" sz="2800" dirty="0">
                <a:cs typeface="Lucida Sans Unicode"/>
                <a:sym typeface="Wingdings" panose="05000000000000000000" pitchFamily="2" charset="2"/>
              </a:rPr>
              <a:t> 2HF (g)</a:t>
            </a:r>
            <a:r>
              <a:rPr lang="en-US" sz="2800" dirty="0">
                <a:sym typeface="Wingdings" panose="05000000000000000000" pitchFamily="2" charset="2"/>
              </a:rPr>
              <a:t>	</a:t>
            </a:r>
            <a:r>
              <a:rPr lang="en-US" sz="2800" dirty="0"/>
              <a:t>has an equilibrium constant of </a:t>
            </a:r>
            <a:r>
              <a:rPr lang="en-US" sz="2800" i="1" dirty="0"/>
              <a:t>Kc = </a:t>
            </a:r>
            <a:r>
              <a:rPr lang="en-US" sz="2800" dirty="0"/>
              <a:t>16 at 400°C.  </a:t>
            </a:r>
          </a:p>
          <a:p>
            <a:pPr marL="0" indent="0">
              <a:buNone/>
            </a:pPr>
            <a:r>
              <a:rPr lang="en-US" sz="2800" dirty="0"/>
              <a:t>If the system at equilibrium was shown to have [H</a:t>
            </a:r>
            <a:r>
              <a:rPr lang="en-US" sz="2800" baseline="-25000" dirty="0"/>
              <a:t>2</a:t>
            </a:r>
            <a:r>
              <a:rPr lang="en-US" sz="2800" dirty="0"/>
              <a:t>] = [F</a:t>
            </a:r>
            <a:r>
              <a:rPr lang="en-US" sz="2800" baseline="-25000" dirty="0"/>
              <a:t>2</a:t>
            </a:r>
            <a:r>
              <a:rPr lang="en-US" sz="2800" dirty="0"/>
              <a:t>] = 1.0 M, What is the [HF]?</a:t>
            </a:r>
          </a:p>
          <a:p>
            <a:pPr marL="0" indent="0">
              <a:buNone/>
            </a:pPr>
            <a:endParaRPr lang="en-US" sz="2800" dirty="0"/>
          </a:p>
          <a:p>
            <a:pPr marL="0" indent="0">
              <a:buNone/>
            </a:pPr>
            <a:endParaRPr lang="en-US" sz="2800" dirty="0"/>
          </a:p>
          <a:p>
            <a:pPr marL="0" indent="0">
              <a:buNone/>
            </a:pPr>
            <a:endParaRPr lang="en-US" sz="2800" dirty="0"/>
          </a:p>
          <a:p>
            <a:pPr marL="0" indent="0">
              <a:buNone/>
            </a:pPr>
            <a:r>
              <a:rPr lang="en-US" sz="2800" dirty="0"/>
              <a:t>At 400°C, does this reaction favor the products or reactants? How do you know?</a:t>
            </a:r>
          </a:p>
        </p:txBody>
      </p:sp>
    </p:spTree>
    <p:extLst>
      <p:ext uri="{BB962C8B-B14F-4D97-AF65-F5344CB8AC3E}">
        <p14:creationId xmlns:p14="http://schemas.microsoft.com/office/powerpoint/2010/main" val="176127544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idx="1"/>
          </p:nvPr>
        </p:nvSpPr>
        <p:spPr>
          <a:xfrm>
            <a:off x="609600" y="457201"/>
            <a:ext cx="10972800" cy="5668964"/>
          </a:xfrm>
        </p:spPr>
        <p:txBody>
          <a:bodyPr>
            <a:normAutofit/>
          </a:bodyPr>
          <a:lstStyle/>
          <a:p>
            <a:r>
              <a:rPr lang="en-US" dirty="0"/>
              <a:t>Suppose in another reaction of H</a:t>
            </a:r>
            <a:r>
              <a:rPr lang="en-US" baseline="-25000" dirty="0"/>
              <a:t>2</a:t>
            </a:r>
            <a:r>
              <a:rPr lang="en-US" dirty="0"/>
              <a:t>, F</a:t>
            </a:r>
            <a:r>
              <a:rPr lang="en-US" baseline="-25000" dirty="0"/>
              <a:t>2</a:t>
            </a:r>
            <a:r>
              <a:rPr lang="en-US" dirty="0"/>
              <a:t>, and HF, also at 400°C, we increase the concentration of reactants and when equilibrium was reestablished, the new [H</a:t>
            </a:r>
            <a:r>
              <a:rPr lang="en-US" baseline="-25000" dirty="0"/>
              <a:t>2</a:t>
            </a:r>
            <a:r>
              <a:rPr lang="en-US" dirty="0"/>
              <a:t>]= [F</a:t>
            </a:r>
            <a:r>
              <a:rPr lang="en-US" baseline="-25000" dirty="0"/>
              <a:t>2</a:t>
            </a:r>
            <a:r>
              <a:rPr lang="en-US" dirty="0"/>
              <a:t>] = 2.0 M. </a:t>
            </a:r>
          </a:p>
          <a:p>
            <a:r>
              <a:rPr lang="en-US" dirty="0"/>
              <a:t>What would be the [HF] under these circumstances?</a:t>
            </a:r>
          </a:p>
        </p:txBody>
      </p:sp>
    </p:spTree>
    <p:extLst>
      <p:ext uri="{BB962C8B-B14F-4D97-AF65-F5344CB8AC3E}">
        <p14:creationId xmlns:p14="http://schemas.microsoft.com/office/powerpoint/2010/main" val="1829445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609600" y="274638"/>
            <a:ext cx="10972800" cy="792162"/>
          </a:xfrm>
        </p:spPr>
        <p:txBody>
          <a:bodyPr>
            <a:normAutofit/>
          </a:bodyPr>
          <a:lstStyle/>
          <a:p>
            <a:r>
              <a:rPr lang="en-US" sz="3600" b="1" u="sng" noProof="1"/>
              <a:t>Equilibrium position</a:t>
            </a:r>
            <a:endParaRPr lang="en-US" sz="3600" b="1" noProof="1">
              <a:solidFill>
                <a:schemeClr val="tx1"/>
              </a:solidFill>
            </a:endParaRPr>
          </a:p>
        </p:txBody>
      </p:sp>
      <p:sp>
        <p:nvSpPr>
          <p:cNvPr id="4" name="Content Placeholder 3"/>
          <p:cNvSpPr>
            <a:spLocks noGrp="1"/>
          </p:cNvSpPr>
          <p:nvPr>
            <p:ph idx="1"/>
          </p:nvPr>
        </p:nvSpPr>
        <p:spPr>
          <a:xfrm>
            <a:off x="609600" y="1219201"/>
            <a:ext cx="10972800" cy="5257800"/>
          </a:xfrm>
        </p:spPr>
        <p:txBody>
          <a:bodyPr>
            <a:normAutofit/>
          </a:bodyPr>
          <a:lstStyle/>
          <a:p>
            <a:pPr marL="0" indent="0">
              <a:buNone/>
            </a:pPr>
            <a:r>
              <a:rPr lang="en-US" u="sng" noProof="1"/>
              <a:t>Equilibrium position</a:t>
            </a:r>
            <a:r>
              <a:rPr lang="en-US" noProof="1"/>
              <a:t> - a set of equilibrium concentrations that establish a </a:t>
            </a:r>
            <a:r>
              <a:rPr lang="en-US" noProof="1">
                <a:solidFill>
                  <a:srgbClr val="FF0000"/>
                </a:solidFill>
              </a:rPr>
              <a:t>ratio of products to reactants</a:t>
            </a:r>
            <a:r>
              <a:rPr lang="en-US" noProof="1"/>
              <a:t> equal to the equilibrium constant.</a:t>
            </a:r>
            <a:br>
              <a:rPr lang="en-US" noProof="1"/>
            </a:br>
            <a:r>
              <a:rPr lang="en-US" noProof="1"/>
              <a:t>Can be visualized on a number line.</a:t>
            </a:r>
            <a:br>
              <a:rPr lang="en-US" noProof="1"/>
            </a:br>
            <a:r>
              <a:rPr lang="en-US" noProof="1"/>
              <a:t>     </a:t>
            </a:r>
            <a:br>
              <a:rPr lang="en-US" noProof="1"/>
            </a:br>
            <a:br>
              <a:rPr lang="en-US" noProof="1"/>
            </a:br>
            <a:endParaRPr lang="en-US" noProof="1"/>
          </a:p>
          <a:p>
            <a:pPr marL="0" indent="0">
              <a:buNone/>
            </a:pPr>
            <a:r>
              <a:rPr lang="en-US" noProof="1"/>
              <a:t>What is true when K=1?</a:t>
            </a:r>
            <a:br>
              <a:rPr lang="en-US" noProof="1"/>
            </a:br>
            <a:r>
              <a:rPr lang="en-US" noProof="1"/>
              <a:t>- The </a:t>
            </a:r>
            <a:r>
              <a:rPr lang="en-US" noProof="1">
                <a:solidFill>
                  <a:srgbClr val="FF0000"/>
                </a:solidFill>
              </a:rPr>
              <a:t>SIZE</a:t>
            </a:r>
            <a:r>
              <a:rPr lang="en-US" noProof="1"/>
              <a:t> of the K value can tell you something about the reaction</a:t>
            </a:r>
            <a:endParaRPr lang="en-US" dirty="0"/>
          </a:p>
        </p:txBody>
      </p:sp>
      <p:cxnSp>
        <p:nvCxnSpPr>
          <p:cNvPr id="3" name="Straight Connector 2"/>
          <p:cNvCxnSpPr/>
          <p:nvPr/>
        </p:nvCxnSpPr>
        <p:spPr>
          <a:xfrm>
            <a:off x="1371600" y="3886200"/>
            <a:ext cx="8686800" cy="0"/>
          </a:xfrm>
          <a:prstGeom prst="line">
            <a:avLst/>
          </a:prstGeom>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6400161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2"/>
          <p:cNvSpPr>
            <a:spLocks noGrp="1" noChangeArrowheads="1"/>
          </p:cNvSpPr>
          <p:nvPr>
            <p:ph idx="1"/>
          </p:nvPr>
        </p:nvSpPr>
        <p:spPr>
          <a:xfrm>
            <a:off x="304800" y="152400"/>
            <a:ext cx="11353800" cy="6248400"/>
          </a:xfrm>
        </p:spPr>
        <p:txBody>
          <a:bodyPr>
            <a:noAutofit/>
          </a:bodyPr>
          <a:lstStyle/>
          <a:p>
            <a:pPr algn="l"/>
            <a:r>
              <a:rPr lang="en-US" dirty="0"/>
              <a:t>For a reaction with K&gt;1, this means that there are more </a:t>
            </a:r>
            <a:r>
              <a:rPr lang="en-US" dirty="0">
                <a:solidFill>
                  <a:srgbClr val="FF0000"/>
                </a:solidFill>
              </a:rPr>
              <a:t>PRODUCTS</a:t>
            </a:r>
            <a:r>
              <a:rPr lang="en-US" dirty="0"/>
              <a:t> than </a:t>
            </a:r>
            <a:r>
              <a:rPr lang="en-US" dirty="0">
                <a:solidFill>
                  <a:srgbClr val="FF0000"/>
                </a:solidFill>
              </a:rPr>
              <a:t>REACTANTS</a:t>
            </a:r>
            <a:r>
              <a:rPr lang="en-US" dirty="0"/>
              <a:t> at equilibrium. This reaction is said to ‘favor the </a:t>
            </a:r>
            <a:r>
              <a:rPr lang="en-US" dirty="0">
                <a:solidFill>
                  <a:srgbClr val="FF0000"/>
                </a:solidFill>
              </a:rPr>
              <a:t>products</a:t>
            </a:r>
            <a:r>
              <a:rPr lang="en-US" dirty="0"/>
              <a:t>’ at equilibrium.</a:t>
            </a:r>
          </a:p>
          <a:p>
            <a:pPr marL="0" indent="0" algn="l">
              <a:buNone/>
            </a:pPr>
            <a:endParaRPr lang="en-US" sz="1800" dirty="0"/>
          </a:p>
          <a:p>
            <a:pPr algn="l"/>
            <a:r>
              <a:rPr lang="en-US" dirty="0"/>
              <a:t>For a reaction with K&lt;1, this means that there are more </a:t>
            </a:r>
            <a:r>
              <a:rPr lang="en-US" dirty="0">
                <a:solidFill>
                  <a:srgbClr val="FF0000"/>
                </a:solidFill>
              </a:rPr>
              <a:t>REACTANTS</a:t>
            </a:r>
            <a:r>
              <a:rPr lang="en-US" dirty="0"/>
              <a:t> than </a:t>
            </a:r>
            <a:r>
              <a:rPr lang="en-US" dirty="0">
                <a:solidFill>
                  <a:srgbClr val="FF0000"/>
                </a:solidFill>
              </a:rPr>
              <a:t>PRODUCTS</a:t>
            </a:r>
            <a:r>
              <a:rPr lang="en-US" dirty="0"/>
              <a:t> at equilibrium. This reaction is said to ‘favor the </a:t>
            </a:r>
            <a:r>
              <a:rPr lang="en-US" dirty="0">
                <a:solidFill>
                  <a:srgbClr val="FF0000"/>
                </a:solidFill>
              </a:rPr>
              <a:t>reactants</a:t>
            </a:r>
            <a:r>
              <a:rPr lang="en-US" dirty="0"/>
              <a:t>’ at equilibrium.</a:t>
            </a:r>
          </a:p>
          <a:p>
            <a:pPr marL="0" indent="0" algn="l">
              <a:buNone/>
            </a:pPr>
            <a:endParaRPr lang="en-US" sz="1800" dirty="0"/>
          </a:p>
          <a:p>
            <a:pPr algn="l"/>
            <a:r>
              <a:rPr lang="en-US" noProof="1"/>
              <a:t>Kinetic Control: The </a:t>
            </a:r>
            <a:r>
              <a:rPr lang="en-US" noProof="1">
                <a:solidFill>
                  <a:srgbClr val="FF0000"/>
                </a:solidFill>
              </a:rPr>
              <a:t>size</a:t>
            </a:r>
            <a:r>
              <a:rPr lang="en-US" noProof="1"/>
              <a:t> of </a:t>
            </a:r>
            <a:r>
              <a:rPr lang="en-US" i="1" noProof="1"/>
              <a:t>K</a:t>
            </a:r>
            <a:r>
              <a:rPr lang="en-US" noProof="1"/>
              <a:t> and the </a:t>
            </a:r>
            <a:r>
              <a:rPr lang="en-US" noProof="1">
                <a:solidFill>
                  <a:srgbClr val="FF0000"/>
                </a:solidFill>
              </a:rPr>
              <a:t>time</a:t>
            </a:r>
            <a:r>
              <a:rPr lang="en-US" noProof="1"/>
              <a:t> needed to reach equilibrium are </a:t>
            </a:r>
            <a:r>
              <a:rPr lang="en-US" u="sng" noProof="1"/>
              <a:t>not</a:t>
            </a:r>
            <a:r>
              <a:rPr lang="en-US" noProof="1"/>
              <a:t> directly related. (example…. 2 Fe + 3 O</a:t>
            </a:r>
            <a:r>
              <a:rPr lang="en-US" baseline="-25000" noProof="1"/>
              <a:t>2</a:t>
            </a:r>
            <a:r>
              <a:rPr lang="en-US" noProof="1"/>
              <a:t> </a:t>
            </a:r>
            <a:r>
              <a:rPr lang="en-US" noProof="1">
                <a:latin typeface="Cambria Math" panose="02040503050406030204" pitchFamily="18" charset="0"/>
                <a:ea typeface="Cambria Math" panose="02040503050406030204" pitchFamily="18" charset="0"/>
              </a:rPr>
              <a:t>⇌ </a:t>
            </a:r>
            <a:r>
              <a:rPr lang="en-US" noProof="1">
                <a:ea typeface="Cambria Math" panose="02040503050406030204" pitchFamily="18" charset="0"/>
              </a:rPr>
              <a:t>Fe</a:t>
            </a:r>
            <a:r>
              <a:rPr lang="en-US" baseline="-25000" noProof="1">
                <a:ea typeface="Cambria Math" panose="02040503050406030204" pitchFamily="18" charset="0"/>
              </a:rPr>
              <a:t>2</a:t>
            </a:r>
            <a:r>
              <a:rPr lang="en-US" noProof="1">
                <a:ea typeface="Cambria Math" panose="02040503050406030204" pitchFamily="18" charset="0"/>
              </a:rPr>
              <a:t>O</a:t>
            </a:r>
            <a:r>
              <a:rPr lang="en-US" baseline="-25000" noProof="1">
                <a:ea typeface="Cambria Math" panose="02040503050406030204" pitchFamily="18" charset="0"/>
              </a:rPr>
              <a:t>3</a:t>
            </a:r>
            <a:r>
              <a:rPr lang="en-US" noProof="1">
                <a:ea typeface="Cambria Math" panose="02040503050406030204" pitchFamily="18" charset="0"/>
              </a:rPr>
              <a:t>)</a:t>
            </a:r>
            <a:endParaRPr lang="en-US" noProof="1"/>
          </a:p>
          <a:p>
            <a:pPr marL="0" indent="0" algn="l">
              <a:buNone/>
            </a:pPr>
            <a:r>
              <a:rPr lang="en-US" sz="2000" noProof="1"/>
              <a:t> </a:t>
            </a:r>
          </a:p>
          <a:p>
            <a:pPr algn="l"/>
            <a:r>
              <a:rPr lang="en-US" i="1" noProof="1"/>
              <a:t>K</a:t>
            </a:r>
            <a:r>
              <a:rPr lang="en-US" noProof="1"/>
              <a:t> values of two reactions cannot always be directly compared because stoichiometry differences.</a:t>
            </a:r>
            <a:endParaRPr lang="en-US" sz="2800" noProof="1">
              <a:solidFill>
                <a:schemeClr val="tx1"/>
              </a:solidFill>
              <a:effectLst>
                <a:outerShdw blurRad="38100" dist="38100" dir="2700000" algn="tl">
                  <a:srgbClr val="FFFFFF"/>
                </a:outerShdw>
              </a:effectLst>
            </a:endParaRPr>
          </a:p>
        </p:txBody>
      </p:sp>
    </p:spTree>
    <p:extLst>
      <p:ext uri="{BB962C8B-B14F-4D97-AF65-F5344CB8AC3E}">
        <p14:creationId xmlns:p14="http://schemas.microsoft.com/office/powerpoint/2010/main" val="161745462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530" name="Picture 1027"/>
          <p:cNvPicPr>
            <a:picLocks noChangeAspect="1" noChangeArrowheads="1"/>
          </p:cNvPicPr>
          <p:nvPr/>
        </p:nvPicPr>
        <p:blipFill rotWithShape="1">
          <a:blip r:embed="rId3" cstate="print"/>
          <a:srcRect t="30000" b="32222"/>
          <a:stretch/>
        </p:blipFill>
        <p:spPr bwMode="auto">
          <a:xfrm>
            <a:off x="2667000" y="152400"/>
            <a:ext cx="7696200" cy="2180590"/>
          </a:xfrm>
          <a:prstGeom prst="rect">
            <a:avLst/>
          </a:prstGeom>
          <a:noFill/>
          <a:ln w="9525">
            <a:noFill/>
            <a:miter lim="800000"/>
            <a:headEnd/>
            <a:tailEnd/>
          </a:ln>
        </p:spPr>
      </p:pic>
      <p:sp>
        <p:nvSpPr>
          <p:cNvPr id="22531" name="Rectangle 1028"/>
          <p:cNvSpPr>
            <a:spLocks noChangeArrowheads="1"/>
          </p:cNvSpPr>
          <p:nvPr/>
        </p:nvSpPr>
        <p:spPr bwMode="auto">
          <a:xfrm>
            <a:off x="457200" y="2438400"/>
            <a:ext cx="11353800" cy="3770263"/>
          </a:xfrm>
          <a:prstGeom prst="rect">
            <a:avLst/>
          </a:prstGeom>
          <a:noFill/>
          <a:ln w="9525">
            <a:noFill/>
            <a:miter lim="800000"/>
            <a:headEnd/>
            <a:tailEnd/>
          </a:ln>
        </p:spPr>
        <p:txBody>
          <a:bodyPr wrap="square">
            <a:spAutoFit/>
          </a:bodyPr>
          <a:lstStyle/>
          <a:p>
            <a:pPr>
              <a:spcBef>
                <a:spcPts val="500"/>
              </a:spcBef>
              <a:spcAft>
                <a:spcPts val="500"/>
              </a:spcAft>
            </a:pPr>
            <a:r>
              <a:rPr lang="en-US" sz="2800" dirty="0"/>
              <a:t>If the value for </a:t>
            </a:r>
            <a:r>
              <a:rPr lang="en-US" sz="2800" i="1" dirty="0"/>
              <a:t>K</a:t>
            </a:r>
            <a:r>
              <a:rPr lang="en-US" sz="2800" dirty="0"/>
              <a:t> is very </a:t>
            </a:r>
            <a:r>
              <a:rPr lang="en-US" sz="2800" dirty="0">
                <a:solidFill>
                  <a:srgbClr val="FF0000"/>
                </a:solidFill>
              </a:rPr>
              <a:t>small</a:t>
            </a:r>
            <a:r>
              <a:rPr lang="en-US" sz="2800" dirty="0"/>
              <a:t>, reactants are present in great excess at equilibrium and the reaction </a:t>
            </a:r>
            <a:r>
              <a:rPr lang="en-US" sz="2800" dirty="0">
                <a:solidFill>
                  <a:srgbClr val="FF0000"/>
                </a:solidFill>
              </a:rPr>
              <a:t>hardly occurs at all</a:t>
            </a:r>
            <a:r>
              <a:rPr lang="en-US" sz="2800" dirty="0"/>
              <a:t>.</a:t>
            </a:r>
          </a:p>
          <a:p>
            <a:pPr>
              <a:spcBef>
                <a:spcPts val="500"/>
              </a:spcBef>
              <a:spcAft>
                <a:spcPts val="500"/>
              </a:spcAft>
            </a:pPr>
            <a:r>
              <a:rPr lang="en-US" sz="2800" dirty="0"/>
              <a:t>If the value for </a:t>
            </a:r>
            <a:r>
              <a:rPr lang="en-US" sz="2800" i="1" dirty="0"/>
              <a:t>K</a:t>
            </a:r>
            <a:r>
              <a:rPr lang="en-US" sz="2800" dirty="0"/>
              <a:t> is very </a:t>
            </a:r>
            <a:r>
              <a:rPr lang="en-US" sz="2800" dirty="0">
                <a:solidFill>
                  <a:srgbClr val="FF0000"/>
                </a:solidFill>
              </a:rPr>
              <a:t>large</a:t>
            </a:r>
            <a:r>
              <a:rPr lang="en-US" sz="2800" dirty="0"/>
              <a:t>, products are present in great excess at equilibrium, and the reaction is said to </a:t>
            </a:r>
            <a:r>
              <a:rPr lang="en-US" sz="2800" dirty="0">
                <a:solidFill>
                  <a:srgbClr val="FF0000"/>
                </a:solidFill>
              </a:rPr>
              <a:t>go to completion</a:t>
            </a:r>
            <a:r>
              <a:rPr lang="en-US" sz="2800" dirty="0"/>
              <a:t>. </a:t>
            </a:r>
            <a:r>
              <a:rPr lang="en-US" dirty="0">
                <a:solidFill>
                  <a:srgbClr val="FF0000"/>
                </a:solidFill>
              </a:rPr>
              <a:t>(Remember that a large K does not necessarily mean the reaction is fast!)</a:t>
            </a:r>
          </a:p>
          <a:p>
            <a:pPr>
              <a:spcBef>
                <a:spcPts val="500"/>
              </a:spcBef>
              <a:spcAft>
                <a:spcPts val="500"/>
              </a:spcAft>
            </a:pPr>
            <a:r>
              <a:rPr lang="en-US" sz="2800" dirty="0"/>
              <a:t>Values for </a:t>
            </a:r>
            <a:r>
              <a:rPr lang="en-US" sz="2800" i="1" dirty="0"/>
              <a:t>K</a:t>
            </a:r>
            <a:r>
              <a:rPr lang="en-US" sz="2800" dirty="0"/>
              <a:t> in the range of 0.001 to 1000 describe reactions where reactants and products are </a:t>
            </a:r>
            <a:r>
              <a:rPr lang="en-US" sz="2800" dirty="0">
                <a:solidFill>
                  <a:srgbClr val="FF0000"/>
                </a:solidFill>
              </a:rPr>
              <a:t>both present </a:t>
            </a:r>
            <a:r>
              <a:rPr lang="en-US" sz="2800" dirty="0"/>
              <a:t>in significant quantities at equilibrium.</a:t>
            </a:r>
          </a:p>
          <a:p>
            <a:pPr>
              <a:spcBef>
                <a:spcPts val="500"/>
              </a:spcBef>
              <a:spcAft>
                <a:spcPts val="500"/>
              </a:spcAft>
            </a:pPr>
            <a:r>
              <a:rPr lang="en-US" sz="2800" dirty="0"/>
              <a:t>The size of K determines how to </a:t>
            </a:r>
            <a:r>
              <a:rPr lang="en-US" sz="2800" dirty="0">
                <a:solidFill>
                  <a:srgbClr val="FF0000"/>
                </a:solidFill>
              </a:rPr>
              <a:t>analyze</a:t>
            </a:r>
            <a:r>
              <a:rPr lang="en-US" sz="2800" dirty="0"/>
              <a:t> an equilibrium problem!</a:t>
            </a:r>
          </a:p>
        </p:txBody>
      </p:sp>
    </p:spTree>
    <p:extLst>
      <p:ext uri="{BB962C8B-B14F-4D97-AF65-F5344CB8AC3E}">
        <p14:creationId xmlns:p14="http://schemas.microsoft.com/office/powerpoint/2010/main" val="363367606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a:xfrm>
            <a:off x="533400" y="1447800"/>
            <a:ext cx="10972800" cy="2286000"/>
          </a:xfrm>
        </p:spPr>
        <p:txBody>
          <a:bodyPr>
            <a:normAutofit fontScale="90000"/>
          </a:bodyPr>
          <a:lstStyle/>
          <a:p>
            <a:pPr algn="l">
              <a:defRPr/>
            </a:pPr>
            <a:r>
              <a:rPr lang="en-US" sz="3100" noProof="1"/>
              <a:t>Consider the reaction 2NOCl(</a:t>
            </a:r>
            <a:r>
              <a:rPr lang="en-US" sz="3100" i="1" noProof="1"/>
              <a:t>g</a:t>
            </a:r>
            <a:r>
              <a:rPr lang="en-US" sz="3100" noProof="1"/>
              <a:t>) </a:t>
            </a:r>
            <a:r>
              <a:rPr lang="en-US" sz="3100" noProof="1">
                <a:sym typeface="Wingdings 3" pitchFamily="18" charset="2"/>
              </a:rPr>
              <a:t></a:t>
            </a:r>
            <a:r>
              <a:rPr lang="en-US" sz="3100" noProof="1"/>
              <a:t> 2NO(</a:t>
            </a:r>
            <a:r>
              <a:rPr lang="en-US" sz="3100" i="1" noProof="1"/>
              <a:t>g</a:t>
            </a:r>
            <a:r>
              <a:rPr lang="en-US" sz="3100" noProof="1"/>
              <a:t>) + Cl</a:t>
            </a:r>
            <a:r>
              <a:rPr lang="en-US" sz="3100" baseline="-25000" noProof="1"/>
              <a:t>2</a:t>
            </a:r>
            <a:r>
              <a:rPr lang="en-US" sz="3100" noProof="1"/>
              <a:t>(</a:t>
            </a:r>
            <a:r>
              <a:rPr lang="en-US" sz="3100" i="1" noProof="1"/>
              <a:t>g</a:t>
            </a:r>
            <a:r>
              <a:rPr lang="en-US" sz="3100" noProof="1"/>
              <a:t>) at 35</a:t>
            </a:r>
            <a:r>
              <a:rPr lang="en-US" sz="3100" baseline="30000" noProof="1"/>
              <a:t>o</a:t>
            </a:r>
            <a:r>
              <a:rPr lang="en-US" sz="3100" noProof="1"/>
              <a:t>C. </a:t>
            </a:r>
            <a:r>
              <a:rPr lang="en-US" sz="3100" dirty="0"/>
              <a:t>Various amounts of </a:t>
            </a:r>
            <a:r>
              <a:rPr lang="en-US" sz="3100" dirty="0" err="1"/>
              <a:t>NOCl</a:t>
            </a:r>
            <a:r>
              <a:rPr lang="en-US" sz="3100" dirty="0"/>
              <a:t>(</a:t>
            </a:r>
            <a:r>
              <a:rPr lang="en-US" sz="3100" i="1" dirty="0"/>
              <a:t>g</a:t>
            </a:r>
            <a:r>
              <a:rPr lang="en-US" sz="3100" dirty="0"/>
              <a:t>), NO(</a:t>
            </a:r>
            <a:r>
              <a:rPr lang="en-US" sz="3100" i="1" dirty="0"/>
              <a:t>g</a:t>
            </a:r>
            <a:r>
              <a:rPr lang="en-US" sz="3100" dirty="0"/>
              <a:t>), and Cl</a:t>
            </a:r>
            <a:r>
              <a:rPr lang="en-US" sz="3100" baseline="-25000" dirty="0"/>
              <a:t>2</a:t>
            </a:r>
            <a:r>
              <a:rPr lang="en-US" sz="3100" dirty="0"/>
              <a:t>(</a:t>
            </a:r>
            <a:r>
              <a:rPr lang="en-US" sz="3100" i="1" dirty="0"/>
              <a:t>g</a:t>
            </a:r>
            <a:r>
              <a:rPr lang="en-US" sz="3100" dirty="0"/>
              <a:t>) are mixed in a 10.0 L flask. </a:t>
            </a:r>
            <a:r>
              <a:rPr lang="en-US" sz="3100" noProof="1"/>
              <a:t>After the system has reached equilibrium the concentrations are observed to</a:t>
            </a:r>
            <a:r>
              <a:rPr lang="en-US" sz="3100" b="1" noProof="1">
                <a:effectLst>
                  <a:outerShdw blurRad="38100" dist="38100" dir="2700000" algn="tl">
                    <a:srgbClr val="FFFFFF"/>
                  </a:outerShdw>
                </a:effectLst>
              </a:rPr>
              <a:t> </a:t>
            </a:r>
            <a:r>
              <a:rPr lang="en-US" sz="3100" noProof="1"/>
              <a:t>be:</a:t>
            </a:r>
            <a:br>
              <a:rPr lang="en-US" sz="3100" noProof="1"/>
            </a:br>
            <a:r>
              <a:rPr lang="en-US" sz="3100" noProof="1"/>
              <a:t>           [Cl</a:t>
            </a:r>
            <a:r>
              <a:rPr lang="en-US" sz="3100" baseline="-25000" noProof="1"/>
              <a:t>2</a:t>
            </a:r>
            <a:r>
              <a:rPr lang="en-US" sz="3100" noProof="1"/>
              <a:t>] = 1.52 x 10</a:t>
            </a:r>
            <a:r>
              <a:rPr lang="en-US" sz="3100" baseline="30000" noProof="1"/>
              <a:t>-1 </a:t>
            </a:r>
            <a:r>
              <a:rPr lang="en-US" sz="3100" i="1" noProof="1"/>
              <a:t>M</a:t>
            </a:r>
            <a:br>
              <a:rPr lang="en-US" sz="3100" noProof="1"/>
            </a:br>
            <a:r>
              <a:rPr lang="en-US" sz="3100" noProof="1"/>
              <a:t>	 [NO] = 4.00 x 10</a:t>
            </a:r>
            <a:r>
              <a:rPr lang="en-US" sz="3100" baseline="30000" noProof="1"/>
              <a:t>-3</a:t>
            </a:r>
            <a:r>
              <a:rPr lang="en-US" sz="3100" noProof="1"/>
              <a:t> </a:t>
            </a:r>
            <a:r>
              <a:rPr lang="en-US" sz="3100" i="1" noProof="1"/>
              <a:t>M</a:t>
            </a:r>
            <a:br>
              <a:rPr lang="en-US" sz="3100" noProof="1"/>
            </a:br>
            <a:r>
              <a:rPr lang="en-US" sz="3100" noProof="1"/>
              <a:t>	[NOCl] = 3.96 x 10</a:t>
            </a:r>
            <a:r>
              <a:rPr lang="en-US" sz="3100" baseline="30000" noProof="1"/>
              <a:t>-1</a:t>
            </a:r>
            <a:r>
              <a:rPr lang="en-US" sz="3100" noProof="1"/>
              <a:t> </a:t>
            </a:r>
            <a:r>
              <a:rPr lang="en-US" sz="3100" i="1" noProof="1"/>
              <a:t>M</a:t>
            </a:r>
            <a:br>
              <a:rPr lang="en-US" sz="3100" noProof="1"/>
            </a:br>
            <a:r>
              <a:rPr lang="en-US" sz="3100" noProof="1"/>
              <a:t>a. Calculate the value of </a:t>
            </a:r>
            <a:r>
              <a:rPr lang="en-US" sz="3100" i="1" noProof="1"/>
              <a:t>K</a:t>
            </a:r>
            <a:r>
              <a:rPr lang="en-US" sz="3100" noProof="1"/>
              <a:t> for this system at 35</a:t>
            </a:r>
            <a:r>
              <a:rPr lang="en-US" sz="3100" baseline="30000" noProof="1"/>
              <a:t>o</a:t>
            </a:r>
            <a:r>
              <a:rPr lang="en-US" sz="3100" noProof="1"/>
              <a:t>C. </a:t>
            </a:r>
            <a:br>
              <a:rPr lang="en-US" sz="3100" noProof="1"/>
            </a:br>
            <a:r>
              <a:rPr lang="en-US" sz="3100" noProof="1"/>
              <a:t>b. What can we conclude about the reaction progress from the value of </a:t>
            </a:r>
            <a:r>
              <a:rPr lang="en-US" sz="3100" i="1" noProof="1"/>
              <a:t>K</a:t>
            </a:r>
            <a:r>
              <a:rPr lang="en-US" sz="3100" noProof="1"/>
              <a:t>?</a:t>
            </a:r>
            <a:br>
              <a:rPr lang="en-US" sz="2800" noProof="1"/>
            </a:br>
            <a:br>
              <a:rPr lang="en-US" sz="2800" noProof="1"/>
            </a:br>
            <a:br>
              <a:rPr lang="en-US" noProof="1">
                <a:solidFill>
                  <a:schemeClr val="tx1"/>
                </a:solidFill>
                <a:effectLst>
                  <a:outerShdw blurRad="38100" dist="38100" dir="2700000" algn="tl">
                    <a:srgbClr val="FFFFFF"/>
                  </a:outerShdw>
                </a:effectLst>
              </a:rPr>
            </a:br>
            <a:endParaRPr lang="en-US" noProof="1">
              <a:solidFill>
                <a:schemeClr val="tx1"/>
              </a:solidFill>
              <a:effectLst>
                <a:outerShdw blurRad="38100" dist="38100" dir="2700000" algn="tl">
                  <a:srgbClr val="FFFFFF"/>
                </a:outerShdw>
              </a:effectLst>
            </a:endParaRPr>
          </a:p>
        </p:txBody>
      </p:sp>
      <p:sp>
        <p:nvSpPr>
          <p:cNvPr id="17411" name="Rectangle 3"/>
          <p:cNvSpPr>
            <a:spLocks noGrp="1" noChangeArrowheads="1"/>
          </p:cNvSpPr>
          <p:nvPr>
            <p:ph type="body" idx="1"/>
          </p:nvPr>
        </p:nvSpPr>
        <p:spPr>
          <a:xfrm>
            <a:off x="2640012" y="5486401"/>
            <a:ext cx="6400800" cy="1219200"/>
          </a:xfrm>
        </p:spPr>
        <p:txBody>
          <a:bodyPr>
            <a:normAutofit fontScale="55000" lnSpcReduction="20000"/>
          </a:bodyPr>
          <a:lstStyle/>
          <a:p>
            <a:pPr>
              <a:buFontTx/>
              <a:buNone/>
              <a:defRPr/>
            </a:pPr>
            <a:endParaRPr lang="en-US" sz="2800" noProof="1">
              <a:effectLst>
                <a:outerShdw blurRad="38100" dist="38100" dir="2700000" algn="tl">
                  <a:srgbClr val="FFFFFF"/>
                </a:outerShdw>
              </a:effectLst>
            </a:endParaRPr>
          </a:p>
          <a:p>
            <a:pPr>
              <a:buFontTx/>
              <a:buNone/>
              <a:defRPr/>
            </a:pPr>
            <a:endParaRPr lang="en-US" sz="2800" noProof="1">
              <a:effectLst>
                <a:outerShdw blurRad="38100" dist="38100" dir="2700000" algn="tl">
                  <a:srgbClr val="FFFFFF"/>
                </a:outerShdw>
              </a:effectLst>
            </a:endParaRPr>
          </a:p>
          <a:p>
            <a:pPr>
              <a:buFontTx/>
              <a:buNone/>
              <a:defRPr/>
            </a:pPr>
            <a:endParaRPr lang="en-US" sz="2800" noProof="1">
              <a:effectLst>
                <a:outerShdw blurRad="38100" dist="38100" dir="2700000" algn="tl">
                  <a:srgbClr val="FFFFFF"/>
                </a:outerShdw>
              </a:effectLst>
            </a:endParaRPr>
          </a:p>
          <a:p>
            <a:pPr>
              <a:buFontTx/>
              <a:buNone/>
              <a:defRPr/>
            </a:pPr>
            <a:br>
              <a:rPr lang="en-US" sz="2800" noProof="1">
                <a:effectLst>
                  <a:outerShdw blurRad="38100" dist="38100" dir="2700000" algn="tl">
                    <a:srgbClr val="FFFFFF"/>
                  </a:outerShdw>
                </a:effectLst>
              </a:rPr>
            </a:br>
            <a:r>
              <a:rPr lang="en-US" sz="2800" noProof="1">
                <a:effectLst>
                  <a:outerShdw blurRad="38100" dist="38100" dir="2700000" algn="tl">
                    <a:srgbClr val="FFFFFF"/>
                  </a:outerShdw>
                </a:effectLst>
              </a:rPr>
              <a:t> </a:t>
            </a:r>
            <a:r>
              <a:rPr lang="en-US" sz="2800" noProof="1"/>
              <a:t>= </a:t>
            </a:r>
            <a:r>
              <a:rPr lang="en-US" sz="2800" noProof="1">
                <a:solidFill>
                  <a:schemeClr val="accent2"/>
                </a:solidFill>
              </a:rPr>
              <a:t>1.55 </a:t>
            </a:r>
            <a:r>
              <a:rPr lang="en-US" sz="2800" noProof="1">
                <a:solidFill>
                  <a:schemeClr val="accent2"/>
                </a:solidFill>
                <a:cs typeface="Times New Roman"/>
              </a:rPr>
              <a:t>×</a:t>
            </a:r>
            <a:r>
              <a:rPr lang="en-US" sz="2800" noProof="1">
                <a:solidFill>
                  <a:schemeClr val="accent2"/>
                </a:solidFill>
              </a:rPr>
              <a:t> 10</a:t>
            </a:r>
            <a:r>
              <a:rPr lang="en-US" sz="2800" baseline="30000" noProof="1">
                <a:solidFill>
                  <a:schemeClr val="accent2"/>
                </a:solidFill>
              </a:rPr>
              <a:t>-5</a:t>
            </a:r>
          </a:p>
        </p:txBody>
      </p:sp>
      <p:graphicFrame>
        <p:nvGraphicFramePr>
          <p:cNvPr id="6146" name="Object 4"/>
          <p:cNvGraphicFramePr>
            <a:graphicFrameLocks noChangeAspect="1"/>
          </p:cNvGraphicFramePr>
          <p:nvPr>
            <p:extLst/>
          </p:nvPr>
        </p:nvGraphicFramePr>
        <p:xfrm>
          <a:off x="2233864" y="3785277"/>
          <a:ext cx="2531125" cy="2247579"/>
        </p:xfrm>
        <a:graphic>
          <a:graphicData uri="http://schemas.openxmlformats.org/presentationml/2006/ole">
            <mc:AlternateContent xmlns:mc="http://schemas.openxmlformats.org/markup-compatibility/2006">
              <mc:Choice xmlns:v="urn:schemas-microsoft-com:vml" Requires="v">
                <p:oleObj spid="_x0000_s4150" name="Equation" r:id="rId4" imgW="1015920" imgH="901440" progId="Equation.3">
                  <p:embed/>
                </p:oleObj>
              </mc:Choice>
              <mc:Fallback>
                <p:oleObj name="Equation" r:id="rId4" imgW="1015920" imgH="901440" progId="Equation.3">
                  <p:embed/>
                  <p:pic>
                    <p:nvPicPr>
                      <p:cNvPr id="6146" name="Object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33864" y="3785277"/>
                        <a:ext cx="2531125" cy="2247579"/>
                      </a:xfrm>
                      <a:prstGeom prst="rect">
                        <a:avLst/>
                      </a:prstGeom>
                      <a:noFill/>
                      <a:extLst/>
                    </p:spPr>
                  </p:pic>
                </p:oleObj>
              </mc:Fallback>
            </mc:AlternateContent>
          </a:graphicData>
        </a:graphic>
      </p:graphicFrame>
      <p:graphicFrame>
        <p:nvGraphicFramePr>
          <p:cNvPr id="6149" name="Object 5"/>
          <p:cNvGraphicFramePr>
            <a:graphicFrameLocks noChangeAspect="1"/>
          </p:cNvGraphicFramePr>
          <p:nvPr>
            <p:extLst/>
          </p:nvPr>
        </p:nvGraphicFramePr>
        <p:xfrm>
          <a:off x="2405926" y="5153381"/>
          <a:ext cx="3402013" cy="1108075"/>
        </p:xfrm>
        <a:graphic>
          <a:graphicData uri="http://schemas.openxmlformats.org/presentationml/2006/ole">
            <mc:AlternateContent xmlns:mc="http://schemas.openxmlformats.org/markup-compatibility/2006">
              <mc:Choice xmlns:v="urn:schemas-microsoft-com:vml" Requires="v">
                <p:oleObj spid="_x0000_s4151" name="Equation" r:id="rId6" imgW="1650960" imgH="444240" progId="Equation.3">
                  <p:embed/>
                </p:oleObj>
              </mc:Choice>
              <mc:Fallback>
                <p:oleObj name="Equation" r:id="rId6" imgW="1650960" imgH="444240" progId="Equation.3">
                  <p:embed/>
                  <p:pic>
                    <p:nvPicPr>
                      <p:cNvPr id="6149" name="Object 5"/>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405926" y="5153381"/>
                        <a:ext cx="3402013" cy="1108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6150" name="TextBox 5"/>
          <p:cNvSpPr txBox="1">
            <a:spLocks noChangeArrowheads="1"/>
          </p:cNvSpPr>
          <p:nvPr/>
        </p:nvSpPr>
        <p:spPr bwMode="auto">
          <a:xfrm>
            <a:off x="5410200" y="3962400"/>
            <a:ext cx="5410200" cy="830997"/>
          </a:xfrm>
          <a:prstGeom prst="rect">
            <a:avLst/>
          </a:prstGeom>
          <a:noFill/>
          <a:ln w="9525">
            <a:solidFill>
              <a:schemeClr val="accent2"/>
            </a:solidFill>
            <a:miter lim="800000"/>
            <a:headEnd/>
            <a:tailEnd/>
          </a:ln>
        </p:spPr>
        <p:txBody>
          <a:bodyPr wrap="square">
            <a:spAutoFit/>
          </a:bodyPr>
          <a:lstStyle/>
          <a:p>
            <a:r>
              <a:rPr lang="en-US" sz="2400" i="1" dirty="0"/>
              <a:t>Always set up the expression w/o numbers first!</a:t>
            </a:r>
          </a:p>
        </p:txBody>
      </p:sp>
      <p:cxnSp>
        <p:nvCxnSpPr>
          <p:cNvPr id="6151" name="Straight Arrow Connector 7"/>
          <p:cNvCxnSpPr>
            <a:cxnSpLocks noChangeShapeType="1"/>
          </p:cNvCxnSpPr>
          <p:nvPr/>
        </p:nvCxnSpPr>
        <p:spPr bwMode="auto">
          <a:xfrm flipH="1">
            <a:off x="4953000" y="4038600"/>
            <a:ext cx="457200" cy="152400"/>
          </a:xfrm>
          <a:prstGeom prst="straightConnector1">
            <a:avLst/>
          </a:prstGeom>
          <a:noFill/>
          <a:ln w="9525" algn="ctr">
            <a:solidFill>
              <a:schemeClr val="tx1"/>
            </a:solidFill>
            <a:round/>
            <a:headEnd/>
            <a:tailEnd type="arrow" w="med" len="med"/>
          </a:ln>
        </p:spPr>
      </p:cxnSp>
      <p:sp>
        <p:nvSpPr>
          <p:cNvPr id="6152" name="TextBox 8"/>
          <p:cNvSpPr txBox="1">
            <a:spLocks noChangeArrowheads="1"/>
          </p:cNvSpPr>
          <p:nvPr/>
        </p:nvSpPr>
        <p:spPr bwMode="auto">
          <a:xfrm>
            <a:off x="6248400" y="5772835"/>
            <a:ext cx="4191000" cy="830997"/>
          </a:xfrm>
          <a:prstGeom prst="rect">
            <a:avLst/>
          </a:prstGeom>
          <a:noFill/>
          <a:ln w="9525">
            <a:solidFill>
              <a:srgbClr val="009900"/>
            </a:solidFill>
            <a:miter lim="800000"/>
            <a:headEnd/>
            <a:tailEnd/>
          </a:ln>
        </p:spPr>
        <p:txBody>
          <a:bodyPr wrap="square">
            <a:spAutoFit/>
          </a:bodyPr>
          <a:lstStyle/>
          <a:p>
            <a:r>
              <a:rPr lang="en-US" sz="2400" i="1" dirty="0">
                <a:solidFill>
                  <a:srgbClr val="009900"/>
                </a:solidFill>
              </a:rPr>
              <a:t>Never use initial concentrations, </a:t>
            </a:r>
          </a:p>
          <a:p>
            <a:r>
              <a:rPr lang="en-US" sz="2400" i="1" dirty="0">
                <a:solidFill>
                  <a:srgbClr val="009900"/>
                </a:solidFill>
              </a:rPr>
              <a:t>only equilibrium concentrations!</a:t>
            </a:r>
          </a:p>
        </p:txBody>
      </p:sp>
      <p:cxnSp>
        <p:nvCxnSpPr>
          <p:cNvPr id="6153" name="Straight Arrow Connector 10"/>
          <p:cNvCxnSpPr>
            <a:cxnSpLocks noChangeShapeType="1"/>
            <a:stCxn id="6152" idx="1"/>
          </p:cNvCxnSpPr>
          <p:nvPr/>
        </p:nvCxnSpPr>
        <p:spPr bwMode="auto">
          <a:xfrm flipH="1" flipV="1">
            <a:off x="5943600" y="5562601"/>
            <a:ext cx="304800" cy="339725"/>
          </a:xfrm>
          <a:prstGeom prst="straightConnector1">
            <a:avLst/>
          </a:prstGeom>
          <a:noFill/>
          <a:ln w="9525" algn="ctr">
            <a:solidFill>
              <a:schemeClr val="tx1"/>
            </a:solidFill>
            <a:round/>
            <a:headEnd/>
            <a:tailEnd type="arrow" w="med" len="med"/>
          </a:ln>
        </p:spPr>
      </p:cxnSp>
    </p:spTree>
    <p:extLst>
      <p:ext uri="{BB962C8B-B14F-4D97-AF65-F5344CB8AC3E}">
        <p14:creationId xmlns:p14="http://schemas.microsoft.com/office/powerpoint/2010/main" val="41944668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4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4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1741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411" grpId="0" build="p" autoUpdateAnimBg="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4" name="Content Placeholder 3"/>
          <p:cNvPicPr>
            <a:picLocks noGrp="1" noChangeAspect="1"/>
          </p:cNvPicPr>
          <p:nvPr>
            <p:ph idx="1"/>
          </p:nvPr>
        </p:nvPicPr>
        <p:blipFill>
          <a:blip r:embed="rId2"/>
          <a:stretch>
            <a:fillRect/>
          </a:stretch>
        </p:blipFill>
        <p:spPr>
          <a:xfrm>
            <a:off x="2743200" y="0"/>
            <a:ext cx="6299147" cy="6858000"/>
          </a:xfrm>
          <a:prstGeom prst="rect">
            <a:avLst/>
          </a:prstGeom>
        </p:spPr>
      </p:pic>
    </p:spTree>
    <p:extLst>
      <p:ext uri="{BB962C8B-B14F-4D97-AF65-F5344CB8AC3E}">
        <p14:creationId xmlns:p14="http://schemas.microsoft.com/office/powerpoint/2010/main" val="218303287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blipFill dpi="0" rotWithShape="1">
          <a:blip r:embed="rId2" cstate="print">
            <a:lum/>
          </a:blip>
          <a:srcRect/>
          <a:stretch>
            <a:fillRect l="-11000" r="-11000"/>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4391891" y="5791200"/>
            <a:ext cx="7772400" cy="1066800"/>
          </a:xfrm>
        </p:spPr>
        <p:txBody>
          <a:bodyPr>
            <a:normAutofit fontScale="90000"/>
          </a:bodyPr>
          <a:lstStyle/>
          <a:p>
            <a:pPr algn="r"/>
            <a:r>
              <a:rPr lang="en-US" sz="7200" dirty="0"/>
              <a:t>Unit 7: Equilibrium</a:t>
            </a:r>
          </a:p>
        </p:txBody>
      </p:sp>
      <p:sp>
        <p:nvSpPr>
          <p:cNvPr id="3" name="Subtitle 2"/>
          <p:cNvSpPr>
            <a:spLocks noGrp="1"/>
          </p:cNvSpPr>
          <p:nvPr>
            <p:ph type="subTitle" idx="1"/>
          </p:nvPr>
        </p:nvSpPr>
        <p:spPr>
          <a:xfrm>
            <a:off x="0" y="0"/>
            <a:ext cx="8077200" cy="2667000"/>
          </a:xfrm>
        </p:spPr>
        <p:txBody>
          <a:bodyPr>
            <a:normAutofit/>
          </a:bodyPr>
          <a:lstStyle/>
          <a:p>
            <a:pPr algn="l"/>
            <a:r>
              <a:rPr lang="en-US" sz="3600" dirty="0">
                <a:solidFill>
                  <a:schemeClr val="tx1"/>
                </a:solidFill>
              </a:rPr>
              <a:t>7.9 Intro to </a:t>
            </a:r>
            <a:r>
              <a:rPr lang="en-US" sz="3600" dirty="0" err="1">
                <a:solidFill>
                  <a:schemeClr val="tx1"/>
                </a:solidFill>
              </a:rPr>
              <a:t>LeChatlier’s</a:t>
            </a:r>
            <a:r>
              <a:rPr lang="en-US" sz="3600" dirty="0">
                <a:solidFill>
                  <a:schemeClr val="tx1"/>
                </a:solidFill>
              </a:rPr>
              <a:t> Principle</a:t>
            </a:r>
          </a:p>
          <a:p>
            <a:pPr indent="-457200" algn="l"/>
            <a:r>
              <a:rPr lang="en-US" sz="3600" dirty="0">
                <a:solidFill>
                  <a:schemeClr val="tx1"/>
                </a:solidFill>
              </a:rPr>
              <a:t>7.10 </a:t>
            </a:r>
            <a:r>
              <a:rPr lang="en-US" sz="3600" dirty="0" err="1">
                <a:solidFill>
                  <a:schemeClr val="tx1"/>
                </a:solidFill>
              </a:rPr>
              <a:t>LeChatlier</a:t>
            </a:r>
            <a:r>
              <a:rPr lang="en-US" sz="3600" dirty="0">
                <a:solidFill>
                  <a:schemeClr val="tx1"/>
                </a:solidFill>
              </a:rPr>
              <a:t> and the Reaction 	Quotient, Q</a:t>
            </a:r>
          </a:p>
        </p:txBody>
      </p:sp>
    </p:spTree>
    <p:extLst>
      <p:ext uri="{BB962C8B-B14F-4D97-AF65-F5344CB8AC3E}">
        <p14:creationId xmlns:p14="http://schemas.microsoft.com/office/powerpoint/2010/main" val="199550068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p:txBody>
          <a:bodyPr>
            <a:noAutofit/>
          </a:bodyPr>
          <a:lstStyle/>
          <a:p>
            <a:pPr eaLnBrk="1" hangingPunct="1"/>
            <a:r>
              <a:rPr lang="en-US" sz="4800" dirty="0"/>
              <a:t>Le </a:t>
            </a:r>
            <a:r>
              <a:rPr lang="en-US" sz="4800" dirty="0" err="1"/>
              <a:t>Chatlier’s</a:t>
            </a:r>
            <a:r>
              <a:rPr lang="en-US" sz="4800" dirty="0"/>
              <a:t> Principle</a:t>
            </a:r>
          </a:p>
        </p:txBody>
      </p:sp>
      <p:sp>
        <p:nvSpPr>
          <p:cNvPr id="7" name="Rectangle 3"/>
          <p:cNvSpPr txBox="1">
            <a:spLocks noChangeArrowheads="1"/>
          </p:cNvSpPr>
          <p:nvPr/>
        </p:nvSpPr>
        <p:spPr>
          <a:xfrm>
            <a:off x="609600" y="1371600"/>
            <a:ext cx="10972800" cy="4876800"/>
          </a:xfrm>
          <a:prstGeom prst="rect">
            <a:avLst/>
          </a:prstGeom>
        </p:spPr>
        <p:txBody>
          <a:bodyPr vert="horz" lIns="91440" tIns="45720" rIns="91440" bIns="45720" rtlCol="0">
            <a:normAutofit lnSpcReduction="10000"/>
          </a:bodyPr>
          <a:lstStyle/>
          <a:p>
            <a:pPr marL="342900" indent="-342900">
              <a:spcBef>
                <a:spcPct val="20000"/>
              </a:spcBef>
              <a:buFont typeface="Arial" pitchFamily="34" charset="0"/>
              <a:buChar char="•"/>
              <a:defRPr/>
            </a:pPr>
            <a:r>
              <a:rPr lang="en-US" sz="3200" dirty="0"/>
              <a:t>When a system is at equilibrium, </a:t>
            </a:r>
            <a:r>
              <a:rPr lang="en-US" sz="3200" dirty="0">
                <a:solidFill>
                  <a:srgbClr val="FF0000"/>
                </a:solidFill>
              </a:rPr>
              <a:t>K = Q</a:t>
            </a:r>
            <a:r>
              <a:rPr lang="en-US" sz="3200" dirty="0"/>
              <a:t>.</a:t>
            </a:r>
          </a:p>
          <a:p>
            <a:pPr marL="342900" indent="-342900">
              <a:spcBef>
                <a:spcPct val="20000"/>
              </a:spcBef>
              <a:buFont typeface="Arial" pitchFamily="34" charset="0"/>
              <a:buChar char="•"/>
              <a:defRPr/>
            </a:pPr>
            <a:r>
              <a:rPr lang="en-US" sz="3200" dirty="0"/>
              <a:t>If a stress is applied to a system at equilibrium making </a:t>
            </a:r>
            <a:r>
              <a:rPr lang="en-US" sz="3200" dirty="0">
                <a:solidFill>
                  <a:srgbClr val="FF0000"/>
                </a:solidFill>
              </a:rPr>
              <a:t>K ≠ Q</a:t>
            </a:r>
            <a:r>
              <a:rPr lang="en-US" sz="3200" dirty="0"/>
              <a:t>, the system will </a:t>
            </a:r>
            <a:r>
              <a:rPr lang="en-US" sz="3200" dirty="0">
                <a:solidFill>
                  <a:srgbClr val="FF0000"/>
                </a:solidFill>
              </a:rPr>
              <a:t>shifts</a:t>
            </a:r>
            <a:r>
              <a:rPr lang="en-US" sz="3200" dirty="0"/>
              <a:t> in the direction that relieves the stress and returns </a:t>
            </a:r>
            <a:r>
              <a:rPr lang="en-US" sz="3200" dirty="0">
                <a:solidFill>
                  <a:srgbClr val="FF0000"/>
                </a:solidFill>
              </a:rPr>
              <a:t>K = Q</a:t>
            </a:r>
            <a:r>
              <a:rPr lang="en-US" sz="3200" dirty="0"/>
              <a:t>.</a:t>
            </a:r>
          </a:p>
          <a:p>
            <a:pPr marL="342900" indent="-342900">
              <a:spcBef>
                <a:spcPct val="20000"/>
              </a:spcBef>
              <a:buFont typeface="Arial" pitchFamily="34" charset="0"/>
              <a:buChar char="•"/>
              <a:defRPr/>
            </a:pPr>
            <a:r>
              <a:rPr lang="en-US" sz="3200" dirty="0"/>
              <a:t>A stress is any kind of change in a system </a:t>
            </a:r>
            <a:r>
              <a:rPr lang="en-US" sz="3200" b="1" u="sng" dirty="0">
                <a:solidFill>
                  <a:srgbClr val="FF0000"/>
                </a:solidFill>
              </a:rPr>
              <a:t>AT EQUILIBRIUM </a:t>
            </a:r>
            <a:r>
              <a:rPr lang="en-US" sz="3200" dirty="0"/>
              <a:t>that upsets the equilibrium (makes K ≠ Q).</a:t>
            </a:r>
          </a:p>
          <a:p>
            <a:pPr marL="342900" indent="-342900">
              <a:spcBef>
                <a:spcPct val="20000"/>
              </a:spcBef>
              <a:buFont typeface="Arial" pitchFamily="34" charset="0"/>
              <a:buChar char="•"/>
              <a:defRPr/>
            </a:pPr>
            <a:r>
              <a:rPr lang="en-US" sz="3200" dirty="0"/>
              <a:t>3 types of stress</a:t>
            </a:r>
          </a:p>
          <a:p>
            <a:pPr marL="742950" lvl="1" indent="-285750">
              <a:spcBef>
                <a:spcPct val="20000"/>
              </a:spcBef>
              <a:buFont typeface="Arial" pitchFamily="34" charset="0"/>
              <a:buChar char="–"/>
              <a:defRPr/>
            </a:pPr>
            <a:r>
              <a:rPr lang="en-US" sz="2800" dirty="0"/>
              <a:t>Changes in concentration</a:t>
            </a:r>
          </a:p>
          <a:p>
            <a:pPr marL="742950" lvl="1" indent="-285750">
              <a:spcBef>
                <a:spcPct val="20000"/>
              </a:spcBef>
              <a:buFont typeface="Arial" pitchFamily="34" charset="0"/>
              <a:buChar char="–"/>
              <a:defRPr/>
            </a:pPr>
            <a:r>
              <a:rPr lang="en-US" sz="2800" dirty="0"/>
              <a:t>Changes in Pressure-Volume</a:t>
            </a:r>
          </a:p>
          <a:p>
            <a:pPr marL="742950" lvl="1" indent="-285750">
              <a:spcBef>
                <a:spcPct val="20000"/>
              </a:spcBef>
              <a:buFont typeface="Arial" pitchFamily="34" charset="0"/>
              <a:buChar char="–"/>
              <a:defRPr/>
            </a:pPr>
            <a:r>
              <a:rPr lang="en-US" sz="2800" dirty="0"/>
              <a:t>Changes in Temperature</a:t>
            </a:r>
          </a:p>
        </p:txBody>
      </p:sp>
    </p:spTree>
    <p:extLst>
      <p:ext uri="{BB962C8B-B14F-4D97-AF65-F5344CB8AC3E}">
        <p14:creationId xmlns:p14="http://schemas.microsoft.com/office/powerpoint/2010/main" val="3653835634"/>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a:xfrm>
            <a:off x="609600" y="-26377"/>
            <a:ext cx="10972800" cy="639762"/>
          </a:xfrm>
        </p:spPr>
        <p:txBody>
          <a:bodyPr>
            <a:normAutofit fontScale="90000"/>
          </a:bodyPr>
          <a:lstStyle/>
          <a:p>
            <a:r>
              <a:rPr lang="en-US" b="1" noProof="1"/>
              <a:t>STRESS: Changes in concentration</a:t>
            </a:r>
            <a:endParaRPr lang="en-US" sz="3200" b="1" noProof="1"/>
          </a:p>
        </p:txBody>
      </p:sp>
      <p:sp>
        <p:nvSpPr>
          <p:cNvPr id="2" name="Content Placeholder 1"/>
          <p:cNvSpPr>
            <a:spLocks noGrp="1"/>
          </p:cNvSpPr>
          <p:nvPr>
            <p:ph idx="1"/>
          </p:nvPr>
        </p:nvSpPr>
        <p:spPr>
          <a:xfrm>
            <a:off x="609600" y="613385"/>
            <a:ext cx="10972800" cy="6244615"/>
          </a:xfrm>
        </p:spPr>
        <p:txBody>
          <a:bodyPr>
            <a:normAutofit/>
          </a:bodyPr>
          <a:lstStyle/>
          <a:p>
            <a:pPr marL="0" indent="0">
              <a:buNone/>
            </a:pPr>
            <a:r>
              <a:rPr lang="en-US" sz="2800" noProof="1"/>
              <a:t>Consider the reaction at equilibrium:		A (g) + B (g) </a:t>
            </a:r>
            <a:r>
              <a:rPr lang="en-US" sz="2800" noProof="1">
                <a:latin typeface="Cambria Math" panose="02040503050406030204" pitchFamily="18" charset="0"/>
                <a:ea typeface="Cambria Math" panose="02040503050406030204" pitchFamily="18" charset="0"/>
              </a:rPr>
              <a:t>⇌ </a:t>
            </a:r>
            <a:r>
              <a:rPr lang="en-US" sz="2800" noProof="1">
                <a:ea typeface="Cambria Math" panose="02040503050406030204" pitchFamily="18" charset="0"/>
              </a:rPr>
              <a:t>C(g)</a:t>
            </a:r>
            <a:endParaRPr lang="en-US" sz="2800" noProof="1"/>
          </a:p>
          <a:p>
            <a:pPr marL="0" indent="0">
              <a:buNone/>
            </a:pPr>
            <a:r>
              <a:rPr lang="en-US" sz="2800" noProof="1"/>
              <a:t>Write an equilibrium expression:</a:t>
            </a:r>
          </a:p>
          <a:p>
            <a:pPr marL="0" indent="0">
              <a:buNone/>
            </a:pPr>
            <a:endParaRPr lang="en-US" sz="2800" noProof="1"/>
          </a:p>
          <a:p>
            <a:r>
              <a:rPr lang="en-US" sz="2800" noProof="1"/>
              <a:t>At equilibrium, Q=K (1= original position)</a:t>
            </a:r>
          </a:p>
          <a:p>
            <a:r>
              <a:rPr lang="en-US" sz="2800" noProof="1"/>
              <a:t>An increase in concentration of a reactant will cause a </a:t>
            </a:r>
            <a:r>
              <a:rPr lang="en-US" sz="2800" noProof="1">
                <a:solidFill>
                  <a:srgbClr val="FF0000"/>
                </a:solidFill>
              </a:rPr>
              <a:t>increase/decrease</a:t>
            </a:r>
            <a:r>
              <a:rPr lang="en-US" sz="2800" noProof="1"/>
              <a:t> in Q (2=stress shift), disturbing the equilibrium of the system. The system will shift </a:t>
            </a:r>
            <a:r>
              <a:rPr lang="en-US" sz="2800" i="1" noProof="1">
                <a:solidFill>
                  <a:srgbClr val="FF0000"/>
                </a:solidFill>
              </a:rPr>
              <a:t>forward/reverse</a:t>
            </a:r>
            <a:r>
              <a:rPr lang="en-US" sz="2800" i="1" noProof="1"/>
              <a:t> </a:t>
            </a:r>
            <a:r>
              <a:rPr lang="en-US" sz="2800" noProof="1"/>
              <a:t>to restore equilibrium (3=shift to new equilibrium). As a result, the concentration of the reactants </a:t>
            </a:r>
            <a:r>
              <a:rPr lang="en-US" sz="2800" noProof="1">
                <a:solidFill>
                  <a:srgbClr val="FF0000"/>
                </a:solidFill>
              </a:rPr>
              <a:t>increase/decrease</a:t>
            </a:r>
            <a:r>
              <a:rPr lang="en-US" sz="2800" i="1" noProof="1"/>
              <a:t> </a:t>
            </a:r>
            <a:r>
              <a:rPr lang="en-US" sz="2800" noProof="1"/>
              <a:t> and the concentration of the products </a:t>
            </a:r>
            <a:r>
              <a:rPr lang="en-US" sz="2800" noProof="1">
                <a:solidFill>
                  <a:srgbClr val="FF0000"/>
                </a:solidFill>
              </a:rPr>
              <a:t>increase/decrease</a:t>
            </a:r>
            <a:r>
              <a:rPr lang="en-US" sz="2800" i="1" noProof="1"/>
              <a:t>.</a:t>
            </a:r>
            <a:endParaRPr lang="en-US" sz="2800" noProof="1"/>
          </a:p>
          <a:p>
            <a:r>
              <a:rPr lang="en-US" sz="2800" noProof="1"/>
              <a:t>Number line Representation:</a:t>
            </a:r>
          </a:p>
        </p:txBody>
      </p:sp>
      <p:grpSp>
        <p:nvGrpSpPr>
          <p:cNvPr id="8" name="Group 7"/>
          <p:cNvGrpSpPr/>
          <p:nvPr/>
        </p:nvGrpSpPr>
        <p:grpSpPr>
          <a:xfrm>
            <a:off x="1752600" y="5311170"/>
            <a:ext cx="7924800" cy="1569660"/>
            <a:chOff x="1752600" y="5311170"/>
            <a:chExt cx="7924800" cy="1569660"/>
          </a:xfrm>
        </p:grpSpPr>
        <p:cxnSp>
          <p:nvCxnSpPr>
            <p:cNvPr id="4" name="Straight Arrow Connector 3"/>
            <p:cNvCxnSpPr/>
            <p:nvPr/>
          </p:nvCxnSpPr>
          <p:spPr>
            <a:xfrm>
              <a:off x="1752600" y="6096000"/>
              <a:ext cx="7924800" cy="0"/>
            </a:xfrm>
            <a:prstGeom prst="straightConnector1">
              <a:avLst/>
            </a:prstGeom>
            <a:ln w="38100">
              <a:headEnd type="triangle"/>
              <a:tailEnd type="triangle"/>
            </a:ln>
          </p:spPr>
          <p:style>
            <a:lnRef idx="1">
              <a:schemeClr val="dk1"/>
            </a:lnRef>
            <a:fillRef idx="0">
              <a:schemeClr val="dk1"/>
            </a:fillRef>
            <a:effectRef idx="0">
              <a:schemeClr val="dk1"/>
            </a:effectRef>
            <a:fontRef idx="minor">
              <a:schemeClr val="tx1"/>
            </a:fontRef>
          </p:style>
        </p:cxnSp>
        <p:cxnSp>
          <p:nvCxnSpPr>
            <p:cNvPr id="6" name="Straight Connector 5"/>
            <p:cNvCxnSpPr/>
            <p:nvPr/>
          </p:nvCxnSpPr>
          <p:spPr>
            <a:xfrm>
              <a:off x="5410200" y="5753100"/>
              <a:ext cx="0" cy="685800"/>
            </a:xfrm>
            <a:prstGeom prst="line">
              <a:avLst/>
            </a:prstGeom>
            <a:ln w="28575"/>
          </p:spPr>
          <p:style>
            <a:lnRef idx="1">
              <a:schemeClr val="dk1"/>
            </a:lnRef>
            <a:fillRef idx="0">
              <a:schemeClr val="dk1"/>
            </a:fillRef>
            <a:effectRef idx="0">
              <a:schemeClr val="dk1"/>
            </a:effectRef>
            <a:fontRef idx="minor">
              <a:schemeClr val="tx1"/>
            </a:fontRef>
          </p:style>
        </p:cxnSp>
        <p:sp>
          <p:nvSpPr>
            <p:cNvPr id="7" name="TextBox 6"/>
            <p:cNvSpPr txBox="1"/>
            <p:nvPr/>
          </p:nvSpPr>
          <p:spPr>
            <a:xfrm>
              <a:off x="5212069" y="5311170"/>
              <a:ext cx="396262" cy="1569660"/>
            </a:xfrm>
            <a:prstGeom prst="rect">
              <a:avLst/>
            </a:prstGeom>
            <a:noFill/>
          </p:spPr>
          <p:txBody>
            <a:bodyPr wrap="none" rtlCol="0">
              <a:spAutoFit/>
            </a:bodyPr>
            <a:lstStyle/>
            <a:p>
              <a:r>
                <a:rPr lang="en-US" sz="2400" b="1" dirty="0"/>
                <a:t>Q</a:t>
              </a:r>
            </a:p>
            <a:p>
              <a:endParaRPr lang="en-US" sz="2400" b="1" dirty="0"/>
            </a:p>
            <a:p>
              <a:endParaRPr lang="en-US" sz="2400" b="1" dirty="0"/>
            </a:p>
            <a:p>
              <a:r>
                <a:rPr lang="en-US" sz="2400" b="1" dirty="0"/>
                <a:t>K</a:t>
              </a:r>
            </a:p>
          </p:txBody>
        </p:sp>
      </p:grpSp>
    </p:spTree>
    <p:extLst>
      <p:ext uri="{BB962C8B-B14F-4D97-AF65-F5344CB8AC3E}">
        <p14:creationId xmlns:p14="http://schemas.microsoft.com/office/powerpoint/2010/main" val="258880330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a:xfrm>
            <a:off x="609600" y="-26377"/>
            <a:ext cx="10972800" cy="639762"/>
          </a:xfrm>
        </p:spPr>
        <p:txBody>
          <a:bodyPr>
            <a:normAutofit fontScale="90000"/>
          </a:bodyPr>
          <a:lstStyle/>
          <a:p>
            <a:r>
              <a:rPr lang="en-US" b="1" noProof="1"/>
              <a:t>STRESS: Changes in concentration</a:t>
            </a:r>
            <a:endParaRPr lang="en-US" sz="3200" b="1" noProof="1"/>
          </a:p>
        </p:txBody>
      </p:sp>
      <p:sp>
        <p:nvSpPr>
          <p:cNvPr id="2" name="Content Placeholder 1"/>
          <p:cNvSpPr>
            <a:spLocks noGrp="1"/>
          </p:cNvSpPr>
          <p:nvPr>
            <p:ph idx="1"/>
          </p:nvPr>
        </p:nvSpPr>
        <p:spPr>
          <a:xfrm>
            <a:off x="609600" y="838200"/>
            <a:ext cx="10972800" cy="3962400"/>
          </a:xfrm>
        </p:spPr>
        <p:txBody>
          <a:bodyPr>
            <a:normAutofit/>
          </a:bodyPr>
          <a:lstStyle/>
          <a:p>
            <a:pPr marL="0" indent="0">
              <a:buNone/>
            </a:pPr>
            <a:r>
              <a:rPr lang="en-US" sz="2800" noProof="1"/>
              <a:t>Consider the reaction at equilibrium:	A (g) + B (g) </a:t>
            </a:r>
            <a:r>
              <a:rPr lang="en-US" sz="2800" noProof="1">
                <a:latin typeface="Cambria Math" panose="02040503050406030204" pitchFamily="18" charset="0"/>
                <a:ea typeface="Cambria Math" panose="02040503050406030204" pitchFamily="18" charset="0"/>
              </a:rPr>
              <a:t>⇌ </a:t>
            </a:r>
            <a:r>
              <a:rPr lang="en-US" sz="2800" noProof="1">
                <a:ea typeface="Cambria Math" panose="02040503050406030204" pitchFamily="18" charset="0"/>
              </a:rPr>
              <a:t>C(g)</a:t>
            </a:r>
            <a:endParaRPr lang="en-US" sz="2800" noProof="1"/>
          </a:p>
          <a:p>
            <a:pPr marL="0" indent="0">
              <a:buNone/>
            </a:pPr>
            <a:r>
              <a:rPr lang="en-US" sz="2800" noProof="1"/>
              <a:t>Write an equilibrium expression:</a:t>
            </a:r>
          </a:p>
          <a:p>
            <a:pPr marL="0" indent="0">
              <a:buNone/>
            </a:pPr>
            <a:endParaRPr lang="en-US" sz="2800" noProof="1"/>
          </a:p>
          <a:p>
            <a:r>
              <a:rPr lang="en-US" sz="2800" noProof="1"/>
              <a:t>At equilibrium, Q=K</a:t>
            </a:r>
          </a:p>
          <a:p>
            <a:r>
              <a:rPr lang="en-US" sz="2800" noProof="1"/>
              <a:t>An increase in concentration of any product will cause Q to </a:t>
            </a:r>
            <a:r>
              <a:rPr lang="en-US" sz="2800" noProof="1">
                <a:solidFill>
                  <a:srgbClr val="FF0000"/>
                </a:solidFill>
              </a:rPr>
              <a:t>increase/decrease</a:t>
            </a:r>
            <a:r>
              <a:rPr lang="en-US" sz="2800" noProof="1"/>
              <a:t> equilibrium to shift </a:t>
            </a:r>
            <a:r>
              <a:rPr lang="en-US" sz="2800" i="1" noProof="1">
                <a:solidFill>
                  <a:srgbClr val="FF0000"/>
                </a:solidFill>
              </a:rPr>
              <a:t>forward/reverse</a:t>
            </a:r>
            <a:r>
              <a:rPr lang="en-US" sz="2800" noProof="1"/>
              <a:t> to </a:t>
            </a:r>
            <a:r>
              <a:rPr lang="en-US" sz="2800" noProof="1">
                <a:solidFill>
                  <a:srgbClr val="FF0000"/>
                </a:solidFill>
              </a:rPr>
              <a:t>increase/decrease</a:t>
            </a:r>
            <a:r>
              <a:rPr lang="en-US" sz="2800" noProof="1"/>
              <a:t> the concentration of reactants and </a:t>
            </a:r>
            <a:r>
              <a:rPr lang="en-US" sz="2800" noProof="1">
                <a:solidFill>
                  <a:srgbClr val="FF0000"/>
                </a:solidFill>
              </a:rPr>
              <a:t>increase/decrease</a:t>
            </a:r>
            <a:r>
              <a:rPr lang="en-US" sz="2800" noProof="1"/>
              <a:t> the concentration of the products.</a:t>
            </a:r>
            <a:endParaRPr lang="en-US" sz="2800" i="1" dirty="0"/>
          </a:p>
        </p:txBody>
      </p:sp>
      <p:pic>
        <p:nvPicPr>
          <p:cNvPr id="3" name="Picture 2"/>
          <p:cNvPicPr>
            <a:picLocks noChangeAspect="1"/>
          </p:cNvPicPr>
          <p:nvPr/>
        </p:nvPicPr>
        <p:blipFill>
          <a:blip r:embed="rId3"/>
          <a:stretch>
            <a:fillRect/>
          </a:stretch>
        </p:blipFill>
        <p:spPr>
          <a:xfrm>
            <a:off x="1600200" y="5004633"/>
            <a:ext cx="8157155" cy="1743607"/>
          </a:xfrm>
          <a:prstGeom prst="rect">
            <a:avLst/>
          </a:prstGeom>
        </p:spPr>
      </p:pic>
    </p:spTree>
    <p:extLst>
      <p:ext uri="{BB962C8B-B14F-4D97-AF65-F5344CB8AC3E}">
        <p14:creationId xmlns:p14="http://schemas.microsoft.com/office/powerpoint/2010/main" val="376560000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ChangeArrowheads="1"/>
          </p:cNvSpPr>
          <p:nvPr>
            <p:ph type="title"/>
          </p:nvPr>
        </p:nvSpPr>
        <p:spPr>
          <a:xfrm>
            <a:off x="609600" y="76200"/>
            <a:ext cx="10972800" cy="563562"/>
          </a:xfrm>
        </p:spPr>
        <p:txBody>
          <a:bodyPr>
            <a:normAutofit fontScale="90000"/>
          </a:bodyPr>
          <a:lstStyle/>
          <a:p>
            <a:pPr>
              <a:defRPr/>
            </a:pPr>
            <a:r>
              <a:rPr lang="en-US" u="sng" noProof="1"/>
              <a:t>STRESS: Changes in concentration</a:t>
            </a:r>
            <a:endParaRPr lang="en-US" noProof="1">
              <a:solidFill>
                <a:schemeClr val="tx1"/>
              </a:solidFill>
              <a:effectLst>
                <a:outerShdw blurRad="38100" dist="38100" dir="2700000" algn="tl">
                  <a:srgbClr val="FFFFFF"/>
                </a:outerShdw>
              </a:effectLst>
            </a:endParaRPr>
          </a:p>
        </p:txBody>
      </p:sp>
      <p:sp>
        <p:nvSpPr>
          <p:cNvPr id="2" name="Content Placeholder 1"/>
          <p:cNvSpPr>
            <a:spLocks noGrp="1"/>
          </p:cNvSpPr>
          <p:nvPr>
            <p:ph idx="1"/>
          </p:nvPr>
        </p:nvSpPr>
        <p:spPr>
          <a:xfrm>
            <a:off x="609600" y="914400"/>
            <a:ext cx="10972800" cy="5638800"/>
          </a:xfrm>
        </p:spPr>
        <p:txBody>
          <a:bodyPr>
            <a:normAutofit fontScale="85000" lnSpcReduction="10000"/>
          </a:bodyPr>
          <a:lstStyle/>
          <a:p>
            <a:pPr marL="0" indent="0" algn="ctr">
              <a:buNone/>
            </a:pPr>
            <a:r>
              <a:rPr lang="en-US" noProof="1"/>
              <a:t>A (g) + B (g) </a:t>
            </a:r>
            <a:r>
              <a:rPr lang="en-US" noProof="1">
                <a:latin typeface="Cambria Math" panose="02040503050406030204" pitchFamily="18" charset="0"/>
                <a:ea typeface="Cambria Math" panose="02040503050406030204" pitchFamily="18" charset="0"/>
              </a:rPr>
              <a:t>⇌ </a:t>
            </a:r>
            <a:r>
              <a:rPr lang="en-US" noProof="1">
                <a:ea typeface="Cambria Math" panose="02040503050406030204" pitchFamily="18" charset="0"/>
              </a:rPr>
              <a:t>C(g)</a:t>
            </a:r>
            <a:endParaRPr lang="en-US" noProof="1"/>
          </a:p>
          <a:p>
            <a:pPr marL="0" indent="0">
              <a:buNone/>
            </a:pPr>
            <a:endParaRPr lang="en-US" noProof="1"/>
          </a:p>
          <a:p>
            <a:r>
              <a:rPr lang="en-US" noProof="1"/>
              <a:t>A </a:t>
            </a:r>
            <a:r>
              <a:rPr lang="en-US" i="1" noProof="1"/>
              <a:t>decrease</a:t>
            </a:r>
            <a:r>
              <a:rPr lang="en-US" noProof="1"/>
              <a:t> in concentration (removal) of a reactant will cause </a:t>
            </a:r>
            <a:r>
              <a:rPr lang="en-US" i="1" noProof="1"/>
              <a:t>Q</a:t>
            </a:r>
            <a:r>
              <a:rPr lang="en-US" noProof="1"/>
              <a:t> to </a:t>
            </a:r>
            <a:r>
              <a:rPr lang="en-US" noProof="1">
                <a:solidFill>
                  <a:srgbClr val="FF0000"/>
                </a:solidFill>
              </a:rPr>
              <a:t>increase/decrease, </a:t>
            </a:r>
            <a:r>
              <a:rPr lang="en-US" noProof="1"/>
              <a:t> causint the reaction to shift</a:t>
            </a:r>
            <a:r>
              <a:rPr lang="en-US" noProof="1">
                <a:solidFill>
                  <a:srgbClr val="FF0000"/>
                </a:solidFill>
              </a:rPr>
              <a:t> </a:t>
            </a:r>
            <a:r>
              <a:rPr lang="en-US" i="1" noProof="1">
                <a:solidFill>
                  <a:srgbClr val="FF0000"/>
                </a:solidFill>
              </a:rPr>
              <a:t>forward/reverse </a:t>
            </a:r>
            <a:r>
              <a:rPr lang="en-US" noProof="1"/>
              <a:t>to restore equilibrium. . The system will shift </a:t>
            </a:r>
            <a:r>
              <a:rPr lang="en-US" i="1" noProof="1">
                <a:solidFill>
                  <a:srgbClr val="FF0000"/>
                </a:solidFill>
              </a:rPr>
              <a:t>forward/reverse</a:t>
            </a:r>
            <a:r>
              <a:rPr lang="en-US" i="1" noProof="1"/>
              <a:t> </a:t>
            </a:r>
            <a:r>
              <a:rPr lang="en-US" noProof="1"/>
              <a:t>to restore equilibrium. As a result, the concentration of the reactants </a:t>
            </a:r>
            <a:r>
              <a:rPr lang="en-US" noProof="1">
                <a:solidFill>
                  <a:srgbClr val="FF0000"/>
                </a:solidFill>
              </a:rPr>
              <a:t>increase/decrease</a:t>
            </a:r>
            <a:r>
              <a:rPr lang="en-US" i="1" noProof="1"/>
              <a:t> </a:t>
            </a:r>
            <a:r>
              <a:rPr lang="en-US" noProof="1"/>
              <a:t> and the concentration of the products </a:t>
            </a:r>
            <a:r>
              <a:rPr lang="en-US" noProof="1">
                <a:solidFill>
                  <a:srgbClr val="FF0000"/>
                </a:solidFill>
              </a:rPr>
              <a:t>increase/decrease</a:t>
            </a:r>
            <a:r>
              <a:rPr lang="en-US" i="1" noProof="1"/>
              <a:t>.</a:t>
            </a:r>
            <a:endParaRPr lang="en-US" noProof="1"/>
          </a:p>
          <a:p>
            <a:r>
              <a:rPr lang="en-US" noProof="1"/>
              <a:t>An </a:t>
            </a:r>
            <a:r>
              <a:rPr lang="en-US" i="1" noProof="1"/>
              <a:t>decrease</a:t>
            </a:r>
            <a:r>
              <a:rPr lang="en-US" noProof="1"/>
              <a:t> in concentration of any product will cause Q to </a:t>
            </a:r>
            <a:r>
              <a:rPr lang="en-US" noProof="1">
                <a:solidFill>
                  <a:srgbClr val="FF0000"/>
                </a:solidFill>
              </a:rPr>
              <a:t>increase/decrease</a:t>
            </a:r>
            <a:r>
              <a:rPr lang="en-US" noProof="1"/>
              <a:t> equilibrium to shift </a:t>
            </a:r>
            <a:r>
              <a:rPr lang="en-US" i="1" noProof="1">
                <a:solidFill>
                  <a:srgbClr val="FF0000"/>
                </a:solidFill>
              </a:rPr>
              <a:t>forward/reverse</a:t>
            </a:r>
            <a:r>
              <a:rPr lang="en-US" noProof="1"/>
              <a:t> to </a:t>
            </a:r>
            <a:r>
              <a:rPr lang="en-US" noProof="1">
                <a:solidFill>
                  <a:srgbClr val="FF0000"/>
                </a:solidFill>
              </a:rPr>
              <a:t>increase/decrease</a:t>
            </a:r>
            <a:r>
              <a:rPr lang="en-US" noProof="1"/>
              <a:t> the concentration of reactants and </a:t>
            </a:r>
            <a:r>
              <a:rPr lang="en-US" noProof="1">
                <a:solidFill>
                  <a:srgbClr val="FF0000"/>
                </a:solidFill>
              </a:rPr>
              <a:t>increase/decrease</a:t>
            </a:r>
            <a:r>
              <a:rPr lang="en-US" noProof="1"/>
              <a:t> the concentration of the products.</a:t>
            </a:r>
            <a:endParaRPr lang="en-US" i="1" dirty="0"/>
          </a:p>
          <a:p>
            <a:pPr marL="0" indent="0">
              <a:buNone/>
            </a:pPr>
            <a:br>
              <a:rPr lang="en-US" noProof="1"/>
            </a:br>
            <a:r>
              <a:rPr lang="en-US" noProof="1"/>
              <a:t>OVERALL: A change in concentration of reactant or product </a:t>
            </a:r>
            <a:r>
              <a:rPr lang="en-US" b="1" noProof="1"/>
              <a:t>will affect the value of Q, and not affect </a:t>
            </a:r>
            <a:r>
              <a:rPr lang="en-US" noProof="1"/>
              <a:t>the value of  </a:t>
            </a:r>
            <a:r>
              <a:rPr lang="en-US" i="1" noProof="1"/>
              <a:t>K</a:t>
            </a:r>
            <a:r>
              <a:rPr lang="en-US" noProof="1"/>
              <a:t>.</a:t>
            </a:r>
            <a:endParaRPr lang="en-US" dirty="0"/>
          </a:p>
        </p:txBody>
      </p:sp>
    </p:spTree>
    <p:extLst>
      <p:ext uri="{BB962C8B-B14F-4D97-AF65-F5344CB8AC3E}">
        <p14:creationId xmlns:p14="http://schemas.microsoft.com/office/powerpoint/2010/main" val="24393933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ChangeArrowheads="1"/>
          </p:cNvSpPr>
          <p:nvPr>
            <p:ph type="title"/>
          </p:nvPr>
        </p:nvSpPr>
        <p:spPr>
          <a:xfrm>
            <a:off x="588818" y="228600"/>
            <a:ext cx="10972800" cy="1143000"/>
          </a:xfrm>
        </p:spPr>
        <p:txBody>
          <a:bodyPr>
            <a:normAutofit/>
          </a:bodyPr>
          <a:lstStyle/>
          <a:p>
            <a:pPr>
              <a:defRPr/>
            </a:pPr>
            <a:r>
              <a:rPr lang="en-US" noProof="1"/>
              <a:t>Sample Problem</a:t>
            </a:r>
            <a:endParaRPr lang="en-US" sz="5400" baseline="-25000" dirty="0">
              <a:solidFill>
                <a:schemeClr val="tx1"/>
              </a:solidFill>
              <a:effectLst>
                <a:outerShdw blurRad="38100" dist="38100" dir="2700000" algn="tl">
                  <a:srgbClr val="FFFFFF"/>
                </a:outerShdw>
              </a:effectLst>
            </a:endParaRPr>
          </a:p>
        </p:txBody>
      </p:sp>
      <p:sp>
        <p:nvSpPr>
          <p:cNvPr id="2" name="Content Placeholder 1"/>
          <p:cNvSpPr>
            <a:spLocks noGrp="1"/>
          </p:cNvSpPr>
          <p:nvPr>
            <p:ph idx="1"/>
          </p:nvPr>
        </p:nvSpPr>
        <p:spPr/>
        <p:txBody>
          <a:bodyPr/>
          <a:lstStyle/>
          <a:p>
            <a:pPr marL="0" indent="0">
              <a:buNone/>
            </a:pPr>
            <a:r>
              <a:rPr lang="en-US" noProof="1">
                <a:effectLst>
                  <a:outerShdw blurRad="38100" dist="38100" dir="2700000" algn="tl">
                    <a:srgbClr val="FFFFFF"/>
                  </a:outerShdw>
                </a:effectLst>
              </a:rPr>
              <a:t>Consider the reaction:  N</a:t>
            </a:r>
            <a:r>
              <a:rPr lang="en-US" baseline="-25000" noProof="1">
                <a:effectLst>
                  <a:outerShdw blurRad="38100" dist="38100" dir="2700000" algn="tl">
                    <a:srgbClr val="FFFFFF"/>
                  </a:outerShdw>
                </a:effectLst>
              </a:rPr>
              <a:t>2</a:t>
            </a:r>
            <a:r>
              <a:rPr lang="en-US" noProof="1">
                <a:effectLst>
                  <a:outerShdw blurRad="38100" dist="38100" dir="2700000" algn="tl">
                    <a:srgbClr val="FFFFFF"/>
                  </a:outerShdw>
                </a:effectLst>
              </a:rPr>
              <a:t>(</a:t>
            </a:r>
            <a:r>
              <a:rPr lang="en-US" i="1" noProof="1">
                <a:effectLst>
                  <a:outerShdw blurRad="38100" dist="38100" dir="2700000" algn="tl">
                    <a:srgbClr val="FFFFFF"/>
                  </a:outerShdw>
                </a:effectLst>
              </a:rPr>
              <a:t>g</a:t>
            </a:r>
            <a:r>
              <a:rPr lang="en-US" noProof="1">
                <a:effectLst>
                  <a:outerShdw blurRad="38100" dist="38100" dir="2700000" algn="tl">
                    <a:srgbClr val="FFFFFF"/>
                  </a:outerShdw>
                </a:effectLst>
              </a:rPr>
              <a:t>) + 3H</a:t>
            </a:r>
            <a:r>
              <a:rPr lang="en-US" baseline="-25000" noProof="1">
                <a:effectLst>
                  <a:outerShdw blurRad="38100" dist="38100" dir="2700000" algn="tl">
                    <a:srgbClr val="FFFFFF"/>
                  </a:outerShdw>
                </a:effectLst>
              </a:rPr>
              <a:t>2</a:t>
            </a:r>
            <a:r>
              <a:rPr lang="en-US" noProof="1">
                <a:effectLst>
                  <a:outerShdw blurRad="38100" dist="38100" dir="2700000" algn="tl">
                    <a:srgbClr val="FFFFFF"/>
                  </a:outerShdw>
                </a:effectLst>
              </a:rPr>
              <a:t>(</a:t>
            </a:r>
            <a:r>
              <a:rPr lang="en-US" i="1" noProof="1">
                <a:effectLst>
                  <a:outerShdw blurRad="38100" dist="38100" dir="2700000" algn="tl">
                    <a:srgbClr val="FFFFFF"/>
                  </a:outerShdw>
                </a:effectLst>
              </a:rPr>
              <a:t>g</a:t>
            </a:r>
            <a:r>
              <a:rPr lang="en-US" noProof="1">
                <a:effectLst>
                  <a:outerShdw blurRad="38100" dist="38100" dir="2700000" algn="tl">
                    <a:srgbClr val="FFFFFF"/>
                  </a:outerShdw>
                </a:effectLst>
              </a:rPr>
              <a:t>) </a:t>
            </a:r>
            <a:r>
              <a:rPr lang="en-US" noProof="1">
                <a:effectLst>
                  <a:outerShdw blurRad="38100" dist="38100" dir="2700000" algn="tl">
                    <a:srgbClr val="FFFFFF"/>
                  </a:outerShdw>
                </a:effectLst>
                <a:cs typeface="Times New Roman" pitchFamily="18" charset="0"/>
                <a:sym typeface="Wingdings 3" pitchFamily="18" charset="2"/>
              </a:rPr>
              <a:t></a:t>
            </a:r>
            <a:r>
              <a:rPr lang="en-US" noProof="1">
                <a:effectLst>
                  <a:outerShdw blurRad="38100" dist="38100" dir="2700000" algn="tl">
                    <a:srgbClr val="FFFFFF"/>
                  </a:outerShdw>
                </a:effectLst>
              </a:rPr>
              <a:t>2NH</a:t>
            </a:r>
            <a:r>
              <a:rPr lang="en-US" baseline="-25000" noProof="1">
                <a:effectLst>
                  <a:outerShdw blurRad="38100" dist="38100" dir="2700000" algn="tl">
                    <a:srgbClr val="FFFFFF"/>
                  </a:outerShdw>
                </a:effectLst>
              </a:rPr>
              <a:t>3</a:t>
            </a:r>
            <a:r>
              <a:rPr lang="en-US" noProof="1">
                <a:effectLst>
                  <a:outerShdw blurRad="38100" dist="38100" dir="2700000" algn="tl">
                    <a:srgbClr val="FFFFFF"/>
                  </a:outerShdw>
                </a:effectLst>
              </a:rPr>
              <a:t>(</a:t>
            </a:r>
            <a:r>
              <a:rPr lang="en-US" i="1" noProof="1">
                <a:effectLst>
                  <a:outerShdw blurRad="38100" dist="38100" dir="2700000" algn="tl">
                    <a:srgbClr val="FFFFFF"/>
                  </a:outerShdw>
                </a:effectLst>
              </a:rPr>
              <a:t>g</a:t>
            </a:r>
            <a:r>
              <a:rPr lang="en-US" noProof="1">
                <a:effectLst>
                  <a:outerShdw blurRad="38100" dist="38100" dir="2700000" algn="tl">
                    <a:srgbClr val="FFFFFF"/>
                  </a:outerShdw>
                </a:effectLst>
              </a:rPr>
              <a:t>)</a:t>
            </a:r>
          </a:p>
          <a:p>
            <a:pPr marL="0" indent="0">
              <a:buNone/>
            </a:pPr>
            <a:r>
              <a:rPr lang="en-US" noProof="1">
                <a:effectLst>
                  <a:outerShdw blurRad="38100" dist="38100" dir="2700000" algn="tl">
                    <a:srgbClr val="FFFFFF"/>
                  </a:outerShdw>
                </a:effectLst>
              </a:rPr>
              <a:t>If the system is at equilibrium, what direction of shift will each action cause?</a:t>
            </a:r>
          </a:p>
          <a:p>
            <a:pPr marL="0" indent="0">
              <a:buNone/>
            </a:pPr>
            <a:endParaRPr lang="en-US" noProof="1">
              <a:effectLst>
                <a:outerShdw blurRad="38100" dist="38100" dir="2700000" algn="tl">
                  <a:srgbClr val="FFFFFF"/>
                </a:outerShdw>
              </a:effectLst>
            </a:endParaRPr>
          </a:p>
          <a:p>
            <a:pPr marL="0" indent="0">
              <a:buNone/>
            </a:pPr>
            <a:r>
              <a:rPr lang="en-US" noProof="1">
                <a:effectLst>
                  <a:outerShdw blurRad="38100" dist="38100" dir="2700000" algn="tl">
                    <a:srgbClr val="FFFFFF"/>
                  </a:outerShdw>
                </a:effectLst>
              </a:rPr>
              <a:t>	a.  addition of N</a:t>
            </a:r>
            <a:r>
              <a:rPr lang="en-US" baseline="-25000" noProof="1">
                <a:effectLst>
                  <a:outerShdw blurRad="38100" dist="38100" dir="2700000" algn="tl">
                    <a:srgbClr val="FFFFFF"/>
                  </a:outerShdw>
                </a:effectLst>
              </a:rPr>
              <a:t>2</a:t>
            </a:r>
            <a:br>
              <a:rPr lang="en-US" noProof="1">
                <a:effectLst>
                  <a:outerShdw blurRad="38100" dist="38100" dir="2700000" algn="tl">
                    <a:srgbClr val="FFFFFF"/>
                  </a:outerShdw>
                </a:effectLst>
              </a:rPr>
            </a:br>
            <a:r>
              <a:rPr lang="en-US" noProof="1">
                <a:effectLst>
                  <a:outerShdw blurRad="38100" dist="38100" dir="2700000" algn="tl">
                    <a:srgbClr val="FFFFFF"/>
                  </a:outerShdw>
                </a:effectLst>
              </a:rPr>
              <a:t>	b.  addition of NH</a:t>
            </a:r>
            <a:r>
              <a:rPr lang="en-US" baseline="-25000" noProof="1">
                <a:effectLst>
                  <a:outerShdw blurRad="38100" dist="38100" dir="2700000" algn="tl">
                    <a:srgbClr val="FFFFFF"/>
                  </a:outerShdw>
                </a:effectLst>
              </a:rPr>
              <a:t>3</a:t>
            </a:r>
            <a:br>
              <a:rPr lang="en-US" noProof="1">
                <a:effectLst>
                  <a:outerShdw blurRad="38100" dist="38100" dir="2700000" algn="tl">
                    <a:srgbClr val="FFFFFF"/>
                  </a:outerShdw>
                </a:effectLst>
              </a:rPr>
            </a:br>
            <a:r>
              <a:rPr lang="en-US" noProof="1">
                <a:effectLst>
                  <a:outerShdw blurRad="38100" dist="38100" dir="2700000" algn="tl">
                    <a:srgbClr val="FFFFFF"/>
                  </a:outerShdw>
                </a:effectLst>
              </a:rPr>
              <a:t>	c.  addition of H</a:t>
            </a:r>
            <a:r>
              <a:rPr lang="en-US" baseline="-25000" noProof="1">
                <a:effectLst>
                  <a:outerShdw blurRad="38100" dist="38100" dir="2700000" algn="tl">
                    <a:srgbClr val="FFFFFF"/>
                  </a:outerShdw>
                </a:effectLst>
              </a:rPr>
              <a:t>2</a:t>
            </a:r>
            <a:br>
              <a:rPr lang="en-US" noProof="1">
                <a:effectLst>
                  <a:outerShdw blurRad="38100" dist="38100" dir="2700000" algn="tl">
                    <a:srgbClr val="FFFFFF"/>
                  </a:outerShdw>
                </a:effectLst>
              </a:rPr>
            </a:br>
            <a:r>
              <a:rPr lang="en-US" noProof="1">
                <a:effectLst>
                  <a:outerShdw blurRad="38100" dist="38100" dir="2700000" algn="tl">
                    <a:srgbClr val="FFFFFF"/>
                  </a:outerShdw>
                </a:effectLst>
              </a:rPr>
              <a:t>	d.  removal of NH</a:t>
            </a:r>
            <a:r>
              <a:rPr lang="en-US" baseline="-25000" noProof="1">
                <a:effectLst>
                  <a:outerShdw blurRad="38100" dist="38100" dir="2700000" algn="tl">
                    <a:srgbClr val="FFFFFF"/>
                  </a:outerShdw>
                </a:effectLst>
              </a:rPr>
              <a:t>3</a:t>
            </a:r>
            <a:endParaRPr lang="en-US" dirty="0"/>
          </a:p>
        </p:txBody>
      </p:sp>
    </p:spTree>
    <p:extLst>
      <p:ext uri="{BB962C8B-B14F-4D97-AF65-F5344CB8AC3E}">
        <p14:creationId xmlns:p14="http://schemas.microsoft.com/office/powerpoint/2010/main" val="412718373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8600" y="8792"/>
            <a:ext cx="11582400" cy="1417638"/>
          </a:xfrm>
        </p:spPr>
        <p:txBody>
          <a:bodyPr>
            <a:normAutofit/>
          </a:bodyPr>
          <a:lstStyle/>
          <a:p>
            <a:r>
              <a:rPr lang="en-US" sz="3600" b="1" noProof="1"/>
              <a:t>STRESS: Changes in pressure or volume- only gases affected</a:t>
            </a:r>
            <a:endParaRPr lang="en-US" sz="3600" b="1" dirty="0"/>
          </a:p>
        </p:txBody>
      </p:sp>
      <p:sp>
        <p:nvSpPr>
          <p:cNvPr id="3" name="Content Placeholder 2"/>
          <p:cNvSpPr>
            <a:spLocks noGrp="1"/>
          </p:cNvSpPr>
          <p:nvPr>
            <p:ph idx="1"/>
          </p:nvPr>
        </p:nvSpPr>
        <p:spPr/>
        <p:txBody>
          <a:bodyPr>
            <a:normAutofit fontScale="92500" lnSpcReduction="20000"/>
          </a:bodyPr>
          <a:lstStyle/>
          <a:p>
            <a:pPr marL="0" indent="0">
              <a:buNone/>
            </a:pPr>
            <a:br>
              <a:rPr lang="en-US" noProof="1"/>
            </a:br>
            <a:r>
              <a:rPr lang="en-US" noProof="1"/>
              <a:t>Changes in pressure only affect equilibrium systems having </a:t>
            </a:r>
            <a:r>
              <a:rPr lang="en-US" noProof="1">
                <a:solidFill>
                  <a:srgbClr val="FF0000"/>
                </a:solidFill>
              </a:rPr>
              <a:t>gaseous</a:t>
            </a:r>
            <a:r>
              <a:rPr lang="en-US" noProof="1"/>
              <a:t> products and/or reactants.</a:t>
            </a:r>
            <a:br>
              <a:rPr lang="en-US" noProof="1"/>
            </a:br>
            <a:r>
              <a:rPr lang="en-US" noProof="1"/>
              <a:t>     </a:t>
            </a:r>
            <a:br>
              <a:rPr lang="en-US" noProof="1"/>
            </a:br>
            <a:r>
              <a:rPr lang="en-US" noProof="1"/>
              <a:t>Increasing the pressure/decreasing the volume of a gaseous system will cause equilibrium to shift to the side with </a:t>
            </a:r>
            <a:r>
              <a:rPr lang="en-US" noProof="1">
                <a:solidFill>
                  <a:srgbClr val="FF0000"/>
                </a:solidFill>
              </a:rPr>
              <a:t>fewer</a:t>
            </a:r>
            <a:r>
              <a:rPr lang="en-US" noProof="1"/>
              <a:t> gas particles.  </a:t>
            </a:r>
            <a:br>
              <a:rPr lang="en-US" noProof="1"/>
            </a:br>
            <a:br>
              <a:rPr lang="en-US" noProof="1"/>
            </a:br>
            <a:r>
              <a:rPr lang="en-US" noProof="1"/>
              <a:t>Decreasing the pressure/increasing the volume of a gaseous system will cause equilibrium to shift to the side with </a:t>
            </a:r>
            <a:r>
              <a:rPr lang="en-US" noProof="1">
                <a:solidFill>
                  <a:srgbClr val="FF0000"/>
                </a:solidFill>
              </a:rPr>
              <a:t>more</a:t>
            </a:r>
            <a:r>
              <a:rPr lang="en-US" noProof="1"/>
              <a:t> gas particles.</a:t>
            </a:r>
            <a:br>
              <a:rPr lang="en-US" noProof="1"/>
            </a:br>
            <a:br>
              <a:rPr lang="en-US" noProof="1"/>
            </a:br>
            <a:endParaRPr lang="en-US" dirty="0"/>
          </a:p>
        </p:txBody>
      </p:sp>
    </p:spTree>
    <p:extLst>
      <p:ext uri="{BB962C8B-B14F-4D97-AF65-F5344CB8AC3E}">
        <p14:creationId xmlns:p14="http://schemas.microsoft.com/office/powerpoint/2010/main" val="340120373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ChangeArrowheads="1"/>
          </p:cNvSpPr>
          <p:nvPr>
            <p:ph type="title"/>
          </p:nvPr>
        </p:nvSpPr>
        <p:spPr>
          <a:xfrm>
            <a:off x="1143000" y="2895600"/>
            <a:ext cx="9753600" cy="1143000"/>
          </a:xfrm>
        </p:spPr>
        <p:txBody>
          <a:bodyPr>
            <a:normAutofit fontScale="90000"/>
          </a:bodyPr>
          <a:lstStyle/>
          <a:p>
            <a:pPr algn="l">
              <a:defRPr/>
            </a:pPr>
            <a:r>
              <a:rPr lang="en-US" sz="3200" noProof="1"/>
              <a:t>If the system has the </a:t>
            </a:r>
            <a:r>
              <a:rPr lang="en-US" sz="3200" noProof="1">
                <a:solidFill>
                  <a:srgbClr val="FF0000"/>
                </a:solidFill>
              </a:rPr>
              <a:t>same</a:t>
            </a:r>
            <a:r>
              <a:rPr lang="en-US" sz="3200" noProof="1"/>
              <a:t> number of moles of gas on each side, changes in pressure do not affect equilibrium.</a:t>
            </a:r>
            <a:br>
              <a:rPr lang="en-US" sz="3200" noProof="1"/>
            </a:br>
            <a:br>
              <a:rPr lang="en-US" sz="3200" noProof="1"/>
            </a:br>
            <a:r>
              <a:rPr lang="en-US" sz="3200" noProof="1"/>
              <a:t>Adding an </a:t>
            </a:r>
            <a:r>
              <a:rPr lang="en-US" sz="3200" noProof="1">
                <a:solidFill>
                  <a:srgbClr val="FF0000"/>
                </a:solidFill>
              </a:rPr>
              <a:t>inert</a:t>
            </a:r>
            <a:r>
              <a:rPr lang="en-US" sz="3200" noProof="1"/>
              <a:t> gas does not affect equilibrium since the partial pressures of the gases in the reaction are not affected.  </a:t>
            </a:r>
            <a:br>
              <a:rPr lang="en-US" sz="3200" noProof="1"/>
            </a:br>
            <a:br>
              <a:rPr lang="en-US" sz="3200" noProof="1"/>
            </a:br>
            <a:r>
              <a:rPr lang="en-US" sz="3200" noProof="1"/>
              <a:t>Changing pressure does not affect the </a:t>
            </a:r>
            <a:r>
              <a:rPr lang="en-US" sz="3200" noProof="1">
                <a:solidFill>
                  <a:srgbClr val="FF0000"/>
                </a:solidFill>
              </a:rPr>
              <a:t>value</a:t>
            </a:r>
            <a:r>
              <a:rPr lang="en-US" sz="3200" noProof="1"/>
              <a:t> of the equilibrium constant.</a:t>
            </a:r>
            <a:br>
              <a:rPr lang="en-US" sz="3200" noProof="1"/>
            </a:br>
            <a:endParaRPr lang="en-US" noProof="1">
              <a:solidFill>
                <a:schemeClr val="tx1"/>
              </a:solidFill>
              <a:effectLst>
                <a:outerShdw blurRad="38100" dist="38100" dir="2700000" algn="tl">
                  <a:srgbClr val="FFFFFF"/>
                </a:outerShdw>
              </a:effectLst>
            </a:endParaRPr>
          </a:p>
        </p:txBody>
      </p:sp>
    </p:spTree>
    <p:extLst>
      <p:ext uri="{BB962C8B-B14F-4D97-AF65-F5344CB8AC3E}">
        <p14:creationId xmlns:p14="http://schemas.microsoft.com/office/powerpoint/2010/main" val="14489943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81000"/>
            <a:ext cx="10972800" cy="487362"/>
          </a:xfrm>
        </p:spPr>
        <p:txBody>
          <a:bodyPr>
            <a:normAutofit fontScale="90000"/>
          </a:bodyPr>
          <a:lstStyle/>
          <a:p>
            <a:r>
              <a:rPr lang="en-US" noProof="1">
                <a:effectLst>
                  <a:outerShdw blurRad="38100" dist="38100" dir="2700000" algn="tl">
                    <a:srgbClr val="FFFFFF"/>
                  </a:outerShdw>
                </a:effectLst>
              </a:rPr>
              <a:t>Example: determine the direction of shift in response to each action</a:t>
            </a:r>
            <a:endParaRPr lang="en-US" dirty="0"/>
          </a:p>
        </p:txBody>
      </p:sp>
      <p:sp>
        <p:nvSpPr>
          <p:cNvPr id="3" name="Content Placeholder 2"/>
          <p:cNvSpPr>
            <a:spLocks noGrp="1"/>
          </p:cNvSpPr>
          <p:nvPr>
            <p:ph idx="1"/>
          </p:nvPr>
        </p:nvSpPr>
        <p:spPr>
          <a:xfrm>
            <a:off x="609600" y="1524000"/>
            <a:ext cx="10972800" cy="5029199"/>
          </a:xfrm>
        </p:spPr>
        <p:txBody>
          <a:bodyPr>
            <a:normAutofit lnSpcReduction="10000"/>
          </a:bodyPr>
          <a:lstStyle/>
          <a:p>
            <a:pPr marL="0" indent="0">
              <a:buNone/>
            </a:pPr>
            <a:r>
              <a:rPr lang="en-US" noProof="1">
                <a:effectLst>
                  <a:outerShdw blurRad="38100" dist="38100" dir="2700000" algn="tl">
                    <a:srgbClr val="FFFFFF"/>
                  </a:outerShdw>
                </a:effectLst>
              </a:rPr>
              <a:t>P</a:t>
            </a:r>
            <a:r>
              <a:rPr lang="en-US" baseline="-25000" noProof="1">
                <a:effectLst>
                  <a:outerShdw blurRad="38100" dist="38100" dir="2700000" algn="tl">
                    <a:srgbClr val="FFFFFF"/>
                  </a:outerShdw>
                </a:effectLst>
              </a:rPr>
              <a:t>4</a:t>
            </a:r>
            <a:r>
              <a:rPr lang="en-US" noProof="1">
                <a:effectLst>
                  <a:outerShdw blurRad="38100" dist="38100" dir="2700000" algn="tl">
                    <a:srgbClr val="FFFFFF"/>
                  </a:outerShdw>
                </a:effectLst>
              </a:rPr>
              <a:t>(</a:t>
            </a:r>
            <a:r>
              <a:rPr lang="en-US" i="1" noProof="1">
                <a:effectLst>
                  <a:outerShdw blurRad="38100" dist="38100" dir="2700000" algn="tl">
                    <a:srgbClr val="FFFFFF"/>
                  </a:outerShdw>
                </a:effectLst>
              </a:rPr>
              <a:t>s</a:t>
            </a:r>
            <a:r>
              <a:rPr lang="en-US" noProof="1">
                <a:effectLst>
                  <a:outerShdw blurRad="38100" dist="38100" dir="2700000" algn="tl">
                    <a:srgbClr val="FFFFFF"/>
                  </a:outerShdw>
                </a:effectLst>
              </a:rPr>
              <a:t>) + 6Cl</a:t>
            </a:r>
            <a:r>
              <a:rPr lang="en-US" baseline="-25000" noProof="1">
                <a:effectLst>
                  <a:outerShdw blurRad="38100" dist="38100" dir="2700000" algn="tl">
                    <a:srgbClr val="FFFFFF"/>
                  </a:outerShdw>
                </a:effectLst>
              </a:rPr>
              <a:t>2</a:t>
            </a:r>
            <a:r>
              <a:rPr lang="en-US" noProof="1">
                <a:effectLst>
                  <a:outerShdw blurRad="38100" dist="38100" dir="2700000" algn="tl">
                    <a:srgbClr val="FFFFFF"/>
                  </a:outerShdw>
                </a:effectLst>
              </a:rPr>
              <a:t>(</a:t>
            </a:r>
            <a:r>
              <a:rPr lang="en-US" i="1" noProof="1">
                <a:effectLst>
                  <a:outerShdw blurRad="38100" dist="38100" dir="2700000" algn="tl">
                    <a:srgbClr val="FFFFFF"/>
                  </a:outerShdw>
                </a:effectLst>
              </a:rPr>
              <a:t>g</a:t>
            </a:r>
            <a:r>
              <a:rPr lang="en-US" noProof="1">
                <a:effectLst>
                  <a:outerShdw blurRad="38100" dist="38100" dir="2700000" algn="tl">
                    <a:srgbClr val="FFFFFF"/>
                  </a:outerShdw>
                </a:effectLst>
              </a:rPr>
              <a:t>) </a:t>
            </a:r>
            <a:r>
              <a:rPr lang="en-US" noProof="1">
                <a:effectLst>
                  <a:outerShdw blurRad="38100" dist="38100" dir="2700000" algn="tl">
                    <a:srgbClr val="FFFFFF"/>
                  </a:outerShdw>
                </a:effectLst>
                <a:sym typeface="Wingdings 3" pitchFamily="18" charset="2"/>
              </a:rPr>
              <a:t></a:t>
            </a:r>
            <a:r>
              <a:rPr lang="en-US" noProof="1">
                <a:effectLst>
                  <a:outerShdw blurRad="38100" dist="38100" dir="2700000" algn="tl">
                    <a:srgbClr val="FFFFFF"/>
                  </a:outerShdw>
                </a:effectLst>
              </a:rPr>
              <a:t> 4PCl</a:t>
            </a:r>
            <a:r>
              <a:rPr lang="en-US" baseline="-25000" noProof="1">
                <a:effectLst>
                  <a:outerShdw blurRad="38100" dist="38100" dir="2700000" algn="tl">
                    <a:srgbClr val="FFFFFF"/>
                  </a:outerShdw>
                </a:effectLst>
              </a:rPr>
              <a:t>3</a:t>
            </a:r>
            <a:r>
              <a:rPr lang="en-US" noProof="1">
                <a:effectLst>
                  <a:outerShdw blurRad="38100" dist="38100" dir="2700000" algn="tl">
                    <a:srgbClr val="FFFFFF"/>
                  </a:outerShdw>
                </a:effectLst>
              </a:rPr>
              <a:t>(</a:t>
            </a:r>
            <a:r>
              <a:rPr lang="en-US" i="1" noProof="1">
                <a:effectLst>
                  <a:outerShdw blurRad="38100" dist="38100" dir="2700000" algn="tl">
                    <a:srgbClr val="FFFFFF"/>
                  </a:outerShdw>
                </a:effectLst>
              </a:rPr>
              <a:t>l</a:t>
            </a:r>
            <a:r>
              <a:rPr lang="en-US" noProof="1">
                <a:effectLst>
                  <a:outerShdw blurRad="38100" dist="38100" dir="2700000" algn="tl">
                    <a:srgbClr val="FFFFFF"/>
                  </a:outerShdw>
                </a:effectLst>
              </a:rPr>
              <a:t>)</a:t>
            </a:r>
            <a:br>
              <a:rPr lang="en-US" noProof="1">
                <a:effectLst>
                  <a:outerShdw blurRad="38100" dist="38100" dir="2700000" algn="tl">
                    <a:srgbClr val="FFFFFF"/>
                  </a:outerShdw>
                </a:effectLst>
              </a:rPr>
            </a:br>
            <a:r>
              <a:rPr lang="en-US" noProof="1">
                <a:effectLst>
                  <a:outerShdw blurRad="38100" dist="38100" dir="2700000" algn="tl">
                    <a:srgbClr val="FFFFFF"/>
                  </a:outerShdw>
                </a:effectLst>
              </a:rPr>
              <a:t>	a.  increase container volume</a:t>
            </a:r>
            <a:br>
              <a:rPr lang="en-US" noProof="1">
                <a:effectLst>
                  <a:outerShdw blurRad="38100" dist="38100" dir="2700000" algn="tl">
                    <a:srgbClr val="FFFFFF"/>
                  </a:outerShdw>
                </a:effectLst>
              </a:rPr>
            </a:br>
            <a:r>
              <a:rPr lang="en-US" noProof="1">
                <a:effectLst>
                  <a:outerShdw blurRad="38100" dist="38100" dir="2700000" algn="tl">
                    <a:srgbClr val="FFFFFF"/>
                  </a:outerShdw>
                </a:effectLst>
              </a:rPr>
              <a:t>	b.  decrease container volume</a:t>
            </a:r>
            <a:br>
              <a:rPr lang="en-US" noProof="1">
                <a:effectLst>
                  <a:outerShdw blurRad="38100" dist="38100" dir="2700000" algn="tl">
                    <a:srgbClr val="FFFFFF"/>
                  </a:outerShdw>
                </a:effectLst>
              </a:rPr>
            </a:br>
            <a:r>
              <a:rPr lang="en-US" noProof="1">
                <a:effectLst>
                  <a:outerShdw blurRad="38100" dist="38100" dir="2700000" algn="tl">
                    <a:srgbClr val="FFFFFF"/>
                  </a:outerShdw>
                </a:effectLst>
              </a:rPr>
              <a:t>	c.  add argon gas</a:t>
            </a:r>
            <a:br>
              <a:rPr lang="en-US" noProof="1">
                <a:effectLst>
                  <a:outerShdw blurRad="38100" dist="38100" dir="2700000" algn="tl">
                    <a:srgbClr val="FFFFFF"/>
                  </a:outerShdw>
                </a:effectLst>
              </a:rPr>
            </a:br>
            <a:br>
              <a:rPr lang="en-US" noProof="1">
                <a:effectLst>
                  <a:outerShdw blurRad="38100" dist="38100" dir="2700000" algn="tl">
                    <a:srgbClr val="FFFFFF"/>
                  </a:outerShdw>
                </a:effectLst>
              </a:rPr>
            </a:br>
            <a:r>
              <a:rPr lang="en-US" noProof="1">
                <a:effectLst>
                  <a:outerShdw blurRad="38100" dist="38100" dir="2700000" algn="tl">
                    <a:srgbClr val="FFFFFF"/>
                  </a:outerShdw>
                </a:effectLst>
              </a:rPr>
              <a:t>Example:  PCl</a:t>
            </a:r>
            <a:r>
              <a:rPr lang="en-US" baseline="-25000" noProof="1">
                <a:effectLst>
                  <a:outerShdw blurRad="38100" dist="38100" dir="2700000" algn="tl">
                    <a:srgbClr val="FFFFFF"/>
                  </a:outerShdw>
                </a:effectLst>
              </a:rPr>
              <a:t>3</a:t>
            </a:r>
            <a:r>
              <a:rPr lang="en-US" noProof="1">
                <a:effectLst>
                  <a:outerShdw blurRad="38100" dist="38100" dir="2700000" algn="tl">
                    <a:srgbClr val="FFFFFF"/>
                  </a:outerShdw>
                </a:effectLst>
              </a:rPr>
              <a:t>(</a:t>
            </a:r>
            <a:r>
              <a:rPr lang="en-US" i="1" noProof="1">
                <a:effectLst>
                  <a:outerShdw blurRad="38100" dist="38100" dir="2700000" algn="tl">
                    <a:srgbClr val="FFFFFF"/>
                  </a:outerShdw>
                </a:effectLst>
              </a:rPr>
              <a:t>g</a:t>
            </a:r>
            <a:r>
              <a:rPr lang="en-US" noProof="1">
                <a:effectLst>
                  <a:outerShdw blurRad="38100" dist="38100" dir="2700000" algn="tl">
                    <a:srgbClr val="FFFFFF"/>
                  </a:outerShdw>
                </a:effectLst>
              </a:rPr>
              <a:t>) + Cl</a:t>
            </a:r>
            <a:r>
              <a:rPr lang="en-US" baseline="-25000" noProof="1">
                <a:effectLst>
                  <a:outerShdw blurRad="38100" dist="38100" dir="2700000" algn="tl">
                    <a:srgbClr val="FFFFFF"/>
                  </a:outerShdw>
                </a:effectLst>
              </a:rPr>
              <a:t>2</a:t>
            </a:r>
            <a:r>
              <a:rPr lang="en-US" noProof="1">
                <a:effectLst>
                  <a:outerShdw blurRad="38100" dist="38100" dir="2700000" algn="tl">
                    <a:srgbClr val="FFFFFF"/>
                  </a:outerShdw>
                </a:effectLst>
              </a:rPr>
              <a:t>(</a:t>
            </a:r>
            <a:r>
              <a:rPr lang="en-US" i="1" noProof="1">
                <a:effectLst>
                  <a:outerShdw blurRad="38100" dist="38100" dir="2700000" algn="tl">
                    <a:srgbClr val="FFFFFF"/>
                  </a:outerShdw>
                </a:effectLst>
              </a:rPr>
              <a:t>g</a:t>
            </a:r>
            <a:r>
              <a:rPr lang="en-US" noProof="1">
                <a:effectLst>
                  <a:outerShdw blurRad="38100" dist="38100" dir="2700000" algn="tl">
                    <a:srgbClr val="FFFFFF"/>
                  </a:outerShdw>
                </a:effectLst>
              </a:rPr>
              <a:t>) </a:t>
            </a:r>
            <a:r>
              <a:rPr lang="en-US" noProof="1">
                <a:effectLst>
                  <a:outerShdw blurRad="38100" dist="38100" dir="2700000" algn="tl">
                    <a:srgbClr val="FFFFFF"/>
                  </a:outerShdw>
                </a:effectLst>
                <a:sym typeface="Wingdings 3" pitchFamily="18" charset="2"/>
              </a:rPr>
              <a:t></a:t>
            </a:r>
            <a:r>
              <a:rPr lang="en-US" noProof="1">
                <a:effectLst>
                  <a:outerShdw blurRad="38100" dist="38100" dir="2700000" algn="tl">
                    <a:srgbClr val="FFFFFF"/>
                  </a:outerShdw>
                </a:effectLst>
              </a:rPr>
              <a:t> PCl</a:t>
            </a:r>
            <a:r>
              <a:rPr lang="en-US" baseline="-25000" noProof="1">
                <a:effectLst>
                  <a:outerShdw blurRad="38100" dist="38100" dir="2700000" algn="tl">
                    <a:srgbClr val="FFFFFF"/>
                  </a:outerShdw>
                </a:effectLst>
              </a:rPr>
              <a:t>5</a:t>
            </a:r>
            <a:r>
              <a:rPr lang="en-US" noProof="1">
                <a:effectLst>
                  <a:outerShdw blurRad="38100" dist="38100" dir="2700000" algn="tl">
                    <a:srgbClr val="FFFFFF"/>
                  </a:outerShdw>
                </a:effectLst>
              </a:rPr>
              <a:t>(</a:t>
            </a:r>
            <a:r>
              <a:rPr lang="en-US" i="1" noProof="1">
                <a:effectLst>
                  <a:outerShdw blurRad="38100" dist="38100" dir="2700000" algn="tl">
                    <a:srgbClr val="FFFFFF"/>
                  </a:outerShdw>
                </a:effectLst>
              </a:rPr>
              <a:t>g</a:t>
            </a:r>
            <a:r>
              <a:rPr lang="en-US" noProof="1">
                <a:effectLst>
                  <a:outerShdw blurRad="38100" dist="38100" dir="2700000" algn="tl">
                    <a:srgbClr val="FFFFFF"/>
                  </a:outerShdw>
                </a:effectLst>
              </a:rPr>
              <a:t>)</a:t>
            </a:r>
            <a:br>
              <a:rPr lang="en-US" noProof="1">
                <a:effectLst>
                  <a:outerShdw blurRad="38100" dist="38100" dir="2700000" algn="tl">
                    <a:srgbClr val="FFFFFF"/>
                  </a:outerShdw>
                </a:effectLst>
              </a:rPr>
            </a:br>
            <a:r>
              <a:rPr lang="en-US" noProof="1">
                <a:effectLst>
                  <a:outerShdw blurRad="38100" dist="38100" dir="2700000" algn="tl">
                    <a:srgbClr val="FFFFFF"/>
                  </a:outerShdw>
                </a:effectLst>
              </a:rPr>
              <a:t>	a.  decrease container volume</a:t>
            </a:r>
            <a:br>
              <a:rPr lang="en-US" noProof="1">
                <a:effectLst>
                  <a:outerShdw blurRad="38100" dist="38100" dir="2700000" algn="tl">
                    <a:srgbClr val="FFFFFF"/>
                  </a:outerShdw>
                </a:effectLst>
              </a:rPr>
            </a:br>
            <a:r>
              <a:rPr lang="en-US" noProof="1">
                <a:effectLst>
                  <a:outerShdw blurRad="38100" dist="38100" dir="2700000" algn="tl">
                    <a:srgbClr val="FFFFFF"/>
                  </a:outerShdw>
                </a:effectLst>
              </a:rPr>
              <a:t>	b.  add helium gas</a:t>
            </a:r>
            <a:br>
              <a:rPr lang="en-US" noProof="1">
                <a:effectLst>
                  <a:outerShdw blurRad="38100" dist="38100" dir="2700000" algn="tl">
                    <a:srgbClr val="FFFFFF"/>
                  </a:outerShdw>
                </a:effectLst>
              </a:rPr>
            </a:br>
            <a:br>
              <a:rPr lang="en-US" noProof="1">
                <a:effectLst>
                  <a:outerShdw blurRad="38100" dist="38100" dir="2700000" algn="tl">
                    <a:srgbClr val="FFFFFF"/>
                  </a:outerShdw>
                </a:effectLst>
              </a:rPr>
            </a:br>
            <a:r>
              <a:rPr lang="en-US" noProof="1">
                <a:effectLst>
                  <a:outerShdw blurRad="38100" dist="38100" dir="2700000" algn="tl">
                    <a:srgbClr val="FFFFFF"/>
                  </a:outerShdw>
                </a:effectLst>
              </a:rPr>
              <a:t>Example:  PCl</a:t>
            </a:r>
            <a:r>
              <a:rPr lang="en-US" baseline="-25000" noProof="1">
                <a:effectLst>
                  <a:outerShdw blurRad="38100" dist="38100" dir="2700000" algn="tl">
                    <a:srgbClr val="FFFFFF"/>
                  </a:outerShdw>
                </a:effectLst>
              </a:rPr>
              <a:t>3</a:t>
            </a:r>
            <a:r>
              <a:rPr lang="en-US" noProof="1">
                <a:effectLst>
                  <a:outerShdw blurRad="38100" dist="38100" dir="2700000" algn="tl">
                    <a:srgbClr val="FFFFFF"/>
                  </a:outerShdw>
                </a:effectLst>
              </a:rPr>
              <a:t>(</a:t>
            </a:r>
            <a:r>
              <a:rPr lang="en-US" i="1" noProof="1">
                <a:effectLst>
                  <a:outerShdw blurRad="38100" dist="38100" dir="2700000" algn="tl">
                    <a:srgbClr val="FFFFFF"/>
                  </a:outerShdw>
                </a:effectLst>
              </a:rPr>
              <a:t>g</a:t>
            </a:r>
            <a:r>
              <a:rPr lang="en-US" noProof="1">
                <a:effectLst>
                  <a:outerShdw blurRad="38100" dist="38100" dir="2700000" algn="tl">
                    <a:srgbClr val="FFFFFF"/>
                  </a:outerShdw>
                </a:effectLst>
              </a:rPr>
              <a:t>) + 3NH</a:t>
            </a:r>
            <a:r>
              <a:rPr lang="en-US" baseline="-25000" noProof="1">
                <a:effectLst>
                  <a:outerShdw blurRad="38100" dist="38100" dir="2700000" algn="tl">
                    <a:srgbClr val="FFFFFF"/>
                  </a:outerShdw>
                </a:effectLst>
              </a:rPr>
              <a:t>3</a:t>
            </a:r>
            <a:r>
              <a:rPr lang="en-US" noProof="1">
                <a:effectLst>
                  <a:outerShdw blurRad="38100" dist="38100" dir="2700000" algn="tl">
                    <a:srgbClr val="FFFFFF"/>
                  </a:outerShdw>
                </a:effectLst>
              </a:rPr>
              <a:t>(</a:t>
            </a:r>
            <a:r>
              <a:rPr lang="en-US" i="1" noProof="1">
                <a:effectLst>
                  <a:outerShdw blurRad="38100" dist="38100" dir="2700000" algn="tl">
                    <a:srgbClr val="FFFFFF"/>
                  </a:outerShdw>
                </a:effectLst>
              </a:rPr>
              <a:t>g</a:t>
            </a:r>
            <a:r>
              <a:rPr lang="en-US" noProof="1">
                <a:effectLst>
                  <a:outerShdw blurRad="38100" dist="38100" dir="2700000" algn="tl">
                    <a:srgbClr val="FFFFFF"/>
                  </a:outerShdw>
                </a:effectLst>
              </a:rPr>
              <a:t>) </a:t>
            </a:r>
            <a:r>
              <a:rPr lang="en-US" noProof="1">
                <a:effectLst>
                  <a:outerShdw blurRad="38100" dist="38100" dir="2700000" algn="tl">
                    <a:srgbClr val="FFFFFF"/>
                  </a:outerShdw>
                </a:effectLst>
                <a:sym typeface="Wingdings 3" pitchFamily="18" charset="2"/>
              </a:rPr>
              <a:t></a:t>
            </a:r>
            <a:r>
              <a:rPr lang="en-US" noProof="1">
                <a:effectLst>
                  <a:outerShdw blurRad="38100" dist="38100" dir="2700000" algn="tl">
                    <a:srgbClr val="FFFFFF"/>
                  </a:outerShdw>
                </a:effectLst>
              </a:rPr>
              <a:t> P(NH</a:t>
            </a:r>
            <a:r>
              <a:rPr lang="en-US" baseline="-25000" noProof="1">
                <a:effectLst>
                  <a:outerShdw blurRad="38100" dist="38100" dir="2700000" algn="tl">
                    <a:srgbClr val="FFFFFF"/>
                  </a:outerShdw>
                </a:effectLst>
              </a:rPr>
              <a:t>2</a:t>
            </a:r>
            <a:r>
              <a:rPr lang="en-US" noProof="1">
                <a:effectLst>
                  <a:outerShdw blurRad="38100" dist="38100" dir="2700000" algn="tl">
                    <a:srgbClr val="FFFFFF"/>
                  </a:outerShdw>
                </a:effectLst>
              </a:rPr>
              <a:t>)</a:t>
            </a:r>
            <a:r>
              <a:rPr lang="en-US" baseline="-25000" noProof="1">
                <a:effectLst>
                  <a:outerShdw blurRad="38100" dist="38100" dir="2700000" algn="tl">
                    <a:srgbClr val="FFFFFF"/>
                  </a:outerShdw>
                </a:effectLst>
              </a:rPr>
              <a:t>3</a:t>
            </a:r>
            <a:r>
              <a:rPr lang="en-US" noProof="1">
                <a:effectLst>
                  <a:outerShdw blurRad="38100" dist="38100" dir="2700000" algn="tl">
                    <a:srgbClr val="FFFFFF"/>
                  </a:outerShdw>
                </a:effectLst>
              </a:rPr>
              <a:t>(</a:t>
            </a:r>
            <a:r>
              <a:rPr lang="en-US" i="1" noProof="1">
                <a:effectLst>
                  <a:outerShdw blurRad="38100" dist="38100" dir="2700000" algn="tl">
                    <a:srgbClr val="FFFFFF"/>
                  </a:outerShdw>
                </a:effectLst>
              </a:rPr>
              <a:t>g</a:t>
            </a:r>
            <a:r>
              <a:rPr lang="en-US" noProof="1">
                <a:effectLst>
                  <a:outerShdw blurRad="38100" dist="38100" dir="2700000" algn="tl">
                    <a:srgbClr val="FFFFFF"/>
                  </a:outerShdw>
                </a:effectLst>
              </a:rPr>
              <a:t>) + 3HCl(</a:t>
            </a:r>
            <a:r>
              <a:rPr lang="en-US" i="1" noProof="1">
                <a:effectLst>
                  <a:outerShdw blurRad="38100" dist="38100" dir="2700000" algn="tl">
                    <a:srgbClr val="FFFFFF"/>
                  </a:outerShdw>
                </a:effectLst>
              </a:rPr>
              <a:t>g</a:t>
            </a:r>
            <a:r>
              <a:rPr lang="en-US" noProof="1">
                <a:effectLst>
                  <a:outerShdw blurRad="38100" dist="38100" dir="2700000" algn="tl">
                    <a:srgbClr val="FFFFFF"/>
                  </a:outerShdw>
                </a:effectLst>
              </a:rPr>
              <a:t>)</a:t>
            </a:r>
            <a:br>
              <a:rPr lang="en-US" noProof="1">
                <a:effectLst>
                  <a:outerShdw blurRad="38100" dist="38100" dir="2700000" algn="tl">
                    <a:srgbClr val="FFFFFF"/>
                  </a:outerShdw>
                </a:effectLst>
              </a:rPr>
            </a:br>
            <a:r>
              <a:rPr lang="en-US" noProof="1">
                <a:effectLst>
                  <a:outerShdw blurRad="38100" dist="38100" dir="2700000" algn="tl">
                    <a:srgbClr val="FFFFFF"/>
                  </a:outerShdw>
                </a:effectLst>
              </a:rPr>
              <a:t>	a.  increase  container volume</a:t>
            </a:r>
            <a:endParaRPr lang="en-US" dirty="0"/>
          </a:p>
        </p:txBody>
      </p:sp>
    </p:spTree>
    <p:extLst>
      <p:ext uri="{BB962C8B-B14F-4D97-AF65-F5344CB8AC3E}">
        <p14:creationId xmlns:p14="http://schemas.microsoft.com/office/powerpoint/2010/main" val="109908540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noProof="1"/>
              <a:t>STRESS: Changes in temperature</a:t>
            </a:r>
            <a:endParaRPr lang="en-US" b="1" dirty="0"/>
          </a:p>
        </p:txBody>
      </p:sp>
      <p:sp>
        <p:nvSpPr>
          <p:cNvPr id="3" name="Content Placeholder 2"/>
          <p:cNvSpPr>
            <a:spLocks noGrp="1"/>
          </p:cNvSpPr>
          <p:nvPr>
            <p:ph idx="1"/>
          </p:nvPr>
        </p:nvSpPr>
        <p:spPr>
          <a:xfrm>
            <a:off x="381000" y="1600201"/>
            <a:ext cx="11201400" cy="4525963"/>
          </a:xfrm>
        </p:spPr>
        <p:txBody>
          <a:bodyPr/>
          <a:lstStyle/>
          <a:p>
            <a:pPr marL="0" indent="0">
              <a:buNone/>
            </a:pPr>
            <a:r>
              <a:rPr lang="en-US" noProof="1"/>
              <a:t>Changes in temperature may easily be treated as changes in concentration if you think of </a:t>
            </a:r>
            <a:r>
              <a:rPr lang="en-US" noProof="1">
                <a:solidFill>
                  <a:srgbClr val="FF0000"/>
                </a:solidFill>
              </a:rPr>
              <a:t>heat</a:t>
            </a:r>
            <a:r>
              <a:rPr lang="en-US" noProof="1"/>
              <a:t> as a product (exothermic rxn) or a reactant (endothermic rxn).</a:t>
            </a:r>
          </a:p>
          <a:p>
            <a:pPr marL="0" indent="0">
              <a:buNone/>
            </a:pPr>
            <a:endParaRPr lang="en-US" noProof="1"/>
          </a:p>
          <a:p>
            <a:pPr marL="0" indent="0">
              <a:buNone/>
            </a:pPr>
            <a:r>
              <a:rPr lang="en-US" dirty="0"/>
              <a:t>Example:  		B</a:t>
            </a:r>
            <a:r>
              <a:rPr lang="en-US" baseline="-25000" dirty="0"/>
              <a:t>2</a:t>
            </a:r>
            <a:r>
              <a:rPr lang="en-US" dirty="0"/>
              <a:t>(g) + C</a:t>
            </a:r>
            <a:r>
              <a:rPr lang="en-US" baseline="-25000" dirty="0"/>
              <a:t>2</a:t>
            </a:r>
            <a:r>
              <a:rPr lang="en-US" dirty="0"/>
              <a:t>(g)   </a:t>
            </a:r>
            <a:r>
              <a:rPr lang="en-US" dirty="0">
                <a:latin typeface="Lucida Sans Unicode" panose="020B0602030504020204" pitchFamily="34" charset="0"/>
                <a:cs typeface="Lucida Sans Unicode" panose="020B0602030504020204" pitchFamily="34" charset="0"/>
              </a:rPr>
              <a:t>⇄ </a:t>
            </a:r>
            <a:r>
              <a:rPr lang="en-US" dirty="0"/>
              <a:t>2BC</a:t>
            </a:r>
            <a:r>
              <a:rPr lang="en-US" baseline="-25000" dirty="0"/>
              <a:t> </a:t>
            </a:r>
            <a:r>
              <a:rPr lang="en-US" dirty="0"/>
              <a:t>(g)  		∆H = +21kJ/</a:t>
            </a:r>
            <a:r>
              <a:rPr lang="en-US" dirty="0" err="1"/>
              <a:t>mol</a:t>
            </a:r>
            <a:endParaRPr lang="en-US" dirty="0"/>
          </a:p>
          <a:p>
            <a:endParaRPr lang="en-US" dirty="0"/>
          </a:p>
          <a:p>
            <a:pPr marL="0" indent="0">
              <a:buNone/>
            </a:pPr>
            <a:r>
              <a:rPr lang="en-US" dirty="0"/>
              <a:t>Is heat a reactant or product?</a:t>
            </a:r>
          </a:p>
          <a:p>
            <a:pPr marL="0" indent="0">
              <a:buNone/>
            </a:pPr>
            <a:endParaRPr lang="en-US" dirty="0"/>
          </a:p>
        </p:txBody>
      </p:sp>
    </p:spTree>
    <p:extLst>
      <p:ext uri="{BB962C8B-B14F-4D97-AF65-F5344CB8AC3E}">
        <p14:creationId xmlns:p14="http://schemas.microsoft.com/office/powerpoint/2010/main" val="58128812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04800" y="152400"/>
            <a:ext cx="11582400" cy="6705600"/>
          </a:xfrm>
        </p:spPr>
        <p:txBody>
          <a:bodyPr>
            <a:normAutofit lnSpcReduction="10000"/>
          </a:bodyPr>
          <a:lstStyle/>
          <a:p>
            <a:pPr marL="0" indent="0">
              <a:buNone/>
            </a:pPr>
            <a:r>
              <a:rPr lang="en-US" sz="2800" b="1" noProof="1"/>
              <a:t>Exothermic reaction</a:t>
            </a:r>
            <a:r>
              <a:rPr lang="en-US" sz="2800" noProof="1"/>
              <a:t>: R </a:t>
            </a:r>
            <a:r>
              <a:rPr lang="en-US" sz="2800" dirty="0">
                <a:latin typeface="Lucida Sans Unicode" panose="020B0602030504020204" pitchFamily="34" charset="0"/>
                <a:cs typeface="Lucida Sans Unicode" panose="020B0602030504020204" pitchFamily="34" charset="0"/>
              </a:rPr>
              <a:t>⇄ P + </a:t>
            </a:r>
            <a:r>
              <a:rPr lang="en-US" sz="2800" dirty="0"/>
              <a:t>∆</a:t>
            </a:r>
          </a:p>
          <a:p>
            <a:r>
              <a:rPr lang="en-US" sz="2800" noProof="1"/>
              <a:t>An increase in temperature of an exothermic reaction will cause equilibrium to shift</a:t>
            </a:r>
            <a:r>
              <a:rPr lang="en-US" sz="2800" noProof="1">
                <a:solidFill>
                  <a:srgbClr val="FF0000"/>
                </a:solidFill>
              </a:rPr>
              <a:t> forward/reverse</a:t>
            </a:r>
            <a:r>
              <a:rPr lang="en-US" sz="2800" noProof="1"/>
              <a:t>.  </a:t>
            </a:r>
            <a:r>
              <a:rPr lang="en-US" sz="2800" i="1" noProof="1"/>
              <a:t>K</a:t>
            </a:r>
            <a:r>
              <a:rPr lang="en-US" sz="2800" noProof="1"/>
              <a:t> will </a:t>
            </a:r>
            <a:r>
              <a:rPr lang="en-US" sz="2800" noProof="1">
                <a:solidFill>
                  <a:srgbClr val="FF0000"/>
                </a:solidFill>
              </a:rPr>
              <a:t>decrease/increase</a:t>
            </a:r>
            <a:r>
              <a:rPr lang="en-US" sz="2800" noProof="1"/>
              <a:t>.   </a:t>
            </a:r>
          </a:p>
          <a:p>
            <a:r>
              <a:rPr lang="en-US" sz="2800" noProof="1"/>
              <a:t>A decrease in temperature of an exothermic reaction will cause equilibrium to shift </a:t>
            </a:r>
            <a:r>
              <a:rPr lang="en-US" sz="2800" noProof="1">
                <a:solidFill>
                  <a:srgbClr val="FF0000"/>
                </a:solidFill>
              </a:rPr>
              <a:t>forward/reverse</a:t>
            </a:r>
            <a:r>
              <a:rPr lang="en-US" sz="2800" noProof="1"/>
              <a:t>.  </a:t>
            </a:r>
            <a:r>
              <a:rPr lang="en-US" sz="2800" i="1" noProof="1"/>
              <a:t>K</a:t>
            </a:r>
            <a:r>
              <a:rPr lang="en-US" sz="2800" noProof="1"/>
              <a:t> will </a:t>
            </a:r>
            <a:r>
              <a:rPr lang="en-US" sz="2800" noProof="1">
                <a:solidFill>
                  <a:srgbClr val="FF0000"/>
                </a:solidFill>
              </a:rPr>
              <a:t>decrease/increase</a:t>
            </a:r>
            <a:r>
              <a:rPr lang="en-US" sz="2800" noProof="1"/>
              <a:t>.   </a:t>
            </a:r>
          </a:p>
          <a:p>
            <a:endParaRPr lang="en-US" sz="2800" noProof="1"/>
          </a:p>
          <a:p>
            <a:pPr marL="0" indent="0">
              <a:buNone/>
            </a:pPr>
            <a:r>
              <a:rPr lang="en-US" sz="2800" b="1" noProof="1"/>
              <a:t>Endothermic reaction: </a:t>
            </a:r>
            <a:r>
              <a:rPr lang="en-US" sz="2800" noProof="1"/>
              <a:t>R </a:t>
            </a:r>
            <a:r>
              <a:rPr lang="en-US" sz="2800" dirty="0">
                <a:latin typeface="Lucida Sans Unicode" panose="020B0602030504020204" pitchFamily="34" charset="0"/>
                <a:cs typeface="Lucida Sans Unicode" panose="020B0602030504020204" pitchFamily="34" charset="0"/>
              </a:rPr>
              <a:t>+ </a:t>
            </a:r>
            <a:r>
              <a:rPr lang="en-US" sz="2800" dirty="0"/>
              <a:t>∆ </a:t>
            </a:r>
            <a:r>
              <a:rPr lang="en-US" sz="2800" dirty="0">
                <a:latin typeface="Lucida Sans Unicode" panose="020B0602030504020204" pitchFamily="34" charset="0"/>
                <a:cs typeface="Lucida Sans Unicode" panose="020B0602030504020204" pitchFamily="34" charset="0"/>
              </a:rPr>
              <a:t>⇄ P</a:t>
            </a:r>
            <a:endParaRPr lang="en-US" sz="2800" noProof="1"/>
          </a:p>
          <a:p>
            <a:r>
              <a:rPr lang="en-US" sz="2800" noProof="1"/>
              <a:t>An increase in temperature of an endothermic reaction will cause equilibrium to shift</a:t>
            </a:r>
            <a:r>
              <a:rPr lang="en-US" sz="2800" noProof="1">
                <a:solidFill>
                  <a:srgbClr val="FF0000"/>
                </a:solidFill>
              </a:rPr>
              <a:t> forward/reverse</a:t>
            </a:r>
            <a:r>
              <a:rPr lang="en-US" sz="2800" noProof="1"/>
              <a:t>.  </a:t>
            </a:r>
            <a:r>
              <a:rPr lang="en-US" sz="2800" i="1" noProof="1"/>
              <a:t>K</a:t>
            </a:r>
            <a:r>
              <a:rPr lang="en-US" sz="2800" noProof="1"/>
              <a:t> will </a:t>
            </a:r>
            <a:r>
              <a:rPr lang="en-US" sz="2800" noProof="1">
                <a:solidFill>
                  <a:srgbClr val="FF0000"/>
                </a:solidFill>
              </a:rPr>
              <a:t>decrease/increase</a:t>
            </a:r>
            <a:r>
              <a:rPr lang="en-US" sz="2800" noProof="1"/>
              <a:t>.   </a:t>
            </a:r>
          </a:p>
          <a:p>
            <a:r>
              <a:rPr lang="en-US" sz="2800" noProof="1"/>
              <a:t>A decrease in temperature of an endothermic reaction will cause equilibrium to shift </a:t>
            </a:r>
            <a:r>
              <a:rPr lang="en-US" sz="2800" noProof="1">
                <a:solidFill>
                  <a:srgbClr val="FF0000"/>
                </a:solidFill>
              </a:rPr>
              <a:t>forward/reverse</a:t>
            </a:r>
            <a:r>
              <a:rPr lang="en-US" sz="2800" noProof="1"/>
              <a:t>.  </a:t>
            </a:r>
            <a:r>
              <a:rPr lang="en-US" sz="2800" i="1" noProof="1"/>
              <a:t>K</a:t>
            </a:r>
            <a:r>
              <a:rPr lang="en-US" sz="2800" noProof="1"/>
              <a:t> will </a:t>
            </a:r>
            <a:r>
              <a:rPr lang="en-US" sz="2800" noProof="1">
                <a:solidFill>
                  <a:srgbClr val="FF0000"/>
                </a:solidFill>
              </a:rPr>
              <a:t>decrease/increase</a:t>
            </a:r>
            <a:r>
              <a:rPr lang="en-US" sz="2800" noProof="1"/>
              <a:t>.   </a:t>
            </a:r>
          </a:p>
          <a:p>
            <a:pPr marL="0" indent="0">
              <a:buNone/>
            </a:pPr>
            <a:endParaRPr lang="en-US" sz="2800" noProof="1"/>
          </a:p>
          <a:p>
            <a:pPr marL="0" indent="0">
              <a:buNone/>
            </a:pPr>
            <a:r>
              <a:rPr lang="en-US" sz="2800" dirty="0"/>
              <a:t>For the reaction: B</a:t>
            </a:r>
            <a:r>
              <a:rPr lang="en-US" sz="2800" baseline="-25000" dirty="0"/>
              <a:t>2</a:t>
            </a:r>
            <a:r>
              <a:rPr lang="en-US" sz="2800" dirty="0"/>
              <a:t>(g) + C</a:t>
            </a:r>
            <a:r>
              <a:rPr lang="en-US" sz="2800" baseline="-25000" dirty="0"/>
              <a:t>2</a:t>
            </a:r>
            <a:r>
              <a:rPr lang="en-US" sz="2800" dirty="0"/>
              <a:t>(g)   </a:t>
            </a:r>
            <a:r>
              <a:rPr lang="en-US" sz="2800" dirty="0">
                <a:latin typeface="Lucida Sans Unicode" panose="020B0602030504020204" pitchFamily="34" charset="0"/>
                <a:cs typeface="Lucida Sans Unicode" panose="020B0602030504020204" pitchFamily="34" charset="0"/>
              </a:rPr>
              <a:t>⇄ </a:t>
            </a:r>
            <a:r>
              <a:rPr lang="en-US" sz="2800" dirty="0"/>
              <a:t>2BC</a:t>
            </a:r>
            <a:r>
              <a:rPr lang="en-US" sz="2800" baseline="-25000" dirty="0"/>
              <a:t> </a:t>
            </a:r>
            <a:r>
              <a:rPr lang="en-US" sz="2800" dirty="0"/>
              <a:t>(g)  ∆H = +21kJ/</a:t>
            </a:r>
            <a:r>
              <a:rPr lang="en-US" sz="2800" dirty="0" err="1"/>
              <a:t>mol</a:t>
            </a:r>
            <a:r>
              <a:rPr lang="en-US" sz="2800" dirty="0"/>
              <a:t>, if the temperature is increased, the reaction will shift ____________________ and K will _________________</a:t>
            </a:r>
            <a:endParaRPr lang="en-US" sz="2800" noProof="1"/>
          </a:p>
        </p:txBody>
      </p:sp>
    </p:spTree>
    <p:extLst>
      <p:ext uri="{BB962C8B-B14F-4D97-AF65-F5344CB8AC3E}">
        <p14:creationId xmlns:p14="http://schemas.microsoft.com/office/powerpoint/2010/main" val="291467467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Example</a:t>
            </a:r>
          </a:p>
        </p:txBody>
      </p:sp>
      <p:sp>
        <p:nvSpPr>
          <p:cNvPr id="4" name="Content Placeholder 3"/>
          <p:cNvSpPr>
            <a:spLocks noGrp="1"/>
          </p:cNvSpPr>
          <p:nvPr>
            <p:ph idx="1"/>
          </p:nvPr>
        </p:nvSpPr>
        <p:spPr/>
        <p:txBody>
          <a:bodyPr/>
          <a:lstStyle/>
          <a:p>
            <a:r>
              <a:rPr lang="en-US" dirty="0"/>
              <a:t>Example:  N</a:t>
            </a:r>
            <a:r>
              <a:rPr lang="en-US" baseline="-25000" dirty="0"/>
              <a:t>2</a:t>
            </a:r>
            <a:r>
              <a:rPr lang="en-US" dirty="0"/>
              <a:t>(g) + 3H</a:t>
            </a:r>
            <a:r>
              <a:rPr lang="en-US" baseline="-25000" dirty="0"/>
              <a:t>2</a:t>
            </a:r>
            <a:r>
              <a:rPr lang="en-US" dirty="0"/>
              <a:t>(g)   </a:t>
            </a:r>
            <a:r>
              <a:rPr lang="en-US" dirty="0">
                <a:latin typeface="Lucida Sans Unicode" panose="020B0602030504020204" pitchFamily="34" charset="0"/>
                <a:cs typeface="Lucida Sans Unicode" panose="020B0602030504020204" pitchFamily="34" charset="0"/>
              </a:rPr>
              <a:t>⇄ </a:t>
            </a:r>
            <a:r>
              <a:rPr lang="en-US" dirty="0"/>
              <a:t>2NH</a:t>
            </a:r>
            <a:r>
              <a:rPr lang="en-US" baseline="-25000" dirty="0"/>
              <a:t>3</a:t>
            </a:r>
            <a:r>
              <a:rPr lang="en-US" dirty="0"/>
              <a:t>(g)  ∆H = -21</a:t>
            </a:r>
            <a:r>
              <a:rPr lang="en-US" baseline="30000" dirty="0"/>
              <a:t>o</a:t>
            </a:r>
            <a:r>
              <a:rPr lang="en-US" dirty="0"/>
              <a:t>C</a:t>
            </a:r>
          </a:p>
          <a:p>
            <a:endParaRPr lang="en-US" dirty="0"/>
          </a:p>
          <a:p>
            <a:r>
              <a:rPr lang="en-US" dirty="0"/>
              <a:t>Is heat a reactant or product?</a:t>
            </a:r>
          </a:p>
          <a:p>
            <a:r>
              <a:rPr lang="en-US" dirty="0"/>
              <a:t>What happens if T increases? To the concentration of reactants? To concentration of products? To K?</a:t>
            </a:r>
          </a:p>
          <a:p>
            <a:endParaRPr lang="en-US" baseline="-25000" dirty="0"/>
          </a:p>
          <a:p>
            <a:r>
              <a:rPr lang="en-US" dirty="0"/>
              <a:t>What happens if T decreases? To the concentration of reactants? To concentration of products? To K?</a:t>
            </a:r>
            <a:endParaRPr lang="en-US" baseline="-25000" dirty="0"/>
          </a:p>
          <a:p>
            <a:endParaRPr lang="en-US" dirty="0"/>
          </a:p>
        </p:txBody>
      </p:sp>
    </p:spTree>
    <p:extLst>
      <p:ext uri="{BB962C8B-B14F-4D97-AF65-F5344CB8AC3E}">
        <p14:creationId xmlns:p14="http://schemas.microsoft.com/office/powerpoint/2010/main" val="102376363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p:txBody>
          <a:bodyPr/>
          <a:lstStyle/>
          <a:p>
            <a:pPr eaLnBrk="1" hangingPunct="1"/>
            <a:r>
              <a:rPr lang="en-US" b="1" dirty="0"/>
              <a:t>Catalysts &amp; equilibrium</a:t>
            </a:r>
          </a:p>
        </p:txBody>
      </p:sp>
      <p:sp>
        <p:nvSpPr>
          <p:cNvPr id="11267" name="Rectangle 3"/>
          <p:cNvSpPr>
            <a:spLocks noGrp="1" noChangeArrowheads="1"/>
          </p:cNvSpPr>
          <p:nvPr>
            <p:ph type="body" idx="1"/>
          </p:nvPr>
        </p:nvSpPr>
        <p:spPr/>
        <p:txBody>
          <a:bodyPr/>
          <a:lstStyle/>
          <a:p>
            <a:pPr eaLnBrk="1" hangingPunct="1"/>
            <a:r>
              <a:rPr lang="en-US" dirty="0"/>
              <a:t>With a catalyst, reactions reaches equilibrium quickly, but </a:t>
            </a:r>
            <a:r>
              <a:rPr lang="en-US" dirty="0">
                <a:solidFill>
                  <a:srgbClr val="FF0000"/>
                </a:solidFill>
              </a:rPr>
              <a:t>no change</a:t>
            </a:r>
            <a:r>
              <a:rPr lang="en-US" dirty="0"/>
              <a:t> in the amount of product or the value of K.</a:t>
            </a:r>
          </a:p>
          <a:p>
            <a:pPr eaLnBrk="1" hangingPunct="1"/>
            <a:r>
              <a:rPr lang="en-US" dirty="0"/>
              <a:t>In other words, catalyst make you reach equilibrium faster, but doesn’t </a:t>
            </a:r>
            <a:r>
              <a:rPr lang="en-US" dirty="0">
                <a:solidFill>
                  <a:srgbClr val="FF0000"/>
                </a:solidFill>
              </a:rPr>
              <a:t>stress</a:t>
            </a:r>
            <a:r>
              <a:rPr lang="en-US" dirty="0"/>
              <a:t> the system</a:t>
            </a:r>
          </a:p>
        </p:txBody>
      </p:sp>
    </p:spTree>
    <p:extLst>
      <p:ext uri="{BB962C8B-B14F-4D97-AF65-F5344CB8AC3E}">
        <p14:creationId xmlns:p14="http://schemas.microsoft.com/office/powerpoint/2010/main" val="1462860067"/>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dirty="0"/>
          </a:p>
        </p:txBody>
      </p:sp>
      <p:pic>
        <p:nvPicPr>
          <p:cNvPr id="6146" name="Picture 2" descr="No photo description availabl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52800" y="288493"/>
            <a:ext cx="5334000" cy="59634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1312437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dirty="0"/>
          </a:p>
        </p:txBody>
      </p:sp>
      <p:sp>
        <p:nvSpPr>
          <p:cNvPr id="3" name="Content Placeholder 2"/>
          <p:cNvSpPr>
            <a:spLocks noGrp="1"/>
          </p:cNvSpPr>
          <p:nvPr>
            <p:ph idx="1"/>
          </p:nvPr>
        </p:nvSpPr>
        <p:spPr>
          <a:xfrm>
            <a:off x="609600" y="6061363"/>
            <a:ext cx="10972800" cy="685800"/>
          </a:xfrm>
        </p:spPr>
        <p:txBody>
          <a:bodyPr/>
          <a:lstStyle/>
          <a:p>
            <a:r>
              <a:rPr lang="en-US" dirty="0"/>
              <a:t>Which ONE affects K? How is K affected- increase or decrease?</a:t>
            </a:r>
          </a:p>
        </p:txBody>
      </p:sp>
      <p:pic>
        <p:nvPicPr>
          <p:cNvPr id="4" name="Picture 3"/>
          <p:cNvPicPr>
            <a:picLocks noChangeAspect="1"/>
          </p:cNvPicPr>
          <p:nvPr/>
        </p:nvPicPr>
        <p:blipFill>
          <a:blip r:embed="rId2"/>
          <a:stretch>
            <a:fillRect/>
          </a:stretch>
        </p:blipFill>
        <p:spPr>
          <a:xfrm>
            <a:off x="2286000" y="457200"/>
            <a:ext cx="7356763" cy="4526075"/>
          </a:xfrm>
          <a:prstGeom prst="rect">
            <a:avLst/>
          </a:prstGeom>
        </p:spPr>
      </p:pic>
    </p:spTree>
    <p:extLst>
      <p:ext uri="{BB962C8B-B14F-4D97-AF65-F5344CB8AC3E}">
        <p14:creationId xmlns:p14="http://schemas.microsoft.com/office/powerpoint/2010/main" val="25956520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dpi="0" rotWithShape="1">
          <a:blip r:embed="rId2" cstate="print">
            <a:lum/>
          </a:blip>
          <a:srcRect/>
          <a:stretch>
            <a:fillRect l="-11000" r="-11000"/>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4391891" y="5791200"/>
            <a:ext cx="7772400" cy="1066800"/>
          </a:xfrm>
        </p:spPr>
        <p:txBody>
          <a:bodyPr>
            <a:normAutofit fontScale="90000"/>
          </a:bodyPr>
          <a:lstStyle/>
          <a:p>
            <a:pPr algn="r"/>
            <a:r>
              <a:rPr lang="en-US" sz="7200" dirty="0"/>
              <a:t>Unit 7: Equilibrium</a:t>
            </a:r>
          </a:p>
        </p:txBody>
      </p:sp>
      <p:sp>
        <p:nvSpPr>
          <p:cNvPr id="3" name="Subtitle 2"/>
          <p:cNvSpPr>
            <a:spLocks noGrp="1"/>
          </p:cNvSpPr>
          <p:nvPr>
            <p:ph type="subTitle" idx="1"/>
          </p:nvPr>
        </p:nvSpPr>
        <p:spPr>
          <a:xfrm>
            <a:off x="0" y="0"/>
            <a:ext cx="8382000" cy="1066800"/>
          </a:xfrm>
        </p:spPr>
        <p:txBody>
          <a:bodyPr>
            <a:normAutofit/>
          </a:bodyPr>
          <a:lstStyle/>
          <a:p>
            <a:pPr algn="l"/>
            <a:r>
              <a:rPr lang="en-US" sz="3600" dirty="0">
                <a:solidFill>
                  <a:schemeClr val="tx1"/>
                </a:solidFill>
              </a:rPr>
              <a:t>7.7 Calculating Equilibrium Concentrations</a:t>
            </a:r>
          </a:p>
        </p:txBody>
      </p:sp>
    </p:spTree>
    <p:extLst>
      <p:ext uri="{BB962C8B-B14F-4D97-AF65-F5344CB8AC3E}">
        <p14:creationId xmlns:p14="http://schemas.microsoft.com/office/powerpoint/2010/main" val="423121139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0"/>
            <a:ext cx="10972800" cy="609600"/>
          </a:xfrm>
        </p:spPr>
        <p:txBody>
          <a:bodyPr>
            <a:normAutofit fontScale="90000"/>
          </a:bodyPr>
          <a:lstStyle/>
          <a:p>
            <a:r>
              <a:rPr lang="en-US" dirty="0"/>
              <a:t>Review!</a:t>
            </a:r>
          </a:p>
        </p:txBody>
      </p:sp>
      <p:sp>
        <p:nvSpPr>
          <p:cNvPr id="3" name="Content Placeholder 2"/>
          <p:cNvSpPr>
            <a:spLocks noGrp="1"/>
          </p:cNvSpPr>
          <p:nvPr>
            <p:ph idx="1"/>
          </p:nvPr>
        </p:nvSpPr>
        <p:spPr>
          <a:xfrm>
            <a:off x="609600" y="685801"/>
            <a:ext cx="10972800" cy="5440364"/>
          </a:xfrm>
        </p:spPr>
        <p:txBody>
          <a:bodyPr>
            <a:normAutofit fontScale="92500" lnSpcReduction="10000"/>
          </a:bodyPr>
          <a:lstStyle/>
          <a:p>
            <a:pPr marL="0" indent="0">
              <a:buNone/>
            </a:pPr>
            <a:r>
              <a:rPr lang="en-US" sz="3000" dirty="0"/>
              <a:t>For the reaction: </a:t>
            </a:r>
          </a:p>
          <a:p>
            <a:pPr marL="0" indent="0" algn="ctr">
              <a:buNone/>
            </a:pPr>
            <a:r>
              <a:rPr lang="en-US" sz="3000" dirty="0"/>
              <a:t>2 NO</a:t>
            </a:r>
            <a:r>
              <a:rPr lang="en-US" sz="3000" baseline="-25000" dirty="0"/>
              <a:t>2</a:t>
            </a:r>
            <a:r>
              <a:rPr lang="en-US" sz="3000" dirty="0"/>
              <a:t> (g) ⇌ N</a:t>
            </a:r>
            <a:r>
              <a:rPr lang="en-US" sz="3000" baseline="-25000" dirty="0"/>
              <a:t>2</a:t>
            </a:r>
            <a:r>
              <a:rPr lang="en-US" sz="3000" dirty="0"/>
              <a:t>O</a:t>
            </a:r>
            <a:r>
              <a:rPr lang="en-US" sz="3000" baseline="-25000" dirty="0"/>
              <a:t>4</a:t>
            </a:r>
            <a:r>
              <a:rPr lang="en-US" sz="3000" dirty="0"/>
              <a:t> (g), </a:t>
            </a:r>
            <a:r>
              <a:rPr lang="en-US" sz="3000" i="1" dirty="0" err="1">
                <a:latin typeface="Symbol" panose="05050102010706020507" pitchFamily="18" charset="2"/>
              </a:rPr>
              <a:t>D</a:t>
            </a:r>
            <a:r>
              <a:rPr lang="en-US" sz="3000" i="1" dirty="0" err="1"/>
              <a:t>H</a:t>
            </a:r>
            <a:r>
              <a:rPr lang="en-US" sz="3000" i="1" baseline="-25000" dirty="0" err="1"/>
              <a:t>rxn</a:t>
            </a:r>
            <a:r>
              <a:rPr lang="en-US" sz="3000" dirty="0"/>
              <a:t> = -177 kJ/</a:t>
            </a:r>
            <a:r>
              <a:rPr lang="en-US" sz="3000" dirty="0" err="1"/>
              <a:t>mol</a:t>
            </a:r>
            <a:r>
              <a:rPr lang="en-US" sz="3000" dirty="0"/>
              <a:t>, and </a:t>
            </a:r>
            <a:r>
              <a:rPr lang="en-US" sz="3000" i="1" dirty="0" err="1"/>
              <a:t>K</a:t>
            </a:r>
            <a:r>
              <a:rPr lang="en-US" sz="3000" i="1" baseline="-25000" dirty="0" err="1"/>
              <a:t>p</a:t>
            </a:r>
            <a:r>
              <a:rPr lang="en-US" sz="3000" dirty="0"/>
              <a:t> = 0.785 at 387 K. </a:t>
            </a:r>
          </a:p>
          <a:p>
            <a:pPr marL="0" lvl="0" indent="0">
              <a:buNone/>
            </a:pPr>
            <a:r>
              <a:rPr lang="en-US" sz="3000" dirty="0"/>
              <a:t>a) Write an expression for </a:t>
            </a:r>
            <a:r>
              <a:rPr lang="en-US" sz="3000" i="1" dirty="0" err="1"/>
              <a:t>K</a:t>
            </a:r>
            <a:r>
              <a:rPr lang="en-US" sz="3000" i="1" baseline="-25000" dirty="0" err="1"/>
              <a:t>p</a:t>
            </a:r>
            <a:r>
              <a:rPr lang="en-US" sz="3000" i="1" dirty="0"/>
              <a:t>.</a:t>
            </a:r>
            <a:endParaRPr lang="en-US" sz="3000" dirty="0"/>
          </a:p>
          <a:p>
            <a:pPr marL="0" indent="0">
              <a:buNone/>
            </a:pPr>
            <a:r>
              <a:rPr lang="en-US" sz="3000" i="1" dirty="0"/>
              <a:t> </a:t>
            </a:r>
            <a:endParaRPr lang="en-US" sz="3000" dirty="0"/>
          </a:p>
          <a:p>
            <a:pPr marL="0" indent="0">
              <a:buNone/>
            </a:pPr>
            <a:r>
              <a:rPr lang="en-US" sz="3000" i="1" dirty="0"/>
              <a:t> </a:t>
            </a:r>
            <a:endParaRPr lang="en-US" sz="3000" dirty="0"/>
          </a:p>
          <a:p>
            <a:pPr marL="0" indent="0">
              <a:buNone/>
            </a:pPr>
            <a:r>
              <a:rPr lang="en-US" sz="3000" dirty="0"/>
              <a:t> </a:t>
            </a:r>
          </a:p>
          <a:p>
            <a:pPr marL="0" lvl="0" indent="0">
              <a:buNone/>
            </a:pPr>
            <a:r>
              <a:rPr lang="en-US" sz="3000" dirty="0"/>
              <a:t>b) If a previously evacuated reaction vessel was filled with 0.50 </a:t>
            </a:r>
            <a:r>
              <a:rPr lang="en-US" sz="3000" dirty="0" err="1"/>
              <a:t>atm</a:t>
            </a:r>
            <a:r>
              <a:rPr lang="en-US" sz="3000" dirty="0"/>
              <a:t> of NO</a:t>
            </a:r>
            <a:r>
              <a:rPr lang="en-US" sz="3000" baseline="-25000" dirty="0"/>
              <a:t>2</a:t>
            </a:r>
            <a:r>
              <a:rPr lang="en-US" sz="3000" dirty="0"/>
              <a:t> and 0.50 </a:t>
            </a:r>
            <a:r>
              <a:rPr lang="en-US" sz="3000" dirty="0" err="1"/>
              <a:t>atm</a:t>
            </a:r>
            <a:r>
              <a:rPr lang="en-US" sz="3000" dirty="0"/>
              <a:t> of N</a:t>
            </a:r>
            <a:r>
              <a:rPr lang="en-US" sz="3000" baseline="-25000" dirty="0"/>
              <a:t>2</a:t>
            </a:r>
            <a:r>
              <a:rPr lang="en-US" sz="3000" dirty="0"/>
              <a:t>O</a:t>
            </a:r>
            <a:r>
              <a:rPr lang="en-US" sz="3000" baseline="-25000" dirty="0"/>
              <a:t>4­</a:t>
            </a:r>
            <a:r>
              <a:rPr lang="en-US" sz="3000" dirty="0"/>
              <a:t>, is the system at equilibrium? If not, which way would the reaction shift to reach equilibrium?</a:t>
            </a:r>
          </a:p>
          <a:p>
            <a:pPr marL="0" indent="0">
              <a:buNone/>
            </a:pPr>
            <a:r>
              <a:rPr lang="en-US" dirty="0"/>
              <a:t> </a:t>
            </a:r>
          </a:p>
          <a:p>
            <a:pPr marL="0" indent="0">
              <a:buNone/>
            </a:pPr>
            <a:r>
              <a:rPr lang="en-US" dirty="0"/>
              <a:t> </a:t>
            </a:r>
          </a:p>
        </p:txBody>
      </p:sp>
    </p:spTree>
    <p:extLst>
      <p:ext uri="{BB962C8B-B14F-4D97-AF65-F5344CB8AC3E}">
        <p14:creationId xmlns:p14="http://schemas.microsoft.com/office/powerpoint/2010/main" val="95309146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0973" y="10236"/>
            <a:ext cx="10972800" cy="792162"/>
          </a:xfrm>
        </p:spPr>
        <p:txBody>
          <a:bodyPr>
            <a:noAutofit/>
          </a:bodyPr>
          <a:lstStyle/>
          <a:p>
            <a:pPr marL="0" indent="0"/>
            <a:r>
              <a:rPr lang="en-US" sz="3200" dirty="0"/>
              <a:t>2 NO</a:t>
            </a:r>
            <a:r>
              <a:rPr lang="en-US" sz="3200" baseline="-25000" dirty="0"/>
              <a:t>2</a:t>
            </a:r>
            <a:r>
              <a:rPr lang="en-US" sz="3200" dirty="0"/>
              <a:t> (g) ⇌ N</a:t>
            </a:r>
            <a:r>
              <a:rPr lang="en-US" sz="3200" baseline="-25000" dirty="0"/>
              <a:t>2</a:t>
            </a:r>
            <a:r>
              <a:rPr lang="en-US" sz="3200" dirty="0"/>
              <a:t>O</a:t>
            </a:r>
            <a:r>
              <a:rPr lang="en-US" sz="3200" baseline="-25000" dirty="0"/>
              <a:t>4</a:t>
            </a:r>
            <a:r>
              <a:rPr lang="en-US" sz="3200" dirty="0"/>
              <a:t> (g)	 		</a:t>
            </a:r>
            <a:r>
              <a:rPr lang="en-US" sz="3200" i="1" dirty="0" err="1">
                <a:latin typeface="Symbol" panose="05050102010706020507" pitchFamily="18" charset="2"/>
              </a:rPr>
              <a:t>D</a:t>
            </a:r>
            <a:r>
              <a:rPr lang="en-US" sz="3200" i="1" dirty="0" err="1"/>
              <a:t>H</a:t>
            </a:r>
            <a:r>
              <a:rPr lang="en-US" sz="3200" i="1" baseline="-25000" dirty="0" err="1"/>
              <a:t>rxn</a:t>
            </a:r>
            <a:r>
              <a:rPr lang="en-US" sz="3200" dirty="0"/>
              <a:t> = -177 kJ/</a:t>
            </a:r>
            <a:r>
              <a:rPr lang="en-US" sz="3200" dirty="0" err="1"/>
              <a:t>mol</a:t>
            </a:r>
            <a:endParaRPr lang="en-US" sz="3200" dirty="0"/>
          </a:p>
        </p:txBody>
      </p:sp>
      <p:sp>
        <p:nvSpPr>
          <p:cNvPr id="3" name="Content Placeholder 2"/>
          <p:cNvSpPr>
            <a:spLocks noGrp="1"/>
          </p:cNvSpPr>
          <p:nvPr>
            <p:ph idx="1"/>
          </p:nvPr>
        </p:nvSpPr>
        <p:spPr>
          <a:xfrm>
            <a:off x="609600" y="1143001"/>
            <a:ext cx="10972800" cy="4983164"/>
          </a:xfrm>
        </p:spPr>
        <p:txBody>
          <a:bodyPr>
            <a:normAutofit fontScale="92500" lnSpcReduction="20000"/>
          </a:bodyPr>
          <a:lstStyle/>
          <a:p>
            <a:pPr marL="0" lvl="0" indent="0">
              <a:buNone/>
            </a:pPr>
            <a:r>
              <a:rPr lang="en-US" dirty="0"/>
              <a:t>NO</a:t>
            </a:r>
            <a:r>
              <a:rPr lang="en-US" baseline="-25000" dirty="0"/>
              <a:t>2 </a:t>
            </a:r>
            <a:r>
              <a:rPr lang="en-US" sz="800" dirty="0"/>
              <a:t> </a:t>
            </a:r>
            <a:r>
              <a:rPr lang="en-US" dirty="0"/>
              <a:t>is brown while N</a:t>
            </a:r>
            <a:r>
              <a:rPr lang="en-US" baseline="-25000" dirty="0"/>
              <a:t>2</a:t>
            </a:r>
            <a:r>
              <a:rPr lang="en-US" dirty="0"/>
              <a:t>O</a:t>
            </a:r>
            <a:r>
              <a:rPr lang="en-US" baseline="-25000" dirty="0"/>
              <a:t>4 </a:t>
            </a:r>
            <a:r>
              <a:rPr lang="en-US" sz="800" dirty="0"/>
              <a:t> </a:t>
            </a:r>
            <a:r>
              <a:rPr lang="en-US" dirty="0"/>
              <a:t>is colorless. If the reaction is light brown at equilibrium, predict the direction of shift, and changes to the color of the reaction. </a:t>
            </a:r>
            <a:endParaRPr lang="en-US" sz="3600" dirty="0"/>
          </a:p>
          <a:p>
            <a:r>
              <a:rPr lang="en-US" dirty="0"/>
              <a:t>The reaction is heated </a:t>
            </a:r>
            <a:endParaRPr lang="en-US" sz="3200" dirty="0"/>
          </a:p>
          <a:p>
            <a:pPr marL="0" indent="0">
              <a:buNone/>
            </a:pPr>
            <a:r>
              <a:rPr lang="en-US" dirty="0"/>
              <a:t> </a:t>
            </a:r>
            <a:endParaRPr lang="en-US" sz="3600" dirty="0"/>
          </a:p>
          <a:p>
            <a:r>
              <a:rPr lang="en-US" dirty="0"/>
              <a:t>The gases are placed in the container half the size. </a:t>
            </a:r>
            <a:endParaRPr lang="en-US" sz="3200" dirty="0"/>
          </a:p>
          <a:p>
            <a:pPr marL="0" indent="0">
              <a:buNone/>
            </a:pPr>
            <a:r>
              <a:rPr lang="en-US" dirty="0"/>
              <a:t> </a:t>
            </a:r>
            <a:endParaRPr lang="en-US" sz="3600" dirty="0"/>
          </a:p>
          <a:p>
            <a:r>
              <a:rPr lang="en-US" dirty="0"/>
              <a:t>More N</a:t>
            </a:r>
            <a:r>
              <a:rPr lang="en-US" baseline="-25000" dirty="0"/>
              <a:t>2</a:t>
            </a:r>
            <a:r>
              <a:rPr lang="en-US" dirty="0"/>
              <a:t>O</a:t>
            </a:r>
            <a:r>
              <a:rPr lang="en-US" baseline="-25000" dirty="0"/>
              <a:t>4 </a:t>
            </a:r>
            <a:r>
              <a:rPr lang="en-US" dirty="0"/>
              <a:t>is added </a:t>
            </a:r>
            <a:endParaRPr lang="en-US" sz="3200" dirty="0"/>
          </a:p>
          <a:p>
            <a:endParaRPr lang="en-US" sz="3600" dirty="0"/>
          </a:p>
          <a:p>
            <a:r>
              <a:rPr lang="en-US" dirty="0"/>
              <a:t>Will the value of K increase or decrease when this reaction is cooled? </a:t>
            </a:r>
            <a:endParaRPr lang="en-US" sz="3200" dirty="0"/>
          </a:p>
        </p:txBody>
      </p:sp>
    </p:spTree>
    <p:extLst>
      <p:ext uri="{BB962C8B-B14F-4D97-AF65-F5344CB8AC3E}">
        <p14:creationId xmlns:p14="http://schemas.microsoft.com/office/powerpoint/2010/main" val="311225821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0"/>
            <a:ext cx="10972800" cy="715962"/>
          </a:xfrm>
        </p:spPr>
        <p:txBody>
          <a:bodyPr>
            <a:normAutofit fontScale="90000"/>
          </a:bodyPr>
          <a:lstStyle/>
          <a:p>
            <a:r>
              <a:rPr lang="en-US" dirty="0"/>
              <a:t>Equilibrium and RICE Tables</a:t>
            </a:r>
          </a:p>
        </p:txBody>
      </p:sp>
      <p:sp>
        <p:nvSpPr>
          <p:cNvPr id="3" name="Content Placeholder 2"/>
          <p:cNvSpPr>
            <a:spLocks noGrp="1"/>
          </p:cNvSpPr>
          <p:nvPr>
            <p:ph idx="1"/>
          </p:nvPr>
        </p:nvSpPr>
        <p:spPr>
          <a:xfrm>
            <a:off x="228600" y="715963"/>
            <a:ext cx="11506200" cy="6142038"/>
          </a:xfrm>
        </p:spPr>
        <p:txBody>
          <a:bodyPr>
            <a:normAutofit fontScale="92500" lnSpcReduction="20000"/>
          </a:bodyPr>
          <a:lstStyle/>
          <a:p>
            <a:pPr marL="0" indent="0">
              <a:buNone/>
            </a:pPr>
            <a:r>
              <a:rPr lang="en-US" dirty="0"/>
              <a:t>The stoichiometry of a chemical reaction and the associated </a:t>
            </a:r>
            <a:r>
              <a:rPr lang="en-US" i="1" dirty="0"/>
              <a:t>K</a:t>
            </a:r>
            <a:r>
              <a:rPr lang="en-US" dirty="0"/>
              <a:t> value, can be used to determine the concentrations of products or reactants for a reaction at equilibrium based on the initial values for the reacting species.</a:t>
            </a:r>
          </a:p>
          <a:p>
            <a:pPr marL="0" indent="0">
              <a:buNone/>
            </a:pPr>
            <a:r>
              <a:rPr lang="en-US" dirty="0"/>
              <a:t>We can use a RICE Table to keep track of our reaction. </a:t>
            </a:r>
          </a:p>
          <a:p>
            <a:r>
              <a:rPr lang="en-US" altLang="en-US" dirty="0"/>
              <a:t>R- Reaction</a:t>
            </a:r>
          </a:p>
          <a:p>
            <a:r>
              <a:rPr lang="en-US" altLang="en-US" dirty="0"/>
              <a:t>I- Initial			</a:t>
            </a:r>
          </a:p>
          <a:p>
            <a:r>
              <a:rPr lang="en-US" altLang="en-US" dirty="0"/>
              <a:t>C- Change	</a:t>
            </a:r>
          </a:p>
          <a:p>
            <a:r>
              <a:rPr lang="en-US" altLang="en-US" dirty="0"/>
              <a:t>E- Equilibrium	</a:t>
            </a:r>
          </a:p>
          <a:p>
            <a:endParaRPr lang="en-US" altLang="en-US" dirty="0"/>
          </a:p>
          <a:p>
            <a:pPr marL="0" indent="0">
              <a:buNone/>
            </a:pPr>
            <a:r>
              <a:rPr lang="en-US" altLang="en-US" dirty="0"/>
              <a:t>What’s new about these RICE table: </a:t>
            </a:r>
          </a:p>
          <a:p>
            <a:r>
              <a:rPr lang="en-US" altLang="en-US" dirty="0"/>
              <a:t>E = Equilibrium Concentration </a:t>
            </a:r>
            <a:r>
              <a:rPr lang="en-US" altLang="en-US" i="1" dirty="0"/>
              <a:t>~OR~ </a:t>
            </a:r>
            <a:r>
              <a:rPr lang="en-US" altLang="en-US" dirty="0"/>
              <a:t>Pressure in </a:t>
            </a:r>
            <a:r>
              <a:rPr lang="en-US" altLang="en-US" dirty="0" err="1"/>
              <a:t>atm</a:t>
            </a:r>
            <a:r>
              <a:rPr lang="en-US" altLang="en-US" dirty="0"/>
              <a:t>	</a:t>
            </a:r>
          </a:p>
          <a:p>
            <a:r>
              <a:rPr lang="en-US" altLang="en-US" dirty="0"/>
              <a:t>There might be some of ALL the reactants and products left</a:t>
            </a:r>
          </a:p>
          <a:p>
            <a:r>
              <a:rPr lang="en-US" altLang="en-US" dirty="0"/>
              <a:t>Quantities are in </a:t>
            </a:r>
            <a:r>
              <a:rPr lang="en-US" altLang="en-US" dirty="0" err="1"/>
              <a:t>mol</a:t>
            </a:r>
            <a:r>
              <a:rPr lang="en-US" altLang="en-US" dirty="0"/>
              <a:t>/L (M) for Kc or </a:t>
            </a:r>
            <a:r>
              <a:rPr lang="en-US" altLang="en-US" dirty="0" err="1"/>
              <a:t>atm</a:t>
            </a:r>
            <a:r>
              <a:rPr lang="en-US" altLang="en-US" dirty="0"/>
              <a:t> for </a:t>
            </a:r>
            <a:r>
              <a:rPr lang="en-US" altLang="en-US" dirty="0" err="1"/>
              <a:t>Kp</a:t>
            </a:r>
            <a:r>
              <a:rPr lang="en-US" altLang="en-US" dirty="0"/>
              <a:t>, NOT moles</a:t>
            </a:r>
          </a:p>
          <a:p>
            <a:endParaRPr lang="en-US" dirty="0"/>
          </a:p>
        </p:txBody>
      </p:sp>
    </p:spTree>
    <p:extLst>
      <p:ext uri="{BB962C8B-B14F-4D97-AF65-F5344CB8AC3E}">
        <p14:creationId xmlns:p14="http://schemas.microsoft.com/office/powerpoint/2010/main" val="163731030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Text Box 8"/>
          <p:cNvSpPr txBox="1">
            <a:spLocks noChangeArrowheads="1"/>
          </p:cNvSpPr>
          <p:nvPr/>
        </p:nvSpPr>
        <p:spPr bwMode="auto">
          <a:xfrm>
            <a:off x="353291" y="228600"/>
            <a:ext cx="11811000" cy="277226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None/>
            </a:pPr>
            <a:r>
              <a:rPr lang="en-US" sz="2000" dirty="0">
                <a:latin typeface="+mn-lt"/>
              </a:rPr>
              <a:t>Given some initial and equilibrium data for a reaction, the value of K can be calculated. </a:t>
            </a:r>
            <a:r>
              <a:rPr lang="en-US" altLang="en-US" sz="2000" dirty="0">
                <a:latin typeface="+mn-lt"/>
                <a:ea typeface="ＭＳ Ｐゴシック" panose="020B0600070205080204" pitchFamily="34" charset="-128"/>
              </a:rPr>
              <a:t>Consider the following reaction:</a:t>
            </a:r>
          </a:p>
          <a:p>
            <a:pPr algn="ctr">
              <a:spcBef>
                <a:spcPct val="0"/>
              </a:spcBef>
              <a:buFontTx/>
              <a:buNone/>
            </a:pPr>
            <a:r>
              <a:rPr lang="en-US" altLang="en-US" sz="2000" dirty="0">
                <a:latin typeface="+mn-lt"/>
                <a:ea typeface="ＭＳ Ｐゴシック" panose="020B0600070205080204" pitchFamily="34" charset="-128"/>
              </a:rPr>
              <a:t>CO(</a:t>
            </a:r>
            <a:r>
              <a:rPr lang="en-US" altLang="en-US" sz="2000" i="1" dirty="0">
                <a:latin typeface="+mn-lt"/>
                <a:ea typeface="ＭＳ Ｐゴシック" panose="020B0600070205080204" pitchFamily="34" charset="-128"/>
              </a:rPr>
              <a:t>g</a:t>
            </a:r>
            <a:r>
              <a:rPr lang="en-US" altLang="en-US" sz="2000" dirty="0">
                <a:latin typeface="+mn-lt"/>
                <a:ea typeface="ＭＳ Ｐゴシック" panose="020B0600070205080204" pitchFamily="34" charset="-128"/>
              </a:rPr>
              <a:t>) + 2 H</a:t>
            </a:r>
            <a:r>
              <a:rPr lang="en-US" altLang="en-US" sz="2000" baseline="-25000" dirty="0">
                <a:latin typeface="+mn-lt"/>
                <a:ea typeface="ＭＳ Ｐゴシック" panose="020B0600070205080204" pitchFamily="34" charset="-128"/>
              </a:rPr>
              <a:t>2</a:t>
            </a:r>
            <a:r>
              <a:rPr lang="en-US" altLang="en-US" sz="2000" dirty="0">
                <a:latin typeface="+mn-lt"/>
                <a:ea typeface="ＭＳ Ｐゴシック" panose="020B0600070205080204" pitchFamily="34" charset="-128"/>
              </a:rPr>
              <a:t> (</a:t>
            </a:r>
            <a:r>
              <a:rPr lang="en-US" altLang="en-US" sz="2000" i="1" dirty="0">
                <a:latin typeface="+mn-lt"/>
                <a:ea typeface="ＭＳ Ｐゴシック" panose="020B0600070205080204" pitchFamily="34" charset="-128"/>
              </a:rPr>
              <a:t>g</a:t>
            </a:r>
            <a:r>
              <a:rPr lang="en-US" altLang="en-US" sz="2000" dirty="0">
                <a:latin typeface="+mn-lt"/>
                <a:ea typeface="ＭＳ Ｐゴシック" panose="020B0600070205080204" pitchFamily="34" charset="-128"/>
              </a:rPr>
              <a:t>) </a:t>
            </a:r>
            <a:r>
              <a:rPr lang="en-US" altLang="en-US" sz="2000" dirty="0">
                <a:latin typeface="Cambria Math" panose="02040503050406030204" pitchFamily="18" charset="0"/>
                <a:ea typeface="Cambria Math" panose="02040503050406030204" pitchFamily="18" charset="0"/>
              </a:rPr>
              <a:t>⇌</a:t>
            </a:r>
            <a:r>
              <a:rPr lang="en-US" altLang="en-US" sz="2000" dirty="0">
                <a:latin typeface="+mn-lt"/>
                <a:ea typeface="ＭＳ Ｐゴシック" panose="020B0600070205080204" pitchFamily="34" charset="-128"/>
              </a:rPr>
              <a:t> CH</a:t>
            </a:r>
            <a:r>
              <a:rPr lang="en-US" altLang="en-US" sz="2000" baseline="-25000" dirty="0">
                <a:latin typeface="+mn-lt"/>
                <a:ea typeface="ＭＳ Ｐゴシック" panose="020B0600070205080204" pitchFamily="34" charset="-128"/>
              </a:rPr>
              <a:t>3</a:t>
            </a:r>
            <a:r>
              <a:rPr lang="en-US" altLang="en-US" sz="2000" dirty="0">
                <a:latin typeface="+mn-lt"/>
                <a:ea typeface="ＭＳ Ｐゴシック" panose="020B0600070205080204" pitchFamily="34" charset="-128"/>
              </a:rPr>
              <a:t>OH (</a:t>
            </a:r>
            <a:r>
              <a:rPr lang="en-US" altLang="en-US" sz="2000" i="1" dirty="0">
                <a:latin typeface="+mn-lt"/>
                <a:ea typeface="ＭＳ Ｐゴシック" panose="020B0600070205080204" pitchFamily="34" charset="-128"/>
              </a:rPr>
              <a:t>g</a:t>
            </a:r>
            <a:r>
              <a:rPr lang="en-US" altLang="en-US" sz="2000" dirty="0">
                <a:latin typeface="+mn-lt"/>
                <a:ea typeface="ＭＳ Ｐゴシック" panose="020B0600070205080204" pitchFamily="34" charset="-128"/>
              </a:rPr>
              <a:t>)</a:t>
            </a:r>
          </a:p>
          <a:p>
            <a:pPr>
              <a:spcBef>
                <a:spcPct val="0"/>
              </a:spcBef>
              <a:buFontTx/>
              <a:buNone/>
            </a:pPr>
            <a:r>
              <a:rPr lang="en-US" altLang="en-US" sz="2000" dirty="0">
                <a:latin typeface="+mn-lt"/>
                <a:ea typeface="ＭＳ Ｐゴシック" panose="020B0600070205080204" pitchFamily="34" charset="-128"/>
              </a:rPr>
              <a:t>A reaction mixture at 780 °C initially contains [CO] = 0.500 M and [H</a:t>
            </a:r>
            <a:r>
              <a:rPr lang="en-US" altLang="en-US" sz="2000" baseline="-25000" dirty="0">
                <a:latin typeface="+mn-lt"/>
                <a:ea typeface="ＭＳ Ｐゴシック" panose="020B0600070205080204" pitchFamily="34" charset="-128"/>
              </a:rPr>
              <a:t>2</a:t>
            </a:r>
            <a:r>
              <a:rPr lang="en-US" altLang="en-US" sz="2000" dirty="0">
                <a:latin typeface="+mn-lt"/>
                <a:ea typeface="ＭＳ Ｐゴシック" panose="020B0600070205080204" pitchFamily="34" charset="-128"/>
              </a:rPr>
              <a:t>] = 1.00 M. At equilibrium, the CO concentration is found to be 0.15 M. </a:t>
            </a:r>
            <a:r>
              <a:rPr lang="en-US" sz="2000" dirty="0">
                <a:latin typeface="+mn-lt"/>
                <a:ea typeface="ＭＳ Ｐゴシック" panose="020B0600070205080204" pitchFamily="34" charset="-128"/>
              </a:rPr>
              <a:t>Calculate the concentrations of all species at equilibrium. </a:t>
            </a:r>
            <a:r>
              <a:rPr lang="en-US" altLang="en-US" sz="2000" dirty="0">
                <a:latin typeface="+mn-lt"/>
                <a:ea typeface="ＭＳ Ｐゴシック" panose="020B0600070205080204" pitchFamily="34" charset="-128"/>
              </a:rPr>
              <a:t>What is the value of the equilibrium constant? Does this reaction favor the reactants or the products?</a:t>
            </a:r>
          </a:p>
        </p:txBody>
      </p:sp>
      <mc:AlternateContent xmlns:mc="http://schemas.openxmlformats.org/markup-compatibility/2006" xmlns:a14="http://schemas.microsoft.com/office/drawing/2010/main">
        <mc:Choice Requires="a14">
          <p:sp>
            <p:nvSpPr>
              <p:cNvPr id="5" name="Rectangle 3"/>
              <p:cNvSpPr txBox="1">
                <a:spLocks noChangeArrowheads="1"/>
              </p:cNvSpPr>
              <p:nvPr/>
            </p:nvSpPr>
            <p:spPr>
              <a:xfrm>
                <a:off x="1447800" y="3429000"/>
                <a:ext cx="9982200" cy="2811160"/>
              </a:xfrm>
              <a:prstGeom prst="rect">
                <a:avLst/>
              </a:prstGeom>
            </p:spPr>
            <p:txBody>
              <a:bodyPr vert="horz" lIns="950976" tIns="45720" rIns="91440" bIns="45720" rtlCol="0">
                <a:noAutofit/>
              </a:bodyPr>
              <a:lstStyle>
                <a:lvl1pPr marL="0" indent="0" algn="ctr" defTabSz="914400" rtl="0" eaLnBrk="1" latinLnBrk="0" hangingPunct="1">
                  <a:spcBef>
                    <a:spcPct val="20000"/>
                  </a:spcBef>
                  <a:buFont typeface="Arial" pitchFamily="34" charset="0"/>
                  <a:buNone/>
                  <a:defRPr sz="3200" kern="1200">
                    <a:solidFill>
                      <a:schemeClr val="tx1">
                        <a:tint val="75000"/>
                      </a:schemeClr>
                    </a:solidFill>
                    <a:latin typeface="+mn-lt"/>
                    <a:ea typeface="+mn-ea"/>
                    <a:cs typeface="+mn-cs"/>
                  </a:defRPr>
                </a:lvl1pPr>
                <a:lvl2pPr marL="457200" indent="0" algn="ctr" defTabSz="914400" rtl="0" eaLnBrk="1" latinLnBrk="0" hangingPunct="1">
                  <a:spcBef>
                    <a:spcPct val="20000"/>
                  </a:spcBef>
                  <a:buFont typeface="Arial" pitchFamily="34" charset="0"/>
                  <a:buNone/>
                  <a:defRPr sz="2800" kern="1200">
                    <a:solidFill>
                      <a:schemeClr val="tx1">
                        <a:tint val="75000"/>
                      </a:schemeClr>
                    </a:solidFill>
                    <a:latin typeface="+mn-lt"/>
                    <a:ea typeface="+mn-ea"/>
                    <a:cs typeface="+mn-cs"/>
                  </a:defRPr>
                </a:lvl2pPr>
                <a:lvl3pPr marL="914400" indent="0" algn="ctr" defTabSz="914400" rtl="0" eaLnBrk="1" latinLnBrk="0" hangingPunct="1">
                  <a:spcBef>
                    <a:spcPct val="20000"/>
                  </a:spcBef>
                  <a:buFont typeface="Arial" pitchFamily="34" charset="0"/>
                  <a:buNone/>
                  <a:defRPr sz="2400" kern="1200">
                    <a:solidFill>
                      <a:schemeClr val="tx1">
                        <a:tint val="75000"/>
                      </a:schemeClr>
                    </a:solidFill>
                    <a:latin typeface="+mn-lt"/>
                    <a:ea typeface="+mn-ea"/>
                    <a:cs typeface="+mn-cs"/>
                  </a:defRPr>
                </a:lvl3pPr>
                <a:lvl4pPr marL="1371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4pPr>
                <a:lvl5pPr marL="18288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5pPr>
                <a:lvl6pPr marL="22860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9pPr>
              </a:lstStyle>
              <a:p>
                <a:pPr algn="l">
                  <a:buFontTx/>
                  <a:buNone/>
                </a:pPr>
                <a:r>
                  <a:rPr lang="en-US" sz="2800" noProof="1">
                    <a:solidFill>
                      <a:srgbClr val="CC0000"/>
                    </a:solidFill>
                  </a:rPr>
                  <a:t>R 	CO(g)     + 	2H</a:t>
                </a:r>
                <a:r>
                  <a:rPr lang="en-US" sz="2800" baseline="-25000" noProof="1">
                    <a:solidFill>
                      <a:srgbClr val="CC0000"/>
                    </a:solidFill>
                  </a:rPr>
                  <a:t>2</a:t>
                </a:r>
                <a:r>
                  <a:rPr lang="en-US" sz="2800" noProof="1">
                    <a:solidFill>
                      <a:srgbClr val="CC0000"/>
                    </a:solidFill>
                  </a:rPr>
                  <a:t>(</a:t>
                </a:r>
                <a:r>
                  <a:rPr lang="en-US" sz="2800" i="1" noProof="1">
                    <a:solidFill>
                      <a:srgbClr val="CC0000"/>
                    </a:solidFill>
                  </a:rPr>
                  <a:t>g</a:t>
                </a:r>
                <a:r>
                  <a:rPr lang="en-US" sz="2800" noProof="1">
                    <a:solidFill>
                      <a:srgbClr val="CC0000"/>
                    </a:solidFill>
                  </a:rPr>
                  <a:t>)  </a:t>
                </a:r>
                <a:r>
                  <a:rPr lang="en-US" sz="2800" noProof="1">
                    <a:solidFill>
                      <a:srgbClr val="CC0000"/>
                    </a:solidFill>
                    <a:sym typeface="Wingdings 3" pitchFamily="18" charset="2"/>
                  </a:rPr>
                  <a:t></a:t>
                </a:r>
                <a:r>
                  <a:rPr lang="en-US" sz="2800" noProof="1">
                    <a:solidFill>
                      <a:srgbClr val="CC0000"/>
                    </a:solidFill>
                  </a:rPr>
                  <a:t> 		CH</a:t>
                </a:r>
                <a:r>
                  <a:rPr lang="en-US" sz="2800" baseline="-25000" noProof="1">
                    <a:solidFill>
                      <a:srgbClr val="CC0000"/>
                    </a:solidFill>
                  </a:rPr>
                  <a:t>3</a:t>
                </a:r>
                <a:r>
                  <a:rPr lang="en-US" sz="2800" noProof="1">
                    <a:solidFill>
                      <a:srgbClr val="CC0000"/>
                    </a:solidFill>
                  </a:rPr>
                  <a:t>OH(</a:t>
                </a:r>
                <a:r>
                  <a:rPr lang="en-US" sz="2800" i="1" noProof="1">
                    <a:solidFill>
                      <a:srgbClr val="CC0000"/>
                    </a:solidFill>
                  </a:rPr>
                  <a:t>g</a:t>
                </a:r>
                <a:r>
                  <a:rPr lang="en-US" sz="2800" noProof="1">
                    <a:solidFill>
                      <a:srgbClr val="CC0000"/>
                    </a:solidFill>
                  </a:rPr>
                  <a:t>)</a:t>
                </a:r>
              </a:p>
              <a:p>
                <a:pPr algn="l">
                  <a:buFontTx/>
                  <a:buNone/>
                </a:pPr>
                <a:r>
                  <a:rPr lang="en-US" sz="2800" noProof="1">
                    <a:solidFill>
                      <a:srgbClr val="CC0000"/>
                    </a:solidFill>
                  </a:rPr>
                  <a:t>I </a:t>
                </a:r>
                <a:r>
                  <a:rPr lang="en-US" sz="2800" noProof="1"/>
                  <a:t>  	</a:t>
                </a:r>
                <a:r>
                  <a:rPr lang="en-US" sz="2800" noProof="1">
                    <a:solidFill>
                      <a:schemeClr val="tx1"/>
                    </a:solidFill>
                  </a:rPr>
                  <a:t>0.500      	1.00  	   		0</a:t>
                </a:r>
              </a:p>
              <a:p>
                <a:pPr algn="l">
                  <a:buFontTx/>
                  <a:buNone/>
                </a:pPr>
                <a:r>
                  <a:rPr lang="en-US" sz="2800" noProof="1">
                    <a:solidFill>
                      <a:srgbClr val="CC0000"/>
                    </a:solidFill>
                  </a:rPr>
                  <a:t>C   </a:t>
                </a:r>
                <a:r>
                  <a:rPr lang="en-US" sz="2800" noProof="1"/>
                  <a:t>     </a:t>
                </a:r>
                <a:r>
                  <a:rPr lang="en-US" sz="2800" noProof="1">
                    <a:solidFill>
                      <a:schemeClr val="tx1"/>
                    </a:solidFill>
                    <a:sym typeface="Symbol" pitchFamily="18" charset="2"/>
                  </a:rPr>
                  <a:t>-0.35</a:t>
                </a:r>
                <a:r>
                  <a:rPr lang="en-US" sz="2800" noProof="1">
                    <a:solidFill>
                      <a:schemeClr val="tx1"/>
                    </a:solidFill>
                  </a:rPr>
                  <a:t>		-0.70	  		+0.35</a:t>
                </a:r>
              </a:p>
              <a:p>
                <a:pPr algn="l">
                  <a:buFontTx/>
                  <a:buNone/>
                </a:pPr>
                <a:r>
                  <a:rPr lang="en-US" sz="2800" noProof="1">
                    <a:solidFill>
                      <a:srgbClr val="CC0000"/>
                    </a:solidFill>
                  </a:rPr>
                  <a:t>E</a:t>
                </a:r>
                <a:r>
                  <a:rPr lang="en-US" sz="2800" noProof="1"/>
                  <a:t>         </a:t>
                </a:r>
                <a:r>
                  <a:rPr lang="en-US" sz="2800" noProof="1">
                    <a:solidFill>
                      <a:schemeClr val="tx1"/>
                    </a:solidFill>
                  </a:rPr>
                  <a:t>0.15		0.30          		0.35 </a:t>
                </a:r>
              </a:p>
              <a:p>
                <a:pPr algn="l">
                  <a:buFontTx/>
                  <a:buNone/>
                </a:pPr>
                <a:endParaRPr lang="en-US" sz="1600" i="1" noProof="1"/>
              </a:p>
              <a:p>
                <a:pPr algn="l"/>
                <a14:m>
                  <m:oMath xmlns:m="http://schemas.openxmlformats.org/officeDocument/2006/math">
                    <m:r>
                      <a:rPr lang="en-US" sz="2800" b="0" i="1" noProof="1" smtClean="0">
                        <a:solidFill>
                          <a:schemeClr val="tx1"/>
                        </a:solidFill>
                        <a:latin typeface="Cambria Math" panose="02040503050406030204" pitchFamily="18" charset="0"/>
                      </a:rPr>
                      <m:t>𝐾𝑐</m:t>
                    </m:r>
                    <m:r>
                      <a:rPr lang="en-US" sz="2800" b="0" i="1" noProof="1" smtClean="0">
                        <a:solidFill>
                          <a:schemeClr val="tx1"/>
                        </a:solidFill>
                        <a:latin typeface="Cambria Math" panose="02040503050406030204" pitchFamily="18" charset="0"/>
                      </a:rPr>
                      <m:t>= </m:t>
                    </m:r>
                    <m:f>
                      <m:fPr>
                        <m:ctrlPr>
                          <a:rPr lang="en-US" sz="2800" b="0" i="1" noProof="1" smtClean="0">
                            <a:solidFill>
                              <a:schemeClr val="tx1"/>
                            </a:solidFill>
                            <a:latin typeface="Cambria Math" panose="02040503050406030204" pitchFamily="18" charset="0"/>
                          </a:rPr>
                        </m:ctrlPr>
                      </m:fPr>
                      <m:num>
                        <m:r>
                          <a:rPr lang="en-US" sz="2800" i="0" noProof="1">
                            <a:solidFill>
                              <a:schemeClr val="tx1"/>
                            </a:solidFill>
                            <a:latin typeface="Cambria Math" panose="02040503050406030204" pitchFamily="18" charset="0"/>
                          </a:rPr>
                          <m:t>[</m:t>
                        </m:r>
                        <m:r>
                          <m:rPr>
                            <m:sty m:val="p"/>
                          </m:rPr>
                          <a:rPr lang="en-US" sz="2800" i="0" noProof="1">
                            <a:solidFill>
                              <a:schemeClr val="tx1"/>
                            </a:solidFill>
                            <a:latin typeface="Cambria Math" panose="02040503050406030204" pitchFamily="18" charset="0"/>
                          </a:rPr>
                          <m:t>CH</m:t>
                        </m:r>
                        <m:r>
                          <a:rPr lang="en-US" sz="2800" i="0" baseline="-25000" noProof="1">
                            <a:solidFill>
                              <a:schemeClr val="tx1"/>
                            </a:solidFill>
                            <a:latin typeface="Cambria Math" panose="02040503050406030204" pitchFamily="18" charset="0"/>
                          </a:rPr>
                          <m:t>3</m:t>
                        </m:r>
                        <m:r>
                          <m:rPr>
                            <m:sty m:val="p"/>
                          </m:rPr>
                          <a:rPr lang="en-US" sz="2800" i="0" noProof="1">
                            <a:solidFill>
                              <a:schemeClr val="tx1"/>
                            </a:solidFill>
                            <a:latin typeface="Cambria Math" panose="02040503050406030204" pitchFamily="18" charset="0"/>
                          </a:rPr>
                          <m:t>OH</m:t>
                        </m:r>
                        <m:r>
                          <a:rPr lang="en-US" sz="2800" i="0" noProof="1">
                            <a:solidFill>
                              <a:schemeClr val="tx1"/>
                            </a:solidFill>
                            <a:latin typeface="Cambria Math" panose="02040503050406030204" pitchFamily="18" charset="0"/>
                          </a:rPr>
                          <m:t>]</m:t>
                        </m:r>
                      </m:num>
                      <m:den>
                        <m:d>
                          <m:dPr>
                            <m:begChr m:val="["/>
                            <m:endChr m:val="]"/>
                            <m:ctrlPr>
                              <a:rPr lang="en-US" sz="2800" b="0" i="1" noProof="1" smtClean="0">
                                <a:solidFill>
                                  <a:schemeClr val="tx1"/>
                                </a:solidFill>
                                <a:latin typeface="Cambria Math" panose="02040503050406030204" pitchFamily="18" charset="0"/>
                              </a:rPr>
                            </m:ctrlPr>
                          </m:dPr>
                          <m:e>
                            <m:r>
                              <m:rPr>
                                <m:sty m:val="p"/>
                              </m:rPr>
                              <a:rPr lang="en-US" sz="2800" b="0" i="0" noProof="1" smtClean="0">
                                <a:solidFill>
                                  <a:schemeClr val="tx1"/>
                                </a:solidFill>
                                <a:latin typeface="Cambria Math" panose="02040503050406030204" pitchFamily="18" charset="0"/>
                              </a:rPr>
                              <m:t>CO</m:t>
                            </m:r>
                          </m:e>
                        </m:d>
                        <m:d>
                          <m:dPr>
                            <m:begChr m:val="["/>
                            <m:endChr m:val="]"/>
                            <m:ctrlPr>
                              <a:rPr lang="en-US" sz="2800" b="0" i="1" noProof="1" smtClean="0">
                                <a:solidFill>
                                  <a:schemeClr val="tx1"/>
                                </a:solidFill>
                                <a:latin typeface="Cambria Math" panose="02040503050406030204" pitchFamily="18" charset="0"/>
                              </a:rPr>
                            </m:ctrlPr>
                          </m:dPr>
                          <m:e>
                            <m:r>
                              <m:rPr>
                                <m:sty m:val="p"/>
                              </m:rPr>
                              <a:rPr lang="en-US" sz="2800" b="0" i="0" noProof="1" smtClean="0">
                                <a:solidFill>
                                  <a:schemeClr val="tx1"/>
                                </a:solidFill>
                                <a:latin typeface="Cambria Math" panose="02040503050406030204" pitchFamily="18" charset="0"/>
                              </a:rPr>
                              <m:t>H</m:t>
                            </m:r>
                            <m:r>
                              <a:rPr lang="en-US" sz="2800" b="0" i="0" baseline="-25000" noProof="1" smtClean="0">
                                <a:solidFill>
                                  <a:schemeClr val="tx1"/>
                                </a:solidFill>
                                <a:latin typeface="Cambria Math" panose="02040503050406030204" pitchFamily="18" charset="0"/>
                              </a:rPr>
                              <m:t>2</m:t>
                            </m:r>
                          </m:e>
                        </m:d>
                        <m:r>
                          <a:rPr lang="en-US" sz="2800" b="0" i="0" baseline="30000" noProof="1" smtClean="0">
                            <a:solidFill>
                              <a:schemeClr val="tx1"/>
                            </a:solidFill>
                            <a:latin typeface="Cambria Math" panose="02040503050406030204" pitchFamily="18" charset="0"/>
                          </a:rPr>
                          <m:t>2</m:t>
                        </m:r>
                      </m:den>
                    </m:f>
                  </m:oMath>
                </a14:m>
                <a:r>
                  <a:rPr lang="en-US" sz="2800" dirty="0">
                    <a:solidFill>
                      <a:schemeClr val="tx1"/>
                    </a:solidFill>
                  </a:rPr>
                  <a:t> = </a:t>
                </a:r>
                <a14:m>
                  <m:oMath xmlns:m="http://schemas.openxmlformats.org/officeDocument/2006/math">
                    <m:f>
                      <m:fPr>
                        <m:ctrlPr>
                          <a:rPr lang="en-US" sz="2800" i="1" smtClean="0">
                            <a:solidFill>
                              <a:schemeClr val="tx1"/>
                            </a:solidFill>
                            <a:latin typeface="Cambria Math" panose="02040503050406030204" pitchFamily="18" charset="0"/>
                          </a:rPr>
                        </m:ctrlPr>
                      </m:fPr>
                      <m:num>
                        <m:r>
                          <a:rPr lang="en-US" sz="2800" b="0" i="1" smtClean="0">
                            <a:solidFill>
                              <a:schemeClr val="tx1"/>
                            </a:solidFill>
                            <a:latin typeface="Cambria Math" panose="02040503050406030204" pitchFamily="18" charset="0"/>
                          </a:rPr>
                          <m:t>0.35</m:t>
                        </m:r>
                      </m:num>
                      <m:den>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0.15</m:t>
                            </m:r>
                          </m:e>
                        </m:d>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0.30</m:t>
                            </m:r>
                          </m:e>
                        </m:d>
                        <m:r>
                          <a:rPr lang="en-US" sz="2800" b="0" i="1" baseline="30000" smtClean="0">
                            <a:solidFill>
                              <a:schemeClr val="tx1"/>
                            </a:solidFill>
                            <a:latin typeface="Cambria Math" panose="02040503050406030204" pitchFamily="18" charset="0"/>
                          </a:rPr>
                          <m:t>2</m:t>
                        </m:r>
                      </m:den>
                    </m:f>
                  </m:oMath>
                </a14:m>
                <a:r>
                  <a:rPr lang="en-US" sz="2800" dirty="0">
                    <a:solidFill>
                      <a:schemeClr val="tx1"/>
                    </a:solidFill>
                  </a:rPr>
                  <a:t> = 25.9</a:t>
                </a:r>
              </a:p>
            </p:txBody>
          </p:sp>
        </mc:Choice>
        <mc:Fallback xmlns="">
          <p:sp>
            <p:nvSpPr>
              <p:cNvPr id="5" name="Rectangle 3"/>
              <p:cNvSpPr txBox="1">
                <a:spLocks noRot="1" noChangeAspect="1" noMove="1" noResize="1" noEditPoints="1" noAdjustHandles="1" noChangeArrowheads="1" noChangeShapeType="1" noTextEdit="1"/>
              </p:cNvSpPr>
              <p:nvPr/>
            </p:nvSpPr>
            <p:spPr>
              <a:xfrm>
                <a:off x="1447800" y="3429000"/>
                <a:ext cx="9982200" cy="2811160"/>
              </a:xfrm>
              <a:prstGeom prst="rect">
                <a:avLst/>
              </a:prstGeom>
              <a:blipFill>
                <a:blip r:embed="rId3"/>
                <a:stretch>
                  <a:fillRect t="-2820" b="-13449"/>
                </a:stretch>
              </a:blipFill>
            </p:spPr>
            <p:txBody>
              <a:bodyPr/>
              <a:lstStyle/>
              <a:p>
                <a:r>
                  <a:rPr lang="en-US">
                    <a:noFill/>
                  </a:rPr>
                  <a:t> </a:t>
                </a:r>
              </a:p>
            </p:txBody>
          </p:sp>
        </mc:Fallback>
      </mc:AlternateContent>
    </p:spTree>
    <p:extLst>
      <p:ext uri="{BB962C8B-B14F-4D97-AF65-F5344CB8AC3E}">
        <p14:creationId xmlns:p14="http://schemas.microsoft.com/office/powerpoint/2010/main" val="3014479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5">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5">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22" presetClass="entr" presetSubtype="4" fill="hold" nodeType="clickEffect">
                                  <p:stCondLst>
                                    <p:cond delay="0"/>
                                  </p:stCondLst>
                                  <p:childTnLst>
                                    <p:set>
                                      <p:cBhvr>
                                        <p:cTn id="22" dur="1" fill="hold">
                                          <p:stCondLst>
                                            <p:cond delay="0"/>
                                          </p:stCondLst>
                                        </p:cTn>
                                        <p:tgtEl>
                                          <p:spTgt spid="5">
                                            <p:txEl>
                                              <p:pRg st="5" end="5"/>
                                            </p:txEl>
                                          </p:spTgt>
                                        </p:tgtEl>
                                        <p:attrNameLst>
                                          <p:attrName>style.visibility</p:attrName>
                                        </p:attrNameLst>
                                      </p:cBhvr>
                                      <p:to>
                                        <p:strVal val="visible"/>
                                      </p:to>
                                    </p:set>
                                    <p:animEffect transition="in" filter="wipe(down)">
                                      <p:cBhvr>
                                        <p:cTn id="23" dur="500"/>
                                        <p:tgtEl>
                                          <p:spTgt spid="5">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autoUpdateAnimBg="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09600" y="228600"/>
            <a:ext cx="10972800" cy="6400799"/>
          </a:xfrm>
        </p:spPr>
        <p:txBody>
          <a:bodyPr/>
          <a:lstStyle/>
          <a:p>
            <a:pPr marL="0" indent="0">
              <a:buNone/>
            </a:pPr>
            <a:r>
              <a:rPr lang="en-US" sz="2400" b="1" u="sng" dirty="0"/>
              <a:t>EXAMPLE:</a:t>
            </a:r>
            <a:r>
              <a:rPr lang="en-US" sz="2400" dirty="0"/>
              <a:t>  A rigid vessel at a temperature of 25</a:t>
            </a:r>
            <a:r>
              <a:rPr lang="en-US" sz="2400" baseline="30000" dirty="0"/>
              <a:t>o</a:t>
            </a:r>
            <a:r>
              <a:rPr lang="en-US" sz="2400" dirty="0"/>
              <a:t>C initially has a partial pressure of NO equal to 0.526 </a:t>
            </a:r>
            <a:r>
              <a:rPr lang="en-US" sz="2400" dirty="0" err="1"/>
              <a:t>atm</a:t>
            </a:r>
            <a:r>
              <a:rPr lang="en-US" sz="2400" dirty="0"/>
              <a:t> and a partial pressure of Br</a:t>
            </a:r>
            <a:r>
              <a:rPr lang="en-US" sz="2400" baseline="-25000" dirty="0"/>
              <a:t>2</a:t>
            </a:r>
            <a:r>
              <a:rPr lang="en-US" sz="2400" dirty="0"/>
              <a:t> equal to 0.329 atm. At equilibrium the partial pressure of Br</a:t>
            </a:r>
            <a:r>
              <a:rPr lang="en-US" sz="2400" baseline="-25000" dirty="0"/>
              <a:t>2</a:t>
            </a:r>
            <a:r>
              <a:rPr lang="en-US" sz="2400" dirty="0"/>
              <a:t> is 0.203 atm. </a:t>
            </a:r>
          </a:p>
          <a:p>
            <a:pPr marL="0" indent="0">
              <a:buNone/>
            </a:pPr>
            <a:r>
              <a:rPr lang="en-US" sz="2400" dirty="0"/>
              <a:t>(a)  Calculate </a:t>
            </a:r>
            <a:r>
              <a:rPr lang="en-US" sz="2400" dirty="0" err="1"/>
              <a:t>K</a:t>
            </a:r>
            <a:r>
              <a:rPr lang="en-US" sz="2400" baseline="-25000" dirty="0" err="1"/>
              <a:t>p</a:t>
            </a:r>
            <a:r>
              <a:rPr lang="en-US" sz="2400" dirty="0"/>
              <a:t> for the reaction:  2NO(</a:t>
            </a:r>
            <a:r>
              <a:rPr lang="en-US" sz="2400" i="1" dirty="0"/>
              <a:t>g</a:t>
            </a:r>
            <a:r>
              <a:rPr lang="en-US" sz="2400" dirty="0"/>
              <a:t>)  +  Br</a:t>
            </a:r>
            <a:r>
              <a:rPr lang="en-US" sz="2400" baseline="-25000" dirty="0"/>
              <a:t>2</a:t>
            </a:r>
            <a:r>
              <a:rPr lang="en-US" sz="2400" dirty="0"/>
              <a:t>(</a:t>
            </a:r>
            <a:r>
              <a:rPr lang="en-US" sz="2400" i="1" dirty="0"/>
              <a:t>g</a:t>
            </a:r>
            <a:r>
              <a:rPr lang="en-US" sz="2400" dirty="0"/>
              <a:t>)  </a:t>
            </a:r>
            <a:r>
              <a:rPr lang="ja-JP" altLang="en-US" sz="2400" b="1" dirty="0"/>
              <a:t>⇄</a:t>
            </a:r>
            <a:r>
              <a:rPr lang="en-US" sz="2400" dirty="0"/>
              <a:t>  2NOBr(</a:t>
            </a:r>
            <a:r>
              <a:rPr lang="en-US" sz="2400" i="1" dirty="0"/>
              <a:t>g</a:t>
            </a:r>
            <a:r>
              <a:rPr lang="en-US" sz="2400" dirty="0"/>
              <a:t>) </a:t>
            </a:r>
          </a:p>
          <a:p>
            <a:pPr marL="0" indent="0">
              <a:buNone/>
            </a:pPr>
            <a:r>
              <a:rPr lang="en-US" sz="2400" dirty="0"/>
              <a:t>(b)  Calculate the total pressure in the container once equilibrium has been established.</a:t>
            </a:r>
          </a:p>
          <a:p>
            <a:pPr marL="0" indent="0">
              <a:buNone/>
            </a:pPr>
            <a:endParaRPr lang="en-US" dirty="0"/>
          </a:p>
        </p:txBody>
      </p:sp>
    </p:spTree>
    <p:extLst>
      <p:ext uri="{BB962C8B-B14F-4D97-AF65-F5344CB8AC3E}">
        <p14:creationId xmlns:p14="http://schemas.microsoft.com/office/powerpoint/2010/main" val="369845304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 y="274638"/>
            <a:ext cx="12115800" cy="1143000"/>
          </a:xfrm>
        </p:spPr>
        <p:txBody>
          <a:bodyPr>
            <a:normAutofit fontScale="90000"/>
          </a:bodyPr>
          <a:lstStyle/>
          <a:p>
            <a:r>
              <a:rPr lang="en-US" dirty="0"/>
              <a:t>Using K to find Concentrations of Reactants and Products</a:t>
            </a:r>
            <a:endParaRPr lang="en-US" dirty="0">
              <a:solidFill>
                <a:srgbClr val="FF0000"/>
              </a:solidFill>
            </a:endParaRPr>
          </a:p>
        </p:txBody>
      </p:sp>
      <p:sp>
        <p:nvSpPr>
          <p:cNvPr id="3" name="Content Placeholder 2"/>
          <p:cNvSpPr>
            <a:spLocks noGrp="1"/>
          </p:cNvSpPr>
          <p:nvPr>
            <p:ph idx="1"/>
          </p:nvPr>
        </p:nvSpPr>
        <p:spPr/>
        <p:txBody>
          <a:bodyPr>
            <a:normAutofit/>
          </a:bodyPr>
          <a:lstStyle/>
          <a:p>
            <a:pPr marL="0" indent="0">
              <a:buNone/>
            </a:pPr>
            <a:r>
              <a:rPr lang="en-US" sz="4000" dirty="0">
                <a:solidFill>
                  <a:srgbClr val="FF0000"/>
                </a:solidFill>
              </a:rPr>
              <a:t>Size of K and Reaction Position:</a:t>
            </a:r>
            <a:endParaRPr lang="en-US" sz="4000" dirty="0"/>
          </a:p>
          <a:p>
            <a:r>
              <a:rPr lang="en-US" dirty="0"/>
              <a:t>If a reaction has a very LARGE K value (K &gt; 10</a:t>
            </a:r>
            <a:r>
              <a:rPr lang="en-US" baseline="30000" dirty="0"/>
              <a:t>5</a:t>
            </a:r>
            <a:r>
              <a:rPr lang="en-US" dirty="0"/>
              <a:t>), the reaction is considered to leave  negligible reactants at equilibrium, or the reaction goes TO COMPLETION.</a:t>
            </a:r>
          </a:p>
          <a:p>
            <a:r>
              <a:rPr lang="en-US" dirty="0"/>
              <a:t>If a reaction has a very small K value (K &lt; 10</a:t>
            </a:r>
            <a:r>
              <a:rPr lang="en-US" baseline="30000" dirty="0"/>
              <a:t>-5</a:t>
            </a:r>
            <a:r>
              <a:rPr lang="en-US" dirty="0"/>
              <a:t>), the reaction is considered to produce very few products at equilibrium. The tiny product concentrations can be calculated using an approximation for the amount of reaction.</a:t>
            </a:r>
          </a:p>
          <a:p>
            <a:endParaRPr lang="en-US" dirty="0"/>
          </a:p>
        </p:txBody>
      </p:sp>
    </p:spTree>
    <p:extLst>
      <p:ext uri="{BB962C8B-B14F-4D97-AF65-F5344CB8AC3E}">
        <p14:creationId xmlns:p14="http://schemas.microsoft.com/office/powerpoint/2010/main" val="270213428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a:xfrm>
            <a:off x="762000" y="76200"/>
            <a:ext cx="10972800" cy="762000"/>
          </a:xfrm>
        </p:spPr>
        <p:txBody>
          <a:bodyPr>
            <a:normAutofit/>
          </a:bodyPr>
          <a:lstStyle/>
          <a:p>
            <a:pPr>
              <a:defRPr/>
            </a:pPr>
            <a:r>
              <a:rPr lang="en-US" sz="3600" b="1" noProof="1"/>
              <a:t>STEPS FOR SOLVING EQUILIBRIUM PROBLEMS</a:t>
            </a:r>
            <a:endParaRPr lang="en-US" sz="3600" noProof="1">
              <a:solidFill>
                <a:schemeClr val="tx1"/>
              </a:solidFill>
              <a:effectLst>
                <a:outerShdw blurRad="38100" dist="38100" dir="2700000" algn="tl">
                  <a:srgbClr val="FFFFFF"/>
                </a:outerShdw>
              </a:effectLst>
            </a:endParaRPr>
          </a:p>
        </p:txBody>
      </p:sp>
      <p:sp>
        <p:nvSpPr>
          <p:cNvPr id="2" name="Content Placeholder 1"/>
          <p:cNvSpPr>
            <a:spLocks noGrp="1"/>
          </p:cNvSpPr>
          <p:nvPr>
            <p:ph idx="1"/>
          </p:nvPr>
        </p:nvSpPr>
        <p:spPr>
          <a:xfrm>
            <a:off x="609600" y="1143000"/>
            <a:ext cx="10972800" cy="5486399"/>
          </a:xfrm>
        </p:spPr>
        <p:txBody>
          <a:bodyPr>
            <a:normAutofit fontScale="92500" lnSpcReduction="10000"/>
          </a:bodyPr>
          <a:lstStyle/>
          <a:p>
            <a:pPr marL="514350" indent="-514350">
              <a:buFont typeface="+mj-lt"/>
              <a:buAutoNum type="arabicPeriod"/>
            </a:pPr>
            <a:r>
              <a:rPr lang="en-US" noProof="1"/>
              <a:t>Write a balanced equation. </a:t>
            </a:r>
          </a:p>
          <a:p>
            <a:pPr marL="514350" indent="-514350">
              <a:buFont typeface="+mj-lt"/>
              <a:buAutoNum type="arabicPeriod"/>
            </a:pPr>
            <a:r>
              <a:rPr lang="en-US" noProof="1"/>
              <a:t>Check the size of K! Will the reaction go to completion?</a:t>
            </a:r>
          </a:p>
          <a:p>
            <a:pPr marL="514350" indent="-514350">
              <a:buFont typeface="+mj-lt"/>
              <a:buAutoNum type="arabicPeriod"/>
            </a:pPr>
            <a:r>
              <a:rPr lang="en-US" noProof="1"/>
              <a:t>Set up the equilibrium expression.  (No numbers yet!)</a:t>
            </a:r>
          </a:p>
          <a:p>
            <a:pPr marL="514350" indent="-514350">
              <a:buFont typeface="+mj-lt"/>
              <a:buAutoNum type="arabicPeriod"/>
            </a:pPr>
            <a:r>
              <a:rPr lang="en-US" i="1" noProof="1"/>
              <a:t>*** RARE STEP*** </a:t>
            </a:r>
            <a:r>
              <a:rPr lang="en-US" noProof="1"/>
              <a:t>If you can't tell which way the reaction is going to shift, solve for </a:t>
            </a:r>
            <a:r>
              <a:rPr lang="en-US" i="1" noProof="1"/>
              <a:t>Q</a:t>
            </a:r>
            <a:r>
              <a:rPr lang="en-US" noProof="1"/>
              <a:t>. Don’t assume the reaction will shift forward!</a:t>
            </a:r>
          </a:p>
          <a:p>
            <a:pPr marL="514350" indent="-514350">
              <a:buFont typeface="+mj-lt"/>
              <a:buAutoNum type="arabicPeriod"/>
            </a:pPr>
            <a:r>
              <a:rPr lang="en-US" noProof="1"/>
              <a:t>Set up a RICE table that includes the equation, initial concentrations, changes in concentration in terms of </a:t>
            </a:r>
            <a:r>
              <a:rPr lang="en-US" i="1" noProof="1"/>
              <a:t>x</a:t>
            </a:r>
            <a:r>
              <a:rPr lang="en-US" noProof="1"/>
              <a:t>, and final concentrations.</a:t>
            </a:r>
          </a:p>
          <a:p>
            <a:pPr marL="514350" indent="-514350">
              <a:buFont typeface="+mj-lt"/>
              <a:buAutoNum type="arabicPeriod"/>
            </a:pPr>
            <a:r>
              <a:rPr lang="en-US" noProof="1"/>
              <a:t>Substitute these final concentrations into the equilibrium expression and solve for </a:t>
            </a:r>
            <a:r>
              <a:rPr lang="en-US" i="1" noProof="1"/>
              <a:t>x</a:t>
            </a:r>
            <a:r>
              <a:rPr lang="en-US" noProof="1"/>
              <a:t>.  </a:t>
            </a:r>
          </a:p>
          <a:p>
            <a:pPr marL="514350" indent="-514350">
              <a:buFont typeface="+mj-lt"/>
              <a:buAutoNum type="arabicPeriod"/>
            </a:pPr>
            <a:r>
              <a:rPr lang="en-US" noProof="1"/>
              <a:t>Check your answer to make sure that it is logical!</a:t>
            </a:r>
            <a:endParaRPr lang="en-US" dirty="0"/>
          </a:p>
        </p:txBody>
      </p:sp>
    </p:spTree>
    <p:extLst>
      <p:ext uri="{BB962C8B-B14F-4D97-AF65-F5344CB8AC3E}">
        <p14:creationId xmlns:p14="http://schemas.microsoft.com/office/powerpoint/2010/main" val="383694039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300" y="274638"/>
            <a:ext cx="11963400" cy="1143000"/>
          </a:xfrm>
        </p:spPr>
        <p:txBody>
          <a:bodyPr>
            <a:noAutofit/>
          </a:bodyPr>
          <a:lstStyle/>
          <a:p>
            <a:r>
              <a:rPr lang="en-US" sz="2800" dirty="0"/>
              <a:t>Example: K is LARGE (&gt;10</a:t>
            </a:r>
            <a:r>
              <a:rPr lang="en-US" sz="2800" baseline="30000" dirty="0"/>
              <a:t>5</a:t>
            </a:r>
            <a:r>
              <a:rPr lang="en-US" sz="2800" dirty="0"/>
              <a:t>)</a:t>
            </a:r>
            <a:br>
              <a:rPr lang="en-US" sz="2800" dirty="0"/>
            </a:br>
            <a:r>
              <a:rPr lang="en-US" sz="2800" dirty="0" err="1"/>
              <a:t>Rxn</a:t>
            </a:r>
            <a:r>
              <a:rPr lang="en-US" sz="2800" dirty="0"/>
              <a:t> goes to completion…. Solve as a normal </a:t>
            </a:r>
            <a:r>
              <a:rPr lang="en-US" sz="2800" dirty="0">
                <a:solidFill>
                  <a:srgbClr val="FF0000"/>
                </a:solidFill>
              </a:rPr>
              <a:t>STOICH</a:t>
            </a:r>
            <a:r>
              <a:rPr lang="en-US" sz="2800" dirty="0"/>
              <a:t> problem! Remember to consider limiting reactants. </a:t>
            </a:r>
          </a:p>
        </p:txBody>
      </p:sp>
      <p:sp>
        <p:nvSpPr>
          <p:cNvPr id="3" name="Content Placeholder 2"/>
          <p:cNvSpPr>
            <a:spLocks noGrp="1"/>
          </p:cNvSpPr>
          <p:nvPr>
            <p:ph idx="1"/>
          </p:nvPr>
        </p:nvSpPr>
        <p:spPr>
          <a:xfrm>
            <a:off x="114300" y="1417638"/>
            <a:ext cx="11963400" cy="4525963"/>
          </a:xfrm>
        </p:spPr>
        <p:txBody>
          <a:bodyPr>
            <a:normAutofit/>
          </a:bodyPr>
          <a:lstStyle/>
          <a:p>
            <a:pPr marL="0" indent="0">
              <a:buNone/>
            </a:pPr>
            <a:r>
              <a:rPr lang="en-US" sz="2800" dirty="0"/>
              <a:t>Consider the reaction: 		2 NO (g)  +  O</a:t>
            </a:r>
            <a:r>
              <a:rPr lang="en-US" sz="2800" baseline="-25000" dirty="0"/>
              <a:t>2</a:t>
            </a:r>
            <a:r>
              <a:rPr lang="en-US" sz="2800" dirty="0"/>
              <a:t>(g) ⇌ 2 NO</a:t>
            </a:r>
            <a:r>
              <a:rPr lang="en-US" sz="2800" baseline="-25000" dirty="0"/>
              <a:t>2</a:t>
            </a:r>
            <a:r>
              <a:rPr lang="en-US" sz="2800" dirty="0"/>
              <a:t>         </a:t>
            </a:r>
          </a:p>
          <a:p>
            <a:pPr marL="0" indent="0">
              <a:buNone/>
            </a:pPr>
            <a:r>
              <a:rPr lang="en-US" sz="2800" dirty="0"/>
              <a:t>If </a:t>
            </a:r>
            <a:r>
              <a:rPr lang="en-US" sz="2800" i="1" dirty="0"/>
              <a:t>K</a:t>
            </a:r>
            <a:r>
              <a:rPr lang="en-US" sz="2800" dirty="0"/>
              <a:t> = 1.0 x 10</a:t>
            </a:r>
            <a:r>
              <a:rPr lang="en-US" sz="2800" baseline="30000" dirty="0"/>
              <a:t>23</a:t>
            </a:r>
            <a:r>
              <a:rPr lang="en-US" sz="2800" dirty="0"/>
              <a:t> at 500°C, calculate the molarity of NO</a:t>
            </a:r>
            <a:r>
              <a:rPr lang="en-US" sz="2800" baseline="-25000" dirty="0"/>
              <a:t>2</a:t>
            </a:r>
            <a:r>
              <a:rPr lang="en-US" sz="2800" dirty="0"/>
              <a:t> produced when a solution that is 1.0 M NO and 0.25 M O</a:t>
            </a:r>
            <a:r>
              <a:rPr lang="en-US" sz="2800" baseline="-25000" dirty="0"/>
              <a:t>2</a:t>
            </a:r>
            <a:r>
              <a:rPr lang="en-US" sz="2800" dirty="0"/>
              <a:t> reacts.</a:t>
            </a:r>
          </a:p>
          <a:p>
            <a:endParaRPr lang="en-US" sz="2400" dirty="0"/>
          </a:p>
        </p:txBody>
      </p:sp>
    </p:spTree>
    <p:extLst>
      <p:ext uri="{BB962C8B-B14F-4D97-AF65-F5344CB8AC3E}">
        <p14:creationId xmlns:p14="http://schemas.microsoft.com/office/powerpoint/2010/main" val="7346215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Finding Equilibrium concentrations from initial data and </a:t>
            </a:r>
            <a:r>
              <a:rPr lang="en-US" i="1" dirty="0"/>
              <a:t>K</a:t>
            </a:r>
            <a:r>
              <a:rPr lang="en-US" dirty="0"/>
              <a:t> values</a:t>
            </a:r>
          </a:p>
        </p:txBody>
      </p:sp>
      <p:sp>
        <p:nvSpPr>
          <p:cNvPr id="5" name="Rectangle 2"/>
          <p:cNvSpPr>
            <a:spLocks noChangeArrowheads="1"/>
          </p:cNvSpPr>
          <p:nvPr/>
        </p:nvSpPr>
        <p:spPr bwMode="auto">
          <a:xfrm>
            <a:off x="4135438" y="3313113"/>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9" name="Content Placeholder 8"/>
          <p:cNvSpPr>
            <a:spLocks noGrp="1"/>
          </p:cNvSpPr>
          <p:nvPr>
            <p:ph idx="1"/>
          </p:nvPr>
        </p:nvSpPr>
        <p:spPr/>
        <p:txBody>
          <a:bodyPr/>
          <a:lstStyle/>
          <a:p>
            <a:r>
              <a:rPr lang="en-US" dirty="0"/>
              <a:t>When we know that a reaction MUST proceed to the products, even in tiny amounts, we will use “x” to represent the change. Using the mole- mole ratio, then this might be change and be 2x or 3x etc.</a:t>
            </a:r>
          </a:p>
          <a:p>
            <a:r>
              <a:rPr lang="en-US" dirty="0"/>
              <a:t>We can then complete the equilibrium values in terms of “x”, and also apply an approximation for when x is very small (&lt;5% of the initial value).</a:t>
            </a:r>
          </a:p>
          <a:p>
            <a:endParaRPr lang="en-US" dirty="0"/>
          </a:p>
        </p:txBody>
      </p:sp>
    </p:spTree>
    <p:extLst>
      <p:ext uri="{BB962C8B-B14F-4D97-AF65-F5344CB8AC3E}">
        <p14:creationId xmlns:p14="http://schemas.microsoft.com/office/powerpoint/2010/main" val="144237149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
            <a:ext cx="10972800" cy="990601"/>
          </a:xfrm>
        </p:spPr>
        <p:txBody>
          <a:bodyPr>
            <a:noAutofit/>
          </a:bodyPr>
          <a:lstStyle/>
          <a:p>
            <a:r>
              <a:rPr lang="en-US" sz="3200" b="1" dirty="0"/>
              <a:t>Small K values: The case of the vanishing x</a:t>
            </a:r>
            <a:br>
              <a:rPr lang="en-US" sz="3200" b="1" dirty="0"/>
            </a:br>
            <a:r>
              <a:rPr lang="en-US" sz="3200" b="1" dirty="0"/>
              <a:t>Useful when K is small</a:t>
            </a:r>
          </a:p>
        </p:txBody>
      </p:sp>
      <p:sp>
        <p:nvSpPr>
          <p:cNvPr id="3" name="Content Placeholder 2"/>
          <p:cNvSpPr>
            <a:spLocks noGrp="1"/>
          </p:cNvSpPr>
          <p:nvPr>
            <p:ph idx="1"/>
          </p:nvPr>
        </p:nvSpPr>
        <p:spPr>
          <a:xfrm>
            <a:off x="457200" y="990600"/>
            <a:ext cx="11277600" cy="5135564"/>
          </a:xfrm>
        </p:spPr>
        <p:txBody>
          <a:bodyPr/>
          <a:lstStyle/>
          <a:p>
            <a:pPr marL="0" indent="0">
              <a:buNone/>
            </a:pPr>
            <a:r>
              <a:rPr lang="en-US" sz="2400" b="1" dirty="0">
                <a:ea typeface="ＭＳ Ｐゴシック" charset="0"/>
                <a:cs typeface="ＭＳ Ｐゴシック" charset="0"/>
              </a:rPr>
              <a:t>Practice</a:t>
            </a:r>
            <a:r>
              <a:rPr lang="en-US" sz="2400" dirty="0">
                <a:ea typeface="ＭＳ Ｐゴシック" charset="0"/>
                <a:cs typeface="ＭＳ Ｐゴシック" charset="0"/>
              </a:rPr>
              <a:t>: Finding Equilibrium Concentrations from Initial Concentrations and the Equilibrium Constant</a:t>
            </a:r>
          </a:p>
          <a:p>
            <a:pPr>
              <a:spcBef>
                <a:spcPct val="0"/>
              </a:spcBef>
              <a:buFontTx/>
              <a:buNone/>
            </a:pPr>
            <a:r>
              <a:rPr lang="en-US" altLang="en-US" sz="2400" dirty="0">
                <a:ea typeface="ＭＳ Ｐゴシック" panose="020B0600070205080204" pitchFamily="34" charset="-128"/>
              </a:rPr>
              <a:t>Consider the reaction: </a:t>
            </a:r>
            <a:r>
              <a:rPr lang="en-US" sz="2400" dirty="0"/>
              <a:t>N</a:t>
            </a:r>
            <a:r>
              <a:rPr lang="en-US" sz="2400" baseline="-25000" dirty="0"/>
              <a:t>2</a:t>
            </a:r>
            <a:r>
              <a:rPr lang="en-US" sz="2400" dirty="0"/>
              <a:t> (g)  +  O</a:t>
            </a:r>
            <a:r>
              <a:rPr lang="en-US" sz="2400" baseline="-25000" dirty="0"/>
              <a:t>2</a:t>
            </a:r>
            <a:r>
              <a:rPr lang="en-US" sz="2400" dirty="0"/>
              <a:t>(g) ⇌ 2 NO</a:t>
            </a:r>
            <a:r>
              <a:rPr lang="en-US" altLang="en-US" sz="2400" dirty="0">
                <a:ea typeface="ＭＳ Ｐゴシック" panose="020B0600070205080204" pitchFamily="34" charset="-128"/>
              </a:rPr>
              <a:t> 	</a:t>
            </a:r>
            <a:r>
              <a:rPr lang="en-US" altLang="en-US" sz="2400" i="1" dirty="0">
                <a:ea typeface="ＭＳ Ｐゴシック" panose="020B0600070205080204" pitchFamily="34" charset="-128"/>
              </a:rPr>
              <a:t>Kc</a:t>
            </a:r>
            <a:r>
              <a:rPr lang="en-US" altLang="en-US" sz="2400" dirty="0">
                <a:ea typeface="ＭＳ Ｐゴシック" panose="020B0600070205080204" pitchFamily="34" charset="-128"/>
              </a:rPr>
              <a:t> = 2.0 x 10</a:t>
            </a:r>
            <a:r>
              <a:rPr lang="en-US" altLang="en-US" sz="2400" baseline="30000" dirty="0">
                <a:ea typeface="ＭＳ Ｐゴシック" panose="020B0600070205080204" pitchFamily="34" charset="-128"/>
              </a:rPr>
              <a:t>-5</a:t>
            </a:r>
            <a:r>
              <a:rPr lang="en-US" altLang="en-US" sz="2400" dirty="0">
                <a:ea typeface="ＭＳ Ｐゴシック" panose="020B0600070205080204" pitchFamily="34" charset="-128"/>
              </a:rPr>
              <a:t> at 2000</a:t>
            </a:r>
            <a:r>
              <a:rPr lang="en-US" altLang="en-US" sz="2400" baseline="30000" dirty="0">
                <a:ea typeface="ＭＳ Ｐゴシック" panose="020B0600070205080204" pitchFamily="34" charset="-128"/>
              </a:rPr>
              <a:t>o</a:t>
            </a:r>
            <a:r>
              <a:rPr lang="en-US" altLang="en-US" sz="2400" dirty="0">
                <a:ea typeface="ＭＳ Ｐゴシック" panose="020B0600070205080204" pitchFamily="34" charset="-128"/>
              </a:rPr>
              <a:t>C </a:t>
            </a:r>
          </a:p>
          <a:p>
            <a:pPr>
              <a:spcBef>
                <a:spcPct val="0"/>
              </a:spcBef>
              <a:buFontTx/>
              <a:buNone/>
            </a:pPr>
            <a:r>
              <a:rPr lang="en-US" altLang="en-US" sz="2400" dirty="0">
                <a:ea typeface="ＭＳ Ｐゴシック" panose="020B0600070205080204" pitchFamily="34" charset="-128"/>
              </a:rPr>
              <a:t>A reaction mixture initially contains [N</a:t>
            </a:r>
            <a:r>
              <a:rPr lang="en-US" altLang="en-US" sz="2400" baseline="-25000" dirty="0">
                <a:ea typeface="ＭＳ Ｐゴシック" panose="020B0600070205080204" pitchFamily="34" charset="-128"/>
              </a:rPr>
              <a:t>2</a:t>
            </a:r>
            <a:r>
              <a:rPr lang="en-US" altLang="en-US" sz="2400" dirty="0">
                <a:ea typeface="ＭＳ Ｐゴシック" panose="020B0600070205080204" pitchFamily="34" charset="-128"/>
              </a:rPr>
              <a:t>] = 1.800 M and [O</a:t>
            </a:r>
            <a:r>
              <a:rPr lang="en-US" altLang="en-US" sz="2400" baseline="-25000" dirty="0">
                <a:ea typeface="ＭＳ Ｐゴシック" panose="020B0600070205080204" pitchFamily="34" charset="-128"/>
              </a:rPr>
              <a:t>2</a:t>
            </a:r>
            <a:r>
              <a:rPr lang="en-US" altLang="en-US" sz="2400" dirty="0">
                <a:ea typeface="ＭＳ Ｐゴシック" panose="020B0600070205080204" pitchFamily="34" charset="-128"/>
              </a:rPr>
              <a:t>] = 1.500 M. Find the equilibrium concentrations of the reactants and product at this temperature.</a:t>
            </a:r>
          </a:p>
          <a:p>
            <a:pPr marL="0" indent="0">
              <a:buNone/>
            </a:pPr>
            <a:endParaRPr lang="en-US" dirty="0"/>
          </a:p>
        </p:txBody>
      </p:sp>
    </p:spTree>
    <p:extLst>
      <p:ext uri="{BB962C8B-B14F-4D97-AF65-F5344CB8AC3E}">
        <p14:creationId xmlns:p14="http://schemas.microsoft.com/office/powerpoint/2010/main" val="44307266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a:xfrm>
            <a:off x="381000" y="0"/>
            <a:ext cx="11506200" cy="1066800"/>
          </a:xfrm>
        </p:spPr>
        <p:txBody>
          <a:bodyPr>
            <a:normAutofit fontScale="90000"/>
          </a:bodyPr>
          <a:lstStyle/>
          <a:p>
            <a:pPr eaLnBrk="1" hangingPunct="1"/>
            <a:r>
              <a:rPr lang="en-US" altLang="en-US" dirty="0"/>
              <a:t>The Vanishing x: Checking the Approximation and Refining as Necessary</a:t>
            </a:r>
          </a:p>
        </p:txBody>
      </p:sp>
      <p:sp>
        <p:nvSpPr>
          <p:cNvPr id="8195" name="Rectangle 3"/>
          <p:cNvSpPr>
            <a:spLocks noGrp="1" noChangeArrowheads="1"/>
          </p:cNvSpPr>
          <p:nvPr>
            <p:ph idx="1"/>
          </p:nvPr>
        </p:nvSpPr>
        <p:spPr>
          <a:xfrm>
            <a:off x="304800" y="1219200"/>
            <a:ext cx="11734800" cy="4114800"/>
          </a:xfrm>
        </p:spPr>
        <p:txBody>
          <a:bodyPr>
            <a:normAutofit fontScale="92500"/>
          </a:bodyPr>
          <a:lstStyle/>
          <a:p>
            <a:r>
              <a:rPr lang="en-US" noProof="1"/>
              <a:t>When solving an equilibrium problem, some +</a:t>
            </a:r>
            <a:r>
              <a:rPr lang="en-US" i="1" noProof="1"/>
              <a:t>x</a:t>
            </a:r>
            <a:r>
              <a:rPr lang="en-US" noProof="1"/>
              <a:t> and -</a:t>
            </a:r>
            <a:r>
              <a:rPr lang="en-US" i="1" noProof="1"/>
              <a:t>x</a:t>
            </a:r>
            <a:r>
              <a:rPr lang="en-US" noProof="1"/>
              <a:t> values can be treated as negligible if it is less that 5% of the number that it was to be subtracted from or added to.  If </a:t>
            </a:r>
            <a:r>
              <a:rPr lang="en-US" i="1" noProof="1"/>
              <a:t>x</a:t>
            </a:r>
            <a:r>
              <a:rPr lang="en-US" noProof="1"/>
              <a:t> is not negligible, the quadratic equation must be used. (</a:t>
            </a:r>
            <a:r>
              <a:rPr lang="en-US" noProof="1">
                <a:solidFill>
                  <a:srgbClr val="FF0000"/>
                </a:solidFill>
              </a:rPr>
              <a:t>Never the case on an AP test</a:t>
            </a:r>
            <a:r>
              <a:rPr lang="en-US" noProof="1"/>
              <a:t>)</a:t>
            </a:r>
          </a:p>
          <a:p>
            <a:pPr marL="0" indent="0">
              <a:buNone/>
            </a:pPr>
            <a:endParaRPr lang="en-US" noProof="1"/>
          </a:p>
          <a:p>
            <a:r>
              <a:rPr lang="en-US" altLang="en-US" dirty="0">
                <a:sym typeface="Symbol" panose="05050102010706020507" pitchFamily="18" charset="2"/>
              </a:rPr>
              <a:t>We can check our approximation by comparing the approximate value of </a:t>
            </a:r>
            <a:r>
              <a:rPr lang="en-US" altLang="en-US" i="1" dirty="0">
                <a:sym typeface="Symbol" panose="05050102010706020507" pitchFamily="18" charset="2"/>
              </a:rPr>
              <a:t>x</a:t>
            </a:r>
            <a:r>
              <a:rPr lang="en-US" altLang="en-US" dirty="0">
                <a:sym typeface="Symbol" panose="05050102010706020507" pitchFamily="18" charset="2"/>
              </a:rPr>
              <a:t> to the initial concentration. If the approximate value of </a:t>
            </a:r>
            <a:r>
              <a:rPr lang="en-US" altLang="en-US" i="1" dirty="0">
                <a:sym typeface="Symbol" panose="05050102010706020507" pitchFamily="18" charset="2"/>
              </a:rPr>
              <a:t>x</a:t>
            </a:r>
            <a:r>
              <a:rPr lang="en-US" altLang="en-US" dirty="0">
                <a:sym typeface="Symbol" panose="05050102010706020507" pitchFamily="18" charset="2"/>
              </a:rPr>
              <a:t> is less than 5% of the initial concentration, the approximation is valid.</a:t>
            </a:r>
          </a:p>
          <a:p>
            <a:pPr eaLnBrk="1" hangingPunct="1"/>
            <a:endParaRPr lang="en-US" altLang="en-US" dirty="0"/>
          </a:p>
        </p:txBody>
      </p:sp>
      <p:pic>
        <p:nvPicPr>
          <p:cNvPr id="8196" name="Picture 6" descr="Picture25.png"/>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672431" y="5486400"/>
            <a:ext cx="8923338" cy="877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683690750"/>
      </p:ext>
    </p:extLst>
  </p:cSld>
  <p:clrMapOvr>
    <a:masterClrMapping/>
  </p:clrMapOv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5" name="Text Box 8"/>
          <p:cNvSpPr txBox="1">
            <a:spLocks noChangeArrowheads="1"/>
          </p:cNvSpPr>
          <p:nvPr/>
        </p:nvSpPr>
        <p:spPr bwMode="auto">
          <a:xfrm>
            <a:off x="228600" y="234158"/>
            <a:ext cx="11887200" cy="13398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spcBef>
                <a:spcPct val="0"/>
              </a:spcBef>
              <a:buFontTx/>
              <a:buNone/>
            </a:pPr>
            <a:r>
              <a:rPr lang="en-US" altLang="en-US" sz="2400" dirty="0">
                <a:latin typeface="Times New Roman" panose="02020603050405020304" pitchFamily="18" charset="0"/>
                <a:ea typeface="ＭＳ Ｐゴシック" panose="020B0600070205080204" pitchFamily="34" charset="-128"/>
              </a:rPr>
              <a:t>Consider the reaction for the decomposition of dihydrogen sulfide:</a:t>
            </a:r>
          </a:p>
          <a:p>
            <a:pPr>
              <a:spcBef>
                <a:spcPct val="0"/>
              </a:spcBef>
              <a:buFontTx/>
              <a:buNone/>
            </a:pPr>
            <a:endParaRPr lang="en-US" altLang="en-US" sz="2400" dirty="0">
              <a:latin typeface="Times New Roman" panose="02020603050405020304" pitchFamily="18" charset="0"/>
              <a:ea typeface="ＭＳ Ｐゴシック" panose="020B0600070205080204" pitchFamily="34" charset="-128"/>
            </a:endParaRPr>
          </a:p>
          <a:p>
            <a:pPr>
              <a:spcBef>
                <a:spcPct val="0"/>
              </a:spcBef>
              <a:buFontTx/>
              <a:buNone/>
            </a:pPr>
            <a:endParaRPr lang="en-US" altLang="en-US" sz="2400" dirty="0">
              <a:latin typeface="Times New Roman" panose="02020603050405020304" pitchFamily="18" charset="0"/>
              <a:ea typeface="ＭＳ Ｐゴシック" panose="020B0600070205080204" pitchFamily="34" charset="-128"/>
            </a:endParaRPr>
          </a:p>
          <a:p>
            <a:pPr>
              <a:spcBef>
                <a:spcPct val="0"/>
              </a:spcBef>
              <a:buFontTx/>
              <a:buNone/>
            </a:pPr>
            <a:endParaRPr lang="en-US" altLang="en-US" sz="2400" dirty="0">
              <a:latin typeface="Times New Roman" panose="02020603050405020304" pitchFamily="18" charset="0"/>
              <a:ea typeface="ＭＳ Ｐゴシック" panose="020B0600070205080204" pitchFamily="34" charset="-128"/>
            </a:endParaRPr>
          </a:p>
          <a:p>
            <a:pPr>
              <a:spcBef>
                <a:spcPct val="0"/>
              </a:spcBef>
              <a:buFontTx/>
              <a:buNone/>
            </a:pPr>
            <a:endParaRPr lang="en-US" altLang="en-US" sz="2400" dirty="0">
              <a:latin typeface="Times New Roman" panose="02020603050405020304" pitchFamily="18" charset="0"/>
              <a:ea typeface="ＭＳ Ｐゴシック" panose="020B0600070205080204" pitchFamily="34" charset="-128"/>
            </a:endParaRPr>
          </a:p>
          <a:p>
            <a:pPr>
              <a:spcBef>
                <a:spcPct val="0"/>
              </a:spcBef>
              <a:buFontTx/>
              <a:buNone/>
            </a:pPr>
            <a:r>
              <a:rPr lang="en-US" altLang="en-US" sz="2400" dirty="0">
                <a:latin typeface="Times New Roman" panose="02020603050405020304" pitchFamily="18" charset="0"/>
                <a:ea typeface="ＭＳ Ｐゴシック" panose="020B0600070205080204" pitchFamily="34" charset="-128"/>
              </a:rPr>
              <a:t>A 0.500 L reaction vessel initially contains 0.125 </a:t>
            </a:r>
            <a:r>
              <a:rPr lang="en-US" altLang="en-US" sz="2400" dirty="0" err="1">
                <a:latin typeface="Times New Roman" panose="02020603050405020304" pitchFamily="18" charset="0"/>
                <a:ea typeface="ＭＳ Ｐゴシック" panose="020B0600070205080204" pitchFamily="34" charset="-128"/>
              </a:rPr>
              <a:t>mol</a:t>
            </a:r>
            <a:r>
              <a:rPr lang="en-US" altLang="en-US" sz="2400" dirty="0">
                <a:latin typeface="Times New Roman" panose="02020603050405020304" pitchFamily="18" charset="0"/>
                <a:ea typeface="ＭＳ Ｐゴシック" panose="020B0600070205080204" pitchFamily="34" charset="-128"/>
              </a:rPr>
              <a:t> of H</a:t>
            </a:r>
            <a:r>
              <a:rPr lang="en-US" altLang="en-US" sz="2400" baseline="-25000" dirty="0">
                <a:latin typeface="Times New Roman" panose="02020603050405020304" pitchFamily="18" charset="0"/>
                <a:ea typeface="ＭＳ Ｐゴシック" panose="020B0600070205080204" pitchFamily="34" charset="-128"/>
              </a:rPr>
              <a:t>2</a:t>
            </a:r>
            <a:r>
              <a:rPr lang="en-US" altLang="en-US" sz="2400" dirty="0">
                <a:latin typeface="Times New Roman" panose="02020603050405020304" pitchFamily="18" charset="0"/>
                <a:ea typeface="ＭＳ Ｐゴシック" panose="020B0600070205080204" pitchFamily="34" charset="-128"/>
              </a:rPr>
              <a:t>S at 800 °C. Find the equilibrium concentrations of H</a:t>
            </a:r>
            <a:r>
              <a:rPr lang="en-US" altLang="en-US" sz="2400" baseline="-25000" dirty="0">
                <a:latin typeface="Times New Roman" panose="02020603050405020304" pitchFamily="18" charset="0"/>
                <a:ea typeface="ＭＳ Ｐゴシック" panose="020B0600070205080204" pitchFamily="34" charset="-128"/>
              </a:rPr>
              <a:t>2</a:t>
            </a:r>
            <a:r>
              <a:rPr lang="en-US" altLang="en-US" sz="2400" dirty="0">
                <a:latin typeface="Times New Roman" panose="02020603050405020304" pitchFamily="18" charset="0"/>
                <a:ea typeface="ＭＳ Ｐゴシック" panose="020B0600070205080204" pitchFamily="34" charset="-128"/>
              </a:rPr>
              <a:t> and S</a:t>
            </a:r>
            <a:r>
              <a:rPr lang="en-US" altLang="en-US" sz="2400" baseline="-25000" dirty="0">
                <a:latin typeface="Times New Roman" panose="02020603050405020304" pitchFamily="18" charset="0"/>
                <a:ea typeface="ＭＳ Ｐゴシック" panose="020B0600070205080204" pitchFamily="34" charset="-128"/>
              </a:rPr>
              <a:t>2</a:t>
            </a:r>
            <a:r>
              <a:rPr lang="en-US" altLang="en-US" sz="2400" dirty="0">
                <a:latin typeface="Times New Roman" panose="02020603050405020304" pitchFamily="18" charset="0"/>
                <a:ea typeface="ＭＳ Ｐゴシック" panose="020B0600070205080204" pitchFamily="34" charset="-128"/>
              </a:rPr>
              <a:t>.</a:t>
            </a:r>
          </a:p>
        </p:txBody>
      </p:sp>
      <p:sp>
        <p:nvSpPr>
          <p:cNvPr id="15" name="Rectangle 3"/>
          <p:cNvSpPr>
            <a:spLocks noChangeArrowheads="1"/>
          </p:cNvSpPr>
          <p:nvPr/>
        </p:nvSpPr>
        <p:spPr bwMode="auto">
          <a:xfrm>
            <a:off x="1843088" y="339726"/>
            <a:ext cx="8532812" cy="1014413"/>
          </a:xfrm>
          <a:prstGeom prst="rect">
            <a:avLst/>
          </a:prstGeom>
          <a:noFill/>
          <a:ln>
            <a:noFill/>
          </a:ln>
          <a:effectLst/>
          <a:extLst>
            <a:ext uri="{909E8E84-426E-40DD-AFC4-6F175D3DCCD1}">
              <a14:hiddenFill xmlns:a14="http://schemas.microsoft.com/office/drawing/2010/main">
                <a:solidFill>
                  <a:srgbClr val="008000"/>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pPr marL="1947863" indent="-1947863">
              <a:spcBef>
                <a:spcPct val="50000"/>
              </a:spcBef>
              <a:defRPr/>
            </a:pPr>
            <a:endParaRPr lang="en-US" sz="2000" b="1" dirty="0">
              <a:latin typeface="Arial" charset="0"/>
              <a:ea typeface="ＭＳ Ｐゴシック" charset="0"/>
              <a:cs typeface="ＭＳ Ｐゴシック" charset="0"/>
            </a:endParaRPr>
          </a:p>
        </p:txBody>
      </p:sp>
      <p:pic>
        <p:nvPicPr>
          <p:cNvPr id="10247" name="Picture 2" descr="C:\Documents and Settings\GEX User\Desktop\IRDVDs\50627 Tro IRDVD\Worked Example\Component\Ch14\14_pg674_equation1.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29000" y="945357"/>
            <a:ext cx="4716463" cy="817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40271427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BD8AD2-C7AD-4165-BC3D-3EB0751D3C43}"/>
              </a:ext>
            </a:extLst>
          </p:cNvPr>
          <p:cNvSpPr>
            <a:spLocks noGrp="1"/>
          </p:cNvSpPr>
          <p:nvPr>
            <p:ph type="title"/>
          </p:nvPr>
        </p:nvSpPr>
        <p:spPr>
          <a:xfrm>
            <a:off x="609600" y="0"/>
            <a:ext cx="10972800" cy="990600"/>
          </a:xfrm>
        </p:spPr>
        <p:txBody>
          <a:bodyPr>
            <a:normAutofit/>
          </a:bodyPr>
          <a:lstStyle/>
          <a:p>
            <a:r>
              <a:rPr lang="en-US" b="1" dirty="0"/>
              <a:t>What if x isn’t negligible??</a:t>
            </a:r>
            <a:endParaRPr lang="en-US" dirty="0"/>
          </a:p>
        </p:txBody>
      </p:sp>
      <p:sp>
        <p:nvSpPr>
          <p:cNvPr id="3" name="Content Placeholder 2">
            <a:extLst>
              <a:ext uri="{FF2B5EF4-FFF2-40B4-BE49-F238E27FC236}">
                <a16:creationId xmlns:a16="http://schemas.microsoft.com/office/drawing/2014/main" id="{48F71EF9-0927-424B-AF4C-CC46F6A11428}"/>
              </a:ext>
            </a:extLst>
          </p:cNvPr>
          <p:cNvSpPr>
            <a:spLocks noGrp="1"/>
          </p:cNvSpPr>
          <p:nvPr>
            <p:ph idx="1"/>
          </p:nvPr>
        </p:nvSpPr>
        <p:spPr>
          <a:xfrm>
            <a:off x="609600" y="838201"/>
            <a:ext cx="10972800" cy="5344234"/>
          </a:xfrm>
        </p:spPr>
        <p:txBody>
          <a:bodyPr>
            <a:normAutofit/>
          </a:bodyPr>
          <a:lstStyle/>
          <a:p>
            <a:pPr marL="0" indent="0">
              <a:buNone/>
            </a:pPr>
            <a:r>
              <a:rPr lang="en-US" sz="2400" b="1" dirty="0"/>
              <a:t>The Perfect Square: </a:t>
            </a:r>
            <a:r>
              <a:rPr lang="en-US" sz="2400" dirty="0"/>
              <a:t>if keeping “−x” is necessary, see if the problem is a perfect _____________ and thus easy to solve using algebra.</a:t>
            </a:r>
          </a:p>
          <a:p>
            <a:pPr marL="0" indent="0">
              <a:buNone/>
            </a:pPr>
            <a:r>
              <a:rPr lang="en-US" sz="2400" b="1" dirty="0"/>
              <a:t>Example</a:t>
            </a:r>
            <a:r>
              <a:rPr lang="en-US" sz="2400" dirty="0"/>
              <a:t>: Consider the reaction: H2(g) + I2(g) ⇌ 2 HI(g), </a:t>
            </a:r>
            <a:r>
              <a:rPr lang="en-US" sz="2400" dirty="0" err="1"/>
              <a:t>Kp</a:t>
            </a:r>
            <a:r>
              <a:rPr lang="en-US" sz="2400" dirty="0"/>
              <a:t> = 64 (at 25oC). A reaction mixture at 25°C initially</a:t>
            </a:r>
          </a:p>
          <a:p>
            <a:pPr marL="0" indent="0">
              <a:buNone/>
            </a:pPr>
            <a:r>
              <a:rPr lang="en-US" sz="2400" dirty="0"/>
              <a:t>contains P</a:t>
            </a:r>
            <a:r>
              <a:rPr lang="en-US" sz="2400" baseline="-25000" dirty="0"/>
              <a:t>H2</a:t>
            </a:r>
            <a:r>
              <a:rPr lang="en-US" sz="2400" dirty="0"/>
              <a:t> = P</a:t>
            </a:r>
            <a:r>
              <a:rPr lang="en-US" sz="2400" baseline="-25000" dirty="0"/>
              <a:t>I2</a:t>
            </a:r>
            <a:r>
              <a:rPr lang="en-US" sz="2400" dirty="0"/>
              <a:t> = 0.20 atm. Find the equilibrium partial pressures of H</a:t>
            </a:r>
            <a:r>
              <a:rPr lang="en-US" sz="2400" baseline="-25000" dirty="0"/>
              <a:t>2</a:t>
            </a:r>
            <a:r>
              <a:rPr lang="en-US" sz="2400" dirty="0"/>
              <a:t>, I</a:t>
            </a:r>
            <a:r>
              <a:rPr lang="en-US" sz="2400" baseline="-25000" dirty="0"/>
              <a:t>2</a:t>
            </a:r>
            <a:r>
              <a:rPr lang="en-US" sz="2400" dirty="0"/>
              <a:t>, and HI.</a:t>
            </a:r>
          </a:p>
          <a:p>
            <a:endParaRPr lang="en-US" dirty="0"/>
          </a:p>
        </p:txBody>
      </p:sp>
    </p:spTree>
    <p:extLst>
      <p:ext uri="{BB962C8B-B14F-4D97-AF65-F5344CB8AC3E}">
        <p14:creationId xmlns:p14="http://schemas.microsoft.com/office/powerpoint/2010/main" val="208738097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23446" y="0"/>
            <a:ext cx="12168554" cy="5638800"/>
          </a:xfrm>
          <a:prstGeom prst="rect">
            <a:avLst/>
          </a:prstGeom>
        </p:spPr>
      </p:pic>
      <p:pic>
        <p:nvPicPr>
          <p:cNvPr id="5" name="Picture 4"/>
          <p:cNvPicPr>
            <a:picLocks noChangeAspect="1"/>
          </p:cNvPicPr>
          <p:nvPr/>
        </p:nvPicPr>
        <p:blipFill>
          <a:blip r:embed="rId3"/>
          <a:stretch>
            <a:fillRect/>
          </a:stretch>
        </p:blipFill>
        <p:spPr>
          <a:xfrm>
            <a:off x="23447" y="5608320"/>
            <a:ext cx="12168554" cy="1239724"/>
          </a:xfrm>
          <a:prstGeom prst="rect">
            <a:avLst/>
          </a:prstGeom>
        </p:spPr>
      </p:pic>
    </p:spTree>
    <p:extLst>
      <p:ext uri="{BB962C8B-B14F-4D97-AF65-F5344CB8AC3E}">
        <p14:creationId xmlns:p14="http://schemas.microsoft.com/office/powerpoint/2010/main" val="80717105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76200" y="0"/>
            <a:ext cx="12096093" cy="6858000"/>
          </a:xfrm>
          <a:prstGeom prst="rect">
            <a:avLst/>
          </a:prstGeom>
        </p:spPr>
      </p:pic>
    </p:spTree>
    <p:extLst>
      <p:ext uri="{BB962C8B-B14F-4D97-AF65-F5344CB8AC3E}">
        <p14:creationId xmlns:p14="http://schemas.microsoft.com/office/powerpoint/2010/main" val="395233003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12108</TotalTime>
  <Words>4339</Words>
  <Application>Microsoft Office PowerPoint</Application>
  <PresentationFormat>Widescreen</PresentationFormat>
  <Paragraphs>330</Paragraphs>
  <Slides>65</Slides>
  <Notes>30</Notes>
  <HiddenSlides>0</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1</vt:i4>
      </vt:variant>
      <vt:variant>
        <vt:lpstr>Slide Titles</vt:lpstr>
      </vt:variant>
      <vt:variant>
        <vt:i4>65</vt:i4>
      </vt:variant>
    </vt:vector>
  </HeadingPairs>
  <TitlesOfParts>
    <vt:vector size="76" baseType="lpstr">
      <vt:lpstr>ＭＳ Ｐゴシック</vt:lpstr>
      <vt:lpstr>Arial</vt:lpstr>
      <vt:lpstr>Calibri</vt:lpstr>
      <vt:lpstr>Cambria Math</vt:lpstr>
      <vt:lpstr>Lucida Sans Unicode</vt:lpstr>
      <vt:lpstr>Symbol</vt:lpstr>
      <vt:lpstr>Times New Roman</vt:lpstr>
      <vt:lpstr>Wingdings</vt:lpstr>
      <vt:lpstr>Wingdings 3</vt:lpstr>
      <vt:lpstr>Office Theme</vt:lpstr>
      <vt:lpstr>Equation</vt:lpstr>
      <vt:lpstr>Unit 7: Equilibrium</vt:lpstr>
      <vt:lpstr>Reversible Reactions and the Concept of Equilibrium </vt:lpstr>
      <vt:lpstr>Chemical equilibrium</vt:lpstr>
      <vt:lpstr>A System at Equilibrium</vt:lpstr>
      <vt:lpstr>The Reaction Quotient, Q</vt:lpstr>
      <vt:lpstr>No liquids and solids allowed!</vt:lpstr>
      <vt:lpstr> Don’t worry about units…. </vt:lpstr>
      <vt:lpstr>PowerPoint Presentation</vt:lpstr>
      <vt:lpstr>The Equilibrium Expression (Law of Mass Action)</vt:lpstr>
      <vt:lpstr>Gas Systems and Pressures in K</vt:lpstr>
      <vt:lpstr>Kc or Kp?</vt:lpstr>
      <vt:lpstr>K is a CONSTANT.   This means that for a given reaction at a given temperature, the ratio of P/R at equilibrium will always be the same.  For any reaction, K only changes with temperature (not with concentration or pressure).   </vt:lpstr>
      <vt:lpstr>Ex.  Write an Equilibrium Expression 4 NH3(g) + 7 O2(g)   4 NO2(g)  + 6 H2O(g)        If we know equilibrium concentrations,  we can calculate the equilibrium constant, Kc.  </vt:lpstr>
      <vt:lpstr> </vt:lpstr>
      <vt:lpstr>Consider the rxn: aA + bB  cC + dD: Kc = ([C]^c [D]^d)/([A]^a [B]^b )  For the reverse reaction: cC + dD  aA + bB Kc’ = ([A]^a [B]^b)/([C]^c [D]^d )   for any reaction:  Kc' = 1/ Kc                </vt:lpstr>
      <vt:lpstr>Practice</vt:lpstr>
      <vt:lpstr>If the original reaction is multiplied by some factor to give:    naA + nbB   ncC + ndD:  Kc’ = ([C]^nc [D]^nd)/([A]^na [B]^nb )  for any reaction:  Kc' = Kcn</vt:lpstr>
      <vt:lpstr>Practice</vt:lpstr>
      <vt:lpstr>For a 2-step reaction with Kc1 and Kc2 as Kc values for each step, the Kc for the overall reaction is  Kc = Kc1 × Kc2.  Suppose that for reaction 1:   A + B  ⇄ C   K1 = 0.10 And that reaction 2:     C + B  ⇄ D  K2 = 4.5  What is the overall reaction? What is the value of K for the overall reaction?</vt:lpstr>
      <vt:lpstr>PowerPoint Presentation</vt:lpstr>
      <vt:lpstr>Unit 7: Equilibrium</vt:lpstr>
      <vt:lpstr>Determining if a reaction is at the Equilibrium Position</vt:lpstr>
      <vt:lpstr>PowerPoint Presentation</vt:lpstr>
      <vt:lpstr>Using Q and K</vt:lpstr>
      <vt:lpstr>PowerPoint Presentation</vt:lpstr>
      <vt:lpstr>PowerPoint Presentation</vt:lpstr>
      <vt:lpstr>Consider: moles/liter must be used for aqueous systems, but they can also be used for gases</vt:lpstr>
      <vt:lpstr>Using K to find concentrations</vt:lpstr>
      <vt:lpstr>PowerPoint Presentation</vt:lpstr>
      <vt:lpstr>Equilibrium position</vt:lpstr>
      <vt:lpstr>PowerPoint Presentation</vt:lpstr>
      <vt:lpstr>PowerPoint Presentation</vt:lpstr>
      <vt:lpstr>Consider the reaction 2NOCl(g)  2NO(g) + Cl2(g) at 35oC. Various amounts of NOCl(g), NO(g), and Cl2(g) are mixed in a 10.0 L flask. After the system has reached equilibrium the concentrations are observed to be:            [Cl2] = 1.52 x 10-1 M   [NO] = 4.00 x 10-3 M  [NOCl] = 3.96 x 10-1 M a. Calculate the value of K for this system at 35oC.  b. What can we conclude about the reaction progress from the value of K?   </vt:lpstr>
      <vt:lpstr>PowerPoint Presentation</vt:lpstr>
      <vt:lpstr>Unit 7: Equilibrium</vt:lpstr>
      <vt:lpstr>Le Chatlier’s Principle</vt:lpstr>
      <vt:lpstr>STRESS: Changes in concentration</vt:lpstr>
      <vt:lpstr>STRESS: Changes in concentration</vt:lpstr>
      <vt:lpstr>STRESS: Changes in concentration</vt:lpstr>
      <vt:lpstr>Sample Problem</vt:lpstr>
      <vt:lpstr>STRESS: Changes in pressure or volume- only gases affected</vt:lpstr>
      <vt:lpstr>If the system has the same number of moles of gas on each side, changes in pressure do not affect equilibrium.  Adding an inert gas does not affect equilibrium since the partial pressures of the gases in the reaction are not affected.    Changing pressure does not affect the value of the equilibrium constant. </vt:lpstr>
      <vt:lpstr>Example: determine the direction of shift in response to each action</vt:lpstr>
      <vt:lpstr>STRESS: Changes in temperature</vt:lpstr>
      <vt:lpstr>PowerPoint Presentation</vt:lpstr>
      <vt:lpstr>Example</vt:lpstr>
      <vt:lpstr>Catalysts &amp; equilibrium</vt:lpstr>
      <vt:lpstr>PowerPoint Presentation</vt:lpstr>
      <vt:lpstr>PowerPoint Presentation</vt:lpstr>
      <vt:lpstr>Unit 7: Equilibrium</vt:lpstr>
      <vt:lpstr>Review!</vt:lpstr>
      <vt:lpstr>2 NO2 (g) ⇌ N2O4 (g)    DHrxn = -177 kJ/mol</vt:lpstr>
      <vt:lpstr>Equilibrium and RICE Tables</vt:lpstr>
      <vt:lpstr>PowerPoint Presentation</vt:lpstr>
      <vt:lpstr>PowerPoint Presentation</vt:lpstr>
      <vt:lpstr>Using K to find Concentrations of Reactants and Products</vt:lpstr>
      <vt:lpstr>STEPS FOR SOLVING EQUILIBRIUM PROBLEMS</vt:lpstr>
      <vt:lpstr>Example: K is LARGE (&gt;105) Rxn goes to completion…. Solve as a normal STOICH problem! Remember to consider limiting reactants. </vt:lpstr>
      <vt:lpstr>Finding Equilibrium concentrations from initial data and K values</vt:lpstr>
      <vt:lpstr>Small K values: The case of the vanishing x Useful when K is small</vt:lpstr>
      <vt:lpstr>The Vanishing x: Checking the Approximation and Refining as Necessary</vt:lpstr>
      <vt:lpstr>PowerPoint Presentation</vt:lpstr>
      <vt:lpstr>What if x isn’t negligible??</vt:lpstr>
      <vt:lpstr>PowerPoint Presentation</vt:lpstr>
      <vt:lpstr>PowerPoint Presentation</vt:lpstr>
    </vt:vector>
  </TitlesOfParts>
  <Company>RRISD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Equilibrium</dc:title>
  <dc:creator>e116725</dc:creator>
  <cp:lastModifiedBy>Nicole_White</cp:lastModifiedBy>
  <cp:revision>172</cp:revision>
  <cp:lastPrinted>2018-04-03T16:16:12Z</cp:lastPrinted>
  <dcterms:created xsi:type="dcterms:W3CDTF">2014-03-20T13:17:44Z</dcterms:created>
  <dcterms:modified xsi:type="dcterms:W3CDTF">2025-10-13T20:23:27Z</dcterms:modified>
</cp:coreProperties>
</file>